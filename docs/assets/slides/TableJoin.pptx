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91" r:id="rId2"/>
    <p:sldId id="311" r:id="rId3"/>
    <p:sldId id="312" r:id="rId4"/>
    <p:sldId id="313" r:id="rId5"/>
    <p:sldId id="314" r:id="rId6"/>
    <p:sldId id="337" r:id="rId7"/>
    <p:sldId id="316" r:id="rId8"/>
    <p:sldId id="317" r:id="rId9"/>
    <p:sldId id="318" r:id="rId10"/>
    <p:sldId id="368" r:id="rId11"/>
    <p:sldId id="366" r:id="rId12"/>
    <p:sldId id="321" r:id="rId13"/>
    <p:sldId id="323" r:id="rId14"/>
    <p:sldId id="327" r:id="rId15"/>
    <p:sldId id="329" r:id="rId16"/>
    <p:sldId id="334" r:id="rId17"/>
    <p:sldId id="336" r:id="rId18"/>
    <p:sldId id="338" r:id="rId19"/>
    <p:sldId id="340" r:id="rId20"/>
    <p:sldId id="342" r:id="rId21"/>
    <p:sldId id="356" r:id="rId22"/>
    <p:sldId id="369" r:id="rId23"/>
    <p:sldId id="367" r:id="rId24"/>
    <p:sldId id="355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6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7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21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This title slide contains only original explanatory framing;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https://pro.arcgis.com/en/pro-app/3.4/tool-reference/data-management/add-join.htm
- https://pro.arcgis.com/en/pro-app/latest/help/data/tables/joins-and-relates.htm
- Example tables in this slide are original instructional examples created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https://pro.arcgis.com/en/pro-app/3.4/tool-reference/data-management/add-relate.htm
- https://pro.arcgis.com/en/pro-app/latest/help/data/relationships/data-relationship-options.htm
- https://pro.arcgis.com/en/pro-app/3.4/help/data/relationships/data-relationship-comparison.htm
- https://pro.arcgis.com/en/pro-app/latest/help/data/tables/view-related-data.htm
- Example tables in this slide are original instructional examples created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This title slide contains only original explanatory framing;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https://pro.arcgis.com/en/pro-app/3.4/tool-reference/data-management/add-join.htm
- https://pro.arcgis.com/en/pro-app/latest/help/data/tables/joins-and-relates.htm
- Example tables in this slide are original instructional examples created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https://pro.arcgis.com/en/pro-app/3.4/tool-reference/data-management/add-relate.htm
- https://pro.arcgis.com/en/pro-app/latest/help/data/relationships/data-relationship-options.htm
- https://pro.arcgis.com/en/pro-app/3.4/help/data/relationships/data-relationship-comparison.htm
- https://pro.arcgis.com/en/pro-app/latest/help/data/tables/view-related-data.htm
- Example tables in this slide are original instructional examples created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1F3A34"/>
          </a:solidFill>
          <a:ln w="12700">
            <a:solidFill>
              <a:srgbClr val="1F3A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3600" y="17526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Joins and Relates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8096" y="2487168"/>
            <a:ext cx="1234440" cy="0"/>
          </a:xfrm>
          <a:prstGeom prst="line">
            <a:avLst/>
          </a:prstGeom>
          <a:noFill/>
          <a:ln w="12700">
            <a:solidFill>
              <a:srgbClr val="B0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AccentLine"/>
          <p:cNvSpPr/>
          <p:nvPr/>
        </p:nvSpPr>
        <p:spPr>
          <a:xfrm>
            <a:off x="889000" y="2616200"/>
            <a:ext cx="1524000" cy="381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ubtitle"/>
          <p:cNvSpPr/>
          <p:nvPr/>
        </p:nvSpPr>
        <p:spPr>
          <a:xfrm>
            <a:off x="889000" y="27432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t">
            <a:normAutofit/>
          </a:bodyPr>
          <a:lstStyle/>
          <a:p>
            <a:pPr algn="l">
              <a:buNone/>
            </a:pPr>
            <a:r>
              <a:rPr lang="en-US" sz="1800" i="1" dirty="0">
                <a:solidFill>
                  <a:srgbClr val="6A6258"/>
                </a:solidFill>
                <a:latin typeface="Times New Roman" pitchFamily="34" charset="0"/>
                <a:cs typeface="Times New Roman" pitchFamily="34" charset="0"/>
              </a:rPr>
              <a:t>Connecting attribute tables in ArcGIS Pro — a practical guide to joins and relates.</a:t>
            </a:r>
          </a:p>
        </p:txBody>
      </p:sp>
      <p:sp>
        <p:nvSpPr>
          <p:cNvPr id="110" name="Card0"/>
          <p:cNvSpPr/>
          <p:nvPr/>
        </p:nvSpPr>
        <p:spPr>
          <a:xfrm>
            <a:off x="685800" y="3810000"/>
            <a:ext cx="3403600" cy="22352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28600" tIns="406400" rIns="228600" bIns="20320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Add Join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Links a related table to your layer for as long as you need it — nothing is written to disk.</a:t>
            </a:r>
          </a:p>
        </p:txBody>
      </p:sp>
      <p:sp>
        <p:nvSpPr>
          <p:cNvPr id="111" name="Bar0"/>
          <p:cNvSpPr/>
          <p:nvPr/>
        </p:nvSpPr>
        <p:spPr>
          <a:xfrm>
            <a:off x="914400" y="4038600"/>
            <a:ext cx="5588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ard1"/>
          <p:cNvSpPr/>
          <p:nvPr/>
        </p:nvSpPr>
        <p:spPr>
          <a:xfrm>
            <a:off x="4394200" y="3810000"/>
            <a:ext cx="3403600" cy="22352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28600" tIns="406400" rIns="228600" bIns="20320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Join Field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Copies the matched fields permanently into the table itself.</a:t>
            </a:r>
          </a:p>
        </p:txBody>
      </p:sp>
      <p:sp>
        <p:nvSpPr>
          <p:cNvPr id="113" name="Bar1"/>
          <p:cNvSpPr/>
          <p:nvPr/>
        </p:nvSpPr>
        <p:spPr>
          <a:xfrm>
            <a:off x="4622800" y="4038600"/>
            <a:ext cx="5588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Card2"/>
          <p:cNvSpPr/>
          <p:nvPr/>
        </p:nvSpPr>
        <p:spPr>
          <a:xfrm>
            <a:off x="8102600" y="3810000"/>
            <a:ext cx="3403600" cy="22352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28600" tIns="406400" rIns="228600" bIns="20320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Add Relate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Keeps a one-to-many link between tables without flattening them into one row.</a:t>
            </a:r>
          </a:p>
        </p:txBody>
      </p:sp>
      <p:sp>
        <p:nvSpPr>
          <p:cNvPr id="115" name="Bar2"/>
          <p:cNvSpPr/>
          <p:nvPr/>
        </p:nvSpPr>
        <p:spPr>
          <a:xfrm>
            <a:off x="8331200" y="4038600"/>
            <a:ext cx="5588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  <p:sp>
        <p:nvSpPr>
          <p:cNvPr id="301" name="HdrDivider"/>
          <p:cNvSpPr/>
          <p:nvPr/>
        </p:nvSpPr>
        <p:spPr>
          <a:xfrm>
            <a:off x="685800" y="558800"/>
            <a:ext cx="10820400" cy="1778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14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en-US" sz="1000" dirty="0">
                <a:solidFill>
                  <a:srgbClr val="6A6258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Why Join Tables?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Your data is split across tables — joins and relates bring it back together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  <p:sp>
        <p:nvSpPr>
          <p:cNvPr id="310" name="LPanel"/>
          <p:cNvSpPr/>
          <p:nvPr/>
        </p:nvSpPr>
        <p:spPr>
          <a:xfrm>
            <a:off x="685800" y="1574800"/>
            <a:ext cx="5308600" cy="46482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20" name="Lcirc"/>
          <p:cNvSpPr/>
          <p:nvPr/>
        </p:nvSpPr>
        <p:spPr>
          <a:xfrm>
            <a:off x="939800" y="1854200"/>
            <a:ext cx="508000" cy="5080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21" name="Lhead"/>
          <p:cNvSpPr/>
          <p:nvPr/>
        </p:nvSpPr>
        <p:spPr>
          <a:xfrm>
            <a:off x="1625600" y="1905000"/>
            <a:ext cx="4089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F3A34"/>
                </a:solidFill>
                <a:latin typeface="Times New Roman"/>
                <a:cs typeface="Times New Roman"/>
              </a:rPr>
              <a:t>Your data lives in separate tables</a:t>
            </a:r>
          </a:p>
        </p:txBody>
      </p:sp>
      <p:sp>
        <p:nvSpPr>
          <p:cNvPr id="322" name="Lbody"/>
          <p:cNvSpPr/>
          <p:nvPr/>
        </p:nvSpPr>
        <p:spPr>
          <a:xfrm>
            <a:off x="939800" y="2540000"/>
            <a:ext cx="477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8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A map layer carries geometry and a few attributes. The details — counts, sales, ownership — sit in separate tables.</a:t>
            </a:r>
          </a:p>
        </p:txBody>
      </p:sp>
      <p:sp>
        <p:nvSpPr>
          <p:cNvPr id="323" name="boxA"/>
          <p:cNvSpPr/>
          <p:nvPr/>
        </p:nvSpPr>
        <p:spPr>
          <a:xfrm>
            <a:off x="939800" y="3276600"/>
            <a:ext cx="1981200" cy="7620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27000" tIns="635" rIns="76200" bIns="635" anchor="ctr">
            <a:norm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1F3A34"/>
                </a:solidFill>
                <a:latin typeface="Times New Roman"/>
                <a:cs typeface="Times New Roman"/>
              </a:rPr>
              <a:t>States layer</a:t>
            </a:r>
          </a:p>
          <a:p>
            <a:pPr>
              <a:spcBef>
                <a:spcPts val="200"/>
              </a:spcBef>
              <a:buNone/>
            </a:pPr>
            <a:r>
              <a:rPr lang="en-US" sz="1200" dirty="0">
                <a:solidFill>
                  <a:srgbClr val="1F1F1F"/>
                </a:solidFill>
                <a:latin typeface="Times New Roman"/>
                <a:cs typeface="Times New Roman"/>
              </a:rPr>
              <a:t>State · geometry</a:t>
            </a:r>
          </a:p>
        </p:txBody>
      </p:sp>
      <p:sp>
        <p:nvSpPr>
          <p:cNvPr id="324" name="keyB"/>
          <p:cNvSpPr/>
          <p:nvPr/>
        </p:nvSpPr>
        <p:spPr>
          <a:xfrm>
            <a:off x="3022600" y="3467100"/>
            <a:ext cx="660400" cy="3810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25400" tIns="635" rIns="25400" bIns="635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1F3A34"/>
                </a:solidFill>
                <a:latin typeface="Times New Roman"/>
                <a:cs typeface="Times New Roman"/>
              </a:rPr>
              <a:t>State</a:t>
            </a:r>
          </a:p>
        </p:txBody>
      </p:sp>
      <p:sp>
        <p:nvSpPr>
          <p:cNvPr id="325" name="boxB"/>
          <p:cNvSpPr/>
          <p:nvPr/>
        </p:nvSpPr>
        <p:spPr>
          <a:xfrm>
            <a:off x="3784600" y="3276600"/>
            <a:ext cx="1981200" cy="7620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27000" tIns="635" rIns="76200" bIns="635" anchor="ctr">
            <a:norm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1F3A34"/>
                </a:solidFill>
                <a:latin typeface="Times New Roman"/>
                <a:cs typeface="Times New Roman"/>
              </a:rPr>
              <a:t>population.csv</a:t>
            </a:r>
          </a:p>
          <a:p>
            <a:pPr>
              <a:spcBef>
                <a:spcPts val="200"/>
              </a:spcBef>
              <a:buNone/>
            </a:pPr>
            <a:r>
              <a:rPr lang="en-US" sz="1200" dirty="0">
                <a:solidFill>
                  <a:srgbClr val="1F1F1F"/>
                </a:solidFill>
                <a:latin typeface="Times New Roman"/>
                <a:cs typeface="Times New Roman"/>
              </a:rPr>
              <a:t>State · Pop</a:t>
            </a:r>
          </a:p>
        </p:txBody>
      </p:sp>
      <p:sp>
        <p:nvSpPr>
          <p:cNvPr id="326" name="Ltake"/>
          <p:cNvSpPr/>
          <p:nvPr/>
        </p:nvSpPr>
        <p:spPr>
          <a:xfrm>
            <a:off x="939800" y="42926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The shared key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(here, State) is what lets you combine them into one view.</a:t>
            </a:r>
          </a:p>
        </p:txBody>
      </p:sp>
      <p:sp>
        <p:nvSpPr>
          <p:cNvPr id="330" name="RPanel"/>
          <p:cNvSpPr/>
          <p:nvPr/>
        </p:nvSpPr>
        <p:spPr>
          <a:xfrm>
            <a:off x="6223000" y="1574800"/>
            <a:ext cx="5283200" cy="46482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31" name="Rhead"/>
          <p:cNvSpPr/>
          <p:nvPr/>
        </p:nvSpPr>
        <p:spPr>
          <a:xfrm>
            <a:off x="6477000" y="1803400"/>
            <a:ext cx="4826000" cy="406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Three ways to combine</a:t>
            </a:r>
          </a:p>
        </p:txBody>
      </p:sp>
      <p:sp>
        <p:nvSpPr>
          <p:cNvPr id="332" name="g1"/>
          <p:cNvSpPr/>
          <p:nvPr/>
        </p:nvSpPr>
        <p:spPr>
          <a:xfrm>
            <a:off x="6477000" y="23622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250" b="1" spc="100" dirty="0">
                <a:solidFill>
                  <a:srgbClr val="8A6A2F"/>
                </a:solidFill>
                <a:latin typeface="Times New Roman"/>
                <a:cs typeface="Times New Roman"/>
              </a:rPr>
              <a:t>JOIN — MERGE INTO ONE TABLE</a:t>
            </a:r>
          </a:p>
        </p:txBody>
      </p:sp>
      <p:sp>
        <p:nvSpPr>
          <p:cNvPr id="333" name="iAJ"/>
          <p:cNvSpPr/>
          <p:nvPr/>
        </p:nvSpPr>
        <p:spPr>
          <a:xfrm>
            <a:off x="6477000" y="2667000"/>
            <a:ext cx="4902200" cy="660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203200" indent="-203200">
              <a:lnSpc>
                <a:spcPct val="108000"/>
              </a:lnSpc>
              <a:buClr>
                <a:srgbClr val="8A6A2F"/>
              </a:buClr>
              <a:buFont typeface="Arial"/>
              <a:buChar char="•"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Add Join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links the table </a:t>
            </a: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temporarily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— the fields appear but aren't saved.</a:t>
            </a:r>
          </a:p>
        </p:txBody>
      </p:sp>
      <p:sp>
        <p:nvSpPr>
          <p:cNvPr id="334" name="iJF"/>
          <p:cNvSpPr/>
          <p:nvPr/>
        </p:nvSpPr>
        <p:spPr>
          <a:xfrm>
            <a:off x="6477000" y="3352800"/>
            <a:ext cx="49022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203200" indent="-203200">
              <a:lnSpc>
                <a:spcPct val="108000"/>
              </a:lnSpc>
              <a:buClr>
                <a:srgbClr val="8A6A2F"/>
              </a:buClr>
              <a:buFont typeface="Arial"/>
              <a:buChar char="•"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Join Field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writes the fields in </a:t>
            </a:r>
            <a:r>
              <a:rPr lang="en-US" sz="1400" b="1" dirty="0">
                <a:solidFill>
                  <a:srgbClr val="1F3A34"/>
                </a:solidFill>
                <a:latin typeface="Times New Roman"/>
                <a:cs typeface="Times New Roman"/>
              </a:rPr>
              <a:t>permanently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335" name="rdiv"/>
          <p:cNvSpPr/>
          <p:nvPr/>
        </p:nvSpPr>
        <p:spPr>
          <a:xfrm>
            <a:off x="6477000" y="4089400"/>
            <a:ext cx="48768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336" name="g2"/>
          <p:cNvSpPr/>
          <p:nvPr/>
        </p:nvSpPr>
        <p:spPr>
          <a:xfrm>
            <a:off x="6477000" y="42418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250" b="1" spc="100" dirty="0">
                <a:solidFill>
                  <a:srgbClr val="8A6A2F"/>
                </a:solidFill>
                <a:latin typeface="Times New Roman"/>
                <a:cs typeface="Times New Roman"/>
              </a:rPr>
              <a:t>RELATE — KEEP SEPARATE, STAY LINKED</a:t>
            </a:r>
          </a:p>
        </p:txBody>
      </p:sp>
      <p:sp>
        <p:nvSpPr>
          <p:cNvPr id="337" name="iAR"/>
          <p:cNvSpPr/>
          <p:nvPr/>
        </p:nvSpPr>
        <p:spPr>
          <a:xfrm>
            <a:off x="6477000" y="4546600"/>
            <a:ext cx="4902200" cy="711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203200" indent="-203200">
              <a:lnSpc>
                <a:spcPct val="108000"/>
              </a:lnSpc>
              <a:buClr>
                <a:srgbClr val="8A6A2F"/>
              </a:buClr>
              <a:buFont typeface="Arial"/>
              <a:buChar char="•"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Add Relate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keeps the tables </a:t>
            </a: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separate but linked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— for one-to-many.</a:t>
            </a:r>
          </a:p>
        </p:txBody>
      </p:sp>
      <p:pic>
        <p:nvPicPr>
          <p:cNvPr id="338" name="Graphic 338" descr="Separate data tabl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00" y="19685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50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Key Field — What Every Join Needs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join only works when both tables share a field whose values line up exactly.</a:t>
            </a:r>
            <a:endParaRPr lang="en-US" sz="1600" dirty="0"/>
          </a:p>
        </p:txBody>
      </p:sp>
      <p:sp>
        <p:nvSpPr>
          <p:cNvPr id="120" name="SecLabel"/>
          <p:cNvSpPr/>
          <p:nvPr/>
        </p:nvSpPr>
        <p:spPr>
          <a:xfrm>
            <a:off x="685800" y="32258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What the key field must satisfy</a:t>
            </a:r>
          </a:p>
        </p:txBody>
      </p:sp>
      <p:sp>
        <p:nvSpPr>
          <p:cNvPr id="130" name="KCard0"/>
          <p:cNvSpPr/>
          <p:nvPr/>
        </p:nvSpPr>
        <p:spPr>
          <a:xfrm>
            <a:off x="685800" y="3581400"/>
            <a:ext cx="3403600" cy="17526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03200" tIns="381000" rIns="203200" bIns="177800" anchor="t">
            <a:norm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1.  Exists in both tables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45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The same attribute must be present in the layer and in the table you are joining to it.</a:t>
            </a:r>
          </a:p>
        </p:txBody>
      </p:sp>
      <p:sp>
        <p:nvSpPr>
          <p:cNvPr id="131" name="KBar0"/>
          <p:cNvSpPr/>
          <p:nvPr/>
        </p:nvSpPr>
        <p:spPr>
          <a:xfrm>
            <a:off x="889000" y="3784600"/>
            <a:ext cx="5080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KCard1"/>
          <p:cNvSpPr/>
          <p:nvPr/>
        </p:nvSpPr>
        <p:spPr>
          <a:xfrm>
            <a:off x="4394200" y="3581400"/>
            <a:ext cx="3403600" cy="17526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03200" tIns="381000" rIns="203200" bIns="177800" anchor="t">
            <a:norm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2.  Same field type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45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Text joins to text, number to number. The text “01” will not match the number 1.</a:t>
            </a:r>
          </a:p>
        </p:txBody>
      </p:sp>
      <p:sp>
        <p:nvSpPr>
          <p:cNvPr id="133" name="KBar1"/>
          <p:cNvSpPr/>
          <p:nvPr/>
        </p:nvSpPr>
        <p:spPr>
          <a:xfrm>
            <a:off x="4597400" y="3784600"/>
            <a:ext cx="5080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KCard2"/>
          <p:cNvSpPr/>
          <p:nvPr/>
        </p:nvSpPr>
        <p:spPr>
          <a:xfrm>
            <a:off x="8102600" y="3581400"/>
            <a:ext cx="3403600" cy="17526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03200" tIns="381000" rIns="203200" bIns="177800" anchor="t">
            <a:normAutofit/>
          </a:bodyPr>
          <a:lstStyle/>
          <a:p>
            <a:pPr algn="l">
              <a:buNone/>
            </a:pPr>
            <a:r>
              <a:rPr lang="en-US" sz="165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3.  Values match exactly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45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Watch for leading zeros, trailing spaces, and upper- versus lower-case differences.</a:t>
            </a:r>
          </a:p>
        </p:txBody>
      </p:sp>
      <p:sp>
        <p:nvSpPr>
          <p:cNvPr id="135" name="KBar2"/>
          <p:cNvSpPr/>
          <p:nvPr/>
        </p:nvSpPr>
        <p:spPr>
          <a:xfrm>
            <a:off x="8305800" y="3784600"/>
            <a:ext cx="5080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Pitfall"/>
          <p:cNvSpPr/>
          <p:nvPr/>
        </p:nvSpPr>
        <p:spPr>
          <a:xfrm>
            <a:off x="685800" y="5588000"/>
            <a:ext cx="10820400" cy="711200"/>
          </a:xfrm>
          <a:prstGeom prst="roundRect">
            <a:avLst/>
          </a:prstGeom>
          <a:solidFill>
            <a:srgbClr val="EDE5D7"/>
          </a:solidFill>
          <a:ln w="12700">
            <a:solidFill>
              <a:srgbClr val="B08B57"/>
            </a:solidFill>
          </a:ln>
        </p:spPr>
        <p:txBody>
          <a:bodyPr wrap="square" lIns="203200" tIns="101600" rIns="203200" bIns="101600" anchor="ctr">
            <a:normAutofit lnSpcReduction="10000"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Check the key first.  </a:t>
            </a: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When a join comes back empty, the field type or the exact values almost always explain it — before you touch anything else.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0087E97-842F-4EE7-BA5A-9E331C8DE545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1752600"/>
          <a:ext cx="1905000" cy="13208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372083562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67767447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Pop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16014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TX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D9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29M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4991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FL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D9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22M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13928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D9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39M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45401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7867E42-7723-4DA7-986B-11337EC1D962}"/>
              </a:ext>
            </a:extLst>
          </p:cNvPr>
          <p:cNvGraphicFramePr>
            <a:graphicFrameLocks noGrp="1"/>
          </p:cNvGraphicFramePr>
          <p:nvPr/>
        </p:nvGraphicFramePr>
        <p:xfrm>
          <a:off x="7620000" y="1752600"/>
          <a:ext cx="2159000" cy="1320800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4211572809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471095035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Income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48792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TX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D9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$63k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05445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FL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D9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$61k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66857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D9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$75k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18230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905F25F-B0AC-4437-A730-2D1C96E2F26F}"/>
              </a:ext>
            </a:extLst>
          </p:cNvPr>
          <p:cNvSpPr txBox="1"/>
          <p:nvPr/>
        </p:nvSpPr>
        <p:spPr>
          <a:xfrm>
            <a:off x="1219200" y="14986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6A6258"/>
                </a:solidFill>
                <a:latin typeface="Times New Roman"/>
                <a:cs typeface="Times New Roman"/>
              </a:rPr>
              <a:t>States layer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5D3349-BB74-4EA1-8D6D-5BB7A912E5E9}"/>
              </a:ext>
            </a:extLst>
          </p:cNvPr>
          <p:cNvSpPr txBox="1"/>
          <p:nvPr/>
        </p:nvSpPr>
        <p:spPr>
          <a:xfrm>
            <a:off x="7620000" y="14986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6A6258"/>
                </a:solidFill>
                <a:latin typeface="Times New Roman"/>
                <a:cs typeface="Times New Roman"/>
              </a:rPr>
              <a:t>income.csv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262C38-F4E8-4381-A825-C2A0DCFADF93}"/>
              </a:ext>
            </a:extLst>
          </p:cNvPr>
          <p:cNvSpPr/>
          <p:nvPr/>
        </p:nvSpPr>
        <p:spPr>
          <a:xfrm>
            <a:off x="3810000" y="2108200"/>
            <a:ext cx="2540000" cy="431800"/>
          </a:xfrm>
          <a:prstGeom prst="roundRect">
            <a:avLst/>
          </a:prstGeom>
          <a:solidFill>
            <a:srgbClr val="EDE5D7"/>
          </a:solidFill>
          <a:ln w="12700" cap="flat" cmpd="sng" algn="ctr">
            <a:solidFill>
              <a:srgbClr val="B08B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F3A34"/>
                </a:solidFill>
                <a:latin typeface="Times New Roman"/>
                <a:cs typeface="Times New Roman"/>
              </a:rPr>
              <a:t>matched on  State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257497E-765C-4A4D-9B16-E7648A3ED09B}"/>
              </a:ext>
            </a:extLst>
          </p:cNvPr>
          <p:cNvSpPr/>
          <p:nvPr/>
        </p:nvSpPr>
        <p:spPr>
          <a:xfrm>
            <a:off x="3175000" y="2235200"/>
            <a:ext cx="584200" cy="177800"/>
          </a:xfrm>
          <a:prstGeom prst="rightArrow">
            <a:avLst/>
          </a:prstGeom>
          <a:solidFill>
            <a:srgbClr val="B08B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5164EC3-B550-4D2D-8554-A58E26726807}"/>
              </a:ext>
            </a:extLst>
          </p:cNvPr>
          <p:cNvSpPr/>
          <p:nvPr/>
        </p:nvSpPr>
        <p:spPr>
          <a:xfrm>
            <a:off x="6400800" y="2235200"/>
            <a:ext cx="584200" cy="177800"/>
          </a:xfrm>
          <a:prstGeom prst="rightArrow">
            <a:avLst/>
          </a:prstGeom>
          <a:solidFill>
            <a:srgbClr val="B08B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</p:spTree>
    <p:extLst>
      <p:ext uri="{BB962C8B-B14F-4D97-AF65-F5344CB8AC3E}">
        <p14:creationId xmlns:p14="http://schemas.microsoft.com/office/powerpoint/2010/main" val="71837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Where to Find These Commands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Add Join, Add Relate, and Join Field all live in a few predictable places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  <p:sp>
        <p:nvSpPr>
          <p:cNvPr id="520" name="Card1"/>
          <p:cNvSpPr/>
          <p:nvPr/>
        </p:nvSpPr>
        <p:spPr>
          <a:xfrm>
            <a:off x="685800" y="1600200"/>
            <a:ext cx="3429000" cy="3733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21" name="Circ1"/>
          <p:cNvSpPr/>
          <p:nvPr/>
        </p:nvSpPr>
        <p:spPr>
          <a:xfrm>
            <a:off x="939800" y="1854200"/>
            <a:ext cx="533400" cy="5334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22" name="S522"/>
          <p:cNvSpPr/>
          <p:nvPr/>
        </p:nvSpPr>
        <p:spPr>
          <a:xfrm>
            <a:off x="1625600" y="1905000"/>
            <a:ext cx="22606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Contents pane</a:t>
            </a:r>
          </a:p>
        </p:txBody>
      </p:sp>
      <p:sp>
        <p:nvSpPr>
          <p:cNvPr id="523" name="S523"/>
          <p:cNvSpPr/>
          <p:nvPr/>
        </p:nvSpPr>
        <p:spPr>
          <a:xfrm>
            <a:off x="939800" y="2717800"/>
            <a:ext cx="2921000" cy="1905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24" name="S524"/>
          <p:cNvSpPr/>
          <p:nvPr/>
        </p:nvSpPr>
        <p:spPr>
          <a:xfrm>
            <a:off x="939800" y="2844800"/>
            <a:ext cx="294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6A6258"/>
                </a:solidFill>
                <a:latin typeface="Times New Roman"/>
                <a:cs typeface="Times New Roman"/>
              </a:rPr>
              <a:t>Right-click a layer or standalone table  →  Joins and Relates</a:t>
            </a:r>
          </a:p>
        </p:txBody>
      </p:sp>
      <p:sp>
        <p:nvSpPr>
          <p:cNvPr id="525" name="S525"/>
          <p:cNvSpPr/>
          <p:nvPr/>
        </p:nvSpPr>
        <p:spPr>
          <a:xfrm>
            <a:off x="939800" y="37084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300" b="1" spc="40" dirty="0">
                <a:solidFill>
                  <a:srgbClr val="B08B57"/>
                </a:solidFill>
                <a:latin typeface="Times New Roman"/>
                <a:cs typeface="Times New Roman"/>
              </a:rPr>
              <a:t>You'll find:</a:t>
            </a:r>
          </a:p>
        </p:txBody>
      </p:sp>
      <p:sp>
        <p:nvSpPr>
          <p:cNvPr id="526" name="S526"/>
          <p:cNvSpPr/>
          <p:nvPr/>
        </p:nvSpPr>
        <p:spPr>
          <a:xfrm>
            <a:off x="965200" y="3962400"/>
            <a:ext cx="2921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Times New Roman"/>
                <a:cs typeface="Times New Roman"/>
              </a:rPr>
              <a:t>Add Join</a:t>
            </a:r>
          </a:p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Times New Roman"/>
                <a:cs typeface="Times New Roman"/>
              </a:rPr>
              <a:t>Add Relate</a:t>
            </a:r>
          </a:p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Times New Roman"/>
                <a:cs typeface="Times New Roman"/>
              </a:rPr>
              <a:t>Remove Join</a:t>
            </a:r>
          </a:p>
        </p:txBody>
      </p:sp>
      <p:sp>
        <p:nvSpPr>
          <p:cNvPr id="540" name="Card2"/>
          <p:cNvSpPr/>
          <p:nvPr/>
        </p:nvSpPr>
        <p:spPr>
          <a:xfrm>
            <a:off x="4381500" y="1600200"/>
            <a:ext cx="3429000" cy="3733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41" name="Circ2"/>
          <p:cNvSpPr/>
          <p:nvPr/>
        </p:nvSpPr>
        <p:spPr>
          <a:xfrm>
            <a:off x="4635500" y="1854200"/>
            <a:ext cx="533400" cy="533400"/>
          </a:xfrm>
          <a:prstGeom prst="ellipse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42" name="S542"/>
          <p:cNvSpPr/>
          <p:nvPr/>
        </p:nvSpPr>
        <p:spPr>
          <a:xfrm>
            <a:off x="5321300" y="1905000"/>
            <a:ext cx="22606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Data tab (ribbon)</a:t>
            </a:r>
          </a:p>
        </p:txBody>
      </p:sp>
      <p:sp>
        <p:nvSpPr>
          <p:cNvPr id="543" name="S543"/>
          <p:cNvSpPr/>
          <p:nvPr/>
        </p:nvSpPr>
        <p:spPr>
          <a:xfrm>
            <a:off x="4635500" y="2717800"/>
            <a:ext cx="2921000" cy="1905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44" name="S544"/>
          <p:cNvSpPr/>
          <p:nvPr/>
        </p:nvSpPr>
        <p:spPr>
          <a:xfrm>
            <a:off x="4635500" y="2844800"/>
            <a:ext cx="294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6A6258"/>
                </a:solidFill>
                <a:latin typeface="Times New Roman"/>
                <a:cs typeface="Times New Roman"/>
              </a:rPr>
              <a:t>Select the layer, then  Data tab  →  Relationship group</a:t>
            </a:r>
          </a:p>
        </p:txBody>
      </p:sp>
      <p:sp>
        <p:nvSpPr>
          <p:cNvPr id="545" name="S545"/>
          <p:cNvSpPr/>
          <p:nvPr/>
        </p:nvSpPr>
        <p:spPr>
          <a:xfrm>
            <a:off x="4635500" y="37084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300" b="1" spc="40" dirty="0">
                <a:solidFill>
                  <a:srgbClr val="B08B57"/>
                </a:solidFill>
                <a:latin typeface="Times New Roman"/>
                <a:cs typeface="Times New Roman"/>
              </a:rPr>
              <a:t>You'll find:</a:t>
            </a:r>
          </a:p>
        </p:txBody>
      </p:sp>
      <p:sp>
        <p:nvSpPr>
          <p:cNvPr id="546" name="S546"/>
          <p:cNvSpPr/>
          <p:nvPr/>
        </p:nvSpPr>
        <p:spPr>
          <a:xfrm>
            <a:off x="4660900" y="3962400"/>
            <a:ext cx="2921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Times New Roman"/>
                <a:cs typeface="Times New Roman"/>
              </a:rPr>
              <a:t>Add Join</a:t>
            </a:r>
          </a:p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Times New Roman"/>
                <a:cs typeface="Times New Roman"/>
              </a:rPr>
              <a:t>Add Relate</a:t>
            </a:r>
          </a:p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Times New Roman"/>
                <a:cs typeface="Times New Roman"/>
              </a:rPr>
              <a:t>Remove / Remove All Joins</a:t>
            </a:r>
          </a:p>
        </p:txBody>
      </p:sp>
      <p:sp>
        <p:nvSpPr>
          <p:cNvPr id="560" name="Card3"/>
          <p:cNvSpPr/>
          <p:nvPr/>
        </p:nvSpPr>
        <p:spPr>
          <a:xfrm>
            <a:off x="8077200" y="1600200"/>
            <a:ext cx="3429000" cy="3733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61" name="Circ3"/>
          <p:cNvSpPr/>
          <p:nvPr/>
        </p:nvSpPr>
        <p:spPr>
          <a:xfrm>
            <a:off x="8331200" y="1854200"/>
            <a:ext cx="533400" cy="5334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62" name="S562"/>
          <p:cNvSpPr/>
          <p:nvPr/>
        </p:nvSpPr>
        <p:spPr>
          <a:xfrm>
            <a:off x="9017000" y="1905000"/>
            <a:ext cx="22606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Geoprocessing tools</a:t>
            </a:r>
          </a:p>
        </p:txBody>
      </p:sp>
      <p:sp>
        <p:nvSpPr>
          <p:cNvPr id="563" name="S563"/>
          <p:cNvSpPr/>
          <p:nvPr/>
        </p:nvSpPr>
        <p:spPr>
          <a:xfrm>
            <a:off x="8331200" y="2717800"/>
            <a:ext cx="2921000" cy="1905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64" name="S564"/>
          <p:cNvSpPr/>
          <p:nvPr/>
        </p:nvSpPr>
        <p:spPr>
          <a:xfrm>
            <a:off x="8331200" y="2844800"/>
            <a:ext cx="294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6A6258"/>
                </a:solidFill>
                <a:latin typeface="Times New Roman"/>
                <a:cs typeface="Times New Roman"/>
              </a:rPr>
              <a:t>Analysis tab  →  Tools,  then search by name</a:t>
            </a:r>
          </a:p>
        </p:txBody>
      </p:sp>
      <p:sp>
        <p:nvSpPr>
          <p:cNvPr id="565" name="S565"/>
          <p:cNvSpPr/>
          <p:nvPr/>
        </p:nvSpPr>
        <p:spPr>
          <a:xfrm>
            <a:off x="8331200" y="37084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300" b="1" spc="40" dirty="0">
                <a:solidFill>
                  <a:srgbClr val="B08B57"/>
                </a:solidFill>
                <a:latin typeface="Times New Roman"/>
                <a:cs typeface="Times New Roman"/>
              </a:rPr>
              <a:t>You'll find:</a:t>
            </a:r>
          </a:p>
        </p:txBody>
      </p:sp>
      <p:sp>
        <p:nvSpPr>
          <p:cNvPr id="566" name="S566"/>
          <p:cNvSpPr/>
          <p:nvPr/>
        </p:nvSpPr>
        <p:spPr>
          <a:xfrm>
            <a:off x="8356600" y="3962400"/>
            <a:ext cx="2921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Times New Roman"/>
                <a:cs typeface="Times New Roman"/>
              </a:rPr>
              <a:t>Add Join</a:t>
            </a:r>
          </a:p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Times New Roman"/>
                <a:cs typeface="Times New Roman"/>
              </a:rPr>
              <a:t>Add Relate</a:t>
            </a:r>
          </a:p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i="1" dirty="0">
                <a:solidFill>
                  <a:srgbClr val="6A6258"/>
                </a:solidFill>
                <a:latin typeface="Times New Roman"/>
                <a:cs typeface="Times New Roman"/>
              </a:rPr>
              <a:t>Join Field</a:t>
            </a:r>
          </a:p>
          <a:p>
            <a:pPr marL="190500" indent="-190500">
              <a:spcBef>
                <a:spcPts val="3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i="1" dirty="0">
                <a:solidFill>
                  <a:srgbClr val="6A6258"/>
                </a:solidFill>
                <a:latin typeface="Times New Roman"/>
                <a:cs typeface="Times New Roman"/>
              </a:rPr>
              <a:t>Spatial Join</a:t>
            </a:r>
          </a:p>
        </p:txBody>
      </p:sp>
      <p:sp>
        <p:nvSpPr>
          <p:cNvPr id="6" name="TipStrip"/>
          <p:cNvSpPr/>
          <p:nvPr/>
        </p:nvSpPr>
        <p:spPr>
          <a:xfrm>
            <a:off x="685800" y="5537200"/>
            <a:ext cx="10820400" cy="6858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203200" tIns="635" rIns="203200" bIns="635" anchor="ctr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Tip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Join Field and Spatial Join are geoprocessing tools only — not on the right-click menu. To review or remove an existing join, open </a:t>
            </a:r>
            <a:r>
              <a:rPr lang="en-US" sz="1400" b="1" dirty="0">
                <a:solidFill>
                  <a:srgbClr val="1F3A34"/>
                </a:solidFill>
                <a:latin typeface="Times New Roman"/>
                <a:cs typeface="Times New Roman"/>
              </a:rPr>
              <a:t>Layer Properties → Joins / Relates tab.</a:t>
            </a:r>
          </a:p>
        </p:txBody>
      </p:sp>
      <p:pic>
        <p:nvPicPr>
          <p:cNvPr id="567" name="Graphic 567" descr="Right-click curs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1981200"/>
            <a:ext cx="279400" cy="279400"/>
          </a:xfrm>
          <a:prstGeom prst="rect">
            <a:avLst/>
          </a:prstGeom>
        </p:spPr>
      </p:pic>
      <p:pic>
        <p:nvPicPr>
          <p:cNvPr id="568" name="Graphic 568" descr="Ribbon Data tab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1981200"/>
            <a:ext cx="279400" cy="279400"/>
          </a:xfrm>
          <a:prstGeom prst="rect">
            <a:avLst/>
          </a:prstGeom>
        </p:spPr>
      </p:pic>
      <p:pic>
        <p:nvPicPr>
          <p:cNvPr id="569" name="Graphic 569" descr="Geoprocessing too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8200" y="19812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0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Ways to Do a Table Join in ArcGIS Pro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are attribute joins; the practical difference is whether the result stays temporary or becomes part of the dataset.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85800" y="1498600"/>
          <a:ext cx="10744200" cy="3364992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0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Question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Add Join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Join Field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Where you use it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Right-click a layer or table view → Joins and Relates → Add Join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Analysis tab → Tools → Join Field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happens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Joined fields are added dynamically to the current layer or table view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Chosen fields are written directly into the input table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long it lasts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A6A2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Temporary unless you save the layer or export a new output</a:t>
                      </a:r>
                      <a:endParaRPr lang="en-US" sz="1350" b="1" dirty="0">
                        <a:solidFill>
                          <a:srgbClr val="8A6A2F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Permanent change to the dataset</a:t>
                      </a:r>
                      <a:endParaRPr lang="en-US" sz="1350" b="1" dirty="0">
                        <a:solidFill>
                          <a:srgbClr val="1F3A34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use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Exploration, symbology, quick analysis, and testing whether keys match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preparation, exporting, and building a reusable teaching dataset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Plain-language description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“Link the table for now.”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“Copy the fields into the table.”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73578" y="5613400"/>
            <a:ext cx="10856422" cy="731520"/>
          </a:xfrm>
          <a:prstGeom prst="rect">
            <a:avLst/>
          </a:prstGeom>
          <a:solidFill>
            <a:srgbClr val="EDE5D7"/>
          </a:solidFill>
          <a:ln>
            <a:solidFill>
              <a:srgbClr val="B08B57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takeaway: both commands are table joins in ArcGIS Pro. Use Add Join when you want a live, temporary link; use Join Field when you want the fields stored in the table itself.</a:t>
            </a:r>
            <a:endParaRPr lang="en-US" sz="1600" dirty="0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</p:spTree>
    <p:extLst>
      <p:ext uri="{BB962C8B-B14F-4D97-AF65-F5344CB8AC3E}">
        <p14:creationId xmlns:p14="http://schemas.microsoft.com/office/powerpoint/2010/main" val="10410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a Join Works Cleanly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of thumb for students: the target row should be able to find one clear match in the joined table.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536700"/>
            <a:ext cx="1325880" cy="256032"/>
          </a:xfrm>
          <a:prstGeom prst="rect">
            <a:avLst/>
          </a:prstGeom>
          <a:solidFill>
            <a:srgbClr val="EDE5D7"/>
          </a:solidFill>
          <a:ln>
            <a:solidFill>
              <a:srgbClr val="B08B57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ONE-TO-ONE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18475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table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3794760" y="18475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 table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537960" y="17195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Joined view</a:t>
            </a:r>
            <a:endParaRPr lang="en-US" sz="112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685800" y="2057908"/>
          <a:ext cx="1938528" cy="1202436"/>
        </p:xfrm>
        <a:graphic>
          <a:graphicData uri="http://schemas.openxmlformats.org/drawingml/2006/table">
            <a:tbl>
              <a:tblPr/>
              <a:tblGrid>
                <a:gridCol w="104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Population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29.0M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Florida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22.0M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California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39.0M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2724912" y="2359660"/>
            <a:ext cx="914400" cy="310896"/>
          </a:xfrm>
          <a:prstGeom prst="rect">
            <a:avLst/>
          </a:prstGeom>
          <a:solidFill>
            <a:srgbClr val="EDE5D7"/>
          </a:solidFill>
          <a:ln>
            <a:solidFill>
              <a:srgbClr val="B08B57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 by State</a:t>
            </a:r>
            <a:endParaRPr lang="en-US" sz="1250" dirty="0"/>
          </a:p>
        </p:txBody>
      </p:sp>
      <p:graphicFrame>
        <p:nvGraphicFramePr>
          <p:cNvPr id="20" name="Table 1"/>
          <p:cNvGraphicFramePr>
            <a:graphicFrameLocks noGrp="1"/>
          </p:cNvGraphicFramePr>
          <p:nvPr/>
        </p:nvGraphicFramePr>
        <p:xfrm>
          <a:off x="3767328" y="2057908"/>
          <a:ext cx="1938528" cy="1394460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Median income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$63k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Florida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$61k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California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$75k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2"/>
          <p:cNvGraphicFramePr>
            <a:graphicFrameLocks noGrp="1"/>
          </p:cNvGraphicFramePr>
          <p:nvPr/>
        </p:nvGraphicFramePr>
        <p:xfrm>
          <a:off x="6510528" y="1939036"/>
          <a:ext cx="4754880" cy="128016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Population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Median income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29.0M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$63k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Florida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22.0M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$61k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California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39.0M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$75k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510528" y="3328924"/>
            <a:ext cx="4754880" cy="438912"/>
          </a:xfrm>
          <a:prstGeom prst="rect">
            <a:avLst/>
          </a:prstGeom>
          <a:solidFill>
            <a:srgbClr val="FBF8F2"/>
          </a:solidFill>
          <a:ln>
            <a:solidFill>
              <a:srgbClr val="C8BCA8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state row finds exactly one matching record, so the joined table stays easy to read.</a:t>
            </a:r>
            <a:endParaRPr lang="en-US" sz="1430" dirty="0"/>
          </a:p>
        </p:txBody>
      </p:sp>
      <p:sp>
        <p:nvSpPr>
          <p:cNvPr id="15" name="Shape 10"/>
          <p:cNvSpPr/>
          <p:nvPr/>
        </p:nvSpPr>
        <p:spPr>
          <a:xfrm>
            <a:off x="685800" y="3950716"/>
            <a:ext cx="1056132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685800" y="4097020"/>
            <a:ext cx="1554480" cy="256032"/>
          </a:xfrm>
          <a:prstGeom prst="rect">
            <a:avLst/>
          </a:prstGeom>
          <a:solidFill>
            <a:srgbClr val="EDE5D7"/>
          </a:solidFill>
          <a:ln>
            <a:solidFill>
              <a:srgbClr val="B08B57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MANY-TO-ONE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704088" y="44079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table</a:t>
            </a:r>
            <a:endParaRPr lang="en-US" sz="1120" dirty="0"/>
          </a:p>
        </p:txBody>
      </p:sp>
      <p:sp>
        <p:nvSpPr>
          <p:cNvPr id="18" name="Text 13"/>
          <p:cNvSpPr/>
          <p:nvPr/>
        </p:nvSpPr>
        <p:spPr>
          <a:xfrm>
            <a:off x="3794760" y="44079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 table</a:t>
            </a:r>
            <a:endParaRPr lang="en-US" sz="1120" dirty="0"/>
          </a:p>
        </p:txBody>
      </p:sp>
      <p:sp>
        <p:nvSpPr>
          <p:cNvPr id="19" name="Text 14"/>
          <p:cNvSpPr/>
          <p:nvPr/>
        </p:nvSpPr>
        <p:spPr>
          <a:xfrm>
            <a:off x="6537960" y="42799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Joined view</a:t>
            </a:r>
            <a:endParaRPr lang="en-US" sz="1120" dirty="0"/>
          </a:p>
        </p:txBody>
      </p:sp>
      <p:graphicFrame>
        <p:nvGraphicFramePr>
          <p:cNvPr id="13" name="Table 3"/>
          <p:cNvGraphicFramePr>
            <a:graphicFrameLocks noGrp="1"/>
          </p:cNvGraphicFramePr>
          <p:nvPr/>
        </p:nvGraphicFramePr>
        <p:xfrm>
          <a:off x="685800" y="4618228"/>
          <a:ext cx="1938528" cy="1202436"/>
        </p:xfrm>
        <a:graphic>
          <a:graphicData uri="http://schemas.openxmlformats.org/drawingml/2006/table">
            <a:tbl>
              <a:tblPr/>
              <a:tblGrid>
                <a:gridCol w="98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County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Travis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Dallas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Orange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California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5"/>
          <p:cNvSpPr/>
          <p:nvPr/>
        </p:nvSpPr>
        <p:spPr>
          <a:xfrm>
            <a:off x="2724912" y="4919980"/>
            <a:ext cx="914400" cy="310896"/>
          </a:xfrm>
          <a:prstGeom prst="rect">
            <a:avLst/>
          </a:prstGeom>
          <a:solidFill>
            <a:srgbClr val="EDE5D7"/>
          </a:solidFill>
          <a:ln>
            <a:solidFill>
              <a:srgbClr val="B08B57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 by State</a:t>
            </a:r>
            <a:endParaRPr lang="en-US" sz="1250" dirty="0"/>
          </a:p>
        </p:txBody>
      </p:sp>
      <p:graphicFrame>
        <p:nvGraphicFramePr>
          <p:cNvPr id="22" name="Table 4"/>
          <p:cNvGraphicFramePr>
            <a:graphicFrameLocks noGrp="1"/>
          </p:cNvGraphicFramePr>
          <p:nvPr/>
        </p:nvGraphicFramePr>
        <p:xfrm>
          <a:off x="3767328" y="4709668"/>
          <a:ext cx="1938528" cy="969264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South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California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West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Table 5"/>
          <p:cNvGraphicFramePr>
            <a:graphicFrameLocks noGrp="1"/>
          </p:cNvGraphicFramePr>
          <p:nvPr/>
        </p:nvGraphicFramePr>
        <p:xfrm>
          <a:off x="6510528" y="4526788"/>
          <a:ext cx="4754880" cy="12801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County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Travis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South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Dallas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South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Orange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California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West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 16"/>
          <p:cNvSpPr/>
          <p:nvPr/>
        </p:nvSpPr>
        <p:spPr>
          <a:xfrm>
            <a:off x="6510528" y="5852668"/>
            <a:ext cx="4754880" cy="438912"/>
          </a:xfrm>
          <a:prstGeom prst="rect">
            <a:avLst/>
          </a:prstGeom>
          <a:solidFill>
            <a:srgbClr val="FBF8F2"/>
          </a:solidFill>
          <a:ln>
            <a:solidFill>
              <a:srgbClr val="C8BCA8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Several county rows point to one state record, so the state attribute simply repeats in the joined view.</a:t>
            </a:r>
            <a:endParaRPr lang="en-US" sz="1430" dirty="0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</p:spTree>
    <p:extLst>
      <p:ext uri="{BB962C8B-B14F-4D97-AF65-F5344CB8AC3E}">
        <p14:creationId xmlns:p14="http://schemas.microsoft.com/office/powerpoint/2010/main" val="4181106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You Need Add Relate Instead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a relate when one record should stay connected to several matching records without forcing them into one flattened row.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647583"/>
            <a:ext cx="2011680" cy="256032"/>
          </a:xfrm>
          <a:prstGeom prst="rect">
            <a:avLst/>
          </a:prstGeom>
          <a:solidFill>
            <a:srgbClr val="EDE5D7"/>
          </a:solidFill>
          <a:ln>
            <a:solidFill>
              <a:srgbClr val="B08B57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ONE-TO-MANY EXAMPLE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1995055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States table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3493008" y="1995055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Cities table</a:t>
            </a:r>
            <a:endParaRPr lang="en-US" sz="112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685800" y="2196223"/>
          <a:ext cx="1783080" cy="1078992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California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578608" y="2653423"/>
            <a:ext cx="713232" cy="292608"/>
          </a:xfrm>
          <a:prstGeom prst="rect">
            <a:avLst/>
          </a:prstGeom>
          <a:solidFill>
            <a:srgbClr val="EDE5D7"/>
          </a:solidFill>
          <a:ln w="12700">
            <a:solidFill>
              <a:srgbClr val="B08B5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→ many</a:t>
            </a:r>
            <a:endParaRPr lang="en-US" sz="1160" b="1" dirty="0">
              <a:solidFill>
                <a:srgbClr val="1F3A34"/>
              </a:solidFill>
            </a:endParaRPr>
          </a:p>
        </p:txBody>
      </p:sp>
      <p:graphicFrame>
        <p:nvGraphicFramePr>
          <p:cNvPr id="9" name="Table 1"/>
          <p:cNvGraphicFramePr>
            <a:graphicFrameLocks noGrp="1"/>
          </p:cNvGraphicFramePr>
          <p:nvPr/>
        </p:nvGraphicFramePr>
        <p:xfrm>
          <a:off x="3456432" y="2196223"/>
          <a:ext cx="3127248" cy="1499616"/>
        </p:xfrm>
        <a:graphic>
          <a:graphicData uri="http://schemas.openxmlformats.org/drawingml/2006/table">
            <a:tbl>
              <a:tblPr/>
              <a:tblGrid>
                <a:gridCol w="1700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City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Houston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Dallas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Austin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Texas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Los Angeles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California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13232" y="4438166"/>
            <a:ext cx="4015047" cy="1271847"/>
          </a:xfrm>
          <a:prstGeom prst="rect">
            <a:avLst/>
          </a:prstGeom>
          <a:solidFill>
            <a:srgbClr val="FBF8F2"/>
          </a:solidFill>
          <a:ln>
            <a:solidFill>
              <a:srgbClr val="C8BCA8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endParaRPr lang="en-US" sz="1500" dirty="0">
              <a:solidFill>
                <a:srgbClr val="1F1F1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Relate keeps the tables separate and lets you open all related city records when Texas is selected.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06640" y="1647583"/>
            <a:ext cx="1920240" cy="256032"/>
          </a:xfrm>
          <a:prstGeom prst="rect">
            <a:avLst/>
          </a:prstGeom>
          <a:solidFill>
            <a:srgbClr val="EDE5D7"/>
          </a:solidFill>
          <a:ln>
            <a:solidFill>
              <a:srgbClr val="B08B57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QUICK DECISION RULE</a:t>
            </a:r>
            <a:endParaRPr lang="en-US" sz="1150" dirty="0"/>
          </a:p>
        </p:txBody>
      </p:sp>
      <p:graphicFrame>
        <p:nvGraphicFramePr>
          <p:cNvPr id="14" name="Table 2"/>
          <p:cNvGraphicFramePr>
            <a:graphicFrameLocks noGrp="1"/>
          </p:cNvGraphicFramePr>
          <p:nvPr/>
        </p:nvGraphicFramePr>
        <p:xfrm>
          <a:off x="7360920" y="2196223"/>
          <a:ext cx="4160520" cy="2176272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Need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tool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Preview joined fields temporarily in a layer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Add Join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Write the joined fields into the dataset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Join Field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Keep tables separate and open multiple related records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F3A3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Add Relate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>
                    <a:lnL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8B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</p:spTree>
    <p:extLst>
      <p:ext uri="{BB962C8B-B14F-4D97-AF65-F5344CB8AC3E}">
        <p14:creationId xmlns:p14="http://schemas.microsoft.com/office/powerpoint/2010/main" val="3954490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Joins Fail — and How to Fix Each 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a join returns blanks or wrong values, it is almost always one of these four things.</a:t>
            </a:r>
            <a:endParaRPr lang="en-US" sz="16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0B30AD-F1FF-4EF3-8775-D020AC3FD5C2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498600"/>
          <a:ext cx="108204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3230877969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729807047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374598114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Symptom</a:t>
                      </a:r>
                    </a:p>
                  </a:txBody>
                  <a:tcPr anchor="ctr"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Likely cause</a:t>
                      </a:r>
                    </a:p>
                  </a:txBody>
                  <a:tcPr anchor="ctr"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Fix</a:t>
                      </a:r>
                    </a:p>
                  </a:txBody>
                  <a:tcPr anchor="ctr">
                    <a:solidFill>
                      <a:srgbClr val="1F3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89031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Every joined field shows &lt;Null&gt;</a:t>
                      </a:r>
                    </a:p>
                  </a:txBody>
                  <a:tcPr anchor="ctr"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Key fields are different types (text vs. number)</a:t>
                      </a:r>
                    </a:p>
                  </a:txBody>
                  <a:tcPr anchor="ctr"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Make both keys the same type — add a text field and Calculate Field to copy the key</a:t>
                      </a:r>
                    </a:p>
                  </a:txBody>
                  <a:tcPr anchor="ctr"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14822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Some rows match, others stay blank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Values don't line up exactly: leading zeros, trailing spaces, or case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Trim and pad the key so “1” and “01” agree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14237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Row count suddenly multiplies</a:t>
                      </a:r>
                    </a:p>
                  </a:txBody>
                  <a:tcPr anchor="ctr"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The join table has several matches per record (many-to-many)</a:t>
                      </a:r>
                    </a:p>
                  </a:txBody>
                  <a:tcPr anchor="ctr"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Use Add Relate, or summarize the table to one row per key first</a:t>
                      </a:r>
                    </a:p>
                  </a:txBody>
                  <a:tcPr anchor="ctr">
                    <a:solidFill>
                      <a:srgbClr val="FB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7727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F3A34"/>
                          </a:solidFill>
                          <a:latin typeface="Times New Roman"/>
                          <a:cs typeface="Times New Roman"/>
                        </a:rPr>
                        <a:t>Joined fields disappear on reopen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Add Join is only temporary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Export Features to save, or use Join Field to write the fields in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231854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AEF9D4-DB61-42C0-A3BB-7D95DFEC763B}"/>
              </a:ext>
            </a:extLst>
          </p:cNvPr>
          <p:cNvSpPr/>
          <p:nvPr/>
        </p:nvSpPr>
        <p:spPr>
          <a:xfrm>
            <a:off x="685800" y="5029200"/>
            <a:ext cx="10820400" cy="711200"/>
          </a:xfrm>
          <a:prstGeom prst="roundRect">
            <a:avLst/>
          </a:prstGeom>
          <a:solidFill>
            <a:srgbClr val="EDE5D7"/>
          </a:solidFill>
          <a:ln w="12700" cap="flat" cmpd="sng" algn="ctr">
            <a:solidFill>
              <a:srgbClr val="B08B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500">
                <a:solidFill>
                  <a:srgbClr val="1F3A34"/>
                </a:solidFill>
                <a:latin typeface="Times New Roman"/>
                <a:cs typeface="Times New Roman"/>
              </a:rPr>
              <a:t>Validate before you commit:  click Validate Join in the Add Join dialog to see how many records will actually match.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</p:spTree>
    <p:extLst>
      <p:ext uri="{BB962C8B-B14F-4D97-AF65-F5344CB8AC3E}">
        <p14:creationId xmlns:p14="http://schemas.microsoft.com/office/powerpoint/2010/main" val="3268252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Tool Should You Use?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questions decide it — follow the path from each question to its outcome.</a:t>
            </a:r>
            <a:endParaRPr lang="en-US" sz="1600" dirty="0"/>
          </a:p>
        </p:txBody>
      </p:sp>
      <p:sp>
        <p:nvSpPr>
          <p:cNvPr id="200" name="Q0"/>
          <p:cNvSpPr/>
          <p:nvPr/>
        </p:nvSpPr>
        <p:spPr>
          <a:xfrm>
            <a:off x="685800" y="1498600"/>
            <a:ext cx="4521200" cy="11684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B08B57"/>
            </a:solidFill>
          </a:ln>
        </p:spPr>
        <p:txBody>
          <a:bodyPr wrap="square" lIns="203200" tIns="101600" rIns="177800" bIns="10160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1.  Do you need the joined fields written into the dataset permanently?</a:t>
            </a:r>
          </a:p>
        </p:txBody>
      </p:sp>
      <p:sp>
        <p:nvSpPr>
          <p:cNvPr id="210" name="YArrow0"/>
          <p:cNvSpPr/>
          <p:nvPr/>
        </p:nvSpPr>
        <p:spPr>
          <a:xfrm>
            <a:off x="5308600" y="1879600"/>
            <a:ext cx="1219200" cy="254000"/>
          </a:xfrm>
          <a:prstGeom prst="rightArrow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Yes0"/>
          <p:cNvSpPr/>
          <p:nvPr/>
        </p:nvSpPr>
        <p:spPr>
          <a:xfrm>
            <a:off x="5308600" y="16002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0" tIns="12700" rIns="12700" bIns="12700" anchor="ctr">
            <a:normAutofit lnSpcReduction="10000"/>
          </a:bodyPr>
          <a:lstStyle/>
          <a:p>
            <a:pPr algn="ctr">
              <a:buNone/>
            </a:pPr>
            <a:r>
              <a:rPr lang="en-US" sz="1400" b="1" i="1" dirty="0">
                <a:solidFill>
                  <a:srgbClr val="8A6A2F"/>
                </a:solidFill>
                <a:latin typeface="Times New Roman" pitchFamily="34" charset="0"/>
                <a:cs typeface="Times New Roman" pitchFamily="34" charset="0"/>
              </a:rPr>
              <a:t>Yes</a:t>
            </a:r>
          </a:p>
        </p:txBody>
      </p:sp>
      <p:sp>
        <p:nvSpPr>
          <p:cNvPr id="230" name="Out0"/>
          <p:cNvSpPr/>
          <p:nvPr/>
        </p:nvSpPr>
        <p:spPr>
          <a:xfrm>
            <a:off x="6604000" y="1498600"/>
            <a:ext cx="4902200" cy="1168400"/>
          </a:xfrm>
          <a:prstGeom prst="roundRect">
            <a:avLst/>
          </a:prstGeom>
          <a:solidFill>
            <a:srgbClr val="1F3A34"/>
          </a:solidFill>
          <a:ln>
            <a:noFill/>
          </a:ln>
        </p:spPr>
        <p:txBody>
          <a:bodyPr wrap="square" lIns="203200" tIns="152400" rIns="203200" bIns="12700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cs typeface="Times New Roman" pitchFamily="34" charset="0"/>
              </a:rPr>
              <a:t>Join Field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500" dirty="0">
                <a:solidFill>
                  <a:srgbClr val="F3EFE7"/>
                </a:solidFill>
                <a:latin typeface="Times New Roman" pitchFamily="34" charset="0"/>
                <a:cs typeface="Times New Roman" pitchFamily="34" charset="0"/>
              </a:rPr>
              <a:t>Writes the matched fields into the table. Permanent.</a:t>
            </a:r>
          </a:p>
        </p:txBody>
      </p:sp>
      <p:sp>
        <p:nvSpPr>
          <p:cNvPr id="201" name="Q1"/>
          <p:cNvSpPr/>
          <p:nvPr/>
        </p:nvSpPr>
        <p:spPr>
          <a:xfrm>
            <a:off x="685800" y="3175000"/>
            <a:ext cx="4521200" cy="11684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B08B57"/>
            </a:solidFill>
          </a:ln>
        </p:spPr>
        <p:txBody>
          <a:bodyPr wrap="square" lIns="203200" tIns="101600" rIns="177800" bIns="10160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2.  Should one record stay linked to many matching rows?</a:t>
            </a:r>
          </a:p>
        </p:txBody>
      </p:sp>
      <p:sp>
        <p:nvSpPr>
          <p:cNvPr id="211" name="YArrow1"/>
          <p:cNvSpPr/>
          <p:nvPr/>
        </p:nvSpPr>
        <p:spPr>
          <a:xfrm>
            <a:off x="5308600" y="3556000"/>
            <a:ext cx="1219200" cy="254000"/>
          </a:xfrm>
          <a:prstGeom prst="rightArrow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Yes1"/>
          <p:cNvSpPr/>
          <p:nvPr/>
        </p:nvSpPr>
        <p:spPr>
          <a:xfrm>
            <a:off x="5308600" y="32766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0" tIns="12700" rIns="12700" bIns="12700" anchor="ctr">
            <a:normAutofit lnSpcReduction="10000"/>
          </a:bodyPr>
          <a:lstStyle/>
          <a:p>
            <a:pPr algn="ctr">
              <a:buNone/>
            </a:pPr>
            <a:r>
              <a:rPr lang="en-US" sz="1400" b="1" i="1" dirty="0">
                <a:solidFill>
                  <a:srgbClr val="8A6A2F"/>
                </a:solidFill>
                <a:latin typeface="Times New Roman" pitchFamily="34" charset="0"/>
                <a:cs typeface="Times New Roman" pitchFamily="34" charset="0"/>
              </a:rPr>
              <a:t>Yes</a:t>
            </a:r>
          </a:p>
        </p:txBody>
      </p:sp>
      <p:sp>
        <p:nvSpPr>
          <p:cNvPr id="231" name="Out1"/>
          <p:cNvSpPr/>
          <p:nvPr/>
        </p:nvSpPr>
        <p:spPr>
          <a:xfrm>
            <a:off x="6604000" y="3175000"/>
            <a:ext cx="4902200" cy="1168400"/>
          </a:xfrm>
          <a:prstGeom prst="roundRect">
            <a:avLst/>
          </a:prstGeom>
          <a:solidFill>
            <a:srgbClr val="EDE5D7"/>
          </a:solidFill>
          <a:ln w="19050">
            <a:solidFill>
              <a:srgbClr val="1F3A34"/>
            </a:solidFill>
          </a:ln>
        </p:spPr>
        <p:txBody>
          <a:bodyPr wrap="square" lIns="203200" tIns="152400" rIns="203200" bIns="127000" anchor="t">
            <a:normAutofit lnSpcReduction="10000"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Add Relate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Keeps the tables separate; open many related records for one feature.</a:t>
            </a:r>
          </a:p>
        </p:txBody>
      </p:sp>
      <p:sp>
        <p:nvSpPr>
          <p:cNvPr id="202" name="Q2"/>
          <p:cNvSpPr/>
          <p:nvPr/>
        </p:nvSpPr>
        <p:spPr>
          <a:xfrm>
            <a:off x="685800" y="4851400"/>
            <a:ext cx="4521200" cy="11684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B08B57"/>
            </a:solidFill>
          </a:ln>
        </p:spPr>
        <p:txBody>
          <a:bodyPr wrap="square" lIns="203200" tIns="101600" rIns="177800" bIns="10160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3.  Exploring, testing keys, or setting symbology?</a:t>
            </a:r>
          </a:p>
        </p:txBody>
      </p:sp>
      <p:sp>
        <p:nvSpPr>
          <p:cNvPr id="212" name="YArrow2"/>
          <p:cNvSpPr/>
          <p:nvPr/>
        </p:nvSpPr>
        <p:spPr>
          <a:xfrm>
            <a:off x="5308600" y="5232400"/>
            <a:ext cx="1219200" cy="254000"/>
          </a:xfrm>
          <a:prstGeom prst="rightArrow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Yes2"/>
          <p:cNvSpPr/>
          <p:nvPr/>
        </p:nvSpPr>
        <p:spPr>
          <a:xfrm>
            <a:off x="5308600" y="49530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0" tIns="12700" rIns="12700" bIns="12700" anchor="ctr">
            <a:normAutofit lnSpcReduction="10000"/>
          </a:bodyPr>
          <a:lstStyle/>
          <a:p>
            <a:pPr algn="ctr">
              <a:buNone/>
            </a:pPr>
            <a:r>
              <a:rPr lang="en-US" sz="1400" b="1" i="1" dirty="0">
                <a:solidFill>
                  <a:srgbClr val="8A6A2F"/>
                </a:solidFill>
                <a:latin typeface="Times New Roman" pitchFamily="34" charset="0"/>
                <a:cs typeface="Times New Roman" pitchFamily="34" charset="0"/>
              </a:rPr>
              <a:t>Yes</a:t>
            </a:r>
          </a:p>
        </p:txBody>
      </p:sp>
      <p:sp>
        <p:nvSpPr>
          <p:cNvPr id="232" name="Out2"/>
          <p:cNvSpPr/>
          <p:nvPr/>
        </p:nvSpPr>
        <p:spPr>
          <a:xfrm>
            <a:off x="6604000" y="4851400"/>
            <a:ext cx="4902200" cy="1168400"/>
          </a:xfrm>
          <a:prstGeom prst="roundRect">
            <a:avLst/>
          </a:prstGeom>
          <a:solidFill>
            <a:srgbClr val="EDE5D7"/>
          </a:solidFill>
          <a:ln w="19050">
            <a:solidFill>
              <a:srgbClr val="B08B57"/>
            </a:solidFill>
          </a:ln>
        </p:spPr>
        <p:txBody>
          <a:bodyPr wrap="square" lIns="203200" tIns="152400" rIns="203200" bIns="12700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Add Join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Temporary link for exploration, testing, and symbology.</a:t>
            </a:r>
          </a:p>
        </p:txBody>
      </p:sp>
      <p:sp>
        <p:nvSpPr>
          <p:cNvPr id="240" name="DArrow0"/>
          <p:cNvSpPr/>
          <p:nvPr/>
        </p:nvSpPr>
        <p:spPr>
          <a:xfrm>
            <a:off x="1524000" y="2667000"/>
            <a:ext cx="228600" cy="508000"/>
          </a:xfrm>
          <a:prstGeom prst="downArrow">
            <a:avLst/>
          </a:prstGeom>
          <a:solidFill>
            <a:srgbClr val="6A62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2" name="No0"/>
          <p:cNvSpPr/>
          <p:nvPr/>
        </p:nvSpPr>
        <p:spPr>
          <a:xfrm>
            <a:off x="1854200" y="27686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0" tIns="12700" rIns="12700" bIns="12700" anchor="ctr">
            <a:normAutofit/>
          </a:bodyPr>
          <a:lstStyle/>
          <a:p>
            <a:pPr algn="l">
              <a:buNone/>
            </a:pPr>
            <a:r>
              <a:rPr lang="en-US" sz="1400" b="1" i="1" dirty="0">
                <a:solidFill>
                  <a:srgbClr val="6A6258"/>
                </a:solidFill>
                <a:latin typeface="Times New Roman" pitchFamily="34" charset="0"/>
                <a:cs typeface="Times New Roman" pitchFamily="34" charset="0"/>
              </a:rPr>
              <a:t>No</a:t>
            </a:r>
          </a:p>
        </p:txBody>
      </p:sp>
      <p:sp>
        <p:nvSpPr>
          <p:cNvPr id="241" name="DArrow1"/>
          <p:cNvSpPr/>
          <p:nvPr/>
        </p:nvSpPr>
        <p:spPr>
          <a:xfrm>
            <a:off x="1524000" y="4343400"/>
            <a:ext cx="228600" cy="508000"/>
          </a:xfrm>
          <a:prstGeom prst="downArrow">
            <a:avLst/>
          </a:prstGeom>
          <a:solidFill>
            <a:srgbClr val="6A62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3" name="No1"/>
          <p:cNvSpPr/>
          <p:nvPr/>
        </p:nvSpPr>
        <p:spPr>
          <a:xfrm>
            <a:off x="1854200" y="4445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0" tIns="12700" rIns="12700" bIns="12700" anchor="ctr">
            <a:normAutofit/>
          </a:bodyPr>
          <a:lstStyle/>
          <a:p>
            <a:pPr algn="l">
              <a:buNone/>
            </a:pPr>
            <a:r>
              <a:rPr lang="en-US" sz="1400" b="1" i="1" dirty="0">
                <a:solidFill>
                  <a:srgbClr val="6A6258"/>
                </a:solidFill>
                <a:latin typeface="Times New Roman" pitchFamily="34" charset="0"/>
                <a:cs typeface="Times New Roman" pitchFamily="34" charset="0"/>
              </a:rPr>
              <a:t>No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</p:spTree>
    <p:extLst>
      <p:ext uri="{BB962C8B-B14F-4D97-AF65-F5344CB8AC3E}">
        <p14:creationId xmlns:p14="http://schemas.microsoft.com/office/powerpoint/2010/main" val="1402882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Your turn — hands-on lab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Practice joining a table to the states layer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  <p:sp>
        <p:nvSpPr>
          <p:cNvPr id="301" name="TaskPanel"/>
          <p:cNvSpPr/>
          <p:nvPr/>
        </p:nvSpPr>
        <p:spPr>
          <a:xfrm>
            <a:off x="685800" y="1524000"/>
            <a:ext cx="5308600" cy="472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02" name="TaskHdr"/>
          <p:cNvSpPr/>
          <p:nvPr/>
        </p:nvSpPr>
        <p:spPr>
          <a:xfrm>
            <a:off x="1219200" y="17526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1F3A34"/>
                </a:solidFill>
                <a:latin typeface="Times New Roman"/>
                <a:cs typeface="Times New Roman"/>
              </a:rPr>
              <a:t>Task</a:t>
            </a:r>
          </a:p>
        </p:txBody>
      </p:sp>
      <p:sp>
        <p:nvSpPr>
          <p:cNvPr id="303" name="Steps"/>
          <p:cNvSpPr/>
          <p:nvPr/>
        </p:nvSpPr>
        <p:spPr>
          <a:xfrm>
            <a:off x="990600" y="2286000"/>
            <a:ext cx="4851400" cy="3860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635" rIns="76200" bIns="635" anchor="t">
            <a:normAutofit/>
          </a:bodyPr>
          <a:lstStyle/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Add the states layer and population.csv to your map; confirm both appear in the Contents pane.</a:t>
            </a:r>
          </a:p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Use Add Join to link population.csv to the states layer on the State field.</a:t>
            </a:r>
          </a:p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Open the attribute table and check the joined fields — watch for any &lt;Null&gt; rows where the keys did not match.</a:t>
            </a:r>
          </a:p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Use Join Field, or Export Features, to write the population fields permanently into a new layer named states_pop.</a:t>
            </a:r>
          </a:p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Open the new layer's table and confirm the fields are stored, not just linked.</a:t>
            </a:r>
          </a:p>
        </p:txBody>
      </p:sp>
      <p:sp>
        <p:nvSpPr>
          <p:cNvPr id="310" name="AnsPanel"/>
          <p:cNvSpPr/>
          <p:nvPr/>
        </p:nvSpPr>
        <p:spPr>
          <a:xfrm>
            <a:off x="6223000" y="1524000"/>
            <a:ext cx="5283200" cy="4724400"/>
          </a:xfrm>
          <a:prstGeom prst="roundRect">
            <a:avLst/>
          </a:prstGeom>
          <a:solidFill>
            <a:srgbClr val="EDE5D7"/>
          </a:solidFill>
          <a:ln w="19050">
            <a:solidFill>
              <a:srgbClr val="B08B57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11" name="Pill"/>
          <p:cNvSpPr/>
          <p:nvPr/>
        </p:nvSpPr>
        <p:spPr>
          <a:xfrm>
            <a:off x="6502400" y="1752600"/>
            <a:ext cx="1981200" cy="381000"/>
          </a:xfrm>
          <a:prstGeom prst="roundRect">
            <a:avLst/>
          </a:prstGeom>
          <a:solidFill>
            <a:srgbClr val="1F3A34"/>
          </a:solidFill>
          <a:ln>
            <a:noFill/>
          </a:ln>
        </p:spPr>
        <p:txBody>
          <a:bodyPr wrap="square" lIns="76200" tIns="635" rIns="76200" bIns="635" anchor="ctr">
            <a:normAutofit/>
          </a:bodyPr>
          <a:lstStyle/>
          <a:p>
            <a:pPr algn="ctr">
              <a:buNone/>
            </a:pPr>
            <a:r>
              <a:rPr lang="en-US" sz="13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ANSWER KEY</a:t>
            </a:r>
          </a:p>
        </p:txBody>
      </p:sp>
      <p:sp>
        <p:nvSpPr>
          <p:cNvPr id="312" name="S2"/>
          <p:cNvSpPr/>
          <p:nvPr/>
        </p:nvSpPr>
        <p:spPr>
          <a:xfrm>
            <a:off x="6502400" y="2311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Step 2</a:t>
            </a:r>
          </a:p>
        </p:txBody>
      </p:sp>
      <p:sp>
        <p:nvSpPr>
          <p:cNvPr id="313" name="Code2"/>
          <p:cNvSpPr/>
          <p:nvPr/>
        </p:nvSpPr>
        <p:spPr>
          <a:xfrm>
            <a:off x="6502400" y="2641600"/>
            <a:ext cx="4724400" cy="5334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77800" tIns="635" rIns="127000" bIns="635" anchor="ctr">
            <a:normAutofit/>
          </a:bodyPr>
          <a:lstStyle/>
          <a:p>
            <a:pPr>
              <a:buNone/>
            </a:pPr>
            <a:r>
              <a:rPr lang="en-US" sz="1300" dirty="0">
                <a:solidFill>
                  <a:srgbClr val="1F3A34"/>
                </a:solidFill>
                <a:latin typeface="Consolas"/>
                <a:cs typeface="Consolas"/>
              </a:rPr>
              <a:t>Add Join · Input field: State · Join field: State</a:t>
            </a:r>
          </a:p>
        </p:txBody>
      </p:sp>
      <p:sp>
        <p:nvSpPr>
          <p:cNvPr id="314" name="S4"/>
          <p:cNvSpPr/>
          <p:nvPr/>
        </p:nvSpPr>
        <p:spPr>
          <a:xfrm>
            <a:off x="6502400" y="3327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Step 4</a:t>
            </a:r>
          </a:p>
        </p:txBody>
      </p:sp>
      <p:sp>
        <p:nvSpPr>
          <p:cNvPr id="315" name="Code4"/>
          <p:cNvSpPr/>
          <p:nvPr/>
        </p:nvSpPr>
        <p:spPr>
          <a:xfrm>
            <a:off x="6502400" y="3657600"/>
            <a:ext cx="4724400" cy="711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77800" tIns="635" rIns="127000" bIns="635" anchor="ctr">
            <a:normAutofit/>
          </a:bodyPr>
          <a:lstStyle/>
          <a:p>
            <a:pPr>
              <a:buNone/>
            </a:pPr>
            <a:r>
              <a:rPr lang="en-US" sz="1300" dirty="0">
                <a:solidFill>
                  <a:srgbClr val="1F3A34"/>
                </a:solidFill>
                <a:latin typeface="Consolas"/>
                <a:cs typeface="Consolas"/>
              </a:rPr>
              <a:t>Join Field  →  writes fields into the table</a:t>
            </a:r>
          </a:p>
          <a:p>
            <a:pPr>
              <a:spcBef>
                <a:spcPts val="300"/>
              </a:spcBef>
              <a:buNone/>
            </a:pPr>
            <a:r>
              <a:rPr lang="en-US" sz="1300" dirty="0">
                <a:solidFill>
                  <a:srgbClr val="1F3A34"/>
                </a:solidFill>
                <a:latin typeface="Consolas"/>
                <a:cs typeface="Consolas"/>
              </a:rPr>
              <a:t>or  Export Features  →  states_pop</a:t>
            </a:r>
          </a:p>
        </p:txBody>
      </p:sp>
      <p:sp>
        <p:nvSpPr>
          <p:cNvPr id="316" name="Expected"/>
          <p:cNvSpPr/>
          <p:nvPr/>
        </p:nvSpPr>
        <p:spPr>
          <a:xfrm>
            <a:off x="6502400" y="4572000"/>
            <a:ext cx="4724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Expected result   </a:t>
            </a:r>
            <a:r>
              <a:rPr lang="en-US" sz="1400" i="1" dirty="0">
                <a:solidFill>
                  <a:srgbClr val="6A6258"/>
                </a:solidFill>
                <a:latin typeface="Times New Roman"/>
                <a:cs typeface="Times New Roman"/>
              </a:rPr>
              <a:t>a standalone states_pop layer whose table stores the joined fields permanently.</a:t>
            </a:r>
          </a:p>
        </p:txBody>
      </p:sp>
      <p:pic>
        <p:nvPicPr>
          <p:cNvPr id="317" name="Graphic 317" descr="Task penci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400" y="1778000"/>
            <a:ext cx="330200" cy="330200"/>
          </a:xfrm>
          <a:prstGeom prst="rect">
            <a:avLst/>
          </a:prstGeom>
        </p:spPr>
      </p:pic>
      <p:sp>
        <p:nvSpPr>
          <p:cNvPr id="701" name="Prompt701"/>
          <p:cNvSpPr/>
          <p:nvPr/>
        </p:nvSpPr>
        <p:spPr>
          <a:xfrm>
            <a:off x="8585200" y="1778000"/>
            <a:ext cx="2667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 ▸</a:t>
            </a:r>
          </a:p>
        </p:txBody>
      </p:sp>
    </p:spTree>
    <p:extLst>
      <p:ext uri="{BB962C8B-B14F-4D97-AF65-F5344CB8AC3E}">
        <p14:creationId xmlns:p14="http://schemas.microsoft.com/office/powerpoint/2010/main" val="95617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Knowledge check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Check your understanding of joins and relates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  <p:sp>
        <p:nvSpPr>
          <p:cNvPr id="410" name="KC1"/>
          <p:cNvSpPr/>
          <p:nvPr/>
        </p:nvSpPr>
        <p:spPr>
          <a:xfrm>
            <a:off x="685800" y="1524000"/>
            <a:ext cx="5308600" cy="2286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11" name="S411"/>
          <p:cNvSpPr/>
          <p:nvPr/>
        </p:nvSpPr>
        <p:spPr>
          <a:xfrm>
            <a:off x="939800" y="17272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B08B57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412" name="S412"/>
          <p:cNvSpPr/>
          <p:nvPr/>
        </p:nvSpPr>
        <p:spPr>
          <a:xfrm>
            <a:off x="1422400" y="1778000"/>
            <a:ext cx="42926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What must two tables share for a join to work?</a:t>
            </a:r>
          </a:p>
        </p:txBody>
      </p:sp>
      <p:sp>
        <p:nvSpPr>
          <p:cNvPr id="413" name="S413"/>
          <p:cNvSpPr/>
          <p:nvPr/>
        </p:nvSpPr>
        <p:spPr>
          <a:xfrm>
            <a:off x="939800" y="2743200"/>
            <a:ext cx="48006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14" name="S414"/>
          <p:cNvSpPr/>
          <p:nvPr/>
        </p:nvSpPr>
        <p:spPr>
          <a:xfrm>
            <a:off x="939800" y="3175000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Answer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a common key field — the same values and the same data type in both tables.</a:t>
            </a:r>
          </a:p>
        </p:txBody>
      </p:sp>
      <p:sp>
        <p:nvSpPr>
          <p:cNvPr id="420" name="KC2"/>
          <p:cNvSpPr/>
          <p:nvPr/>
        </p:nvSpPr>
        <p:spPr>
          <a:xfrm>
            <a:off x="6223000" y="1524000"/>
            <a:ext cx="5283200" cy="2286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1" name="S421"/>
          <p:cNvSpPr/>
          <p:nvPr/>
        </p:nvSpPr>
        <p:spPr>
          <a:xfrm>
            <a:off x="6477000" y="17272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B08B57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422" name="S422"/>
          <p:cNvSpPr/>
          <p:nvPr/>
        </p:nvSpPr>
        <p:spPr>
          <a:xfrm>
            <a:off x="6959600" y="17780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How does Add Join differ from Join Field?</a:t>
            </a:r>
          </a:p>
        </p:txBody>
      </p:sp>
      <p:sp>
        <p:nvSpPr>
          <p:cNvPr id="423" name="S423"/>
          <p:cNvSpPr/>
          <p:nvPr/>
        </p:nvSpPr>
        <p:spPr>
          <a:xfrm>
            <a:off x="6477000" y="2743200"/>
            <a:ext cx="47752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24" name="S424"/>
          <p:cNvSpPr/>
          <p:nvPr/>
        </p:nvSpPr>
        <p:spPr>
          <a:xfrm>
            <a:off x="6477000" y="3175000"/>
            <a:ext cx="4775200" cy="609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Answer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Add Join links the fields temporarily; Join Field writes them into the table permanently.</a:t>
            </a:r>
          </a:p>
        </p:txBody>
      </p:sp>
      <p:sp>
        <p:nvSpPr>
          <p:cNvPr id="430" name="KC3"/>
          <p:cNvSpPr/>
          <p:nvPr/>
        </p:nvSpPr>
        <p:spPr>
          <a:xfrm>
            <a:off x="685800" y="3962400"/>
            <a:ext cx="5308600" cy="2286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31" name="S431"/>
          <p:cNvSpPr/>
          <p:nvPr/>
        </p:nvSpPr>
        <p:spPr>
          <a:xfrm>
            <a:off x="939800" y="41656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B08B57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432" name="S432"/>
          <p:cNvSpPr/>
          <p:nvPr/>
        </p:nvSpPr>
        <p:spPr>
          <a:xfrm>
            <a:off x="1422400" y="4216400"/>
            <a:ext cx="42926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When do you use a relate instead of a join?</a:t>
            </a:r>
          </a:p>
        </p:txBody>
      </p:sp>
      <p:sp>
        <p:nvSpPr>
          <p:cNvPr id="433" name="S433"/>
          <p:cNvSpPr/>
          <p:nvPr/>
        </p:nvSpPr>
        <p:spPr>
          <a:xfrm>
            <a:off x="939800" y="5181600"/>
            <a:ext cx="48006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34" name="S434"/>
          <p:cNvSpPr/>
          <p:nvPr/>
        </p:nvSpPr>
        <p:spPr>
          <a:xfrm>
            <a:off x="939800" y="5613400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Answer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when one record links to many matching rows — a one-to-many relationship.</a:t>
            </a:r>
          </a:p>
        </p:txBody>
      </p:sp>
      <p:sp>
        <p:nvSpPr>
          <p:cNvPr id="440" name="KC4"/>
          <p:cNvSpPr/>
          <p:nvPr/>
        </p:nvSpPr>
        <p:spPr>
          <a:xfrm>
            <a:off x="6223000" y="3962400"/>
            <a:ext cx="5283200" cy="2286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41" name="S441"/>
          <p:cNvSpPr/>
          <p:nvPr/>
        </p:nvSpPr>
        <p:spPr>
          <a:xfrm>
            <a:off x="6477000" y="41656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B08B57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442" name="S442"/>
          <p:cNvSpPr/>
          <p:nvPr/>
        </p:nvSpPr>
        <p:spPr>
          <a:xfrm>
            <a:off x="6959600" y="42164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Why might a join return all &lt;Null&gt; values?</a:t>
            </a:r>
          </a:p>
        </p:txBody>
      </p:sp>
      <p:sp>
        <p:nvSpPr>
          <p:cNvPr id="443" name="S443"/>
          <p:cNvSpPr/>
          <p:nvPr/>
        </p:nvSpPr>
        <p:spPr>
          <a:xfrm>
            <a:off x="6477000" y="5181600"/>
            <a:ext cx="47752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44" name="S444"/>
          <p:cNvSpPr/>
          <p:nvPr/>
        </p:nvSpPr>
        <p:spPr>
          <a:xfrm>
            <a:off x="6477000" y="5613400"/>
            <a:ext cx="4775200" cy="609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Answer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the key fields are different types — text "01" cannot match the number 1.</a:t>
            </a:r>
          </a:p>
        </p:txBody>
      </p:sp>
      <p:sp>
        <p:nvSpPr>
          <p:cNvPr id="701" name="Prompt701"/>
          <p:cNvSpPr/>
          <p:nvPr/>
        </p:nvSpPr>
        <p:spPr>
          <a:xfrm>
            <a:off x="939800" y="2844800"/>
            <a:ext cx="4800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answer</a:t>
            </a:r>
          </a:p>
        </p:txBody>
      </p:sp>
      <p:sp>
        <p:nvSpPr>
          <p:cNvPr id="702" name="Prompt702"/>
          <p:cNvSpPr/>
          <p:nvPr/>
        </p:nvSpPr>
        <p:spPr>
          <a:xfrm>
            <a:off x="6477000" y="28448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answer</a:t>
            </a:r>
          </a:p>
        </p:txBody>
      </p:sp>
      <p:sp>
        <p:nvSpPr>
          <p:cNvPr id="703" name="Prompt703"/>
          <p:cNvSpPr/>
          <p:nvPr/>
        </p:nvSpPr>
        <p:spPr>
          <a:xfrm>
            <a:off x="939800" y="5283200"/>
            <a:ext cx="4800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answer</a:t>
            </a:r>
          </a:p>
        </p:txBody>
      </p:sp>
      <p:sp>
        <p:nvSpPr>
          <p:cNvPr id="704" name="Prompt704"/>
          <p:cNvSpPr/>
          <p:nvPr/>
        </p:nvSpPr>
        <p:spPr>
          <a:xfrm>
            <a:off x="6477000" y="52832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answer</a:t>
            </a:r>
          </a:p>
        </p:txBody>
      </p:sp>
    </p:spTree>
    <p:extLst>
      <p:ext uri="{BB962C8B-B14F-4D97-AF65-F5344CB8AC3E}">
        <p14:creationId xmlns:p14="http://schemas.microsoft.com/office/powerpoint/2010/main" val="368320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" restart="whenNotActive" fill="hold" nodeType="interactiveSeq">
                <p:stCondLst>
                  <p:cond evt="onClick" delay="0">
                    <p:tgtEl>
                      <p:spTgt spid="410"/>
                    </p:tgtEl>
                  </p:cond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nodeType="interactiveSeq">
                <p:stCondLst>
                  <p:cond evt="onClick" delay="0">
                    <p:tgtEl>
                      <p:spTgt spid="420"/>
                    </p:tgtEl>
                  </p:cond>
                </p:stCondLst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nodeType="interactiveSeq">
                <p:stCondLst>
                  <p:cond evt="onClick" delay="0">
                    <p:tgtEl>
                      <p:spTgt spid="430"/>
                    </p:tgtEl>
                  </p:cond>
                </p:stCondLst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nodeType="interactiveSeq">
                <p:stCondLst>
                  <p:cond evt="onClick" delay="0">
                    <p:tgtEl>
                      <p:spTgt spid="440"/>
                    </p:tgtEl>
                  </p:cond>
                </p:stCondLst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2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Recap and what's next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You can join by attribute — next, join by location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Table Joins and Relates</a:t>
            </a:r>
          </a:p>
        </p:txBody>
      </p:sp>
      <p:sp>
        <p:nvSpPr>
          <p:cNvPr id="305" name="KTLabel"/>
          <p:cNvSpPr/>
          <p:nvPr/>
        </p:nvSpPr>
        <p:spPr>
          <a:xfrm>
            <a:off x="685800" y="1549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Key takeaways</a:t>
            </a:r>
          </a:p>
        </p:txBody>
      </p:sp>
      <p:sp>
        <p:nvSpPr>
          <p:cNvPr id="330" name="TC1"/>
          <p:cNvSpPr/>
          <p:nvPr/>
        </p:nvSpPr>
        <p:spPr>
          <a:xfrm>
            <a:off x="685800" y="1905000"/>
            <a:ext cx="5308600" cy="939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31" name="TCcirc1"/>
          <p:cNvSpPr/>
          <p:nvPr/>
        </p:nvSpPr>
        <p:spPr>
          <a:xfrm>
            <a:off x="914400" y="2120900"/>
            <a:ext cx="508000" cy="5080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32" name="S332"/>
          <p:cNvSpPr/>
          <p:nvPr/>
        </p:nvSpPr>
        <p:spPr>
          <a:xfrm>
            <a:off x="1625600" y="2070100"/>
            <a:ext cx="414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A join needs a key field</a:t>
            </a:r>
          </a:p>
        </p:txBody>
      </p:sp>
      <p:sp>
        <p:nvSpPr>
          <p:cNvPr id="333" name="S333"/>
          <p:cNvSpPr/>
          <p:nvPr/>
        </p:nvSpPr>
        <p:spPr>
          <a:xfrm>
            <a:off x="1625600" y="2400300"/>
            <a:ext cx="4140200" cy="355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 fontScale="92500"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Shared attribute, same type, matching values in both tables.</a:t>
            </a:r>
          </a:p>
        </p:txBody>
      </p:sp>
      <p:sp>
        <p:nvSpPr>
          <p:cNvPr id="340" name="TC2"/>
          <p:cNvSpPr/>
          <p:nvPr/>
        </p:nvSpPr>
        <p:spPr>
          <a:xfrm>
            <a:off x="685800" y="2946400"/>
            <a:ext cx="5308600" cy="939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41" name="TCcirc2"/>
          <p:cNvSpPr/>
          <p:nvPr/>
        </p:nvSpPr>
        <p:spPr>
          <a:xfrm>
            <a:off x="914400" y="3162300"/>
            <a:ext cx="508000" cy="508000"/>
          </a:xfrm>
          <a:prstGeom prst="ellipse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42" name="S342"/>
          <p:cNvSpPr/>
          <p:nvPr/>
        </p:nvSpPr>
        <p:spPr>
          <a:xfrm>
            <a:off x="1625600" y="3111500"/>
            <a:ext cx="414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Add Join vs Join Field</a:t>
            </a:r>
          </a:p>
        </p:txBody>
      </p:sp>
      <p:sp>
        <p:nvSpPr>
          <p:cNvPr id="343" name="S343"/>
          <p:cNvSpPr/>
          <p:nvPr/>
        </p:nvSpPr>
        <p:spPr>
          <a:xfrm>
            <a:off x="1625600" y="3441700"/>
            <a:ext cx="4140200" cy="355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 fontScale="92500"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One links temporarily; the other writes fields in permanently.</a:t>
            </a:r>
          </a:p>
        </p:txBody>
      </p:sp>
      <p:sp>
        <p:nvSpPr>
          <p:cNvPr id="350" name="TC3"/>
          <p:cNvSpPr/>
          <p:nvPr/>
        </p:nvSpPr>
        <p:spPr>
          <a:xfrm>
            <a:off x="685800" y="3987800"/>
            <a:ext cx="5308600" cy="939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51" name="TCcirc3"/>
          <p:cNvSpPr/>
          <p:nvPr/>
        </p:nvSpPr>
        <p:spPr>
          <a:xfrm>
            <a:off x="914400" y="4203700"/>
            <a:ext cx="508000" cy="5080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52" name="S352"/>
          <p:cNvSpPr/>
          <p:nvPr/>
        </p:nvSpPr>
        <p:spPr>
          <a:xfrm>
            <a:off x="1625600" y="4152900"/>
            <a:ext cx="414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Cardinality decides</a:t>
            </a:r>
          </a:p>
        </p:txBody>
      </p:sp>
      <p:sp>
        <p:nvSpPr>
          <p:cNvPr id="353" name="S353"/>
          <p:cNvSpPr/>
          <p:nvPr/>
        </p:nvSpPr>
        <p:spPr>
          <a:xfrm>
            <a:off x="1625600" y="4483100"/>
            <a:ext cx="4140200" cy="355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1:1 and many:1 join cleanly; 1:many needs a relate.</a:t>
            </a:r>
          </a:p>
        </p:txBody>
      </p:sp>
      <p:sp>
        <p:nvSpPr>
          <p:cNvPr id="360" name="TC4"/>
          <p:cNvSpPr/>
          <p:nvPr/>
        </p:nvSpPr>
        <p:spPr>
          <a:xfrm>
            <a:off x="685800" y="5029200"/>
            <a:ext cx="5308600" cy="939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61" name="TCcirc4"/>
          <p:cNvSpPr/>
          <p:nvPr/>
        </p:nvSpPr>
        <p:spPr>
          <a:xfrm>
            <a:off x="914400" y="5245100"/>
            <a:ext cx="508000" cy="508000"/>
          </a:xfrm>
          <a:prstGeom prst="ellipse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62" name="S362"/>
          <p:cNvSpPr/>
          <p:nvPr/>
        </p:nvSpPr>
        <p:spPr>
          <a:xfrm>
            <a:off x="1625600" y="5194300"/>
            <a:ext cx="414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Check the key first</a:t>
            </a:r>
          </a:p>
        </p:txBody>
      </p:sp>
      <p:sp>
        <p:nvSpPr>
          <p:cNvPr id="363" name="S363"/>
          <p:cNvSpPr/>
          <p:nvPr/>
        </p:nvSpPr>
        <p:spPr>
          <a:xfrm>
            <a:off x="1625600" y="5524500"/>
            <a:ext cx="4140200" cy="355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Most failed joins trace back to a mismatched key field.</a:t>
            </a:r>
          </a:p>
        </p:txBody>
      </p:sp>
      <p:sp>
        <p:nvSpPr>
          <p:cNvPr id="6" name="NextPanel"/>
          <p:cNvSpPr/>
          <p:nvPr/>
        </p:nvSpPr>
        <p:spPr>
          <a:xfrm>
            <a:off x="6223000" y="1524000"/>
            <a:ext cx="5283200" cy="472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7" name="NextHdr"/>
          <p:cNvSpPr/>
          <p:nvPr/>
        </p:nvSpPr>
        <p:spPr>
          <a:xfrm>
            <a:off x="6477000" y="17018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Up next: Spatial Join</a:t>
            </a:r>
          </a:p>
        </p:txBody>
      </p:sp>
      <p:sp>
        <p:nvSpPr>
          <p:cNvPr id="370" name="Badge1"/>
          <p:cNvSpPr/>
          <p:nvPr/>
        </p:nvSpPr>
        <p:spPr>
          <a:xfrm>
            <a:off x="6477000" y="2159000"/>
            <a:ext cx="355600" cy="355600"/>
          </a:xfrm>
          <a:prstGeom prst="roundRect">
            <a:avLst/>
          </a:prstGeom>
          <a:solidFill>
            <a:srgbClr val="1F3A34"/>
          </a:solidFill>
          <a:ln>
            <a:noFill/>
          </a:ln>
        </p:spPr>
        <p:txBody>
          <a:bodyPr wrap="square" lIns="25400" tIns="635" rIns="25400" bIns="635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</a:p>
        </p:txBody>
      </p:sp>
      <p:sp>
        <p:nvSpPr>
          <p:cNvPr id="371" name="S371"/>
          <p:cNvSpPr/>
          <p:nvPr/>
        </p:nvSpPr>
        <p:spPr>
          <a:xfrm>
            <a:off x="6959600" y="21971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450" b="1" dirty="0">
                <a:solidFill>
                  <a:srgbClr val="1F3A34"/>
                </a:solidFill>
                <a:latin typeface="Times New Roman"/>
                <a:cs typeface="Times New Roman"/>
              </a:rPr>
              <a:t>New question</a:t>
            </a:r>
          </a:p>
        </p:txBody>
      </p:sp>
      <p:sp>
        <p:nvSpPr>
          <p:cNvPr id="372" name="Code1"/>
          <p:cNvSpPr/>
          <p:nvPr/>
        </p:nvSpPr>
        <p:spPr>
          <a:xfrm>
            <a:off x="6477000" y="2540000"/>
            <a:ext cx="4927600" cy="33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52400" tIns="635" rIns="101600" bIns="635" anchor="ctr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1F3A34"/>
                </a:solidFill>
                <a:latin typeface="Consolas"/>
                <a:cs typeface="Consolas"/>
              </a:rPr>
              <a:t>which features share a location, not a key?</a:t>
            </a:r>
          </a:p>
        </p:txBody>
      </p:sp>
      <p:sp>
        <p:nvSpPr>
          <p:cNvPr id="380" name="Badge2"/>
          <p:cNvSpPr/>
          <p:nvPr/>
        </p:nvSpPr>
        <p:spPr>
          <a:xfrm>
            <a:off x="6477000" y="2946400"/>
            <a:ext cx="355600" cy="355600"/>
          </a:xfrm>
          <a:prstGeom prst="roundRect">
            <a:avLst/>
          </a:prstGeom>
          <a:solidFill>
            <a:srgbClr val="B08B57"/>
          </a:solidFill>
          <a:ln>
            <a:noFill/>
          </a:ln>
        </p:spPr>
        <p:txBody>
          <a:bodyPr wrap="square" lIns="25400" tIns="635" rIns="25400" bIns="635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381" name="S381"/>
          <p:cNvSpPr/>
          <p:nvPr/>
        </p:nvSpPr>
        <p:spPr>
          <a:xfrm>
            <a:off x="6959600" y="29845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450" b="1" dirty="0">
                <a:solidFill>
                  <a:srgbClr val="1F3A34"/>
                </a:solidFill>
                <a:latin typeface="Times New Roman"/>
                <a:cs typeface="Times New Roman"/>
              </a:rPr>
              <a:t>New driver</a:t>
            </a:r>
          </a:p>
        </p:txBody>
      </p:sp>
      <p:sp>
        <p:nvSpPr>
          <p:cNvPr id="382" name="Code2"/>
          <p:cNvSpPr/>
          <p:nvPr/>
        </p:nvSpPr>
        <p:spPr>
          <a:xfrm>
            <a:off x="6477000" y="3327400"/>
            <a:ext cx="4927600" cy="33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52400" tIns="635" rIns="101600" bIns="635" anchor="ctr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1F3A34"/>
                </a:solidFill>
                <a:latin typeface="Consolas"/>
                <a:cs typeface="Consolas"/>
              </a:rPr>
              <a:t>a spatial relationship: intersect, within, closest</a:t>
            </a:r>
          </a:p>
        </p:txBody>
      </p:sp>
      <p:sp>
        <p:nvSpPr>
          <p:cNvPr id="390" name="Badge3"/>
          <p:cNvSpPr/>
          <p:nvPr/>
        </p:nvSpPr>
        <p:spPr>
          <a:xfrm>
            <a:off x="6477000" y="3733800"/>
            <a:ext cx="355600" cy="355600"/>
          </a:xfrm>
          <a:prstGeom prst="roundRect">
            <a:avLst/>
          </a:prstGeom>
          <a:solidFill>
            <a:srgbClr val="1F3A34"/>
          </a:solidFill>
          <a:ln>
            <a:noFill/>
          </a:ln>
        </p:spPr>
        <p:txBody>
          <a:bodyPr wrap="square" lIns="25400" tIns="635" rIns="25400" bIns="635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391" name="S391"/>
          <p:cNvSpPr/>
          <p:nvPr/>
        </p:nvSpPr>
        <p:spPr>
          <a:xfrm>
            <a:off x="6959600" y="37719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450" b="1" dirty="0">
                <a:solidFill>
                  <a:srgbClr val="1F3A34"/>
                </a:solidFill>
                <a:latin typeface="Times New Roman"/>
                <a:cs typeface="Times New Roman"/>
              </a:rPr>
              <a:t>Same idea</a:t>
            </a:r>
          </a:p>
        </p:txBody>
      </p:sp>
      <p:sp>
        <p:nvSpPr>
          <p:cNvPr id="392" name="Code3"/>
          <p:cNvSpPr/>
          <p:nvPr/>
        </p:nvSpPr>
        <p:spPr>
          <a:xfrm>
            <a:off x="6477000" y="4114800"/>
            <a:ext cx="4927600" cy="33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52400" tIns="635" rIns="101600" bIns="635" anchor="ctr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1F3A34"/>
                </a:solidFill>
                <a:latin typeface="Consolas"/>
                <a:cs typeface="Consolas"/>
              </a:rPr>
              <a:t>attributes from one layer attach to another</a:t>
            </a:r>
          </a:p>
        </p:txBody>
      </p:sp>
      <p:sp>
        <p:nvSpPr>
          <p:cNvPr id="400" name="Badge4"/>
          <p:cNvSpPr/>
          <p:nvPr/>
        </p:nvSpPr>
        <p:spPr>
          <a:xfrm>
            <a:off x="6477000" y="4521200"/>
            <a:ext cx="355600" cy="355600"/>
          </a:xfrm>
          <a:prstGeom prst="roundRect">
            <a:avLst/>
          </a:prstGeom>
          <a:solidFill>
            <a:srgbClr val="B08B57"/>
          </a:solidFill>
          <a:ln>
            <a:noFill/>
          </a:ln>
        </p:spPr>
        <p:txBody>
          <a:bodyPr wrap="square" lIns="25400" tIns="635" rIns="25400" bIns="635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D</a:t>
            </a:r>
          </a:p>
        </p:txBody>
      </p:sp>
      <p:sp>
        <p:nvSpPr>
          <p:cNvPr id="401" name="S401"/>
          <p:cNvSpPr/>
          <p:nvPr/>
        </p:nvSpPr>
        <p:spPr>
          <a:xfrm>
            <a:off x="6959600" y="45593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450" b="1" dirty="0">
                <a:solidFill>
                  <a:srgbClr val="1F3A34"/>
                </a:solidFill>
                <a:latin typeface="Times New Roman"/>
                <a:cs typeface="Times New Roman"/>
              </a:rPr>
              <a:t>No key needed</a:t>
            </a:r>
          </a:p>
        </p:txBody>
      </p:sp>
      <p:sp>
        <p:nvSpPr>
          <p:cNvPr id="402" name="Code4"/>
          <p:cNvSpPr/>
          <p:nvPr/>
        </p:nvSpPr>
        <p:spPr>
          <a:xfrm>
            <a:off x="6477000" y="4902200"/>
            <a:ext cx="4927600" cy="33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52400" tIns="635" rIns="101600" bIns="635" anchor="ctr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1F3A34"/>
                </a:solidFill>
                <a:latin typeface="Consolas"/>
                <a:cs typeface="Consolas"/>
              </a:rPr>
              <a:t>geometry does the matching, not a field</a:t>
            </a:r>
          </a:p>
        </p:txBody>
      </p:sp>
      <p:sp>
        <p:nvSpPr>
          <p:cNvPr id="8" name="Closing"/>
          <p:cNvSpPr/>
          <p:nvPr/>
        </p:nvSpPr>
        <p:spPr>
          <a:xfrm>
            <a:off x="6477000" y="5384800"/>
            <a:ext cx="4927600" cy="6858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177800" tIns="635" rIns="177800" bIns="635" anchor="ctr">
            <a:norm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US" sz="1400" b="1" i="1" dirty="0">
                <a:solidFill>
                  <a:srgbClr val="1F3A34"/>
                </a:solidFill>
                <a:latin typeface="Times New Roman"/>
                <a:cs typeface="Times New Roman"/>
              </a:rPr>
              <a:t>You've joined tables by attribute — next, join them by where they are.</a:t>
            </a:r>
          </a:p>
        </p:txBody>
      </p:sp>
      <p:pic>
        <p:nvPicPr>
          <p:cNvPr id="403" name="Graphic 403" descr="Key fiel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" y="2235200"/>
            <a:ext cx="279400" cy="279400"/>
          </a:xfrm>
          <a:prstGeom prst="rect">
            <a:avLst/>
          </a:prstGeom>
        </p:spPr>
      </p:pic>
      <p:pic>
        <p:nvPicPr>
          <p:cNvPr id="404" name="Graphic 404" descr="Join lin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700" y="3276600"/>
            <a:ext cx="279400" cy="279400"/>
          </a:xfrm>
          <a:prstGeom prst="rect">
            <a:avLst/>
          </a:prstGeom>
        </p:spPr>
      </p:pic>
      <p:pic>
        <p:nvPicPr>
          <p:cNvPr id="405" name="Graphic 405" descr="Cardina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700" y="4318000"/>
            <a:ext cx="279400" cy="279400"/>
          </a:xfrm>
          <a:prstGeom prst="rect">
            <a:avLst/>
          </a:prstGeom>
        </p:spPr>
      </p:pic>
      <p:pic>
        <p:nvPicPr>
          <p:cNvPr id="406" name="Graphic 406" descr="Check the ke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8700" y="53594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17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1F3A34"/>
          </a:solidFill>
          <a:ln w="12700">
            <a:solidFill>
              <a:srgbClr val="1F3A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3600" y="17526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Spatial Joins in ArcGIS Pro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8096" y="2487168"/>
            <a:ext cx="1234440" cy="0"/>
          </a:xfrm>
          <a:prstGeom prst="line">
            <a:avLst/>
          </a:prstGeom>
          <a:noFill/>
          <a:ln w="12700">
            <a:solidFill>
              <a:srgbClr val="B0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AccentLine"/>
          <p:cNvSpPr/>
          <p:nvPr/>
        </p:nvSpPr>
        <p:spPr>
          <a:xfrm>
            <a:off x="889000" y="2616200"/>
            <a:ext cx="1524000" cy="381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ubtitle"/>
          <p:cNvSpPr/>
          <p:nvPr/>
        </p:nvSpPr>
        <p:spPr>
          <a:xfrm>
            <a:off x="889000" y="27432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t">
            <a:normAutofit/>
          </a:bodyPr>
          <a:lstStyle/>
          <a:p>
            <a:pPr algn="l">
              <a:buNone/>
            </a:pPr>
            <a:r>
              <a:rPr lang="en-US" sz="1800" i="1" dirty="0">
                <a:solidFill>
                  <a:srgbClr val="6A6258"/>
                </a:solidFill>
                <a:latin typeface="Times New Roman" pitchFamily="34" charset="0"/>
                <a:cs typeface="Times New Roman" pitchFamily="34" charset="0"/>
              </a:rPr>
              <a:t>Joining data by where features are — not by a shared field</a:t>
            </a:r>
          </a:p>
        </p:txBody>
      </p:sp>
      <p:sp>
        <p:nvSpPr>
          <p:cNvPr id="110" name="Card0"/>
          <p:cNvSpPr/>
          <p:nvPr/>
        </p:nvSpPr>
        <p:spPr>
          <a:xfrm>
            <a:off x="685800" y="3810000"/>
            <a:ext cx="3403600" cy="22352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28600" tIns="406400" rIns="228600" bIns="20320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Join by location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Attach attributes using a spatial relationship instead of a shared key field.</a:t>
            </a:r>
          </a:p>
        </p:txBody>
      </p:sp>
      <p:sp>
        <p:nvSpPr>
          <p:cNvPr id="111" name="Bar0"/>
          <p:cNvSpPr/>
          <p:nvPr/>
        </p:nvSpPr>
        <p:spPr>
          <a:xfrm>
            <a:off x="914400" y="4038600"/>
            <a:ext cx="5588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ard1"/>
          <p:cNvSpPr/>
          <p:nvPr/>
        </p:nvSpPr>
        <p:spPr>
          <a:xfrm>
            <a:off x="4394200" y="3810000"/>
            <a:ext cx="3403600" cy="22352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28600" tIns="406400" rIns="228600" bIns="20320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Match options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Intersect, within a distance, closest, or contains — you choose the rule.</a:t>
            </a:r>
          </a:p>
        </p:txBody>
      </p:sp>
      <p:sp>
        <p:nvSpPr>
          <p:cNvPr id="113" name="Bar1"/>
          <p:cNvSpPr/>
          <p:nvPr/>
        </p:nvSpPr>
        <p:spPr>
          <a:xfrm>
            <a:off x="4622800" y="4038600"/>
            <a:ext cx="5588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Card2"/>
          <p:cNvSpPr/>
          <p:nvPr/>
        </p:nvSpPr>
        <p:spPr>
          <a:xfrm>
            <a:off x="8102600" y="3810000"/>
            <a:ext cx="3403600" cy="22352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28600" tIns="406400" rIns="228600" bIns="20320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One or many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Keep one summary row per feature, or one row per match.</a:t>
            </a:r>
          </a:p>
        </p:txBody>
      </p:sp>
      <p:sp>
        <p:nvSpPr>
          <p:cNvPr id="115" name="Bar2"/>
          <p:cNvSpPr/>
          <p:nvPr/>
        </p:nvSpPr>
        <p:spPr>
          <a:xfrm>
            <a:off x="8331200" y="4038600"/>
            <a:ext cx="5588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301" name="HdrDivider"/>
          <p:cNvSpPr/>
          <p:nvPr/>
        </p:nvSpPr>
        <p:spPr>
          <a:xfrm>
            <a:off x="685800" y="558800"/>
            <a:ext cx="10820400" cy="1778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0" name="PageNum"/>
          <p:cNvSpPr/>
          <p:nvPr/>
        </p:nvSpPr>
        <p:spPr>
          <a:xfrm>
            <a:off x="11036300" y="64135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r">
              <a:buNone/>
            </a:pPr>
            <a:r>
              <a:rPr lang="en-US" sz="1000" dirty="0">
                <a:solidFill>
                  <a:srgbClr val="6A6258"/>
                </a:solidFill>
                <a:latin typeface="Times New Roman"/>
                <a:cs typeface="Times New Roman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09584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en-US" sz="1000" dirty="0">
                <a:solidFill>
                  <a:srgbClr val="6A6258"/>
                </a:solidFill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Why Spatial Join?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When tables share no key, their location can still link them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310" name="LPanel"/>
          <p:cNvSpPr/>
          <p:nvPr/>
        </p:nvSpPr>
        <p:spPr>
          <a:xfrm>
            <a:off x="685800" y="1574800"/>
            <a:ext cx="5308600" cy="46482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20" name="Lcirc"/>
          <p:cNvSpPr/>
          <p:nvPr/>
        </p:nvSpPr>
        <p:spPr>
          <a:xfrm>
            <a:off x="939800" y="1854200"/>
            <a:ext cx="508000" cy="5080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21" name="Lhead"/>
          <p:cNvSpPr/>
          <p:nvPr/>
        </p:nvSpPr>
        <p:spPr>
          <a:xfrm>
            <a:off x="1625600" y="1905000"/>
            <a:ext cx="4089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F3A34"/>
                </a:solidFill>
                <a:latin typeface="Times New Roman"/>
                <a:cs typeface="Times New Roman"/>
              </a:rPr>
              <a:t>No shared field — but shared space</a:t>
            </a:r>
          </a:p>
        </p:txBody>
      </p:sp>
      <p:sp>
        <p:nvSpPr>
          <p:cNvPr id="322" name="Lbody"/>
          <p:cNvSpPr/>
          <p:nvPr/>
        </p:nvSpPr>
        <p:spPr>
          <a:xfrm>
            <a:off x="939800" y="2540000"/>
            <a:ext cx="477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8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Parks are points; boroughs are polygons. They share no common ID to join on — yet every park falls inside exactly one borough.</a:t>
            </a:r>
          </a:p>
        </p:txBody>
      </p:sp>
      <p:sp>
        <p:nvSpPr>
          <p:cNvPr id="323" name="boxA"/>
          <p:cNvSpPr/>
          <p:nvPr/>
        </p:nvSpPr>
        <p:spPr>
          <a:xfrm>
            <a:off x="939800" y="3276600"/>
            <a:ext cx="1981200" cy="7620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27000" tIns="635" rIns="76200" bIns="635" anchor="ctr">
            <a:norm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1F3A34"/>
                </a:solidFill>
                <a:latin typeface="Times New Roman"/>
                <a:cs typeface="Times New Roman"/>
              </a:rPr>
              <a:t>Parks</a:t>
            </a:r>
          </a:p>
          <a:p>
            <a:pPr>
              <a:spcBef>
                <a:spcPts val="200"/>
              </a:spcBef>
              <a:buNone/>
            </a:pPr>
            <a:r>
              <a:rPr lang="en-US" sz="1200" dirty="0">
                <a:solidFill>
                  <a:srgbClr val="1F1F1F"/>
                </a:solidFill>
                <a:latin typeface="Times New Roman"/>
                <a:cs typeface="Times New Roman"/>
              </a:rPr>
              <a:t>point features</a:t>
            </a:r>
          </a:p>
        </p:txBody>
      </p:sp>
      <p:sp>
        <p:nvSpPr>
          <p:cNvPr id="324" name="keyB"/>
          <p:cNvSpPr/>
          <p:nvPr/>
        </p:nvSpPr>
        <p:spPr>
          <a:xfrm>
            <a:off x="2997200" y="3467100"/>
            <a:ext cx="762000" cy="3810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25400" tIns="635" rIns="25400" bIns="635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1F3A34"/>
                </a:solidFill>
                <a:latin typeface="Times New Roman"/>
                <a:cs typeface="Times New Roman"/>
              </a:rPr>
              <a:t>within</a:t>
            </a:r>
          </a:p>
        </p:txBody>
      </p:sp>
      <p:sp>
        <p:nvSpPr>
          <p:cNvPr id="325" name="boxB"/>
          <p:cNvSpPr/>
          <p:nvPr/>
        </p:nvSpPr>
        <p:spPr>
          <a:xfrm>
            <a:off x="3810000" y="3276600"/>
            <a:ext cx="1981200" cy="7620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27000" tIns="635" rIns="76200" bIns="635" anchor="ctr">
            <a:norm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1F3A34"/>
                </a:solidFill>
                <a:latin typeface="Times New Roman"/>
                <a:cs typeface="Times New Roman"/>
              </a:rPr>
              <a:t>Boroughs</a:t>
            </a:r>
          </a:p>
          <a:p>
            <a:pPr>
              <a:spcBef>
                <a:spcPts val="200"/>
              </a:spcBef>
              <a:buNone/>
            </a:pPr>
            <a:r>
              <a:rPr lang="en-US" sz="1200" dirty="0">
                <a:solidFill>
                  <a:srgbClr val="1F1F1F"/>
                </a:solidFill>
                <a:latin typeface="Times New Roman"/>
                <a:cs typeface="Times New Roman"/>
              </a:rPr>
              <a:t>polygon features</a:t>
            </a:r>
          </a:p>
        </p:txBody>
      </p:sp>
      <p:sp>
        <p:nvSpPr>
          <p:cNvPr id="326" name="Ltake"/>
          <p:cNvSpPr/>
          <p:nvPr/>
        </p:nvSpPr>
        <p:spPr>
          <a:xfrm>
            <a:off x="939800" y="42926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The link: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their geometry — a spatial relationship — stands in for the key field.</a:t>
            </a:r>
          </a:p>
        </p:txBody>
      </p:sp>
      <p:sp>
        <p:nvSpPr>
          <p:cNvPr id="330" name="RPanel"/>
          <p:cNvSpPr/>
          <p:nvPr/>
        </p:nvSpPr>
        <p:spPr>
          <a:xfrm>
            <a:off x="6223000" y="1574800"/>
            <a:ext cx="5283200" cy="46482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31" name="Rhead"/>
          <p:cNvSpPr/>
          <p:nvPr/>
        </p:nvSpPr>
        <p:spPr>
          <a:xfrm>
            <a:off x="6477000" y="1803400"/>
            <a:ext cx="4826000" cy="406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What a spatial join needs</a:t>
            </a:r>
          </a:p>
        </p:txBody>
      </p:sp>
      <p:sp>
        <p:nvSpPr>
          <p:cNvPr id="341" name="S341"/>
          <p:cNvSpPr/>
          <p:nvPr/>
        </p:nvSpPr>
        <p:spPr>
          <a:xfrm>
            <a:off x="6477000" y="2590800"/>
            <a:ext cx="4927600" cy="711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635" rIns="25400" bIns="635" anchor="t">
            <a:normAutofit/>
          </a:bodyPr>
          <a:lstStyle/>
          <a:p>
            <a:pPr marL="203200" indent="-203200">
              <a:lnSpc>
                <a:spcPct val="108000"/>
              </a:lnSpc>
              <a:buClr>
                <a:srgbClr val="B08B57"/>
              </a:buClr>
              <a:buFont typeface="Arial"/>
              <a:buChar char="•"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Target features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— the layer that receives the attributes; you get one row back per target feature.</a:t>
            </a:r>
          </a:p>
        </p:txBody>
      </p:sp>
      <p:sp>
        <p:nvSpPr>
          <p:cNvPr id="342" name="S342"/>
          <p:cNvSpPr/>
          <p:nvPr/>
        </p:nvSpPr>
        <p:spPr>
          <a:xfrm>
            <a:off x="6477000" y="3403600"/>
            <a:ext cx="4927600" cy="711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635" rIns="25400" bIns="635" anchor="t">
            <a:normAutofit/>
          </a:bodyPr>
          <a:lstStyle/>
          <a:p>
            <a:pPr marL="203200" indent="-203200">
              <a:lnSpc>
                <a:spcPct val="108000"/>
              </a:lnSpc>
              <a:buClr>
                <a:srgbClr val="B08B57"/>
              </a:buClr>
              <a:buFont typeface="Arial"/>
              <a:buChar char="•"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Join features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— the layer whose attributes are attached wherever they match in space.</a:t>
            </a:r>
          </a:p>
        </p:txBody>
      </p:sp>
      <p:sp>
        <p:nvSpPr>
          <p:cNvPr id="343" name="S343"/>
          <p:cNvSpPr/>
          <p:nvPr/>
        </p:nvSpPr>
        <p:spPr>
          <a:xfrm>
            <a:off x="6477000" y="4191000"/>
            <a:ext cx="4927600" cy="711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635" rIns="25400" bIns="635" anchor="t">
            <a:normAutofit/>
          </a:bodyPr>
          <a:lstStyle/>
          <a:p>
            <a:pPr marL="203200" indent="-203200">
              <a:lnSpc>
                <a:spcPct val="108000"/>
              </a:lnSpc>
              <a:buClr>
                <a:srgbClr val="B08B57"/>
              </a:buClr>
              <a:buFont typeface="Arial"/>
              <a:buChar char="•"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Spatial relationship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— </a:t>
            </a: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intersect, within a distance, or closest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decides what counts as a match.</a:t>
            </a:r>
          </a:p>
        </p:txBody>
      </p:sp>
      <p:pic>
        <p:nvPicPr>
          <p:cNvPr id="344" name="Graphic 344" descr="Location mark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00" y="19685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57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Spatial Relationship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rule that decides a match — the spatial stand-in for the key field</a:t>
            </a:r>
            <a:endParaRPr lang="en-US" sz="1600" dirty="0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350" name="Intro"/>
          <p:cNvSpPr/>
          <p:nvPr/>
        </p:nvSpPr>
        <p:spPr>
          <a:xfrm>
            <a:off x="685800" y="1524000"/>
            <a:ext cx="10820400" cy="406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500" dirty="0">
                <a:solidFill>
                  <a:srgbClr val="1F1F1F"/>
                </a:solidFill>
                <a:latin typeface="Times New Roman"/>
                <a:cs typeface="Times New Roman"/>
              </a:rPr>
              <a:t>A spatial join has no key field. Instead, you choose a spatial relationship — the rule that decides which features match.</a:t>
            </a:r>
          </a:p>
        </p:txBody>
      </p:sp>
      <p:sp>
        <p:nvSpPr>
          <p:cNvPr id="360" name="C360"/>
          <p:cNvSpPr/>
          <p:nvPr/>
        </p:nvSpPr>
        <p:spPr>
          <a:xfrm>
            <a:off x="685800" y="2082800"/>
            <a:ext cx="3403600" cy="2921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61" name="S361"/>
          <p:cNvSpPr/>
          <p:nvPr/>
        </p:nvSpPr>
        <p:spPr>
          <a:xfrm>
            <a:off x="914400" y="23368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Containment</a:t>
            </a:r>
          </a:p>
        </p:txBody>
      </p:sp>
      <p:sp>
        <p:nvSpPr>
          <p:cNvPr id="362" name="S362"/>
          <p:cNvSpPr/>
          <p:nvPr/>
        </p:nvSpPr>
        <p:spPr>
          <a:xfrm>
            <a:off x="914400" y="2997200"/>
            <a:ext cx="2946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One feature falls completely inside another.</a:t>
            </a:r>
          </a:p>
        </p:txBody>
      </p:sp>
      <p:sp>
        <p:nvSpPr>
          <p:cNvPr id="363" name="S363"/>
          <p:cNvSpPr/>
          <p:nvPr/>
        </p:nvSpPr>
        <p:spPr>
          <a:xfrm>
            <a:off x="914400" y="43180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8A6A2F"/>
                </a:solidFill>
                <a:latin typeface="Times New Roman"/>
                <a:cs typeface="Times New Roman"/>
              </a:rPr>
              <a:t>e.g., a park within a borough.</a:t>
            </a:r>
          </a:p>
        </p:txBody>
      </p:sp>
      <p:sp>
        <p:nvSpPr>
          <p:cNvPr id="370" name="C370"/>
          <p:cNvSpPr/>
          <p:nvPr/>
        </p:nvSpPr>
        <p:spPr>
          <a:xfrm>
            <a:off x="4394200" y="2082800"/>
            <a:ext cx="3403600" cy="2921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71" name="S371"/>
          <p:cNvSpPr/>
          <p:nvPr/>
        </p:nvSpPr>
        <p:spPr>
          <a:xfrm>
            <a:off x="4622800" y="23368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Proximity</a:t>
            </a:r>
          </a:p>
        </p:txBody>
      </p:sp>
      <p:sp>
        <p:nvSpPr>
          <p:cNvPr id="372" name="S372"/>
          <p:cNvSpPr/>
          <p:nvPr/>
        </p:nvSpPr>
        <p:spPr>
          <a:xfrm>
            <a:off x="4622800" y="2997200"/>
            <a:ext cx="2946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Features that lie within a set distance of each other.</a:t>
            </a:r>
          </a:p>
        </p:txBody>
      </p:sp>
      <p:sp>
        <p:nvSpPr>
          <p:cNvPr id="373" name="S373"/>
          <p:cNvSpPr/>
          <p:nvPr/>
        </p:nvSpPr>
        <p:spPr>
          <a:xfrm>
            <a:off x="4622800" y="43180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8A6A2F"/>
                </a:solidFill>
                <a:latin typeface="Times New Roman"/>
                <a:cs typeface="Times New Roman"/>
              </a:rPr>
              <a:t>e.g., homes within one mile of a station.</a:t>
            </a:r>
          </a:p>
        </p:txBody>
      </p:sp>
      <p:sp>
        <p:nvSpPr>
          <p:cNvPr id="380" name="C380"/>
          <p:cNvSpPr/>
          <p:nvPr/>
        </p:nvSpPr>
        <p:spPr>
          <a:xfrm>
            <a:off x="8102600" y="2082800"/>
            <a:ext cx="3403600" cy="2921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81" name="S381"/>
          <p:cNvSpPr/>
          <p:nvPr/>
        </p:nvSpPr>
        <p:spPr>
          <a:xfrm>
            <a:off x="8331200" y="23368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Intersection</a:t>
            </a:r>
          </a:p>
        </p:txBody>
      </p:sp>
      <p:sp>
        <p:nvSpPr>
          <p:cNvPr id="382" name="S382"/>
          <p:cNvSpPr/>
          <p:nvPr/>
        </p:nvSpPr>
        <p:spPr>
          <a:xfrm>
            <a:off x="8331200" y="2997200"/>
            <a:ext cx="2946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Features that touch, cross, or overlap.</a:t>
            </a:r>
          </a:p>
        </p:txBody>
      </p:sp>
      <p:sp>
        <p:nvSpPr>
          <p:cNvPr id="383" name="S383"/>
          <p:cNvSpPr/>
          <p:nvPr/>
        </p:nvSpPr>
        <p:spPr>
          <a:xfrm>
            <a:off x="8331200" y="43180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8A6A2F"/>
                </a:solidFill>
                <a:latin typeface="Times New Roman"/>
                <a:cs typeface="Times New Roman"/>
              </a:rPr>
              <a:t>e.g., roads crossing a floodplain.</a:t>
            </a:r>
          </a:p>
        </p:txBody>
      </p:sp>
      <p:sp>
        <p:nvSpPr>
          <p:cNvPr id="390" name="Strip"/>
          <p:cNvSpPr/>
          <p:nvPr/>
        </p:nvSpPr>
        <p:spPr>
          <a:xfrm>
            <a:off x="685800" y="5181600"/>
            <a:ext cx="10820400" cy="7112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228600" tIns="635" rIns="228600" bIns="635" anchor="ctr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8A6A2F"/>
                </a:solidFill>
                <a:latin typeface="Times New Roman"/>
                <a:cs typeface="Times New Roman"/>
              </a:rPr>
              <a:t>The rule shapes the result — </a:t>
            </a:r>
            <a:r>
              <a:rPr lang="en-US" sz="1500" dirty="0">
                <a:solidFill>
                  <a:srgbClr val="1F1F1F"/>
                </a:solidFill>
                <a:latin typeface="Times New Roman"/>
                <a:cs typeface="Times New Roman"/>
              </a:rPr>
              <a:t>pick the relationship that matches the question you're asking.</a:t>
            </a:r>
          </a:p>
        </p:txBody>
      </p:sp>
    </p:spTree>
    <p:extLst>
      <p:ext uri="{BB962C8B-B14F-4D97-AF65-F5344CB8AC3E}">
        <p14:creationId xmlns:p14="http://schemas.microsoft.com/office/powerpoint/2010/main" val="1979861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Where to Find Spatial Join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One tool, reached from the menu or the ribbon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400" name="Card0"/>
          <p:cNvSpPr/>
          <p:nvPr/>
        </p:nvSpPr>
        <p:spPr>
          <a:xfrm>
            <a:off x="685800" y="1600200"/>
            <a:ext cx="3429000" cy="3733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10" name="Circ0"/>
          <p:cNvSpPr/>
          <p:nvPr/>
        </p:nvSpPr>
        <p:spPr>
          <a:xfrm>
            <a:off x="939800" y="1854200"/>
            <a:ext cx="533400" cy="5334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0" name="Hd0"/>
          <p:cNvSpPr/>
          <p:nvPr/>
        </p:nvSpPr>
        <p:spPr>
          <a:xfrm>
            <a:off x="1625600" y="1955800"/>
            <a:ext cx="22606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From the map</a:t>
            </a:r>
          </a:p>
        </p:txBody>
      </p:sp>
      <p:sp>
        <p:nvSpPr>
          <p:cNvPr id="430" name="Dv0"/>
          <p:cNvSpPr/>
          <p:nvPr/>
        </p:nvSpPr>
        <p:spPr>
          <a:xfrm>
            <a:off x="939800" y="2540000"/>
            <a:ext cx="29210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01" name="Card1"/>
          <p:cNvSpPr/>
          <p:nvPr/>
        </p:nvSpPr>
        <p:spPr>
          <a:xfrm>
            <a:off x="4381500" y="1600200"/>
            <a:ext cx="3429000" cy="3733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11" name="Circ1"/>
          <p:cNvSpPr/>
          <p:nvPr/>
        </p:nvSpPr>
        <p:spPr>
          <a:xfrm>
            <a:off x="4635500" y="1854200"/>
            <a:ext cx="533400" cy="533400"/>
          </a:xfrm>
          <a:prstGeom prst="ellipse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1" name="Hd1"/>
          <p:cNvSpPr/>
          <p:nvPr/>
        </p:nvSpPr>
        <p:spPr>
          <a:xfrm>
            <a:off x="5321300" y="1955800"/>
            <a:ext cx="22606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From the ribbon</a:t>
            </a:r>
          </a:p>
        </p:txBody>
      </p:sp>
      <p:sp>
        <p:nvSpPr>
          <p:cNvPr id="431" name="Dv1"/>
          <p:cNvSpPr/>
          <p:nvPr/>
        </p:nvSpPr>
        <p:spPr>
          <a:xfrm>
            <a:off x="4635500" y="2540000"/>
            <a:ext cx="29210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02" name="Card2"/>
          <p:cNvSpPr/>
          <p:nvPr/>
        </p:nvSpPr>
        <p:spPr>
          <a:xfrm>
            <a:off x="8077200" y="1600200"/>
            <a:ext cx="3429000" cy="3733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12" name="Circ2"/>
          <p:cNvSpPr/>
          <p:nvPr/>
        </p:nvSpPr>
        <p:spPr>
          <a:xfrm>
            <a:off x="8331200" y="1854200"/>
            <a:ext cx="533400" cy="5334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2" name="Hd2"/>
          <p:cNvSpPr/>
          <p:nvPr/>
        </p:nvSpPr>
        <p:spPr>
          <a:xfrm>
            <a:off x="9017000" y="1955800"/>
            <a:ext cx="22606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What you'll set</a:t>
            </a:r>
          </a:p>
        </p:txBody>
      </p:sp>
      <p:sp>
        <p:nvSpPr>
          <p:cNvPr id="432" name="Dv2"/>
          <p:cNvSpPr/>
          <p:nvPr/>
        </p:nvSpPr>
        <p:spPr>
          <a:xfrm>
            <a:off x="8331200" y="2540000"/>
            <a:ext cx="29210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40" name="S440"/>
          <p:cNvSpPr/>
          <p:nvPr/>
        </p:nvSpPr>
        <p:spPr>
          <a:xfrm>
            <a:off x="939800" y="2717800"/>
            <a:ext cx="2921000" cy="889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6A6258"/>
                </a:solidFill>
                <a:latin typeface="Times New Roman"/>
                <a:cs typeface="Times New Roman"/>
              </a:rPr>
              <a:t>Right-click a layer → Joins and Relates → Spatial Join</a:t>
            </a:r>
          </a:p>
        </p:txBody>
      </p:sp>
      <p:sp>
        <p:nvSpPr>
          <p:cNvPr id="441" name="S441"/>
          <p:cNvSpPr/>
          <p:nvPr/>
        </p:nvSpPr>
        <p:spPr>
          <a:xfrm>
            <a:off x="939800" y="3810000"/>
            <a:ext cx="2921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8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Opens the tool with that layer already set as the target.</a:t>
            </a:r>
          </a:p>
        </p:txBody>
      </p:sp>
      <p:sp>
        <p:nvSpPr>
          <p:cNvPr id="450" name="S450"/>
          <p:cNvSpPr/>
          <p:nvPr/>
        </p:nvSpPr>
        <p:spPr>
          <a:xfrm>
            <a:off x="4635500" y="2717800"/>
            <a:ext cx="2921000" cy="889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6A6258"/>
                </a:solidFill>
                <a:latin typeface="Times New Roman"/>
                <a:cs typeface="Times New Roman"/>
              </a:rPr>
              <a:t>Analysis tab → Tools → search “Spatial Join”</a:t>
            </a:r>
          </a:p>
        </p:txBody>
      </p:sp>
      <p:sp>
        <p:nvSpPr>
          <p:cNvPr id="451" name="S451"/>
          <p:cNvSpPr/>
          <p:nvPr/>
        </p:nvSpPr>
        <p:spPr>
          <a:xfrm>
            <a:off x="4635500" y="3810000"/>
            <a:ext cx="2921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8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The full geoprocessing tool, with every option exposed.</a:t>
            </a:r>
          </a:p>
        </p:txBody>
      </p:sp>
      <p:sp>
        <p:nvSpPr>
          <p:cNvPr id="460" name="S460"/>
          <p:cNvSpPr/>
          <p:nvPr/>
        </p:nvSpPr>
        <p:spPr>
          <a:xfrm>
            <a:off x="8331200" y="2717800"/>
            <a:ext cx="2921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203200" indent="-203200">
              <a:lnSpc>
                <a:spcPct val="106000"/>
              </a:lnSpc>
              <a:spcBef>
                <a:spcPts val="6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500" dirty="0">
                <a:solidFill>
                  <a:srgbClr val="1F1F1F"/>
                </a:solidFill>
                <a:latin typeface="Times New Roman"/>
                <a:cs typeface="Times New Roman"/>
              </a:rPr>
              <a:t>Target features</a:t>
            </a:r>
          </a:p>
          <a:p>
            <a:pPr marL="203200" indent="-203200">
              <a:lnSpc>
                <a:spcPct val="106000"/>
              </a:lnSpc>
              <a:spcBef>
                <a:spcPts val="6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500" dirty="0">
                <a:solidFill>
                  <a:srgbClr val="1F1F1F"/>
                </a:solidFill>
                <a:latin typeface="Times New Roman"/>
                <a:cs typeface="Times New Roman"/>
              </a:rPr>
              <a:t>Join features</a:t>
            </a:r>
          </a:p>
          <a:p>
            <a:pPr marL="203200" indent="-203200">
              <a:lnSpc>
                <a:spcPct val="106000"/>
              </a:lnSpc>
              <a:spcBef>
                <a:spcPts val="6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500" dirty="0">
                <a:solidFill>
                  <a:srgbClr val="1F1F1F"/>
                </a:solidFill>
                <a:latin typeface="Times New Roman"/>
                <a:cs typeface="Times New Roman"/>
              </a:rPr>
              <a:t>Match Option</a:t>
            </a:r>
          </a:p>
          <a:p>
            <a:pPr marL="203200" indent="-203200">
              <a:lnSpc>
                <a:spcPct val="106000"/>
              </a:lnSpc>
              <a:spcBef>
                <a:spcPts val="6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500" dirty="0">
                <a:solidFill>
                  <a:srgbClr val="1F1F1F"/>
                </a:solidFill>
                <a:latin typeface="Times New Roman"/>
                <a:cs typeface="Times New Roman"/>
              </a:rPr>
              <a:t>Output feature class</a:t>
            </a:r>
          </a:p>
        </p:txBody>
      </p:sp>
      <p:sp>
        <p:nvSpPr>
          <p:cNvPr id="470" name="Tip"/>
          <p:cNvSpPr/>
          <p:nvPr/>
        </p:nvSpPr>
        <p:spPr>
          <a:xfrm>
            <a:off x="685800" y="5537200"/>
            <a:ext cx="10820400" cy="6858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203200" tIns="635" rIns="203200" bIns="635" anchor="ctr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Note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Unlike Add Join, a spatial join always writes a new output layer — there is no temporary, live version.</a:t>
            </a:r>
          </a:p>
        </p:txBody>
      </p:sp>
      <p:pic>
        <p:nvPicPr>
          <p:cNvPr id="471" name="Graphic 471" descr="Right-click menu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1981200"/>
            <a:ext cx="279400" cy="279400"/>
          </a:xfrm>
          <a:prstGeom prst="rect">
            <a:avLst/>
          </a:prstGeom>
        </p:spPr>
      </p:pic>
      <p:pic>
        <p:nvPicPr>
          <p:cNvPr id="472" name="Graphic 472" descr="Geoprocessing too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1981200"/>
            <a:ext cx="279400" cy="279400"/>
          </a:xfrm>
          <a:prstGeom prst="rect">
            <a:avLst/>
          </a:prstGeom>
        </p:spPr>
      </p:pic>
      <p:pic>
        <p:nvPicPr>
          <p:cNvPr id="473" name="Graphic 473" descr="Tool paramet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8200" y="19812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46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 Spatial Join 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inputs, one rule, and a brand-new output layer</a:t>
            </a:r>
            <a:endParaRPr lang="en-US" sz="1600" dirty="0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500" name="Target"/>
          <p:cNvSpPr/>
          <p:nvPr/>
        </p:nvSpPr>
        <p:spPr>
          <a:xfrm>
            <a:off x="685800" y="2133600"/>
            <a:ext cx="2844800" cy="12192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Target features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300" dirty="0">
                <a:solidFill>
                  <a:srgbClr val="1F1F1F"/>
                </a:solidFill>
                <a:latin typeface="Times New Roman"/>
                <a:cs typeface="Times New Roman"/>
              </a:rPr>
              <a:t>the layer you keep</a:t>
            </a:r>
          </a:p>
        </p:txBody>
      </p:sp>
      <p:sp>
        <p:nvSpPr>
          <p:cNvPr id="501" name="Plus"/>
          <p:cNvSpPr/>
          <p:nvPr/>
        </p:nvSpPr>
        <p:spPr>
          <a:xfrm>
            <a:off x="3581400" y="2133600"/>
            <a:ext cx="406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8A6A2F"/>
                </a:solidFill>
                <a:latin typeface="Times New Roman"/>
                <a:cs typeface="Times New Roman"/>
              </a:rPr>
              <a:t>+</a:t>
            </a:r>
          </a:p>
        </p:txBody>
      </p:sp>
      <p:sp>
        <p:nvSpPr>
          <p:cNvPr id="502" name="Join"/>
          <p:cNvSpPr/>
          <p:nvPr/>
        </p:nvSpPr>
        <p:spPr>
          <a:xfrm>
            <a:off x="4038600" y="2133600"/>
            <a:ext cx="2844800" cy="12192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Join features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300" dirty="0">
                <a:solidFill>
                  <a:srgbClr val="1F1F1F"/>
                </a:solidFill>
                <a:latin typeface="Times New Roman"/>
                <a:cs typeface="Times New Roman"/>
              </a:rPr>
              <a:t>attributes to attach</a:t>
            </a:r>
          </a:p>
        </p:txBody>
      </p:sp>
      <p:sp>
        <p:nvSpPr>
          <p:cNvPr id="503" name="ArrLbl"/>
          <p:cNvSpPr/>
          <p:nvPr/>
        </p:nvSpPr>
        <p:spPr>
          <a:xfrm>
            <a:off x="6959600" y="2235200"/>
            <a:ext cx="914400" cy="203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b">
            <a:normAutofit/>
          </a:bodyPr>
          <a:lstStyle/>
          <a:p>
            <a:pPr algn="ctr">
              <a:buNone/>
            </a:pPr>
            <a:r>
              <a:rPr lang="en-US" sz="1100" b="1" spc="60" dirty="0">
                <a:solidFill>
                  <a:srgbClr val="8A6A2F"/>
                </a:solidFill>
                <a:latin typeface="Times New Roman"/>
                <a:cs typeface="Times New Roman"/>
              </a:rPr>
              <a:t>match option</a:t>
            </a:r>
          </a:p>
        </p:txBody>
      </p:sp>
      <p:sp>
        <p:nvSpPr>
          <p:cNvPr id="504" name="Arrow"/>
          <p:cNvSpPr/>
          <p:nvPr/>
        </p:nvSpPr>
        <p:spPr>
          <a:xfrm>
            <a:off x="7010400" y="2540000"/>
            <a:ext cx="838200" cy="431800"/>
          </a:xfrm>
          <a:prstGeom prst="rightArrow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 fontScale="925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05" name="Output"/>
          <p:cNvSpPr/>
          <p:nvPr/>
        </p:nvSpPr>
        <p:spPr>
          <a:xfrm>
            <a:off x="7975600" y="2133600"/>
            <a:ext cx="3530600" cy="1219200"/>
          </a:xfrm>
          <a:prstGeom prst="roundRect">
            <a:avLst/>
          </a:prstGeom>
          <a:solidFill>
            <a:srgbClr val="EDE5D7"/>
          </a:solidFill>
          <a:ln w="19050">
            <a:solidFill>
              <a:srgbClr val="B08B57"/>
            </a:solidFill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Output layer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300" dirty="0">
                <a:solidFill>
                  <a:srgbClr val="1F1F1F"/>
                </a:solidFill>
                <a:latin typeface="Times New Roman"/>
                <a:cs typeface="Times New Roman"/>
              </a:rPr>
              <a:t>a new feature class on disk</a:t>
            </a:r>
          </a:p>
        </p:txBody>
      </p:sp>
      <p:sp>
        <p:nvSpPr>
          <p:cNvPr id="511" name="N1"/>
          <p:cNvSpPr/>
          <p:nvPr/>
        </p:nvSpPr>
        <p:spPr>
          <a:xfrm>
            <a:off x="685800" y="3835400"/>
            <a:ext cx="3403600" cy="14986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203200" tIns="635" rIns="177800" bIns="635" anchor="t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One row per target</a:t>
            </a:r>
          </a:p>
          <a:p>
            <a:pPr>
              <a:lnSpc>
                <a:spcPct val="106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With one-to-one, each target feature returns a single summary row.</a:t>
            </a:r>
          </a:p>
        </p:txBody>
      </p:sp>
      <p:sp>
        <p:nvSpPr>
          <p:cNvPr id="512" name="N2"/>
          <p:cNvSpPr/>
          <p:nvPr/>
        </p:nvSpPr>
        <p:spPr>
          <a:xfrm>
            <a:off x="4394200" y="3835400"/>
            <a:ext cx="3403600" cy="14986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203200" tIns="635" rIns="177800" bIns="635" anchor="t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Static output</a:t>
            </a:r>
          </a:p>
          <a:p>
            <a:pPr>
              <a:lnSpc>
                <a:spcPct val="106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Saved to disk — it will not refresh when the inputs change.</a:t>
            </a:r>
          </a:p>
        </p:txBody>
      </p:sp>
      <p:sp>
        <p:nvSpPr>
          <p:cNvPr id="513" name="N3"/>
          <p:cNvSpPr/>
          <p:nvPr/>
        </p:nvSpPr>
        <p:spPr>
          <a:xfrm>
            <a:off x="8102600" y="3835400"/>
            <a:ext cx="3403600" cy="14986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203200" tIns="635" rIns="177800" bIns="635" anchor="t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Fields appended</a:t>
            </a:r>
          </a:p>
          <a:p>
            <a:pPr>
              <a:lnSpc>
                <a:spcPct val="106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Attributes from the join layer are added to the output table.</a:t>
            </a:r>
          </a:p>
        </p:txBody>
      </p:sp>
      <p:sp>
        <p:nvSpPr>
          <p:cNvPr id="520" name="Tip"/>
          <p:cNvSpPr/>
          <p:nvPr/>
        </p:nvSpPr>
        <p:spPr>
          <a:xfrm>
            <a:off x="685800" y="5562600"/>
            <a:ext cx="10820400" cy="6604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228600" tIns="635" rIns="203200" bIns="635" anchor="ctr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Remember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the Match Option decides which join features count for each target — choose it deliberately.</a:t>
            </a:r>
          </a:p>
        </p:txBody>
      </p:sp>
    </p:spTree>
    <p:extLst>
      <p:ext uri="{BB962C8B-B14F-4D97-AF65-F5344CB8AC3E}">
        <p14:creationId xmlns:p14="http://schemas.microsoft.com/office/powerpoint/2010/main" val="364271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 Options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spatial relationship you pick decides which features match</a:t>
            </a:r>
            <a:endParaRPr lang="en-US" sz="1600" dirty="0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500" name="MOc"/>
          <p:cNvSpPr/>
          <p:nvPr/>
        </p:nvSpPr>
        <p:spPr>
          <a:xfrm>
            <a:off x="685800" y="1625600"/>
            <a:ext cx="5283200" cy="218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01" name="S501"/>
          <p:cNvSpPr/>
          <p:nvPr/>
        </p:nvSpPr>
        <p:spPr>
          <a:xfrm>
            <a:off x="965200" y="18288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Intersect</a:t>
            </a:r>
          </a:p>
        </p:txBody>
      </p:sp>
      <p:sp>
        <p:nvSpPr>
          <p:cNvPr id="502" name="S502"/>
          <p:cNvSpPr/>
          <p:nvPr/>
        </p:nvSpPr>
        <p:spPr>
          <a:xfrm>
            <a:off x="965200" y="22098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8A6A2F"/>
                </a:solidFill>
                <a:latin typeface="Consolas"/>
                <a:cs typeface="Consolas"/>
              </a:rPr>
              <a:t>INTERSECT</a:t>
            </a:r>
          </a:p>
        </p:txBody>
      </p:sp>
      <p:sp>
        <p:nvSpPr>
          <p:cNvPr id="503" name="S503"/>
          <p:cNvSpPr/>
          <p:nvPr/>
        </p:nvSpPr>
        <p:spPr>
          <a:xfrm>
            <a:off x="965200" y="25146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04" name="S504"/>
          <p:cNvSpPr/>
          <p:nvPr/>
        </p:nvSpPr>
        <p:spPr>
          <a:xfrm>
            <a:off x="965200" y="2667000"/>
            <a:ext cx="472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Matches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features that touch or overlap.</a:t>
            </a:r>
          </a:p>
        </p:txBody>
      </p:sp>
      <p:sp>
        <p:nvSpPr>
          <p:cNvPr id="505" name="S505"/>
          <p:cNvSpPr/>
          <p:nvPr/>
        </p:nvSpPr>
        <p:spPr>
          <a:xfrm>
            <a:off x="965200" y="3225800"/>
            <a:ext cx="472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Use when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counting points in polygons; roads crossing zones.</a:t>
            </a:r>
          </a:p>
        </p:txBody>
      </p:sp>
      <p:sp>
        <p:nvSpPr>
          <p:cNvPr id="506" name="MOc"/>
          <p:cNvSpPr/>
          <p:nvPr/>
        </p:nvSpPr>
        <p:spPr>
          <a:xfrm>
            <a:off x="6223000" y="1625600"/>
            <a:ext cx="5283200" cy="218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07" name="S507"/>
          <p:cNvSpPr/>
          <p:nvPr/>
        </p:nvSpPr>
        <p:spPr>
          <a:xfrm>
            <a:off x="6502400" y="18288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Within a distance</a:t>
            </a:r>
          </a:p>
        </p:txBody>
      </p:sp>
      <p:sp>
        <p:nvSpPr>
          <p:cNvPr id="508" name="S508"/>
          <p:cNvSpPr/>
          <p:nvPr/>
        </p:nvSpPr>
        <p:spPr>
          <a:xfrm>
            <a:off x="6502400" y="22098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8A6A2F"/>
                </a:solidFill>
                <a:latin typeface="Consolas"/>
                <a:cs typeface="Consolas"/>
              </a:rPr>
              <a:t>WITHIN_A_DISTANCE</a:t>
            </a:r>
          </a:p>
        </p:txBody>
      </p:sp>
      <p:sp>
        <p:nvSpPr>
          <p:cNvPr id="509" name="S509"/>
          <p:cNvSpPr/>
          <p:nvPr/>
        </p:nvSpPr>
        <p:spPr>
          <a:xfrm>
            <a:off x="6502400" y="25146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10" name="S510"/>
          <p:cNvSpPr/>
          <p:nvPr/>
        </p:nvSpPr>
        <p:spPr>
          <a:xfrm>
            <a:off x="6502400" y="2667000"/>
            <a:ext cx="472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Matches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join features inside a search radius you set.</a:t>
            </a:r>
          </a:p>
        </p:txBody>
      </p:sp>
      <p:sp>
        <p:nvSpPr>
          <p:cNvPr id="511" name="S511"/>
          <p:cNvSpPr/>
          <p:nvPr/>
        </p:nvSpPr>
        <p:spPr>
          <a:xfrm>
            <a:off x="6502400" y="3225800"/>
            <a:ext cx="472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Use when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homes within a half-mile of a station.</a:t>
            </a:r>
          </a:p>
        </p:txBody>
      </p:sp>
      <p:sp>
        <p:nvSpPr>
          <p:cNvPr id="512" name="MOc"/>
          <p:cNvSpPr/>
          <p:nvPr/>
        </p:nvSpPr>
        <p:spPr>
          <a:xfrm>
            <a:off x="685800" y="3962400"/>
            <a:ext cx="5283200" cy="218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13" name="S513"/>
          <p:cNvSpPr/>
          <p:nvPr/>
        </p:nvSpPr>
        <p:spPr>
          <a:xfrm>
            <a:off x="965200" y="41656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Closest</a:t>
            </a:r>
          </a:p>
        </p:txBody>
      </p:sp>
      <p:sp>
        <p:nvSpPr>
          <p:cNvPr id="514" name="S514"/>
          <p:cNvSpPr/>
          <p:nvPr/>
        </p:nvSpPr>
        <p:spPr>
          <a:xfrm>
            <a:off x="965200" y="45466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8A6A2F"/>
                </a:solidFill>
                <a:latin typeface="Consolas"/>
                <a:cs typeface="Consolas"/>
              </a:rPr>
              <a:t>CLOSEST</a:t>
            </a:r>
          </a:p>
        </p:txBody>
      </p:sp>
      <p:sp>
        <p:nvSpPr>
          <p:cNvPr id="515" name="S515"/>
          <p:cNvSpPr/>
          <p:nvPr/>
        </p:nvSpPr>
        <p:spPr>
          <a:xfrm>
            <a:off x="965200" y="48514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16" name="S516"/>
          <p:cNvSpPr/>
          <p:nvPr/>
        </p:nvSpPr>
        <p:spPr>
          <a:xfrm>
            <a:off x="965200" y="5003800"/>
            <a:ext cx="472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Matches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the single nearest join feature.</a:t>
            </a:r>
          </a:p>
        </p:txBody>
      </p:sp>
      <p:sp>
        <p:nvSpPr>
          <p:cNvPr id="517" name="S517"/>
          <p:cNvSpPr/>
          <p:nvPr/>
        </p:nvSpPr>
        <p:spPr>
          <a:xfrm>
            <a:off x="965200" y="5562600"/>
            <a:ext cx="472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Use when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each address to its nearest hospital.</a:t>
            </a:r>
          </a:p>
        </p:txBody>
      </p:sp>
      <p:sp>
        <p:nvSpPr>
          <p:cNvPr id="518" name="MOc"/>
          <p:cNvSpPr/>
          <p:nvPr/>
        </p:nvSpPr>
        <p:spPr>
          <a:xfrm>
            <a:off x="6223000" y="3962400"/>
            <a:ext cx="5283200" cy="218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19" name="S519"/>
          <p:cNvSpPr/>
          <p:nvPr/>
        </p:nvSpPr>
        <p:spPr>
          <a:xfrm>
            <a:off x="6502400" y="41656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Contains / Within</a:t>
            </a:r>
          </a:p>
        </p:txBody>
      </p:sp>
      <p:sp>
        <p:nvSpPr>
          <p:cNvPr id="520" name="S520"/>
          <p:cNvSpPr/>
          <p:nvPr/>
        </p:nvSpPr>
        <p:spPr>
          <a:xfrm>
            <a:off x="6502400" y="45466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8A6A2F"/>
                </a:solidFill>
                <a:latin typeface="Consolas"/>
                <a:cs typeface="Consolas"/>
              </a:rPr>
              <a:t>CONTAINS · WITHIN</a:t>
            </a:r>
          </a:p>
        </p:txBody>
      </p:sp>
      <p:sp>
        <p:nvSpPr>
          <p:cNvPr id="521" name="S521"/>
          <p:cNvSpPr/>
          <p:nvPr/>
        </p:nvSpPr>
        <p:spPr>
          <a:xfrm>
            <a:off x="6502400" y="48514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22" name="S522"/>
          <p:cNvSpPr/>
          <p:nvPr/>
        </p:nvSpPr>
        <p:spPr>
          <a:xfrm>
            <a:off x="6502400" y="5003800"/>
            <a:ext cx="472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Matches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one feature fully inside another.</a:t>
            </a:r>
          </a:p>
        </p:txBody>
      </p:sp>
      <p:sp>
        <p:nvSpPr>
          <p:cNvPr id="523" name="S523"/>
          <p:cNvSpPr/>
          <p:nvPr/>
        </p:nvSpPr>
        <p:spPr>
          <a:xfrm>
            <a:off x="6502400" y="5562600"/>
            <a:ext cx="472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Use when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parcels entirely within a floodplain.</a:t>
            </a:r>
          </a:p>
        </p:txBody>
      </p:sp>
    </p:spTree>
    <p:extLst>
      <p:ext uri="{BB962C8B-B14F-4D97-AF65-F5344CB8AC3E}">
        <p14:creationId xmlns:p14="http://schemas.microsoft.com/office/powerpoint/2010/main" val="3869205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One-to-One vs One-to-Many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many rows come back for each target feature</a:t>
            </a:r>
            <a:endParaRPr lang="en-US" sz="1600" dirty="0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500" name="S500"/>
          <p:cNvSpPr/>
          <p:nvPr/>
        </p:nvSpPr>
        <p:spPr>
          <a:xfrm>
            <a:off x="685800" y="1625600"/>
            <a:ext cx="5283200" cy="3810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01" name="S501"/>
          <p:cNvSpPr/>
          <p:nvPr/>
        </p:nvSpPr>
        <p:spPr>
          <a:xfrm>
            <a:off x="965200" y="1854200"/>
            <a:ext cx="472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One to one</a:t>
            </a:r>
          </a:p>
        </p:txBody>
      </p:sp>
      <p:sp>
        <p:nvSpPr>
          <p:cNvPr id="502" name="S502"/>
          <p:cNvSpPr/>
          <p:nvPr/>
        </p:nvSpPr>
        <p:spPr>
          <a:xfrm>
            <a:off x="965200" y="22352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8A6A2F"/>
                </a:solidFill>
                <a:latin typeface="Consolas"/>
                <a:cs typeface="Consolas"/>
              </a:rPr>
              <a:t>JOIN_ONE_TO_ONE</a:t>
            </a:r>
          </a:p>
        </p:txBody>
      </p:sp>
      <p:sp>
        <p:nvSpPr>
          <p:cNvPr id="503" name="S503"/>
          <p:cNvSpPr/>
          <p:nvPr/>
        </p:nvSpPr>
        <p:spPr>
          <a:xfrm>
            <a:off x="965200" y="25654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04" name="S504"/>
          <p:cNvSpPr/>
          <p:nvPr/>
        </p:nvSpPr>
        <p:spPr>
          <a:xfrm>
            <a:off x="965200" y="2692400"/>
            <a:ext cx="4724400" cy="1905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190500" indent="-190500">
              <a:lnSpc>
                <a:spcPct val="104000"/>
              </a:lnSpc>
              <a:spcBef>
                <a:spcPts val="5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One row back per target feature.</a:t>
            </a:r>
          </a:p>
          <a:p>
            <a:pPr marL="190500" indent="-190500">
              <a:lnSpc>
                <a:spcPct val="104000"/>
              </a:lnSpc>
              <a:spcBef>
                <a:spcPts val="5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Multiple matches collapse using a merge rule.</a:t>
            </a:r>
          </a:p>
          <a:p>
            <a:pPr marL="190500" indent="-190500">
              <a:lnSpc>
                <a:spcPct val="104000"/>
              </a:lnSpc>
              <a:spcBef>
                <a:spcPts val="5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Adds a Join_Count field — how many matched.</a:t>
            </a:r>
          </a:p>
        </p:txBody>
      </p:sp>
      <p:sp>
        <p:nvSpPr>
          <p:cNvPr id="505" name="S505"/>
          <p:cNvSpPr/>
          <p:nvPr/>
        </p:nvSpPr>
        <p:spPr>
          <a:xfrm>
            <a:off x="965200" y="47244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A6258"/>
                </a:solidFill>
                <a:latin typeface="Times New Roman"/>
                <a:cs typeface="Times New Roman"/>
              </a:rPr>
              <a:t>Parks per borough → one row per borough, with a count.</a:t>
            </a:r>
          </a:p>
        </p:txBody>
      </p:sp>
      <p:sp>
        <p:nvSpPr>
          <p:cNvPr id="520" name="S520"/>
          <p:cNvSpPr/>
          <p:nvPr/>
        </p:nvSpPr>
        <p:spPr>
          <a:xfrm>
            <a:off x="6223000" y="1625600"/>
            <a:ext cx="5283200" cy="3810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21" name="S521"/>
          <p:cNvSpPr/>
          <p:nvPr/>
        </p:nvSpPr>
        <p:spPr>
          <a:xfrm>
            <a:off x="6502400" y="1854200"/>
            <a:ext cx="472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One to many</a:t>
            </a:r>
          </a:p>
        </p:txBody>
      </p:sp>
      <p:sp>
        <p:nvSpPr>
          <p:cNvPr id="522" name="S522"/>
          <p:cNvSpPr/>
          <p:nvPr/>
        </p:nvSpPr>
        <p:spPr>
          <a:xfrm>
            <a:off x="6502400" y="22352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8A6A2F"/>
                </a:solidFill>
                <a:latin typeface="Consolas"/>
                <a:cs typeface="Consolas"/>
              </a:rPr>
              <a:t>JOIN_ONE_TO_MANY</a:t>
            </a:r>
          </a:p>
        </p:txBody>
      </p:sp>
      <p:sp>
        <p:nvSpPr>
          <p:cNvPr id="523" name="S523"/>
          <p:cNvSpPr/>
          <p:nvPr/>
        </p:nvSpPr>
        <p:spPr>
          <a:xfrm>
            <a:off x="6502400" y="25654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24" name="S524"/>
          <p:cNvSpPr/>
          <p:nvPr/>
        </p:nvSpPr>
        <p:spPr>
          <a:xfrm>
            <a:off x="6502400" y="2692400"/>
            <a:ext cx="4724400" cy="1905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190500" indent="-190500">
              <a:lnSpc>
                <a:spcPct val="104000"/>
              </a:lnSpc>
              <a:spcBef>
                <a:spcPts val="5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One output row per matching pair.</a:t>
            </a:r>
          </a:p>
          <a:p>
            <a:pPr marL="190500" indent="-190500">
              <a:lnSpc>
                <a:spcPct val="104000"/>
              </a:lnSpc>
              <a:spcBef>
                <a:spcPts val="5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Target features repeat — once for each match.</a:t>
            </a:r>
          </a:p>
          <a:p>
            <a:pPr marL="190500" indent="-190500">
              <a:lnSpc>
                <a:spcPct val="104000"/>
              </a:lnSpc>
              <a:spcBef>
                <a:spcPts val="5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Nothing is aggregated; every match is kept.</a:t>
            </a:r>
          </a:p>
        </p:txBody>
      </p:sp>
      <p:sp>
        <p:nvSpPr>
          <p:cNvPr id="525" name="S525"/>
          <p:cNvSpPr/>
          <p:nvPr/>
        </p:nvSpPr>
        <p:spPr>
          <a:xfrm>
            <a:off x="6502400" y="47244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A6258"/>
                </a:solidFill>
                <a:latin typeface="Times New Roman"/>
                <a:cs typeface="Times New Roman"/>
              </a:rPr>
              <a:t>Each borough repeated once per park it contains.</a:t>
            </a:r>
          </a:p>
        </p:txBody>
      </p:sp>
      <p:sp>
        <p:nvSpPr>
          <p:cNvPr id="540" name="S540"/>
          <p:cNvSpPr/>
          <p:nvPr/>
        </p:nvSpPr>
        <p:spPr>
          <a:xfrm>
            <a:off x="685800" y="5588000"/>
            <a:ext cx="10820400" cy="7112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203200" tIns="635" rIns="203200" bIns="635" anchor="ctr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Merge rules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with one-to-one, choose how values combine per field — Sum, Mean, Min, Max, or First.</a:t>
            </a:r>
          </a:p>
        </p:txBody>
      </p:sp>
    </p:spTree>
    <p:extLst>
      <p:ext uri="{BB962C8B-B14F-4D97-AF65-F5344CB8AC3E}">
        <p14:creationId xmlns:p14="http://schemas.microsoft.com/office/powerpoint/2010/main" val="1698089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Spatial Joins Surprise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things that trip people up — and how to fix each</a:t>
            </a:r>
            <a:endParaRPr lang="en-US" sz="1600" dirty="0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500" name="PC0"/>
          <p:cNvSpPr/>
          <p:nvPr/>
        </p:nvSpPr>
        <p:spPr>
          <a:xfrm>
            <a:off x="685800" y="1625600"/>
            <a:ext cx="5283200" cy="218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01" name="S501"/>
          <p:cNvSpPr/>
          <p:nvPr/>
        </p:nvSpPr>
        <p:spPr>
          <a:xfrm>
            <a:off x="965200" y="1828800"/>
            <a:ext cx="47244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F3A34"/>
                </a:solidFill>
                <a:latin typeface="Times New Roman"/>
                <a:cs typeface="Times New Roman"/>
              </a:rPr>
              <a:t>No matches at all</a:t>
            </a:r>
          </a:p>
        </p:txBody>
      </p:sp>
      <p:sp>
        <p:nvSpPr>
          <p:cNvPr id="502" name="S502"/>
          <p:cNvSpPr/>
          <p:nvPr/>
        </p:nvSpPr>
        <p:spPr>
          <a:xfrm>
            <a:off x="965200" y="23368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03" name="S503"/>
          <p:cNvSpPr/>
          <p:nvPr/>
        </p:nvSpPr>
        <p:spPr>
          <a:xfrm>
            <a:off x="965200" y="24638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Why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the layers are in different coordinate systems.</a:t>
            </a:r>
          </a:p>
        </p:txBody>
      </p:sp>
      <p:sp>
        <p:nvSpPr>
          <p:cNvPr id="504" name="S504"/>
          <p:cNvSpPr/>
          <p:nvPr/>
        </p:nvSpPr>
        <p:spPr>
          <a:xfrm>
            <a:off x="965200" y="30988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Fix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project both to the same CRS, then re-run.</a:t>
            </a:r>
          </a:p>
        </p:txBody>
      </p:sp>
      <p:sp>
        <p:nvSpPr>
          <p:cNvPr id="510" name="PC1"/>
          <p:cNvSpPr/>
          <p:nvPr/>
        </p:nvSpPr>
        <p:spPr>
          <a:xfrm>
            <a:off x="6223000" y="1625600"/>
            <a:ext cx="5283200" cy="218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11" name="S511"/>
          <p:cNvSpPr/>
          <p:nvPr/>
        </p:nvSpPr>
        <p:spPr>
          <a:xfrm>
            <a:off x="6502400" y="1828800"/>
            <a:ext cx="47244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F3A34"/>
                </a:solidFill>
                <a:latin typeface="Times New Roman"/>
                <a:cs typeface="Times New Roman"/>
              </a:rPr>
              <a:t>The row count exploded</a:t>
            </a:r>
          </a:p>
        </p:txBody>
      </p:sp>
      <p:sp>
        <p:nvSpPr>
          <p:cNvPr id="512" name="S512"/>
          <p:cNvSpPr/>
          <p:nvPr/>
        </p:nvSpPr>
        <p:spPr>
          <a:xfrm>
            <a:off x="6502400" y="23368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13" name="S513"/>
          <p:cNvSpPr/>
          <p:nvPr/>
        </p:nvSpPr>
        <p:spPr>
          <a:xfrm>
            <a:off x="6502400" y="24638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Why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a one-to-many join with many overlaps.</a:t>
            </a:r>
          </a:p>
        </p:txBody>
      </p:sp>
      <p:sp>
        <p:nvSpPr>
          <p:cNvPr id="514" name="S514"/>
          <p:cNvSpPr/>
          <p:nvPr/>
        </p:nvSpPr>
        <p:spPr>
          <a:xfrm>
            <a:off x="6502400" y="30988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Fix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use one-to-one, or expect repeated targets.</a:t>
            </a:r>
          </a:p>
        </p:txBody>
      </p:sp>
      <p:sp>
        <p:nvSpPr>
          <p:cNvPr id="520" name="PC2"/>
          <p:cNvSpPr/>
          <p:nvPr/>
        </p:nvSpPr>
        <p:spPr>
          <a:xfrm>
            <a:off x="685800" y="3962400"/>
            <a:ext cx="5283200" cy="218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21" name="S521"/>
          <p:cNvSpPr/>
          <p:nvPr/>
        </p:nvSpPr>
        <p:spPr>
          <a:xfrm>
            <a:off x="965200" y="4165600"/>
            <a:ext cx="47244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F3A34"/>
                </a:solidFill>
                <a:latin typeface="Times New Roman"/>
                <a:cs typeface="Times New Roman"/>
              </a:rPr>
              <a:t>The counts look wrong</a:t>
            </a:r>
          </a:p>
        </p:txBody>
      </p:sp>
      <p:sp>
        <p:nvSpPr>
          <p:cNvPr id="522" name="S522"/>
          <p:cNvSpPr/>
          <p:nvPr/>
        </p:nvSpPr>
        <p:spPr>
          <a:xfrm>
            <a:off x="965200" y="46736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23" name="S523"/>
          <p:cNvSpPr/>
          <p:nvPr/>
        </p:nvSpPr>
        <p:spPr>
          <a:xfrm>
            <a:off x="965200" y="48006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Why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the Match Option is too broad or too narrow.</a:t>
            </a:r>
          </a:p>
        </p:txBody>
      </p:sp>
      <p:sp>
        <p:nvSpPr>
          <p:cNvPr id="524" name="S524"/>
          <p:cNvSpPr/>
          <p:nvPr/>
        </p:nvSpPr>
        <p:spPr>
          <a:xfrm>
            <a:off x="965200" y="54356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Fix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compare Intersect with Within a distance.</a:t>
            </a:r>
          </a:p>
        </p:txBody>
      </p:sp>
      <p:sp>
        <p:nvSpPr>
          <p:cNvPr id="530" name="PC3"/>
          <p:cNvSpPr/>
          <p:nvPr/>
        </p:nvSpPr>
        <p:spPr>
          <a:xfrm>
            <a:off x="6223000" y="3962400"/>
            <a:ext cx="5283200" cy="218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31" name="S531"/>
          <p:cNvSpPr/>
          <p:nvPr/>
        </p:nvSpPr>
        <p:spPr>
          <a:xfrm>
            <a:off x="6502400" y="4165600"/>
            <a:ext cx="47244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F3A34"/>
                </a:solidFill>
                <a:latin typeface="Times New Roman"/>
                <a:cs typeface="Times New Roman"/>
              </a:rPr>
              <a:t>It won't update</a:t>
            </a:r>
          </a:p>
        </p:txBody>
      </p:sp>
      <p:sp>
        <p:nvSpPr>
          <p:cNvPr id="532" name="S532"/>
          <p:cNvSpPr/>
          <p:nvPr/>
        </p:nvSpPr>
        <p:spPr>
          <a:xfrm>
            <a:off x="6502400" y="46736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33" name="S533"/>
          <p:cNvSpPr/>
          <p:nvPr/>
        </p:nvSpPr>
        <p:spPr>
          <a:xfrm>
            <a:off x="6502400" y="48006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Why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spatial-join output is static, saved to disk.</a:t>
            </a:r>
          </a:p>
        </p:txBody>
      </p:sp>
      <p:sp>
        <p:nvSpPr>
          <p:cNvPr id="534" name="S534"/>
          <p:cNvSpPr/>
          <p:nvPr/>
        </p:nvSpPr>
        <p:spPr>
          <a:xfrm>
            <a:off x="6502400" y="54356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Fix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re-run the tool after the inputs change.</a:t>
            </a:r>
          </a:p>
        </p:txBody>
      </p:sp>
    </p:spTree>
    <p:extLst>
      <p:ext uri="{BB962C8B-B14F-4D97-AF65-F5344CB8AC3E}">
        <p14:creationId xmlns:p14="http://schemas.microsoft.com/office/powerpoint/2010/main" val="3354520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Match Option Should You Use?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questions point you to the right spatial relationship</a:t>
            </a:r>
            <a:endParaRPr lang="en-US" sz="1600" dirty="0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500" name="Q0"/>
          <p:cNvSpPr/>
          <p:nvPr/>
        </p:nvSpPr>
        <p:spPr>
          <a:xfrm>
            <a:off x="685800" y="1498600"/>
            <a:ext cx="4521200" cy="11684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B08B57"/>
            </a:solidFill>
          </a:ln>
        </p:spPr>
        <p:txBody>
          <a:bodyPr wrap="square" lIns="228600" tIns="635" rIns="177800" bIns="635" anchor="ctr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8A6A2F"/>
                </a:solidFill>
                <a:latin typeface="Times New Roman"/>
                <a:cs typeface="Times New Roman"/>
              </a:rPr>
              <a:t>1   </a:t>
            </a: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Do the features overlap or touch?</a:t>
            </a:r>
          </a:p>
        </p:txBody>
      </p:sp>
      <p:sp>
        <p:nvSpPr>
          <p:cNvPr id="501" name="Q1"/>
          <p:cNvSpPr/>
          <p:nvPr/>
        </p:nvSpPr>
        <p:spPr>
          <a:xfrm>
            <a:off x="685800" y="3175000"/>
            <a:ext cx="4521200" cy="11684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B08B57"/>
            </a:solidFill>
          </a:ln>
        </p:spPr>
        <p:txBody>
          <a:bodyPr wrap="square" lIns="228600" tIns="635" rIns="177800" bIns="635" anchor="ctr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8A6A2F"/>
                </a:solidFill>
                <a:latin typeface="Times New Roman"/>
                <a:cs typeface="Times New Roman"/>
              </a:rPr>
              <a:t>2   </a:t>
            </a: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Do you need everything within a set distance?</a:t>
            </a:r>
          </a:p>
        </p:txBody>
      </p:sp>
      <p:sp>
        <p:nvSpPr>
          <p:cNvPr id="502" name="Q2"/>
          <p:cNvSpPr/>
          <p:nvPr/>
        </p:nvSpPr>
        <p:spPr>
          <a:xfrm>
            <a:off x="685800" y="4851400"/>
            <a:ext cx="4521200" cy="11684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B08B57"/>
            </a:solidFill>
          </a:ln>
        </p:spPr>
        <p:txBody>
          <a:bodyPr wrap="square" lIns="228600" tIns="635" rIns="177800" bIns="635" anchor="ctr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8A6A2F"/>
                </a:solidFill>
                <a:latin typeface="Times New Roman"/>
                <a:cs typeface="Times New Roman"/>
              </a:rPr>
              <a:t>3   </a:t>
            </a: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Only the single nearest feature?</a:t>
            </a:r>
          </a:p>
        </p:txBody>
      </p:sp>
      <p:sp>
        <p:nvSpPr>
          <p:cNvPr id="510" name="Out0"/>
          <p:cNvSpPr/>
          <p:nvPr/>
        </p:nvSpPr>
        <p:spPr>
          <a:xfrm>
            <a:off x="6604000" y="1498600"/>
            <a:ext cx="4902200" cy="1168400"/>
          </a:xfrm>
          <a:prstGeom prst="roundRect">
            <a:avLst/>
          </a:prstGeom>
          <a:solidFill>
            <a:srgbClr val="1F3A34"/>
          </a:solidFill>
          <a:ln>
            <a:noFill/>
          </a:ln>
        </p:spPr>
        <p:txBody>
          <a:bodyPr wrap="square" lIns="228600" tIns="635" rIns="203200" bIns="635" anchor="ctr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Intersect</a:t>
            </a:r>
          </a:p>
          <a:p>
            <a:pPr>
              <a:spcBef>
                <a:spcPts val="2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features that touch or overlap count as a match.</a:t>
            </a:r>
          </a:p>
        </p:txBody>
      </p:sp>
      <p:sp>
        <p:nvSpPr>
          <p:cNvPr id="511" name="Out1"/>
          <p:cNvSpPr/>
          <p:nvPr/>
        </p:nvSpPr>
        <p:spPr>
          <a:xfrm>
            <a:off x="6604000" y="3175000"/>
            <a:ext cx="4902200" cy="1168400"/>
          </a:xfrm>
          <a:prstGeom prst="roundRect">
            <a:avLst/>
          </a:prstGeom>
          <a:solidFill>
            <a:srgbClr val="EDE5D7"/>
          </a:solidFill>
          <a:ln w="19050">
            <a:solidFill>
              <a:srgbClr val="B08B57"/>
            </a:solidFill>
          </a:ln>
        </p:spPr>
        <p:txBody>
          <a:bodyPr wrap="square" lIns="228600" tIns="635" rIns="203200" bIns="635" anchor="ctr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Within a distance</a:t>
            </a:r>
          </a:p>
          <a:p>
            <a:pPr>
              <a:spcBef>
                <a:spcPts val="200"/>
              </a:spcBef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matches anything inside the search radius you set.</a:t>
            </a:r>
          </a:p>
        </p:txBody>
      </p:sp>
      <p:sp>
        <p:nvSpPr>
          <p:cNvPr id="512" name="Out2"/>
          <p:cNvSpPr/>
          <p:nvPr/>
        </p:nvSpPr>
        <p:spPr>
          <a:xfrm>
            <a:off x="6604000" y="4851400"/>
            <a:ext cx="4902200" cy="1168400"/>
          </a:xfrm>
          <a:prstGeom prst="roundRect">
            <a:avLst/>
          </a:prstGeom>
          <a:solidFill>
            <a:srgbClr val="EDE5D7"/>
          </a:solidFill>
          <a:ln w="19050">
            <a:solidFill>
              <a:srgbClr val="1F3A34"/>
            </a:solidFill>
          </a:ln>
        </p:spPr>
        <p:txBody>
          <a:bodyPr wrap="square" lIns="228600" tIns="635" rIns="203200" bIns="635" anchor="ctr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Closest</a:t>
            </a:r>
          </a:p>
          <a:p>
            <a:pPr>
              <a:spcBef>
                <a:spcPts val="200"/>
              </a:spcBef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keeps just the single nearest join feature.</a:t>
            </a:r>
          </a:p>
        </p:txBody>
      </p:sp>
      <p:sp>
        <p:nvSpPr>
          <p:cNvPr id="520" name="Arr0"/>
          <p:cNvSpPr/>
          <p:nvPr/>
        </p:nvSpPr>
        <p:spPr>
          <a:xfrm>
            <a:off x="5283200" y="1968500"/>
            <a:ext cx="1244600" cy="228600"/>
          </a:xfrm>
          <a:prstGeom prst="rightArrow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 fontScale="475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30" name="Yes0"/>
          <p:cNvSpPr/>
          <p:nvPr/>
        </p:nvSpPr>
        <p:spPr>
          <a:xfrm>
            <a:off x="5283200" y="1701800"/>
            <a:ext cx="1244600" cy="203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b">
            <a:normAutofit lnSpcReduction="10000"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Yes</a:t>
            </a:r>
          </a:p>
        </p:txBody>
      </p:sp>
      <p:sp>
        <p:nvSpPr>
          <p:cNvPr id="521" name="Arr1"/>
          <p:cNvSpPr/>
          <p:nvPr/>
        </p:nvSpPr>
        <p:spPr>
          <a:xfrm>
            <a:off x="5283200" y="3644900"/>
            <a:ext cx="1244600" cy="228600"/>
          </a:xfrm>
          <a:prstGeom prst="rightArrow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 fontScale="475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31" name="Yes1"/>
          <p:cNvSpPr/>
          <p:nvPr/>
        </p:nvSpPr>
        <p:spPr>
          <a:xfrm>
            <a:off x="5283200" y="3378200"/>
            <a:ext cx="1244600" cy="203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b">
            <a:normAutofit lnSpcReduction="10000"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Yes</a:t>
            </a:r>
          </a:p>
        </p:txBody>
      </p:sp>
      <p:sp>
        <p:nvSpPr>
          <p:cNvPr id="522" name="Arr2"/>
          <p:cNvSpPr/>
          <p:nvPr/>
        </p:nvSpPr>
        <p:spPr>
          <a:xfrm>
            <a:off x="5283200" y="5321300"/>
            <a:ext cx="1244600" cy="228600"/>
          </a:xfrm>
          <a:prstGeom prst="rightArrow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 fontScale="475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32" name="Yes2"/>
          <p:cNvSpPr/>
          <p:nvPr/>
        </p:nvSpPr>
        <p:spPr>
          <a:xfrm>
            <a:off x="5283200" y="5054600"/>
            <a:ext cx="1244600" cy="203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b">
            <a:normAutofit lnSpcReduction="10000"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Yes</a:t>
            </a:r>
          </a:p>
        </p:txBody>
      </p:sp>
      <p:sp>
        <p:nvSpPr>
          <p:cNvPr id="540" name="DA0"/>
          <p:cNvSpPr/>
          <p:nvPr/>
        </p:nvSpPr>
        <p:spPr>
          <a:xfrm>
            <a:off x="2844800" y="2692400"/>
            <a:ext cx="203200" cy="431800"/>
          </a:xfrm>
          <a:prstGeom prst="downArrow">
            <a:avLst/>
          </a:prstGeom>
          <a:solidFill>
            <a:srgbClr val="8A6A2F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50" name="No0"/>
          <p:cNvSpPr/>
          <p:nvPr/>
        </p:nvSpPr>
        <p:spPr>
          <a:xfrm>
            <a:off x="3098800" y="2768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No</a:t>
            </a:r>
          </a:p>
        </p:txBody>
      </p:sp>
      <p:sp>
        <p:nvSpPr>
          <p:cNvPr id="541" name="DA1"/>
          <p:cNvSpPr/>
          <p:nvPr/>
        </p:nvSpPr>
        <p:spPr>
          <a:xfrm>
            <a:off x="2844800" y="4368800"/>
            <a:ext cx="203200" cy="431800"/>
          </a:xfrm>
          <a:prstGeom prst="downArrow">
            <a:avLst/>
          </a:prstGeom>
          <a:solidFill>
            <a:srgbClr val="8A6A2F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51" name="No1"/>
          <p:cNvSpPr/>
          <p:nvPr/>
        </p:nvSpPr>
        <p:spPr>
          <a:xfrm>
            <a:off x="3098800" y="44450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No</a:t>
            </a:r>
          </a:p>
        </p:txBody>
      </p:sp>
      <p:sp>
        <p:nvSpPr>
          <p:cNvPr id="560" name="ElseNote"/>
          <p:cNvSpPr/>
          <p:nvPr/>
        </p:nvSpPr>
        <p:spPr>
          <a:xfrm>
            <a:off x="685800" y="6121400"/>
            <a:ext cx="1016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No to all three?  </a:t>
            </a:r>
            <a:r>
              <a:rPr lang="en-US" sz="1400" i="1" dirty="0">
                <a:solidFill>
                  <a:srgbClr val="6A6258"/>
                </a:solidFill>
                <a:latin typeface="Times New Roman"/>
                <a:cs typeface="Times New Roman"/>
              </a:rPr>
              <a:t>Use Contains / Within for features that fall fully inside another.</a:t>
            </a:r>
          </a:p>
        </p:txBody>
      </p:sp>
    </p:spTree>
    <p:extLst>
      <p:ext uri="{BB962C8B-B14F-4D97-AF65-F5344CB8AC3E}">
        <p14:creationId xmlns:p14="http://schemas.microsoft.com/office/powerpoint/2010/main" val="2464480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Your turn — hands-on lab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Count the parks in each borough with a spatial join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301" name="TaskPanel"/>
          <p:cNvSpPr/>
          <p:nvPr/>
        </p:nvSpPr>
        <p:spPr>
          <a:xfrm>
            <a:off x="685800" y="1524000"/>
            <a:ext cx="5308600" cy="472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02" name="TaskHdr"/>
          <p:cNvSpPr/>
          <p:nvPr/>
        </p:nvSpPr>
        <p:spPr>
          <a:xfrm>
            <a:off x="1219200" y="17526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1F3A34"/>
                </a:solidFill>
                <a:latin typeface="Times New Roman"/>
                <a:cs typeface="Times New Roman"/>
              </a:rPr>
              <a:t>Task</a:t>
            </a:r>
          </a:p>
        </p:txBody>
      </p:sp>
      <p:sp>
        <p:nvSpPr>
          <p:cNvPr id="303" name="Steps"/>
          <p:cNvSpPr/>
          <p:nvPr/>
        </p:nvSpPr>
        <p:spPr>
          <a:xfrm>
            <a:off x="990600" y="2311400"/>
            <a:ext cx="4851400" cy="3835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635" rIns="76200" bIns="635" anchor="t">
            <a:normAutofit/>
          </a:bodyPr>
          <a:lstStyle/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Add parks_nyc (points) and boroughs (polygons) to your map.</a:t>
            </a:r>
          </a:p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Right-click boroughs → Joins and Relates → Spatial Join.</a:t>
            </a:r>
          </a:p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Set Target = boroughs, Join Features = parks_nyc, Match Option = Intersect.</a:t>
            </a:r>
          </a:p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Set the Join Operation to one-to-one so each borough gets a single row.</a:t>
            </a:r>
          </a:p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Run it, open the output table, and read Join_Count for each borough.</a:t>
            </a:r>
          </a:p>
        </p:txBody>
      </p:sp>
      <p:sp>
        <p:nvSpPr>
          <p:cNvPr id="310" name="AnsPanel"/>
          <p:cNvSpPr/>
          <p:nvPr/>
        </p:nvSpPr>
        <p:spPr>
          <a:xfrm>
            <a:off x="6223000" y="1524000"/>
            <a:ext cx="5283200" cy="4724400"/>
          </a:xfrm>
          <a:prstGeom prst="roundRect">
            <a:avLst/>
          </a:prstGeom>
          <a:solidFill>
            <a:srgbClr val="EDE5D7"/>
          </a:solidFill>
          <a:ln w="19050">
            <a:solidFill>
              <a:srgbClr val="B08B57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11" name="Pill"/>
          <p:cNvSpPr/>
          <p:nvPr/>
        </p:nvSpPr>
        <p:spPr>
          <a:xfrm>
            <a:off x="6502400" y="1752600"/>
            <a:ext cx="1981200" cy="381000"/>
          </a:xfrm>
          <a:prstGeom prst="roundRect">
            <a:avLst/>
          </a:prstGeom>
          <a:solidFill>
            <a:srgbClr val="1F3A34"/>
          </a:solidFill>
          <a:ln>
            <a:noFill/>
          </a:ln>
        </p:spPr>
        <p:txBody>
          <a:bodyPr wrap="square" lIns="76200" tIns="635" rIns="76200" bIns="635" anchor="ctr">
            <a:normAutofit/>
          </a:bodyPr>
          <a:lstStyle/>
          <a:p>
            <a:pPr algn="ctr">
              <a:buNone/>
            </a:pPr>
            <a:r>
              <a:rPr lang="en-US" sz="13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ANSWER KEY</a:t>
            </a:r>
          </a:p>
        </p:txBody>
      </p:sp>
      <p:sp>
        <p:nvSpPr>
          <p:cNvPr id="312" name="S3"/>
          <p:cNvSpPr/>
          <p:nvPr/>
        </p:nvSpPr>
        <p:spPr>
          <a:xfrm>
            <a:off x="6502400" y="23368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Step 3</a:t>
            </a:r>
          </a:p>
        </p:txBody>
      </p:sp>
      <p:sp>
        <p:nvSpPr>
          <p:cNvPr id="313" name="Code3"/>
          <p:cNvSpPr/>
          <p:nvPr/>
        </p:nvSpPr>
        <p:spPr>
          <a:xfrm>
            <a:off x="6502400" y="2667000"/>
            <a:ext cx="4724400" cy="5588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77800" tIns="635" rIns="127000" bIns="635" anchor="ctr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1F3A34"/>
                </a:solidFill>
                <a:latin typeface="Consolas"/>
                <a:cs typeface="Consolas"/>
              </a:rPr>
              <a:t>Target: boroughs · Join: parks_nyc · Match: INTERSECT</a:t>
            </a:r>
          </a:p>
        </p:txBody>
      </p:sp>
      <p:sp>
        <p:nvSpPr>
          <p:cNvPr id="314" name="S4"/>
          <p:cNvSpPr/>
          <p:nvPr/>
        </p:nvSpPr>
        <p:spPr>
          <a:xfrm>
            <a:off x="6502400" y="3378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Step 4</a:t>
            </a:r>
          </a:p>
        </p:txBody>
      </p:sp>
      <p:sp>
        <p:nvSpPr>
          <p:cNvPr id="315" name="Code4"/>
          <p:cNvSpPr/>
          <p:nvPr/>
        </p:nvSpPr>
        <p:spPr>
          <a:xfrm>
            <a:off x="6502400" y="3708400"/>
            <a:ext cx="4724400" cy="5588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77800" tIns="635" rIns="127000" bIns="635" anchor="ctr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1F3A34"/>
                </a:solidFill>
                <a:latin typeface="Consolas"/>
                <a:cs typeface="Consolas"/>
              </a:rPr>
              <a:t>Join operation: JOIN_ONE_TO_ONE → adds Join_Count</a:t>
            </a:r>
          </a:p>
        </p:txBody>
      </p:sp>
      <p:sp>
        <p:nvSpPr>
          <p:cNvPr id="316" name="Expected"/>
          <p:cNvSpPr/>
          <p:nvPr/>
        </p:nvSpPr>
        <p:spPr>
          <a:xfrm>
            <a:off x="6502400" y="4470400"/>
            <a:ext cx="4724400" cy="1320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Expected result   </a:t>
            </a:r>
            <a:r>
              <a:rPr lang="en-US" sz="1400" i="1" dirty="0">
                <a:solidFill>
                  <a:srgbClr val="6A6258"/>
                </a:solidFill>
                <a:latin typeface="Times New Roman"/>
                <a:cs typeface="Times New Roman"/>
              </a:rPr>
              <a:t>a boroughs layer whose Join_Count field gives the number of parks in each borough.</a:t>
            </a:r>
          </a:p>
        </p:txBody>
      </p:sp>
      <p:pic>
        <p:nvPicPr>
          <p:cNvPr id="317" name="Graphic 317" descr="Tas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778000"/>
            <a:ext cx="330200" cy="330200"/>
          </a:xfrm>
          <a:prstGeom prst="rect">
            <a:avLst/>
          </a:prstGeom>
        </p:spPr>
      </p:pic>
      <p:sp>
        <p:nvSpPr>
          <p:cNvPr id="701" name="Prompt701"/>
          <p:cNvSpPr/>
          <p:nvPr/>
        </p:nvSpPr>
        <p:spPr>
          <a:xfrm>
            <a:off x="8585200" y="1778000"/>
            <a:ext cx="2667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 ▸</a:t>
            </a:r>
          </a:p>
        </p:txBody>
      </p:sp>
    </p:spTree>
    <p:extLst>
      <p:ext uri="{BB962C8B-B14F-4D97-AF65-F5344CB8AC3E}">
        <p14:creationId xmlns:p14="http://schemas.microsoft.com/office/powerpoint/2010/main" val="83842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Knowledge check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Check your understanding of spatial joins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410" name="KC1"/>
          <p:cNvSpPr/>
          <p:nvPr/>
        </p:nvSpPr>
        <p:spPr>
          <a:xfrm>
            <a:off x="685800" y="1524000"/>
            <a:ext cx="5308600" cy="2286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11" name="S411"/>
          <p:cNvSpPr/>
          <p:nvPr/>
        </p:nvSpPr>
        <p:spPr>
          <a:xfrm>
            <a:off x="939800" y="17272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B08B57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412" name="S412"/>
          <p:cNvSpPr/>
          <p:nvPr/>
        </p:nvSpPr>
        <p:spPr>
          <a:xfrm>
            <a:off x="1422400" y="1778000"/>
            <a:ext cx="42926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What links features in a spatial join?</a:t>
            </a:r>
          </a:p>
        </p:txBody>
      </p:sp>
      <p:sp>
        <p:nvSpPr>
          <p:cNvPr id="413" name="S413"/>
          <p:cNvSpPr/>
          <p:nvPr/>
        </p:nvSpPr>
        <p:spPr>
          <a:xfrm>
            <a:off x="939800" y="2743200"/>
            <a:ext cx="48006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14" name="S414"/>
          <p:cNvSpPr/>
          <p:nvPr/>
        </p:nvSpPr>
        <p:spPr>
          <a:xfrm>
            <a:off x="939800" y="3175000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Answer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a spatial relationship such as intersect or within — not a shared key field.</a:t>
            </a:r>
          </a:p>
        </p:txBody>
      </p:sp>
      <p:sp>
        <p:nvSpPr>
          <p:cNvPr id="420" name="KC2"/>
          <p:cNvSpPr/>
          <p:nvPr/>
        </p:nvSpPr>
        <p:spPr>
          <a:xfrm>
            <a:off x="6223000" y="1524000"/>
            <a:ext cx="5283200" cy="2286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1" name="S421"/>
          <p:cNvSpPr/>
          <p:nvPr/>
        </p:nvSpPr>
        <p:spPr>
          <a:xfrm>
            <a:off x="6477000" y="17272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B08B57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422" name="S422"/>
          <p:cNvSpPr/>
          <p:nvPr/>
        </p:nvSpPr>
        <p:spPr>
          <a:xfrm>
            <a:off x="6959600" y="17780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Why does one-to-one add a Join_Count?</a:t>
            </a:r>
          </a:p>
        </p:txBody>
      </p:sp>
      <p:sp>
        <p:nvSpPr>
          <p:cNvPr id="423" name="S423"/>
          <p:cNvSpPr/>
          <p:nvPr/>
        </p:nvSpPr>
        <p:spPr>
          <a:xfrm>
            <a:off x="6477000" y="2743200"/>
            <a:ext cx="47752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24" name="S424"/>
          <p:cNvSpPr/>
          <p:nvPr/>
        </p:nvSpPr>
        <p:spPr>
          <a:xfrm>
            <a:off x="6477000" y="3175000"/>
            <a:ext cx="4775200" cy="609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Answer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it reports how many join features matched each target feature.</a:t>
            </a:r>
          </a:p>
        </p:txBody>
      </p:sp>
      <p:sp>
        <p:nvSpPr>
          <p:cNvPr id="430" name="KC3"/>
          <p:cNvSpPr/>
          <p:nvPr/>
        </p:nvSpPr>
        <p:spPr>
          <a:xfrm>
            <a:off x="685800" y="3962400"/>
            <a:ext cx="5308600" cy="2286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31" name="S431"/>
          <p:cNvSpPr/>
          <p:nvPr/>
        </p:nvSpPr>
        <p:spPr>
          <a:xfrm>
            <a:off x="939800" y="41656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B08B57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432" name="S432"/>
          <p:cNvSpPr/>
          <p:nvPr/>
        </p:nvSpPr>
        <p:spPr>
          <a:xfrm>
            <a:off x="1422400" y="4216400"/>
            <a:ext cx="42926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Why might a spatial join return no matches?</a:t>
            </a:r>
          </a:p>
        </p:txBody>
      </p:sp>
      <p:sp>
        <p:nvSpPr>
          <p:cNvPr id="433" name="S433"/>
          <p:cNvSpPr/>
          <p:nvPr/>
        </p:nvSpPr>
        <p:spPr>
          <a:xfrm>
            <a:off x="939800" y="5181600"/>
            <a:ext cx="48006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34" name="S434"/>
          <p:cNvSpPr/>
          <p:nvPr/>
        </p:nvSpPr>
        <p:spPr>
          <a:xfrm>
            <a:off x="939800" y="5613400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Answer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the layers are usually in different coordinate systems — reproject them to match.</a:t>
            </a:r>
          </a:p>
        </p:txBody>
      </p:sp>
      <p:sp>
        <p:nvSpPr>
          <p:cNvPr id="440" name="KC4"/>
          <p:cNvSpPr/>
          <p:nvPr/>
        </p:nvSpPr>
        <p:spPr>
          <a:xfrm>
            <a:off x="6223000" y="3962400"/>
            <a:ext cx="5283200" cy="2286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41" name="S441"/>
          <p:cNvSpPr/>
          <p:nvPr/>
        </p:nvSpPr>
        <p:spPr>
          <a:xfrm>
            <a:off x="6477000" y="41656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B08B57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442" name="S442"/>
          <p:cNvSpPr/>
          <p:nvPr/>
        </p:nvSpPr>
        <p:spPr>
          <a:xfrm>
            <a:off x="6959600" y="42164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Is a spatial join dynamic like Add Join?</a:t>
            </a:r>
          </a:p>
        </p:txBody>
      </p:sp>
      <p:sp>
        <p:nvSpPr>
          <p:cNvPr id="443" name="S443"/>
          <p:cNvSpPr/>
          <p:nvPr/>
        </p:nvSpPr>
        <p:spPr>
          <a:xfrm>
            <a:off x="6477000" y="5181600"/>
            <a:ext cx="47752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44" name="S444"/>
          <p:cNvSpPr/>
          <p:nvPr/>
        </p:nvSpPr>
        <p:spPr>
          <a:xfrm>
            <a:off x="6477000" y="5613400"/>
            <a:ext cx="4775200" cy="609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Answer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no — it writes a static output layer; re-run it after the data changes.</a:t>
            </a:r>
          </a:p>
        </p:txBody>
      </p:sp>
      <p:sp>
        <p:nvSpPr>
          <p:cNvPr id="701" name="Prompt701"/>
          <p:cNvSpPr/>
          <p:nvPr/>
        </p:nvSpPr>
        <p:spPr>
          <a:xfrm>
            <a:off x="939800" y="2844800"/>
            <a:ext cx="4800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answer</a:t>
            </a:r>
          </a:p>
        </p:txBody>
      </p:sp>
      <p:sp>
        <p:nvSpPr>
          <p:cNvPr id="702" name="Prompt702"/>
          <p:cNvSpPr/>
          <p:nvPr/>
        </p:nvSpPr>
        <p:spPr>
          <a:xfrm>
            <a:off x="6477000" y="28448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answer</a:t>
            </a:r>
          </a:p>
        </p:txBody>
      </p:sp>
      <p:sp>
        <p:nvSpPr>
          <p:cNvPr id="703" name="Prompt703"/>
          <p:cNvSpPr/>
          <p:nvPr/>
        </p:nvSpPr>
        <p:spPr>
          <a:xfrm>
            <a:off x="939800" y="5283200"/>
            <a:ext cx="4800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answer</a:t>
            </a:r>
          </a:p>
        </p:txBody>
      </p:sp>
      <p:sp>
        <p:nvSpPr>
          <p:cNvPr id="704" name="Prompt704"/>
          <p:cNvSpPr/>
          <p:nvPr/>
        </p:nvSpPr>
        <p:spPr>
          <a:xfrm>
            <a:off x="6477000" y="52832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answer</a:t>
            </a:r>
          </a:p>
        </p:txBody>
      </p:sp>
    </p:spTree>
    <p:extLst>
      <p:ext uri="{BB962C8B-B14F-4D97-AF65-F5344CB8AC3E}">
        <p14:creationId xmlns:p14="http://schemas.microsoft.com/office/powerpoint/2010/main" val="23915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" restart="whenNotActive" fill="hold" nodeType="interactiveSeq">
                <p:stCondLst>
                  <p:cond evt="onClick" delay="0">
                    <p:tgtEl>
                      <p:spTgt spid="410"/>
                    </p:tgtEl>
                  </p:cond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nodeType="interactiveSeq">
                <p:stCondLst>
                  <p:cond evt="onClick" delay="0">
                    <p:tgtEl>
                      <p:spTgt spid="420"/>
                    </p:tgtEl>
                  </p:cond>
                </p:stCondLst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nodeType="interactiveSeq">
                <p:stCondLst>
                  <p:cond evt="onClick" delay="0">
                    <p:tgtEl>
                      <p:spTgt spid="430"/>
                    </p:tgtEl>
                  </p:cond>
                </p:stCondLst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nodeType="interactiveSeq">
                <p:stCondLst>
                  <p:cond evt="onClick" delay="0">
                    <p:tgtEl>
                      <p:spTgt spid="440"/>
                    </p:tgtEl>
                  </p:cond>
                </p:stCondLst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2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Recap and what's next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You can join by location — next, summarize what's inside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400" name="S400"/>
          <p:cNvSpPr/>
          <p:nvPr/>
        </p:nvSpPr>
        <p:spPr>
          <a:xfrm>
            <a:off x="685800" y="1574800"/>
            <a:ext cx="530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Key takeaways</a:t>
            </a:r>
          </a:p>
        </p:txBody>
      </p:sp>
      <p:sp>
        <p:nvSpPr>
          <p:cNvPr id="410" name="S410"/>
          <p:cNvSpPr/>
          <p:nvPr/>
        </p:nvSpPr>
        <p:spPr>
          <a:xfrm>
            <a:off x="685800" y="1905000"/>
            <a:ext cx="5308600" cy="939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0" name="S420"/>
          <p:cNvSpPr/>
          <p:nvPr/>
        </p:nvSpPr>
        <p:spPr>
          <a:xfrm>
            <a:off x="914400" y="2120900"/>
            <a:ext cx="508000" cy="5080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30" name="S430"/>
          <p:cNvSpPr/>
          <p:nvPr/>
        </p:nvSpPr>
        <p:spPr>
          <a:xfrm>
            <a:off x="1625600" y="2070100"/>
            <a:ext cx="41656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Location is the key</a:t>
            </a:r>
          </a:p>
        </p:txBody>
      </p:sp>
      <p:sp>
        <p:nvSpPr>
          <p:cNvPr id="440" name="S440"/>
          <p:cNvSpPr/>
          <p:nvPr/>
        </p:nvSpPr>
        <p:spPr>
          <a:xfrm>
            <a:off x="1625600" y="2400300"/>
            <a:ext cx="41656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A spatial relationship replaces the shared field.</a:t>
            </a:r>
          </a:p>
        </p:txBody>
      </p:sp>
      <p:sp>
        <p:nvSpPr>
          <p:cNvPr id="411" name="S411"/>
          <p:cNvSpPr/>
          <p:nvPr/>
        </p:nvSpPr>
        <p:spPr>
          <a:xfrm>
            <a:off x="685800" y="2946400"/>
            <a:ext cx="5308600" cy="939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1" name="S421"/>
          <p:cNvSpPr/>
          <p:nvPr/>
        </p:nvSpPr>
        <p:spPr>
          <a:xfrm>
            <a:off x="914400" y="3162300"/>
            <a:ext cx="508000" cy="508000"/>
          </a:xfrm>
          <a:prstGeom prst="ellipse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31" name="S431"/>
          <p:cNvSpPr/>
          <p:nvPr/>
        </p:nvSpPr>
        <p:spPr>
          <a:xfrm>
            <a:off x="1625600" y="3111500"/>
            <a:ext cx="41656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One tool, clear inputs</a:t>
            </a:r>
          </a:p>
        </p:txBody>
      </p:sp>
      <p:sp>
        <p:nvSpPr>
          <p:cNvPr id="441" name="S441"/>
          <p:cNvSpPr/>
          <p:nvPr/>
        </p:nvSpPr>
        <p:spPr>
          <a:xfrm>
            <a:off x="1625600" y="3441700"/>
            <a:ext cx="41656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Target, Join, a Match Option, and an output layer.</a:t>
            </a:r>
          </a:p>
        </p:txBody>
      </p:sp>
      <p:sp>
        <p:nvSpPr>
          <p:cNvPr id="412" name="S412"/>
          <p:cNvSpPr/>
          <p:nvPr/>
        </p:nvSpPr>
        <p:spPr>
          <a:xfrm>
            <a:off x="685800" y="3987800"/>
            <a:ext cx="5308600" cy="939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2" name="S422"/>
          <p:cNvSpPr/>
          <p:nvPr/>
        </p:nvSpPr>
        <p:spPr>
          <a:xfrm>
            <a:off x="914400" y="4203700"/>
            <a:ext cx="508000" cy="5080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32" name="S432"/>
          <p:cNvSpPr/>
          <p:nvPr/>
        </p:nvSpPr>
        <p:spPr>
          <a:xfrm>
            <a:off x="1625600" y="4152900"/>
            <a:ext cx="41656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Shape the result</a:t>
            </a:r>
          </a:p>
        </p:txBody>
      </p:sp>
      <p:sp>
        <p:nvSpPr>
          <p:cNvPr id="442" name="S442"/>
          <p:cNvSpPr/>
          <p:nvPr/>
        </p:nvSpPr>
        <p:spPr>
          <a:xfrm>
            <a:off x="1625600" y="4483100"/>
            <a:ext cx="41656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One-to-one summarizes; one-to-many keeps every match.</a:t>
            </a:r>
          </a:p>
        </p:txBody>
      </p:sp>
      <p:sp>
        <p:nvSpPr>
          <p:cNvPr id="413" name="S413"/>
          <p:cNvSpPr/>
          <p:nvPr/>
        </p:nvSpPr>
        <p:spPr>
          <a:xfrm>
            <a:off x="685800" y="5029200"/>
            <a:ext cx="5308600" cy="939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3" name="S423"/>
          <p:cNvSpPr/>
          <p:nvPr/>
        </p:nvSpPr>
        <p:spPr>
          <a:xfrm>
            <a:off x="914400" y="5245100"/>
            <a:ext cx="508000" cy="508000"/>
          </a:xfrm>
          <a:prstGeom prst="ellipse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33" name="S433"/>
          <p:cNvSpPr/>
          <p:nvPr/>
        </p:nvSpPr>
        <p:spPr>
          <a:xfrm>
            <a:off x="1625600" y="5194300"/>
            <a:ext cx="41656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Check the CRS first</a:t>
            </a:r>
          </a:p>
        </p:txBody>
      </p:sp>
      <p:sp>
        <p:nvSpPr>
          <p:cNvPr id="443" name="S443"/>
          <p:cNvSpPr/>
          <p:nvPr/>
        </p:nvSpPr>
        <p:spPr>
          <a:xfrm>
            <a:off x="1625600" y="5524500"/>
            <a:ext cx="41656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 fontScale="92500"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Most empty results trace to mismatched coordinate systems.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524000"/>
            <a:ext cx="5283200" cy="472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01" name="S501"/>
          <p:cNvSpPr/>
          <p:nvPr/>
        </p:nvSpPr>
        <p:spPr>
          <a:xfrm>
            <a:off x="6477000" y="17272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Up next: Summarize Within</a:t>
            </a:r>
          </a:p>
        </p:txBody>
      </p:sp>
      <p:sp>
        <p:nvSpPr>
          <p:cNvPr id="510" name="S510"/>
          <p:cNvSpPr/>
          <p:nvPr/>
        </p:nvSpPr>
        <p:spPr>
          <a:xfrm>
            <a:off x="6477000" y="2159000"/>
            <a:ext cx="355600" cy="355600"/>
          </a:xfrm>
          <a:prstGeom prst="roundRect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</a:p>
        </p:txBody>
      </p:sp>
      <p:sp>
        <p:nvSpPr>
          <p:cNvPr id="520" name="S520"/>
          <p:cNvSpPr/>
          <p:nvPr/>
        </p:nvSpPr>
        <p:spPr>
          <a:xfrm>
            <a:off x="6934200" y="21971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New question</a:t>
            </a:r>
          </a:p>
        </p:txBody>
      </p:sp>
      <p:sp>
        <p:nvSpPr>
          <p:cNvPr id="530" name="S530"/>
          <p:cNvSpPr/>
          <p:nvPr/>
        </p:nvSpPr>
        <p:spPr>
          <a:xfrm>
            <a:off x="6477000" y="2540000"/>
            <a:ext cx="4927600" cy="33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52400" tIns="635" rIns="101600" bIns="635" anchor="ctr">
            <a:normAutofit/>
          </a:bodyPr>
          <a:lstStyle/>
          <a:p>
            <a:pPr>
              <a:buNone/>
            </a:pPr>
            <a:r>
              <a:rPr lang="en-US" sz="1300" dirty="0">
                <a:solidFill>
                  <a:srgbClr val="1F3A34"/>
                </a:solidFill>
                <a:latin typeface="Consolas"/>
                <a:cs typeface="Consolas"/>
              </a:rPr>
              <a:t>what are the totals inside each area?</a:t>
            </a:r>
          </a:p>
        </p:txBody>
      </p:sp>
      <p:sp>
        <p:nvSpPr>
          <p:cNvPr id="511" name="S511"/>
          <p:cNvSpPr/>
          <p:nvPr/>
        </p:nvSpPr>
        <p:spPr>
          <a:xfrm>
            <a:off x="6477000" y="2946400"/>
            <a:ext cx="355600" cy="355600"/>
          </a:xfrm>
          <a:prstGeom prst="roundRect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521" name="S521"/>
          <p:cNvSpPr/>
          <p:nvPr/>
        </p:nvSpPr>
        <p:spPr>
          <a:xfrm>
            <a:off x="6934200" y="29845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New driver</a:t>
            </a:r>
          </a:p>
        </p:txBody>
      </p:sp>
      <p:sp>
        <p:nvSpPr>
          <p:cNvPr id="531" name="S531"/>
          <p:cNvSpPr/>
          <p:nvPr/>
        </p:nvSpPr>
        <p:spPr>
          <a:xfrm>
            <a:off x="6477000" y="3327400"/>
            <a:ext cx="4927600" cy="33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52400" tIns="635" rIns="101600" bIns="635" anchor="ctr">
            <a:normAutofit/>
          </a:bodyPr>
          <a:lstStyle/>
          <a:p>
            <a:pPr>
              <a:buNone/>
            </a:pPr>
            <a:r>
              <a:rPr lang="en-US" sz="1300" dirty="0">
                <a:solidFill>
                  <a:srgbClr val="1F3A34"/>
                </a:solidFill>
                <a:latin typeface="Consolas"/>
                <a:cs typeface="Consolas"/>
              </a:rPr>
              <a:t>aggregate attributes, not just count</a:t>
            </a:r>
          </a:p>
        </p:txBody>
      </p:sp>
      <p:sp>
        <p:nvSpPr>
          <p:cNvPr id="512" name="S512"/>
          <p:cNvSpPr/>
          <p:nvPr/>
        </p:nvSpPr>
        <p:spPr>
          <a:xfrm>
            <a:off x="6477000" y="3733800"/>
            <a:ext cx="355600" cy="355600"/>
          </a:xfrm>
          <a:prstGeom prst="roundRect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522" name="S522"/>
          <p:cNvSpPr/>
          <p:nvPr/>
        </p:nvSpPr>
        <p:spPr>
          <a:xfrm>
            <a:off x="6934200" y="37719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Same idea</a:t>
            </a:r>
          </a:p>
        </p:txBody>
      </p:sp>
      <p:sp>
        <p:nvSpPr>
          <p:cNvPr id="532" name="S532"/>
          <p:cNvSpPr/>
          <p:nvPr/>
        </p:nvSpPr>
        <p:spPr>
          <a:xfrm>
            <a:off x="6477000" y="4114800"/>
            <a:ext cx="4927600" cy="33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52400" tIns="635" rIns="101600" bIns="635" anchor="ctr">
            <a:normAutofit/>
          </a:bodyPr>
          <a:lstStyle/>
          <a:p>
            <a:pPr>
              <a:buNone/>
            </a:pPr>
            <a:r>
              <a:rPr lang="en-US" sz="1300" dirty="0">
                <a:solidFill>
                  <a:srgbClr val="1F3A34"/>
                </a:solidFill>
                <a:latin typeface="Consolas"/>
                <a:cs typeface="Consolas"/>
              </a:rPr>
              <a:t>still combines layers by location</a:t>
            </a:r>
          </a:p>
        </p:txBody>
      </p:sp>
      <p:sp>
        <p:nvSpPr>
          <p:cNvPr id="513" name="S513"/>
          <p:cNvSpPr/>
          <p:nvPr/>
        </p:nvSpPr>
        <p:spPr>
          <a:xfrm>
            <a:off x="6477000" y="4521200"/>
            <a:ext cx="355600" cy="355600"/>
          </a:xfrm>
          <a:prstGeom prst="roundRect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D</a:t>
            </a:r>
          </a:p>
        </p:txBody>
      </p:sp>
      <p:sp>
        <p:nvSpPr>
          <p:cNvPr id="523" name="S523"/>
          <p:cNvSpPr/>
          <p:nvPr/>
        </p:nvSpPr>
        <p:spPr>
          <a:xfrm>
            <a:off x="6934200" y="45593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Carry it over</a:t>
            </a:r>
          </a:p>
        </p:txBody>
      </p:sp>
      <p:sp>
        <p:nvSpPr>
          <p:cNvPr id="533" name="S533"/>
          <p:cNvSpPr/>
          <p:nvPr/>
        </p:nvSpPr>
        <p:spPr>
          <a:xfrm>
            <a:off x="6477000" y="4902200"/>
            <a:ext cx="4927600" cy="33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52400" tIns="635" rIns="101600" bIns="635" anchor="ctr">
            <a:normAutofit/>
          </a:bodyPr>
          <a:lstStyle/>
          <a:p>
            <a:pPr>
              <a:buNone/>
            </a:pPr>
            <a:r>
              <a:rPr lang="en-US" sz="1300" dirty="0">
                <a:solidFill>
                  <a:srgbClr val="1F3A34"/>
                </a:solidFill>
                <a:latin typeface="Consolas"/>
                <a:cs typeface="Consolas"/>
              </a:rPr>
              <a:t>one output row per summary area</a:t>
            </a:r>
          </a:p>
        </p:txBody>
      </p:sp>
      <p:sp>
        <p:nvSpPr>
          <p:cNvPr id="540" name="S540"/>
          <p:cNvSpPr/>
          <p:nvPr/>
        </p:nvSpPr>
        <p:spPr>
          <a:xfrm>
            <a:off x="6477000" y="5384800"/>
            <a:ext cx="4927600" cy="6858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177800" tIns="635" rIns="152400" bIns="635" anchor="ctr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i="1" dirty="0">
                <a:solidFill>
                  <a:srgbClr val="1F3A34"/>
                </a:solidFill>
                <a:latin typeface="Times New Roman"/>
                <a:cs typeface="Times New Roman"/>
              </a:rPr>
              <a:t>You can join by location — now roll those features up into summaries.</a:t>
            </a:r>
          </a:p>
        </p:txBody>
      </p:sp>
      <p:pic>
        <p:nvPicPr>
          <p:cNvPr id="541" name="Graphic 541" descr="One too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" y="3276600"/>
            <a:ext cx="279400" cy="279400"/>
          </a:xfrm>
          <a:prstGeom prst="rect">
            <a:avLst/>
          </a:prstGeom>
        </p:spPr>
      </p:pic>
      <p:pic>
        <p:nvPicPr>
          <p:cNvPr id="542" name="Graphic 542" descr="Shape resul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700" y="4318000"/>
            <a:ext cx="279400" cy="279400"/>
          </a:xfrm>
          <a:prstGeom prst="rect">
            <a:avLst/>
          </a:prstGeom>
        </p:spPr>
      </p:pic>
      <p:pic>
        <p:nvPicPr>
          <p:cNvPr id="543" name="Graphic 543" descr="Check C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700" y="5359400"/>
            <a:ext cx="279400" cy="279400"/>
          </a:xfrm>
          <a:prstGeom prst="rect">
            <a:avLst/>
          </a:prstGeom>
        </p:spPr>
      </p:pic>
      <p:pic>
        <p:nvPicPr>
          <p:cNvPr id="544" name="Graphic 544" descr="Location is the ke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8700" y="22352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275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D52E94-C73C-473C-99B1-A424D4DC444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544b410-5520-4670-a105-09a24c7e55e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6366</TotalTime>
  <Words>5367</Words>
  <Application>Microsoft Office PowerPoint</Application>
  <PresentationFormat>Widescreen</PresentationFormat>
  <Paragraphs>570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ArcGIS Pro table joins and relates</dc:title>
  <dc:subject>ArcGIS Pro table joins and relates</dc:subject>
  <dc:creator>OpenAI</dc:creator>
  <cp:lastModifiedBy>Shokran Rahiminezhad</cp:lastModifiedBy>
  <cp:revision>9</cp:revision>
  <dcterms:created xsi:type="dcterms:W3CDTF">2026-03-11T00:41:06Z</dcterms:created>
  <dcterms:modified xsi:type="dcterms:W3CDTF">2026-07-08T21:25:18Z</dcterms:modified>
</cp:coreProperties>
</file>