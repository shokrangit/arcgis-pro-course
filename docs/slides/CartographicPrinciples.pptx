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16.xml"/><Relationship Id="rId9" Type="http://schemas.openxmlformats.org/officeDocument/2006/relationships/slide" Target="slide22.xml"/><Relationship Id="rId10" Type="http://schemas.openxmlformats.org/officeDocument/2006/relationships/slide" Target="slide25.xml"/><Relationship Id="rId11" Type="http://schemas.openxmlformats.org/officeDocument/2006/relationships/slide" Target="slide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7.xml"/><Relationship Id="rId18" Type="http://schemas.openxmlformats.org/officeDocument/2006/relationships/slide" Target="slide18.xml"/><Relationship Id="rId19" Type="http://schemas.openxmlformats.org/officeDocument/2006/relationships/slide" Target="slide19.xml"/><Relationship Id="rId20" Type="http://schemas.openxmlformats.org/officeDocument/2006/relationships/slide" Target="slide20.xml"/><Relationship Id="rId21" Type="http://schemas.openxmlformats.org/officeDocument/2006/relationships/slide" Target="slide21.xml"/><Relationship Id="rId22" Type="http://schemas.openxmlformats.org/officeDocument/2006/relationships/slide" Target="slide22.xml"/><Relationship Id="rId23" Type="http://schemas.openxmlformats.org/officeDocument/2006/relationships/slide" Target="slide23.xml"/><Relationship Id="rId24" Type="http://schemas.openxmlformats.org/officeDocument/2006/relationships/slide" Target="slide24.xml"/><Relationship Id="rId25" Type="http://schemas.openxmlformats.org/officeDocument/2006/relationships/slide" Target="slide25.xml"/><Relationship Id="rId26" Type="http://schemas.openxmlformats.org/officeDocument/2006/relationships/slide" Target="slide26.xml"/><Relationship Id="rId27" Type="http://schemas.openxmlformats.org/officeDocument/2006/relationships/slide" Target="slide27.xml"/><Relationship Id="rId28" Type="http://schemas.openxmlformats.org/officeDocument/2006/relationships/slide" Target="slide28.xml"/><Relationship Id="rId29" Type="http://schemas.openxmlformats.org/officeDocument/2006/relationships/slide" Target="slide29.xml"/><Relationship Id="rId30" Type="http://schemas.openxmlformats.org/officeDocument/2006/relationships/slide" Target="slide30.xml"/><Relationship Id="rId31" Type="http://schemas.openxmlformats.org/officeDocument/2006/relationships/slide" Target="slide31.xml"/><Relationship Id="rId32" Type="http://schemas.openxmlformats.org/officeDocument/2006/relationships/slide" Target="slide32.xml"/><Relationship Id="rId33" Type="http://schemas.openxmlformats.org/officeDocument/2006/relationships/slide" Target="slide33.xml"/><Relationship Id="rId34" Type="http://schemas.openxmlformats.org/officeDocument/2006/relationships/slide" Target="slide34.xml"/><Relationship Id="rId35" Type="http://schemas.openxmlformats.org/officeDocument/2006/relationships/slide" Target="slide35.xml"/><Relationship Id="rId36" Type="http://schemas.openxmlformats.org/officeDocument/2006/relationships/slide" Target="slide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1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2" name="TextBox 9101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01  /  36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1085800" y="24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 i="0">
                <a:solidFill>
                  <a:srgbClr val="E9F0F7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1085800" y="328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F2A72C"/>
                </a:solidFill>
                <a:latin typeface="Aptos Slab ExtraBold"/>
              </a:rPr>
              <a:t>Designing Maps That Communicate</a:t>
            </a:r>
          </a:p>
        </p:txBody>
      </p:sp>
      <p:sp>
        <p:nvSpPr>
          <p:cNvPr id="9106" name="Rounded Rectangle 9105"/>
          <p:cNvSpPr/>
          <p:nvPr/>
        </p:nvSpPr>
        <p:spPr>
          <a:xfrm>
            <a:off x="1085800" y="4000000"/>
            <a:ext cx="1350000" cy="0"/>
          </a:xfrm>
          <a:prstGeom prst="roundRect">
            <a:avLst>
              <a:gd name="adj" fmla="val 50000"/>
            </a:avLst>
          </a:prstGeom>
          <a:solidFill>
            <a:srgbClr val="F2A72C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7" name="TextBox 9106"/>
          <p:cNvSpPr txBox="1"/>
          <p:nvPr/>
        </p:nvSpPr>
        <p:spPr>
          <a:xfrm>
            <a:off x="1085800" y="4150000"/>
            <a:ext cx="82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1">
                <a:solidFill>
                  <a:srgbClr val="A9BBCE"/>
                </a:solidFill>
                <a:latin typeface="Aptos Slab ExtraBold"/>
              </a:rPr>
              <a:t>From purpose and visual hierarchy to projections, honest classification, and export —</a:t>
            </a:r>
          </a:p>
          <a:p>
            <a:pPr>
              <a:lnSpc>
                <a:spcPct val="130000"/>
              </a:lnSpc>
            </a:pPr>
            <a:r>
              <a:rPr sz="1350" b="0" i="1">
                <a:solidFill>
                  <a:srgbClr val="A9BBCE"/>
                </a:solidFill>
                <a:latin typeface="Aptos Slab ExtraBold"/>
              </a:rPr>
              <a:t>the ideas underneath every well-made map.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085800" y="4820000"/>
            <a:ext cx="4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JUMP TO A SECTION</a:t>
            </a:r>
          </a:p>
        </p:txBody>
      </p:sp>
      <p:sp>
        <p:nvSpPr>
          <p:cNvPr id="9109" name="TextBox 9108">
            <a:hlinkClick action="ppaction://hlinksldjump" r:id="rId3"/>
          </p:cNvPr>
          <p:cNvSpPr txBox="1"/>
          <p:nvPr/>
        </p:nvSpPr>
        <p:spPr>
          <a:xfrm>
            <a:off x="1085800" y="511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01   Foundations</a:t>
            </a:r>
          </a:p>
        </p:txBody>
      </p:sp>
      <p:sp>
        <p:nvSpPr>
          <p:cNvPr id="9110" name="TextBox 9109">
            <a:hlinkClick action="ppaction://hlinksldjump" r:id="rId4"/>
          </p:cNvPr>
          <p:cNvSpPr txBox="1"/>
          <p:nvPr/>
        </p:nvSpPr>
        <p:spPr>
          <a:xfrm>
            <a:off x="4785800" y="511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02   How the Eye Reads a Map</a:t>
            </a:r>
          </a:p>
        </p:txBody>
      </p:sp>
      <p:sp>
        <p:nvSpPr>
          <p:cNvPr id="9111" name="TextBox 9110">
            <a:hlinkClick action="ppaction://hlinksldjump" r:id="rId5"/>
          </p:cNvPr>
          <p:cNvSpPr txBox="1"/>
          <p:nvPr/>
        </p:nvSpPr>
        <p:spPr>
          <a:xfrm>
            <a:off x="8485800" y="511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03   Color</a:t>
            </a:r>
          </a:p>
        </p:txBody>
      </p:sp>
      <p:sp>
        <p:nvSpPr>
          <p:cNvPr id="9112" name="TextBox 9111">
            <a:hlinkClick action="ppaction://hlinksldjump" r:id="rId6"/>
          </p:cNvPr>
          <p:cNvSpPr txBox="1"/>
          <p:nvPr/>
        </p:nvSpPr>
        <p:spPr>
          <a:xfrm>
            <a:off x="1085800" y="547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04   Type</a:t>
            </a:r>
          </a:p>
        </p:txBody>
      </p:sp>
      <p:sp>
        <p:nvSpPr>
          <p:cNvPr id="9113" name="TextBox 9112">
            <a:hlinkClick action="ppaction://hlinksldjump" r:id="rId7"/>
          </p:cNvPr>
          <p:cNvSpPr txBox="1"/>
          <p:nvPr/>
        </p:nvSpPr>
        <p:spPr>
          <a:xfrm>
            <a:off x="4785800" y="547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05   The Geometry of Maps</a:t>
            </a:r>
          </a:p>
        </p:txBody>
      </p:sp>
      <p:sp>
        <p:nvSpPr>
          <p:cNvPr id="9114" name="TextBox 9113">
            <a:hlinkClick action="ppaction://hlinksldjump" r:id="rId8"/>
          </p:cNvPr>
          <p:cNvSpPr txBox="1"/>
          <p:nvPr/>
        </p:nvSpPr>
        <p:spPr>
          <a:xfrm>
            <a:off x="8485800" y="547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06   Composition &amp; Layout Design</a:t>
            </a:r>
          </a:p>
        </p:txBody>
      </p:sp>
      <p:sp>
        <p:nvSpPr>
          <p:cNvPr id="9115" name="TextBox 9114">
            <a:hlinkClick action="ppaction://hlinksldjump" r:id="rId9"/>
          </p:cNvPr>
          <p:cNvSpPr txBox="1"/>
          <p:nvPr/>
        </p:nvSpPr>
        <p:spPr>
          <a:xfrm>
            <a:off x="1085800" y="583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07   Designing Responsibly</a:t>
            </a:r>
          </a:p>
        </p:txBody>
      </p:sp>
      <p:sp>
        <p:nvSpPr>
          <p:cNvPr id="9116" name="TextBox 9115">
            <a:hlinkClick action="ppaction://hlinksldjump" r:id="rId10"/>
          </p:cNvPr>
          <p:cNvSpPr txBox="1"/>
          <p:nvPr/>
        </p:nvSpPr>
        <p:spPr>
          <a:xfrm>
            <a:off x="4785800" y="583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08   From Map to Layout &amp; Export</a:t>
            </a:r>
          </a:p>
        </p:txBody>
      </p:sp>
      <p:sp>
        <p:nvSpPr>
          <p:cNvPr id="9117" name="TextBox 9116">
            <a:hlinkClick action="ppaction://hlinksldjump" r:id="rId11"/>
          </p:cNvPr>
          <p:cNvSpPr txBox="1"/>
          <p:nvPr/>
        </p:nvSpPr>
        <p:spPr>
          <a:xfrm>
            <a:off x="8485800" y="583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9F0F7"/>
                </a:solidFill>
                <a:latin typeface="Aptos Slab ExtraBold"/>
              </a:rPr>
              <a:t>09   Bringing It Together</a:t>
            </a:r>
          </a:p>
        </p:txBody>
      </p:sp>
      <p:sp>
        <p:nvSpPr>
          <p:cNvPr id="9118" name="TextBox 9117"/>
          <p:cNvSpPr txBox="1"/>
          <p:nvPr/>
        </p:nvSpPr>
        <p:spPr>
          <a:xfrm>
            <a:off x="1085800" y="642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A9BBCE"/>
                </a:solidFill>
                <a:latin typeface="Aptos Slab ExtraBold"/>
              </a:rPr>
              <a:t>A companion to Symbology &amp; Map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2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3" name="TextBox 9102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02  /  36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WHERE TO GO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085800" y="1400000"/>
            <a:ext cx="6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Table of Contents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Every section and slide is a clickable jump -- click any row to go straight there.</a:t>
            </a:r>
          </a:p>
        </p:txBody>
      </p:sp>
      <p:sp>
        <p:nvSpPr>
          <p:cNvPr id="9108" name="TextBox 9107">
            <a:hlinkClick action="ppaction://hlinksldjump" r:id="rId3"/>
          </p:cNvPr>
          <p:cNvSpPr txBox="1"/>
          <p:nvPr/>
        </p:nvSpPr>
        <p:spPr>
          <a:xfrm>
            <a:off x="1085800" y="2620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01 · FOUNDATIONS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1085800" y="29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10" name="TextBox 9109">
            <a:hlinkClick action="ppaction://hlinksldjump" r:id="rId3"/>
          </p:cNvPr>
          <p:cNvSpPr txBox="1"/>
          <p:nvPr/>
        </p:nvSpPr>
        <p:spPr>
          <a:xfrm>
            <a:off x="1285800" y="29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Purpose &amp; Audience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085800" y="32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12" name="TextBox 9111">
            <a:hlinkClick action="ppaction://hlinksldjump" r:id="rId4"/>
          </p:cNvPr>
          <p:cNvSpPr txBox="1"/>
          <p:nvPr/>
        </p:nvSpPr>
        <p:spPr>
          <a:xfrm>
            <a:off x="1285800" y="32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Map Anatomy</a:t>
            </a:r>
          </a:p>
        </p:txBody>
      </p:sp>
      <p:sp>
        <p:nvSpPr>
          <p:cNvPr id="9113" name="TextBox 9112">
            <a:hlinkClick action="ppaction://hlinksldjump" r:id="rId5"/>
          </p:cNvPr>
          <p:cNvSpPr txBox="1"/>
          <p:nvPr/>
        </p:nvSpPr>
        <p:spPr>
          <a:xfrm>
            <a:off x="1085800" y="3524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02 · HOW THE EYE READS A MAP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1085800" y="38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15" name="TextBox 9114">
            <a:hlinkClick action="ppaction://hlinksldjump" r:id="rId5"/>
          </p:cNvPr>
          <p:cNvSpPr txBox="1"/>
          <p:nvPr/>
        </p:nvSpPr>
        <p:spPr>
          <a:xfrm>
            <a:off x="1285800" y="38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Visual Hierarchy &amp; Figure-Ground</a:t>
            </a:r>
          </a:p>
        </p:txBody>
      </p:sp>
      <p:sp>
        <p:nvSpPr>
          <p:cNvPr id="9116" name="TextBox 9115"/>
          <p:cNvSpPr txBox="1"/>
          <p:nvPr/>
        </p:nvSpPr>
        <p:spPr>
          <a:xfrm>
            <a:off x="1085800" y="41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17" name="TextBox 9116">
            <a:hlinkClick action="ppaction://hlinksldjump" r:id="rId6"/>
          </p:cNvPr>
          <p:cNvSpPr txBox="1"/>
          <p:nvPr/>
        </p:nvSpPr>
        <p:spPr>
          <a:xfrm>
            <a:off x="1285800" y="41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Bertin's Visual Variables</a:t>
            </a:r>
          </a:p>
        </p:txBody>
      </p:sp>
      <p:sp>
        <p:nvSpPr>
          <p:cNvPr id="9118" name="TextBox 9117"/>
          <p:cNvSpPr txBox="1"/>
          <p:nvPr/>
        </p:nvSpPr>
        <p:spPr>
          <a:xfrm>
            <a:off x="1085800" y="43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19" name="TextBox 9118">
            <a:hlinkClick action="ppaction://hlinksldjump" r:id="rId7"/>
          </p:cNvPr>
          <p:cNvSpPr txBox="1"/>
          <p:nvPr/>
        </p:nvSpPr>
        <p:spPr>
          <a:xfrm>
            <a:off x="1285800" y="43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Symbol Size: Good vs. Bad</a:t>
            </a:r>
          </a:p>
        </p:txBody>
      </p:sp>
      <p:sp>
        <p:nvSpPr>
          <p:cNvPr id="9120" name="TextBox 9119">
            <a:hlinkClick action="ppaction://hlinksldjump" r:id="rId8"/>
          </p:cNvPr>
          <p:cNvSpPr txBox="1"/>
          <p:nvPr/>
        </p:nvSpPr>
        <p:spPr>
          <a:xfrm>
            <a:off x="1085800" y="4678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03 · COLOR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502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22" name="TextBox 9121">
            <a:hlinkClick action="ppaction://hlinksldjump" r:id="rId8"/>
          </p:cNvPr>
          <p:cNvSpPr txBox="1"/>
          <p:nvPr/>
        </p:nvSpPr>
        <p:spPr>
          <a:xfrm>
            <a:off x="1285800" y="502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Color Schemes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085800" y="527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24" name="TextBox 9123">
            <a:hlinkClick action="ppaction://hlinksldjump" r:id="rId9"/>
          </p:cNvPr>
          <p:cNvSpPr txBox="1"/>
          <p:nvPr/>
        </p:nvSpPr>
        <p:spPr>
          <a:xfrm>
            <a:off x="1285800" y="527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Color &amp; Perception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1085800" y="552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26" name="TextBox 9125">
            <a:hlinkClick action="ppaction://hlinksldjump" r:id="rId10"/>
          </p:cNvPr>
          <p:cNvSpPr txBox="1"/>
          <p:nvPr/>
        </p:nvSpPr>
        <p:spPr>
          <a:xfrm>
            <a:off x="1285800" y="552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Color: Good vs. Bad</a:t>
            </a:r>
          </a:p>
        </p:txBody>
      </p:sp>
      <p:sp>
        <p:nvSpPr>
          <p:cNvPr id="9127" name="TextBox 9126">
            <a:hlinkClick action="ppaction://hlinksldjump" r:id="rId11"/>
          </p:cNvPr>
          <p:cNvSpPr txBox="1"/>
          <p:nvPr/>
        </p:nvSpPr>
        <p:spPr>
          <a:xfrm>
            <a:off x="1085800" y="5832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04 · TYPE</a:t>
            </a:r>
          </a:p>
        </p:txBody>
      </p:sp>
      <p:sp>
        <p:nvSpPr>
          <p:cNvPr id="9128" name="TextBox 9127"/>
          <p:cNvSpPr txBox="1"/>
          <p:nvPr/>
        </p:nvSpPr>
        <p:spPr>
          <a:xfrm>
            <a:off x="1085800" y="6182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29" name="TextBox 9128">
            <a:hlinkClick action="ppaction://hlinksldjump" r:id="rId11"/>
          </p:cNvPr>
          <p:cNvSpPr txBox="1"/>
          <p:nvPr/>
        </p:nvSpPr>
        <p:spPr>
          <a:xfrm>
            <a:off x="1285800" y="6182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Label Hierarchy</a:t>
            </a:r>
          </a:p>
        </p:txBody>
      </p:sp>
      <p:sp>
        <p:nvSpPr>
          <p:cNvPr id="9130" name="TextBox 9129"/>
          <p:cNvSpPr txBox="1"/>
          <p:nvPr/>
        </p:nvSpPr>
        <p:spPr>
          <a:xfrm>
            <a:off x="1085800" y="6432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31" name="TextBox 9130">
            <a:hlinkClick action="ppaction://hlinksldjump" r:id="rId12"/>
          </p:cNvPr>
          <p:cNvSpPr txBox="1"/>
          <p:nvPr/>
        </p:nvSpPr>
        <p:spPr>
          <a:xfrm>
            <a:off x="1285800" y="6432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Label Placement</a:t>
            </a:r>
          </a:p>
        </p:txBody>
      </p:sp>
      <p:sp>
        <p:nvSpPr>
          <p:cNvPr id="9132" name="TextBox 9131">
            <a:hlinkClick action="ppaction://hlinksldjump" r:id="rId13"/>
          </p:cNvPr>
          <p:cNvSpPr txBox="1"/>
          <p:nvPr/>
        </p:nvSpPr>
        <p:spPr>
          <a:xfrm>
            <a:off x="4850000" y="2620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05 · THE GEOMETRY OF MAPS</a:t>
            </a:r>
          </a:p>
        </p:txBody>
      </p:sp>
      <p:sp>
        <p:nvSpPr>
          <p:cNvPr id="9133" name="TextBox 9132"/>
          <p:cNvSpPr txBox="1"/>
          <p:nvPr/>
        </p:nvSpPr>
        <p:spPr>
          <a:xfrm>
            <a:off x="4850000" y="29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34" name="TextBox 9133">
            <a:hlinkClick action="ppaction://hlinksldjump" r:id="rId13"/>
          </p:cNvPr>
          <p:cNvSpPr txBox="1"/>
          <p:nvPr/>
        </p:nvSpPr>
        <p:spPr>
          <a:xfrm>
            <a:off x="5050000" y="29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Why Every Map Lies (A Little)</a:t>
            </a:r>
          </a:p>
        </p:txBody>
      </p:sp>
      <p:sp>
        <p:nvSpPr>
          <p:cNvPr id="9135" name="TextBox 9134"/>
          <p:cNvSpPr txBox="1"/>
          <p:nvPr/>
        </p:nvSpPr>
        <p:spPr>
          <a:xfrm>
            <a:off x="4850000" y="32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36" name="TextBox 9135">
            <a:hlinkClick action="ppaction://hlinksldjump" r:id="rId14"/>
          </p:cNvPr>
          <p:cNvSpPr txBox="1"/>
          <p:nvPr/>
        </p:nvSpPr>
        <p:spPr>
          <a:xfrm>
            <a:off x="5050000" y="32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Common Projections</a:t>
            </a:r>
          </a:p>
        </p:txBody>
      </p:sp>
      <p:sp>
        <p:nvSpPr>
          <p:cNvPr id="9137" name="TextBox 9136"/>
          <p:cNvSpPr txBox="1"/>
          <p:nvPr/>
        </p:nvSpPr>
        <p:spPr>
          <a:xfrm>
            <a:off x="4850000" y="34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38" name="TextBox 9137">
            <a:hlinkClick action="ppaction://hlinksldjump" r:id="rId15"/>
          </p:cNvPr>
          <p:cNvSpPr txBox="1"/>
          <p:nvPr/>
        </p:nvSpPr>
        <p:spPr>
          <a:xfrm>
            <a:off x="5050000" y="34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Generalization &amp; Scale</a:t>
            </a:r>
          </a:p>
        </p:txBody>
      </p:sp>
      <p:sp>
        <p:nvSpPr>
          <p:cNvPr id="9139" name="TextBox 9138">
            <a:hlinkClick action="ppaction://hlinksldjump" r:id="rId16"/>
          </p:cNvPr>
          <p:cNvSpPr txBox="1"/>
          <p:nvPr/>
        </p:nvSpPr>
        <p:spPr>
          <a:xfrm>
            <a:off x="4850000" y="3774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140" name="TextBox 9139"/>
          <p:cNvSpPr txBox="1"/>
          <p:nvPr/>
        </p:nvSpPr>
        <p:spPr>
          <a:xfrm>
            <a:off x="4850000" y="41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41" name="TextBox 9140">
            <a:hlinkClick action="ppaction://hlinksldjump" r:id="rId16"/>
          </p:cNvPr>
          <p:cNvSpPr txBox="1"/>
          <p:nvPr/>
        </p:nvSpPr>
        <p:spPr>
          <a:xfrm>
            <a:off x="5050000" y="41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Composition &amp; Balance</a:t>
            </a:r>
          </a:p>
        </p:txBody>
      </p:sp>
      <p:sp>
        <p:nvSpPr>
          <p:cNvPr id="9142" name="TextBox 9141"/>
          <p:cNvSpPr txBox="1"/>
          <p:nvPr/>
        </p:nvSpPr>
        <p:spPr>
          <a:xfrm>
            <a:off x="4850000" y="43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43" name="TextBox 9142">
            <a:hlinkClick action="ppaction://hlinksldjump" r:id="rId17"/>
          </p:cNvPr>
          <p:cNvSpPr txBox="1"/>
          <p:nvPr/>
        </p:nvSpPr>
        <p:spPr>
          <a:xfrm>
            <a:off x="5050000" y="43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Composition: Good vs. Bad</a:t>
            </a:r>
          </a:p>
        </p:txBody>
      </p:sp>
      <p:sp>
        <p:nvSpPr>
          <p:cNvPr id="9144" name="TextBox 9143"/>
          <p:cNvSpPr txBox="1"/>
          <p:nvPr/>
        </p:nvSpPr>
        <p:spPr>
          <a:xfrm>
            <a:off x="4850000" y="46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45" name="TextBox 9144">
            <a:hlinkClick action="ppaction://hlinksldjump" r:id="rId18"/>
          </p:cNvPr>
          <p:cNvSpPr txBox="1"/>
          <p:nvPr/>
        </p:nvSpPr>
        <p:spPr>
          <a:xfrm>
            <a:off x="5050000" y="46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Legend Design</a:t>
            </a:r>
          </a:p>
        </p:txBody>
      </p:sp>
      <p:sp>
        <p:nvSpPr>
          <p:cNvPr id="9146" name="TextBox 9145"/>
          <p:cNvSpPr txBox="1"/>
          <p:nvPr/>
        </p:nvSpPr>
        <p:spPr>
          <a:xfrm>
            <a:off x="4850000" y="48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47" name="TextBox 9146">
            <a:hlinkClick action="ppaction://hlinksldjump" r:id="rId19"/>
          </p:cNvPr>
          <p:cNvSpPr txBox="1"/>
          <p:nvPr/>
        </p:nvSpPr>
        <p:spPr>
          <a:xfrm>
            <a:off x="5050000" y="48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Insets &amp; Locator Maps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4850000" y="51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49" name="TextBox 9148">
            <a:hlinkClick action="ppaction://hlinksldjump" r:id="rId20"/>
          </p:cNvPr>
          <p:cNvSpPr txBox="1"/>
          <p:nvPr/>
        </p:nvSpPr>
        <p:spPr>
          <a:xfrm>
            <a:off x="5050000" y="51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Scale-Bar Formats</a:t>
            </a:r>
          </a:p>
        </p:txBody>
      </p:sp>
      <p:sp>
        <p:nvSpPr>
          <p:cNvPr id="9150" name="TextBox 9149"/>
          <p:cNvSpPr txBox="1"/>
          <p:nvPr/>
        </p:nvSpPr>
        <p:spPr>
          <a:xfrm>
            <a:off x="4850000" y="53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51" name="TextBox 9150">
            <a:hlinkClick action="ppaction://hlinksldjump" r:id="rId21"/>
          </p:cNvPr>
          <p:cNvSpPr txBox="1"/>
          <p:nvPr/>
        </p:nvSpPr>
        <p:spPr>
          <a:xfrm>
            <a:off x="5050000" y="53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Basemap Selection &amp; Restraint</a:t>
            </a:r>
          </a:p>
        </p:txBody>
      </p:sp>
      <p:sp>
        <p:nvSpPr>
          <p:cNvPr id="9152" name="TextBox 9151">
            <a:hlinkClick action="ppaction://hlinksldjump" r:id="rId22"/>
          </p:cNvPr>
          <p:cNvSpPr txBox="1"/>
          <p:nvPr/>
        </p:nvSpPr>
        <p:spPr>
          <a:xfrm>
            <a:off x="4850000" y="5678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07 · DESIGNING RESPONSIBLY</a:t>
            </a:r>
          </a:p>
        </p:txBody>
      </p:sp>
      <p:sp>
        <p:nvSpPr>
          <p:cNvPr id="9153" name="TextBox 9152"/>
          <p:cNvSpPr txBox="1"/>
          <p:nvPr/>
        </p:nvSpPr>
        <p:spPr>
          <a:xfrm>
            <a:off x="4850000" y="602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54" name="TextBox 9153">
            <a:hlinkClick action="ppaction://hlinksldjump" r:id="rId22"/>
          </p:cNvPr>
          <p:cNvSpPr txBox="1"/>
          <p:nvPr/>
        </p:nvSpPr>
        <p:spPr>
          <a:xfrm>
            <a:off x="5050000" y="602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MAUP &amp; Cherry-Picked Breaks</a:t>
            </a:r>
          </a:p>
        </p:txBody>
      </p:sp>
      <p:sp>
        <p:nvSpPr>
          <p:cNvPr id="9155" name="TextBox 9154"/>
          <p:cNvSpPr txBox="1"/>
          <p:nvPr/>
        </p:nvSpPr>
        <p:spPr>
          <a:xfrm>
            <a:off x="4850000" y="627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56" name="TextBox 9155">
            <a:hlinkClick action="ppaction://hlinksldjump" r:id="rId23"/>
          </p:cNvPr>
          <p:cNvSpPr txBox="1"/>
          <p:nvPr/>
        </p:nvSpPr>
        <p:spPr>
          <a:xfrm>
            <a:off x="5050000" y="627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Accessibility</a:t>
            </a:r>
          </a:p>
        </p:txBody>
      </p:sp>
      <p:sp>
        <p:nvSpPr>
          <p:cNvPr id="9157" name="TextBox 9156"/>
          <p:cNvSpPr txBox="1"/>
          <p:nvPr/>
        </p:nvSpPr>
        <p:spPr>
          <a:xfrm>
            <a:off x="4850000" y="6528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58" name="TextBox 9157">
            <a:hlinkClick action="ppaction://hlinksldjump" r:id="rId24"/>
          </p:cNvPr>
          <p:cNvSpPr txBox="1"/>
          <p:nvPr/>
        </p:nvSpPr>
        <p:spPr>
          <a:xfrm>
            <a:off x="5050000" y="6528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Output Context</a:t>
            </a:r>
          </a:p>
        </p:txBody>
      </p:sp>
      <p:sp>
        <p:nvSpPr>
          <p:cNvPr id="9159" name="TextBox 9158">
            <a:hlinkClick action="ppaction://hlinksldjump" r:id="rId25"/>
          </p:cNvPr>
          <p:cNvSpPr txBox="1"/>
          <p:nvPr/>
        </p:nvSpPr>
        <p:spPr>
          <a:xfrm>
            <a:off x="8300000" y="2620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160" name="TextBox 9159"/>
          <p:cNvSpPr txBox="1"/>
          <p:nvPr/>
        </p:nvSpPr>
        <p:spPr>
          <a:xfrm>
            <a:off x="8300000" y="29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61" name="TextBox 9160">
            <a:hlinkClick action="ppaction://hlinksldjump" r:id="rId25"/>
          </p:cNvPr>
          <p:cNvSpPr txBox="1"/>
          <p:nvPr/>
        </p:nvSpPr>
        <p:spPr>
          <a:xfrm>
            <a:off x="8500000" y="29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Layout Basics</a:t>
            </a:r>
          </a:p>
        </p:txBody>
      </p:sp>
      <p:sp>
        <p:nvSpPr>
          <p:cNvPr id="9162" name="TextBox 9161"/>
          <p:cNvSpPr txBox="1"/>
          <p:nvPr/>
        </p:nvSpPr>
        <p:spPr>
          <a:xfrm>
            <a:off x="8300000" y="32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63" name="TextBox 9162">
            <a:hlinkClick action="ppaction://hlinksldjump" r:id="rId26"/>
          </p:cNvPr>
          <p:cNvSpPr txBox="1"/>
          <p:nvPr/>
        </p:nvSpPr>
        <p:spPr>
          <a:xfrm>
            <a:off x="8500000" y="32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Activate &amp; Navigate the Map Frame</a:t>
            </a:r>
          </a:p>
        </p:txBody>
      </p:sp>
      <p:sp>
        <p:nvSpPr>
          <p:cNvPr id="9164" name="TextBox 9163"/>
          <p:cNvSpPr txBox="1"/>
          <p:nvPr/>
        </p:nvSpPr>
        <p:spPr>
          <a:xfrm>
            <a:off x="8300000" y="34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65" name="TextBox 9164">
            <a:hlinkClick action="ppaction://hlinksldjump" r:id="rId27"/>
          </p:cNvPr>
          <p:cNvSpPr txBox="1"/>
          <p:nvPr/>
        </p:nvSpPr>
        <p:spPr>
          <a:xfrm>
            <a:off x="8500000" y="34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Essential Layout Elements</a:t>
            </a:r>
          </a:p>
        </p:txBody>
      </p:sp>
      <p:sp>
        <p:nvSpPr>
          <p:cNvPr id="9166" name="TextBox 9165"/>
          <p:cNvSpPr txBox="1"/>
          <p:nvPr/>
        </p:nvSpPr>
        <p:spPr>
          <a:xfrm>
            <a:off x="8300000" y="37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67" name="TextBox 9166">
            <a:hlinkClick action="ppaction://hlinksldjump" r:id="rId28"/>
          </p:cNvPr>
          <p:cNvSpPr txBox="1"/>
          <p:nvPr/>
        </p:nvSpPr>
        <p:spPr>
          <a:xfrm>
            <a:off x="8500000" y="37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A Full Layout, Assembled</a:t>
            </a:r>
          </a:p>
        </p:txBody>
      </p:sp>
      <p:sp>
        <p:nvSpPr>
          <p:cNvPr id="9168" name="TextBox 9167"/>
          <p:cNvSpPr txBox="1"/>
          <p:nvPr/>
        </p:nvSpPr>
        <p:spPr>
          <a:xfrm>
            <a:off x="8300000" y="39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69" name="TextBox 9168">
            <a:hlinkClick action="ppaction://hlinksldjump" r:id="rId29"/>
          </p:cNvPr>
          <p:cNvSpPr txBox="1"/>
          <p:nvPr/>
        </p:nvSpPr>
        <p:spPr>
          <a:xfrm>
            <a:off x="8500000" y="39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Aligning &amp; Arranging Elements</a:t>
            </a:r>
          </a:p>
        </p:txBody>
      </p:sp>
      <p:sp>
        <p:nvSpPr>
          <p:cNvPr id="9170" name="TextBox 9169"/>
          <p:cNvSpPr txBox="1"/>
          <p:nvPr/>
        </p:nvSpPr>
        <p:spPr>
          <a:xfrm>
            <a:off x="8300000" y="42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71" name="TextBox 9170">
            <a:hlinkClick action="ppaction://hlinksldjump" r:id="rId30"/>
          </p:cNvPr>
          <p:cNvSpPr txBox="1"/>
          <p:nvPr/>
        </p:nvSpPr>
        <p:spPr>
          <a:xfrm>
            <a:off x="8500000" y="42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Build Workflow</a:t>
            </a:r>
          </a:p>
        </p:txBody>
      </p:sp>
      <p:sp>
        <p:nvSpPr>
          <p:cNvPr id="9172" name="TextBox 9171"/>
          <p:cNvSpPr txBox="1"/>
          <p:nvPr/>
        </p:nvSpPr>
        <p:spPr>
          <a:xfrm>
            <a:off x="8300000" y="447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73" name="TextBox 9172">
            <a:hlinkClick action="ppaction://hlinksldjump" r:id="rId31"/>
          </p:cNvPr>
          <p:cNvSpPr txBox="1"/>
          <p:nvPr/>
        </p:nvSpPr>
        <p:spPr>
          <a:xfrm>
            <a:off x="8500000" y="447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Share &amp; Export Ribbon</a:t>
            </a:r>
          </a:p>
        </p:txBody>
      </p:sp>
      <p:sp>
        <p:nvSpPr>
          <p:cNvPr id="9174" name="TextBox 9173"/>
          <p:cNvSpPr txBox="1"/>
          <p:nvPr/>
        </p:nvSpPr>
        <p:spPr>
          <a:xfrm>
            <a:off x="8300000" y="4720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75" name="TextBox 9174">
            <a:hlinkClick action="ppaction://hlinksldjump" r:id="rId32"/>
          </p:cNvPr>
          <p:cNvSpPr txBox="1"/>
          <p:nvPr/>
        </p:nvSpPr>
        <p:spPr>
          <a:xfrm>
            <a:off x="8500000" y="4720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Export Formats: PDF vs. PNG vs. TIFF</a:t>
            </a:r>
          </a:p>
        </p:txBody>
      </p:sp>
      <p:sp>
        <p:nvSpPr>
          <p:cNvPr id="9176" name="TextBox 9175">
            <a:hlinkClick action="ppaction://hlinksldjump" r:id="rId33"/>
          </p:cNvPr>
          <p:cNvSpPr txBox="1"/>
          <p:nvPr/>
        </p:nvSpPr>
        <p:spPr>
          <a:xfrm>
            <a:off x="8300000" y="5024000"/>
            <a:ext cx="35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Aptos Slab ExtraBold"/>
              </a:rPr>
              <a:t>SECTION 09 · BRINGING IT TOGETHER</a:t>
            </a:r>
          </a:p>
        </p:txBody>
      </p:sp>
      <p:sp>
        <p:nvSpPr>
          <p:cNvPr id="9177" name="TextBox 9176"/>
          <p:cNvSpPr txBox="1"/>
          <p:nvPr/>
        </p:nvSpPr>
        <p:spPr>
          <a:xfrm>
            <a:off x="8300000" y="53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78" name="TextBox 9177">
            <a:hlinkClick action="ppaction://hlinksldjump" r:id="rId33"/>
          </p:cNvPr>
          <p:cNvSpPr txBox="1"/>
          <p:nvPr/>
        </p:nvSpPr>
        <p:spPr>
          <a:xfrm>
            <a:off x="8500000" y="53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Case Study: Before &amp; After</a:t>
            </a:r>
          </a:p>
        </p:txBody>
      </p:sp>
      <p:sp>
        <p:nvSpPr>
          <p:cNvPr id="9179" name="TextBox 9178"/>
          <p:cNvSpPr txBox="1"/>
          <p:nvPr/>
        </p:nvSpPr>
        <p:spPr>
          <a:xfrm>
            <a:off x="8300000" y="56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80" name="TextBox 9179">
            <a:hlinkClick action="ppaction://hlinksldjump" r:id="rId34"/>
          </p:cNvPr>
          <p:cNvSpPr txBox="1"/>
          <p:nvPr/>
        </p:nvSpPr>
        <p:spPr>
          <a:xfrm>
            <a:off x="8500000" y="56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Knowledge Check</a:t>
            </a:r>
          </a:p>
        </p:txBody>
      </p:sp>
      <p:sp>
        <p:nvSpPr>
          <p:cNvPr id="9181" name="TextBox 9180"/>
          <p:cNvSpPr txBox="1"/>
          <p:nvPr/>
        </p:nvSpPr>
        <p:spPr>
          <a:xfrm>
            <a:off x="8300000" y="587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82" name="TextBox 9181">
            <a:hlinkClick action="ppaction://hlinksldjump" r:id="rId35"/>
          </p:cNvPr>
          <p:cNvSpPr txBox="1"/>
          <p:nvPr/>
        </p:nvSpPr>
        <p:spPr>
          <a:xfrm>
            <a:off x="8500000" y="587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Closing Recap</a:t>
            </a:r>
          </a:p>
        </p:txBody>
      </p:sp>
      <p:sp>
        <p:nvSpPr>
          <p:cNvPr id="9183" name="TextBox 9182"/>
          <p:cNvSpPr txBox="1"/>
          <p:nvPr/>
        </p:nvSpPr>
        <p:spPr>
          <a:xfrm>
            <a:off x="8300000" y="6124000"/>
            <a:ext cx="2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›</a:t>
            </a:r>
          </a:p>
        </p:txBody>
      </p:sp>
      <p:sp>
        <p:nvSpPr>
          <p:cNvPr id="9184" name="TextBox 9183">
            <a:hlinkClick action="ppaction://hlinksldjump" r:id="rId36"/>
          </p:cNvPr>
          <p:cNvSpPr txBox="1"/>
          <p:nvPr/>
        </p:nvSpPr>
        <p:spPr>
          <a:xfrm>
            <a:off x="8500000" y="6124000"/>
            <a:ext cx="335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Further Reading: Real-World Galleries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4" name="TextBox 9103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03  /  36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01 · FOUNDATIONS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Purpose &amp; Audience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one question to ask before any design choice: who's reading this, why, and for how long?</a:t>
            </a:r>
          </a:p>
        </p:txBody>
      </p:sp>
      <p:sp>
        <p:nvSpPr>
          <p:cNvPr id="9109" name="GlassPill"/>
          <p:cNvSpPr/>
          <p:nvPr/>
        </p:nvSpPr>
        <p:spPr>
          <a:xfrm>
            <a:off x="1085800" y="2650000"/>
            <a:ext cx="3220133" cy="210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10" name="TextBox 9109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Expertise Level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265800" y="3116000"/>
            <a:ext cx="2860133" cy="1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A GIS analyst can parse a 7-class quantile choropleth instantly; a general audience needs 3-4 classes and plain-language labels.</a:t>
            </a:r>
          </a:p>
        </p:txBody>
      </p:sp>
      <p:sp>
        <p:nvSpPr>
          <p:cNvPr id="9112" name="GlassPill"/>
          <p:cNvSpPr/>
          <p:nvPr/>
        </p:nvSpPr>
        <p:spPr>
          <a:xfrm>
            <a:off x="4485933" y="2650000"/>
            <a:ext cx="3220133" cy="210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13" name="TextBox 9112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Decision Supported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4665933" y="3116000"/>
            <a:ext cx="2860133" cy="1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An exploratory map for analysts can show everything at once; a map meant to drive one decision should mute everything except that single pattern.</a:t>
            </a:r>
          </a:p>
        </p:txBody>
      </p:sp>
      <p:sp>
        <p:nvSpPr>
          <p:cNvPr id="9115" name="GlassPill"/>
          <p:cNvSpPr/>
          <p:nvPr/>
        </p:nvSpPr>
        <p:spPr>
          <a:xfrm>
            <a:off x="7886066" y="2650000"/>
            <a:ext cx="3220133" cy="210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16" name="TextBox 9115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Viewing Context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8066066" y="3116000"/>
            <a:ext cx="2860133" cy="1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A dashboard glanced at for seconds needs bigger text and fewer classes than a printed report a reader studies for ten minutes.</a:t>
            </a:r>
          </a:p>
        </p:txBody>
      </p:sp>
      <p:sp>
        <p:nvSpPr>
          <p:cNvPr id="9118" name="TextBox 9117"/>
          <p:cNvSpPr txBox="1"/>
          <p:nvPr/>
        </p:nvSpPr>
        <p:spPr>
          <a:xfrm>
            <a:off x="1085800" y="5050000"/>
            <a:ext cx="100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Every design decision downstream — classification complexity, label density, color palette — should trace back to this answer. (For the standard map-type taxonomy — reference, thematic, pragmatic — see the Power of Maps deck.)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6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7" name="TextBox 9116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18" name="TextBox 911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04  /  36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01 · FOUNDATIONS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1085800" y="1400000"/>
            <a:ext cx="6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Map Anatomy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parts a finished map is built from — independent of any particular software.</a:t>
            </a:r>
          </a:p>
        </p:txBody>
      </p:sp>
      <p:pic>
        <p:nvPicPr>
          <p:cNvPr id="9122" name="Picture 9121" descr="map_anatom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55" y="2450000"/>
            <a:ext cx="6691489" cy="3700000"/>
          </a:xfrm>
          <a:prstGeom prst="rect">
            <a:avLst/>
          </a:prstGeom>
        </p:spPr>
      </p:pic>
      <p:sp>
        <p:nvSpPr>
          <p:cNvPr id="9123" name="TextBox 9122"/>
          <p:cNvSpPr txBox="1"/>
          <p:nvPr/>
        </p:nvSpPr>
        <p:spPr>
          <a:xfrm>
            <a:off x="1085800" y="6320000"/>
            <a:ext cx="104000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1">
                <a:solidFill>
                  <a:srgbClr val="A9BBCE"/>
                </a:solidFill>
                <a:latin typeface="Aptos Slab ExtraBold"/>
              </a:rPr>
              <a:t>See Essential Layout Elements (Section 08) for where each of these lives in ArcGIS Pro. Grid: Layout tab ▸ Map Frame ▸ Grids — 2D maps only; grids aren't available on 3D scenes.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8" name="TextBox 9117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05  /  36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02 · HOW THE EYE READS A MAP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1400000"/>
            <a:ext cx="395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Visual Hierarchy &amp;</a:t>
            </a:r>
          </a:p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Figure-Ground</a:t>
            </a:r>
          </a:p>
        </p:txBody>
      </p:sp>
      <p:sp>
        <p:nvSpPr>
          <p:cNvPr id="9122" name="TextBox 9121"/>
          <p:cNvSpPr txBox="1"/>
          <p:nvPr/>
        </p:nvSpPr>
        <p:spPr>
          <a:xfrm>
            <a:off x="1085800" y="2750000"/>
            <a:ext cx="39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THE EYE READS IN ORDER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085800" y="3050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Contrast and weight decide what's seen first, second, third — not the order you drew it in.</a:t>
            </a:r>
          </a:p>
        </p:txBody>
      </p:sp>
      <p:sp>
        <p:nvSpPr>
          <p:cNvPr id="9124" name="TextBox 9123"/>
          <p:cNvSpPr txBox="1"/>
          <p:nvPr/>
        </p:nvSpPr>
        <p:spPr>
          <a:xfrm>
            <a:off x="1085800" y="3770000"/>
            <a:ext cx="39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FIGURE vs. GROUND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1085800" y="4070000"/>
            <a:ext cx="3950000" cy="6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The data (figure) needs to visually separate from the basemap (ground). A busy basemap under bold data is the most common hierarchy failure.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1085800" y="5020000"/>
            <a:ext cx="39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ONE FOCAL POINT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1085800" y="5320000"/>
            <a:ext cx="395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If everything is emphasized, nothing is. Mute what's context; sharpen what's the point.</a:t>
            </a:r>
          </a:p>
        </p:txBody>
      </p:sp>
      <p:pic>
        <p:nvPicPr>
          <p:cNvPr id="9128" name="Picture 9127" descr="map_single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07" y="1560000"/>
            <a:ext cx="4294593" cy="45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8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9" name="TextBox 9118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06  /  36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02 · HOW THE EYE READS A MAP</a:t>
            </a:r>
          </a:p>
        </p:txBody>
      </p:sp>
      <p:sp>
        <p:nvSpPr>
          <p:cNvPr id="9122" name="TextBox 9121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Bertin's Visual Variables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basic vocabulary for encoding data visually — and which variables the eye reads as ordered.</a:t>
            </a:r>
          </a:p>
        </p:txBody>
      </p:sp>
      <p:sp>
        <p:nvSpPr>
          <p:cNvPr id="9124" name="GlassPill"/>
          <p:cNvSpPr/>
          <p:nvPr/>
        </p:nvSpPr>
        <p:spPr>
          <a:xfrm>
            <a:off x="1085800" y="265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25" name="TextBox 9124"/>
          <p:cNvSpPr txBox="1"/>
          <p:nvPr/>
        </p:nvSpPr>
        <p:spPr>
          <a:xfrm>
            <a:off x="1265800" y="277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SIZE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1265800" y="311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Ordered · quantitative. Bigger reads as “more.” Used by graduated &amp; proportional symbols.</a:t>
            </a:r>
          </a:p>
        </p:txBody>
      </p:sp>
      <p:sp>
        <p:nvSpPr>
          <p:cNvPr id="9127" name="GlassPill"/>
          <p:cNvSpPr/>
          <p:nvPr/>
        </p:nvSpPr>
        <p:spPr>
          <a:xfrm>
            <a:off x="3635900" y="265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28" name="TextBox 9127"/>
          <p:cNvSpPr txBox="1"/>
          <p:nvPr/>
        </p:nvSpPr>
        <p:spPr>
          <a:xfrm>
            <a:off x="3815900" y="277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VALUE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3815900" y="311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Ordered. Light-to-dark reads naturally as low-to-high — the basis of sequential color ramps.</a:t>
            </a:r>
          </a:p>
        </p:txBody>
      </p:sp>
      <p:sp>
        <p:nvSpPr>
          <p:cNvPr id="9130" name="GlassPill"/>
          <p:cNvSpPr/>
          <p:nvPr/>
        </p:nvSpPr>
        <p:spPr>
          <a:xfrm>
            <a:off x="6186000" y="265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31" name="TextBox 9130"/>
          <p:cNvSpPr txBox="1"/>
          <p:nvPr/>
        </p:nvSpPr>
        <p:spPr>
          <a:xfrm>
            <a:off x="6366000" y="277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HUE</a:t>
            </a:r>
          </a:p>
        </p:txBody>
      </p:sp>
      <p:sp>
        <p:nvSpPr>
          <p:cNvPr id="9132" name="TextBox 9131"/>
          <p:cNvSpPr txBox="1"/>
          <p:nvPr/>
        </p:nvSpPr>
        <p:spPr>
          <a:xfrm>
            <a:off x="6366000" y="311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Unordered. Red vs. blue vs. green reads as different categories, not more/less.</a:t>
            </a:r>
          </a:p>
        </p:txBody>
      </p:sp>
      <p:sp>
        <p:nvSpPr>
          <p:cNvPr id="9133" name="GlassPill"/>
          <p:cNvSpPr/>
          <p:nvPr/>
        </p:nvSpPr>
        <p:spPr>
          <a:xfrm>
            <a:off x="8736100" y="265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34" name="TextBox 9133"/>
          <p:cNvSpPr txBox="1"/>
          <p:nvPr/>
        </p:nvSpPr>
        <p:spPr>
          <a:xfrm>
            <a:off x="8916100" y="277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SATURATION</a:t>
            </a:r>
          </a:p>
        </p:txBody>
      </p:sp>
      <p:sp>
        <p:nvSpPr>
          <p:cNvPr id="9135" name="TextBox 9134"/>
          <p:cNvSpPr txBox="1"/>
          <p:nvPr/>
        </p:nvSpPr>
        <p:spPr>
          <a:xfrm>
            <a:off x="8916100" y="311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Weakly ordered. Muted-to-vivid can suggest confidence or intensity.</a:t>
            </a:r>
          </a:p>
        </p:txBody>
      </p:sp>
      <p:sp>
        <p:nvSpPr>
          <p:cNvPr id="9136" name="GlassPill"/>
          <p:cNvSpPr/>
          <p:nvPr/>
        </p:nvSpPr>
        <p:spPr>
          <a:xfrm>
            <a:off x="1085800" y="429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37" name="TextBox 9136"/>
          <p:cNvSpPr txBox="1"/>
          <p:nvPr/>
        </p:nvSpPr>
        <p:spPr>
          <a:xfrm>
            <a:off x="1265800" y="441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SHAPE</a:t>
            </a:r>
          </a:p>
        </p:txBody>
      </p:sp>
      <p:sp>
        <p:nvSpPr>
          <p:cNvPr id="9138" name="TextBox 9137"/>
          <p:cNvSpPr txBox="1"/>
          <p:nvPr/>
        </p:nvSpPr>
        <p:spPr>
          <a:xfrm>
            <a:off x="1265800" y="475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Unordered. Distinguishes categories — a circle vs. a triangle vs. a square.</a:t>
            </a:r>
          </a:p>
        </p:txBody>
      </p:sp>
      <p:sp>
        <p:nvSpPr>
          <p:cNvPr id="9139" name="GlassPill"/>
          <p:cNvSpPr/>
          <p:nvPr/>
        </p:nvSpPr>
        <p:spPr>
          <a:xfrm>
            <a:off x="3635900" y="429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40" name="TextBox 9139"/>
          <p:cNvSpPr txBox="1"/>
          <p:nvPr/>
        </p:nvSpPr>
        <p:spPr>
          <a:xfrm>
            <a:off x="3815900" y="441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ORIENTATION</a:t>
            </a:r>
          </a:p>
        </p:txBody>
      </p:sp>
      <p:sp>
        <p:nvSpPr>
          <p:cNvPr id="9141" name="TextBox 9140"/>
          <p:cNvSpPr txBox="1"/>
          <p:nvPr/>
        </p:nvSpPr>
        <p:spPr>
          <a:xfrm>
            <a:off x="3815900" y="475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Unordered, limited range. Useful for direction/flow, easily overused.</a:t>
            </a:r>
          </a:p>
        </p:txBody>
      </p:sp>
      <p:sp>
        <p:nvSpPr>
          <p:cNvPr id="9142" name="GlassPill"/>
          <p:cNvSpPr/>
          <p:nvPr/>
        </p:nvSpPr>
        <p:spPr>
          <a:xfrm>
            <a:off x="6186000" y="4290000"/>
            <a:ext cx="2370100" cy="146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43" name="TextBox 9142"/>
          <p:cNvSpPr txBox="1"/>
          <p:nvPr/>
        </p:nvSpPr>
        <p:spPr>
          <a:xfrm>
            <a:off x="6366000" y="4416000"/>
            <a:ext cx="20101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TEXTURE</a:t>
            </a:r>
          </a:p>
        </p:txBody>
      </p:sp>
      <p:sp>
        <p:nvSpPr>
          <p:cNvPr id="9144" name="TextBox 9143"/>
          <p:cNvSpPr txBox="1"/>
          <p:nvPr/>
        </p:nvSpPr>
        <p:spPr>
          <a:xfrm>
            <a:off x="6366000" y="4756000"/>
            <a:ext cx="2010100" cy="9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Unordered. Dot density is a texture variable — pattern reads before precise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4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4" name="TextBox 9143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45" name="TextBox 9144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07  /  36</a:t>
            </a:r>
          </a:p>
        </p:txBody>
      </p:sp>
      <p:sp>
        <p:nvSpPr>
          <p:cNvPr id="9146" name="TextBox 9145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02 · HOW THE EYE READS A MAP</a:t>
            </a:r>
          </a:p>
        </p:txBody>
      </p:sp>
      <p:sp>
        <p:nvSpPr>
          <p:cNvPr id="9147" name="TextBox 9146"/>
          <p:cNvSpPr txBox="1"/>
          <p:nvPr/>
        </p:nvSpPr>
        <p:spPr>
          <a:xfrm>
            <a:off x="1085800" y="1400000"/>
            <a:ext cx="85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Symbol Size: Good vs. Bad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Size is one of Bertin's ordered variables — but only if the scaling and legend actually let readers decode it.</a:t>
            </a:r>
          </a:p>
        </p:txBody>
      </p:sp>
      <p:pic>
        <p:nvPicPr>
          <p:cNvPr id="9149" name="Picture 9148" descr="map_size_good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04" y="2450000"/>
            <a:ext cx="8318591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44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5" name="TextBox 9144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46" name="TextBox 9145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08  /  36</a:t>
            </a:r>
          </a:p>
        </p:txBody>
      </p:sp>
      <p:sp>
        <p:nvSpPr>
          <p:cNvPr id="9147" name="TextBox 9146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03 · COLOR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1085800" y="1400000"/>
            <a:ext cx="6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Color Schemes</a:t>
            </a:r>
          </a:p>
        </p:txBody>
      </p:sp>
      <p:sp>
        <p:nvSpPr>
          <p:cNvPr id="9149" name="TextBox 9148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Sequential, diverging, and qualitative — three color logics, three different kinds of data.</a:t>
            </a:r>
          </a:p>
        </p:txBody>
      </p:sp>
      <p:pic>
        <p:nvPicPr>
          <p:cNvPr id="9150" name="Picture 9149" descr="map_color_sche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349" y="2450000"/>
            <a:ext cx="8515302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4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6" name="TextBox 9145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47" name="TextBox 9146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09  /  36</a:t>
            </a:r>
          </a:p>
        </p:txBody>
      </p:sp>
      <p:sp>
        <p:nvSpPr>
          <p:cNvPr id="9148" name="TextBox 9147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03 · COLOR</a:t>
            </a:r>
          </a:p>
        </p:txBody>
      </p:sp>
      <p:sp>
        <p:nvSpPr>
          <p:cNvPr id="9149" name="TextBox 9148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Color &amp; Perception</a:t>
            </a:r>
          </a:p>
        </p:txBody>
      </p:sp>
      <p:sp>
        <p:nvSpPr>
          <p:cNvPr id="9150" name="TextBox 9149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Color carries meaning before it carries data — and that meaning isn't universal.</a:t>
            </a:r>
          </a:p>
        </p:txBody>
      </p:sp>
      <p:sp>
        <p:nvSpPr>
          <p:cNvPr id="9151" name="GlassPill"/>
          <p:cNvSpPr/>
          <p:nvPr/>
        </p:nvSpPr>
        <p:spPr>
          <a:xfrm>
            <a:off x="1085800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52" name="TextBox 9151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CULTURAL ASSOCIATIONS</a:t>
            </a:r>
          </a:p>
        </p:txBody>
      </p:sp>
      <p:sp>
        <p:nvSpPr>
          <p:cNvPr id="9153" name="TextBox 9152"/>
          <p:cNvSpPr txBox="1"/>
          <p:nvPr/>
        </p:nvSpPr>
        <p:spPr>
          <a:xfrm>
            <a:off x="1265800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Red often reads as danger or heat, blue as cold or water, green as “go” or nature — in Western contexts. These associations can help or actively mislead depending on the audience.</a:t>
            </a:r>
          </a:p>
        </p:txBody>
      </p:sp>
      <p:sp>
        <p:nvSpPr>
          <p:cNvPr id="9154" name="GlassPill"/>
          <p:cNvSpPr/>
          <p:nvPr/>
        </p:nvSpPr>
        <p:spPr>
          <a:xfrm>
            <a:off x="4485933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55" name="TextBox 9154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CONTRAST ON DARK vs. LIGHT</a:t>
            </a:r>
          </a:p>
        </p:txBody>
      </p:sp>
      <p:sp>
        <p:nvSpPr>
          <p:cNvPr id="9156" name="TextBox 9155"/>
          <p:cNvSpPr txBox="1"/>
          <p:nvPr/>
        </p:nvSpPr>
        <p:spPr>
          <a:xfrm>
            <a:off x="4665933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The same hue reads differently on a dark basemap than a white one — test your palette on the actual background, not a swatch on white.</a:t>
            </a:r>
          </a:p>
        </p:txBody>
      </p:sp>
      <p:sp>
        <p:nvSpPr>
          <p:cNvPr id="9157" name="GlassPill"/>
          <p:cNvSpPr/>
          <p:nvPr/>
        </p:nvSpPr>
        <p:spPr>
          <a:xfrm>
            <a:off x="7886066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58" name="TextBox 9157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COLORBLIND-SAFE DESIGN</a:t>
            </a:r>
          </a:p>
        </p:txBody>
      </p:sp>
      <p:sp>
        <p:nvSpPr>
          <p:cNvPr id="9159" name="TextBox 9158"/>
          <p:cNvSpPr txBox="1"/>
          <p:nvPr/>
        </p:nvSpPr>
        <p:spPr>
          <a:xfrm>
            <a:off x="8066066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About 8% of men have some form of color vision deficiency. Red-green diverging ramps are the most common failure — covered in depth in Accessibility.</a:t>
            </a:r>
          </a:p>
        </p:txBody>
      </p:sp>
      <p:sp>
        <p:nvSpPr>
          <p:cNvPr id="9160" name="TextBox 9159"/>
          <p:cNvSpPr txBox="1"/>
          <p:nvPr/>
        </p:nvSpPr>
        <p:spPr>
          <a:xfrm>
            <a:off x="1085800" y="5250000"/>
            <a:ext cx="100204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1">
                <a:solidFill>
                  <a:srgbClr val="E9F0F7"/>
                </a:solidFill>
                <a:latin typeface="Aptos Slab ExtraBold"/>
              </a:rPr>
              <a:t>Rule of thumb: choose color for what it means to your specific audience first, and how it looks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58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9" name="TextBox 9158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60" name="TextBox 9159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10  /  36</a:t>
            </a:r>
          </a:p>
        </p:txBody>
      </p:sp>
      <p:sp>
        <p:nvSpPr>
          <p:cNvPr id="9161" name="TextBox 9160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03 · COLOR</a:t>
            </a:r>
          </a:p>
        </p:txBody>
      </p:sp>
      <p:sp>
        <p:nvSpPr>
          <p:cNvPr id="9162" name="TextBox 9161"/>
          <p:cNvSpPr txBox="1"/>
          <p:nvPr/>
        </p:nvSpPr>
        <p:spPr>
          <a:xfrm>
            <a:off x="1085800" y="1400000"/>
            <a:ext cx="7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Color: Good vs. Bad</a:t>
            </a:r>
          </a:p>
        </p:txBody>
      </p:sp>
      <p:sp>
        <p:nvSpPr>
          <p:cNvPr id="9163" name="TextBox 9162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same underlying data, four palette choices — two that communicate, two that mislead or exclude.</a:t>
            </a:r>
          </a:p>
        </p:txBody>
      </p:sp>
      <p:pic>
        <p:nvPicPr>
          <p:cNvPr id="9164" name="Picture 9163" descr="map_color_good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30" y="2450000"/>
            <a:ext cx="10039340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5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0" name="TextBox 915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61" name="TextBox 9160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11  /  36</a:t>
            </a:r>
          </a:p>
        </p:txBody>
      </p:sp>
      <p:sp>
        <p:nvSpPr>
          <p:cNvPr id="9162" name="TextBox 9161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04 · TYPE</a:t>
            </a:r>
          </a:p>
        </p:txBody>
      </p:sp>
      <p:sp>
        <p:nvSpPr>
          <p:cNvPr id="9163" name="TextBox 9162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Label Hierarchy</a:t>
            </a:r>
          </a:p>
        </p:txBody>
      </p:sp>
      <p:sp>
        <p:nvSpPr>
          <p:cNvPr id="9164" name="TextBox 9163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Type weight, size, and style reinforce the same structure the map's visual hierarchy already set up.</a:t>
            </a:r>
          </a:p>
        </p:txBody>
      </p:sp>
      <p:sp>
        <p:nvSpPr>
          <p:cNvPr id="9165" name="TextBox 9164"/>
          <p:cNvSpPr txBox="1"/>
          <p:nvPr/>
        </p:nvSpPr>
        <p:spPr>
          <a:xfrm>
            <a:off x="1085800" y="2600000"/>
            <a:ext cx="100204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E9F0F7"/>
                </a:solidFill>
                <a:latin typeface="Aptos Slab ExtraBold"/>
              </a:rPr>
              <a:t>New York City</a:t>
            </a:r>
          </a:p>
        </p:txBody>
      </p:sp>
      <p:sp>
        <p:nvSpPr>
          <p:cNvPr id="9166" name="TextBox 9165"/>
          <p:cNvSpPr txBox="1"/>
          <p:nvPr/>
        </p:nvSpPr>
        <p:spPr>
          <a:xfrm>
            <a:off x="1205800" y="3180000"/>
            <a:ext cx="100204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E9F0F7"/>
                </a:solidFill>
                <a:latin typeface="Aptos Slab ExtraBold"/>
              </a:rPr>
              <a:t>Manhattan   ·   Brooklyn   ·   Queens</a:t>
            </a:r>
          </a:p>
        </p:txBody>
      </p:sp>
      <p:sp>
        <p:nvSpPr>
          <p:cNvPr id="9167" name="TextBox 9166"/>
          <p:cNvSpPr txBox="1"/>
          <p:nvPr/>
        </p:nvSpPr>
        <p:spPr>
          <a:xfrm>
            <a:off x="1345800" y="3660000"/>
            <a:ext cx="100204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A9BBCE"/>
                </a:solidFill>
                <a:latin typeface="Aptos Slab ExtraBold"/>
              </a:rPr>
              <a:t>Chelsea    Astoria    Park Slope</a:t>
            </a:r>
          </a:p>
        </p:txBody>
      </p:sp>
      <p:sp>
        <p:nvSpPr>
          <p:cNvPr id="9168" name="TextBox 9167"/>
          <p:cNvSpPr txBox="1"/>
          <p:nvPr/>
        </p:nvSpPr>
        <p:spPr>
          <a:xfrm>
            <a:off x="1345800" y="4020000"/>
            <a:ext cx="100204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A9BBCE"/>
                </a:solidFill>
                <a:latin typeface="Aptos Slab ExtraBold"/>
              </a:rPr>
              <a:t>5th Ave    Northern Blvd    7th Ave</a:t>
            </a:r>
          </a:p>
        </p:txBody>
      </p:sp>
      <p:sp>
        <p:nvSpPr>
          <p:cNvPr id="9169" name="TextBox 9168"/>
          <p:cNvSpPr txBox="1"/>
          <p:nvPr/>
        </p:nvSpPr>
        <p:spPr>
          <a:xfrm>
            <a:off x="1085800" y="4620000"/>
            <a:ext cx="100204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SIZE + WEIGHT STEP DOWN</a:t>
            </a:r>
          </a:p>
        </p:txBody>
      </p:sp>
      <p:sp>
        <p:nvSpPr>
          <p:cNvPr id="9170" name="TextBox 9169"/>
          <p:cNvSpPr txBox="1"/>
          <p:nvPr/>
        </p:nvSpPr>
        <p:spPr>
          <a:xfrm>
            <a:off x="1085800" y="4920000"/>
            <a:ext cx="100204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Each tier of geography (city, borough, neighborhood, street) gets a visibly smaller, lighter label — never the same size for two different scales of thing.</a:t>
            </a:r>
          </a:p>
        </p:txBody>
      </p:sp>
      <p:sp>
        <p:nvSpPr>
          <p:cNvPr id="9171" name="TextBox 9170"/>
          <p:cNvSpPr txBox="1"/>
          <p:nvPr/>
        </p:nvSpPr>
        <p:spPr>
          <a:xfrm>
            <a:off x="1085800" y="5440000"/>
            <a:ext cx="100204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DON'T USE MORE THAN 3-4 TIERS</a:t>
            </a:r>
          </a:p>
        </p:txBody>
      </p:sp>
      <p:sp>
        <p:nvSpPr>
          <p:cNvPr id="9172" name="TextBox 9171"/>
          <p:cNvSpPr txBox="1"/>
          <p:nvPr/>
        </p:nvSpPr>
        <p:spPr>
          <a:xfrm>
            <a:off x="1085800" y="5740000"/>
            <a:ext cx="100204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Beyond four visually distinct label tiers, readers stop being able to tell them apart at a glance — the hierarchy collapses back into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1" name="TextBox 9160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62" name="TextBox 9161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12  /  36</a:t>
            </a:r>
          </a:p>
        </p:txBody>
      </p:sp>
      <p:sp>
        <p:nvSpPr>
          <p:cNvPr id="9163" name="TextBox 9162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04 · TYPE</a:t>
            </a:r>
          </a:p>
        </p:txBody>
      </p:sp>
      <p:sp>
        <p:nvSpPr>
          <p:cNvPr id="9164" name="TextBox 9163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Label Placement</a:t>
            </a:r>
          </a:p>
        </p:txBody>
      </p:sp>
      <p:sp>
        <p:nvSpPr>
          <p:cNvPr id="9165" name="TextBox 9164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label engine's job: fit every name in without collisions, ambiguity, or covering the thing it names.</a:t>
            </a:r>
          </a:p>
        </p:txBody>
      </p:sp>
      <p:sp>
        <p:nvSpPr>
          <p:cNvPr id="9166" name="GlassPill"/>
          <p:cNvSpPr/>
          <p:nvPr/>
        </p:nvSpPr>
        <p:spPr>
          <a:xfrm>
            <a:off x="1085800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67" name="TextBox 9166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COLLISION AVOIDANCE</a:t>
            </a:r>
          </a:p>
        </p:txBody>
      </p:sp>
      <p:sp>
        <p:nvSpPr>
          <p:cNvPr id="9168" name="TextBox 9167"/>
          <p:cNvSpPr txBox="1"/>
          <p:nvPr/>
        </p:nvSpPr>
        <p:spPr>
          <a:xfrm>
            <a:off x="1265800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When labels would overlap, the engine shrinks, moves, or drops lower-priority ones — silently. Always spot-check dense areas.</a:t>
            </a:r>
          </a:p>
        </p:txBody>
      </p:sp>
      <p:sp>
        <p:nvSpPr>
          <p:cNvPr id="9169" name="GlassPill"/>
          <p:cNvSpPr/>
          <p:nvPr/>
        </p:nvSpPr>
        <p:spPr>
          <a:xfrm>
            <a:off x="4485933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70" name="TextBox 9169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PRIORITY RULES</a:t>
            </a:r>
          </a:p>
        </p:txBody>
      </p:sp>
      <p:sp>
        <p:nvSpPr>
          <p:cNvPr id="9171" name="TextBox 9170"/>
          <p:cNvSpPr txBox="1"/>
          <p:nvPr/>
        </p:nvSpPr>
        <p:spPr>
          <a:xfrm>
            <a:off x="4665933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Set which labels must always show (rank/weight) so a big city doesn't get dropped in favor of a small town that happened to fit first.</a:t>
            </a:r>
          </a:p>
        </p:txBody>
      </p:sp>
      <p:sp>
        <p:nvSpPr>
          <p:cNvPr id="9172" name="GlassPill"/>
          <p:cNvSpPr/>
          <p:nvPr/>
        </p:nvSpPr>
        <p:spPr>
          <a:xfrm>
            <a:off x="7886066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73" name="TextBox 9172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HALOS &amp; LEADER LINES</a:t>
            </a:r>
          </a:p>
        </p:txBody>
      </p:sp>
      <p:sp>
        <p:nvSpPr>
          <p:cNvPr id="9174" name="TextBox 9173"/>
          <p:cNvSpPr txBox="1"/>
          <p:nvPr/>
        </p:nvSpPr>
        <p:spPr>
          <a:xfrm>
            <a:off x="8066066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soft halo keeps text readable over a busy basemap; a leader line ties a label to a point it couldn't sit directly on top of without crowding.</a:t>
            </a:r>
          </a:p>
        </p:txBody>
      </p:sp>
      <p:sp>
        <p:nvSpPr>
          <p:cNvPr id="9175" name="TextBox 9174"/>
          <p:cNvSpPr txBox="1"/>
          <p:nvPr/>
        </p:nvSpPr>
        <p:spPr>
          <a:xfrm>
            <a:off x="1085800" y="5250000"/>
            <a:ext cx="100204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1">
                <a:solidFill>
                  <a:srgbClr val="E9F0F7"/>
                </a:solidFill>
                <a:latin typeface="Aptos Slab ExtraBold"/>
              </a:rPr>
              <a:t>In ArcGIS Pro this is Maplex Label Engine territory — most of these rules are configurable per label class, not just on or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7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4" name="TextBox 9173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75" name="TextBox 9174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13  /  36</a:t>
            </a:r>
          </a:p>
        </p:txBody>
      </p:sp>
      <p:sp>
        <p:nvSpPr>
          <p:cNvPr id="9176" name="TextBox 9175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05 · THE GEOMETRY OF MAPS</a:t>
            </a:r>
          </a:p>
        </p:txBody>
      </p:sp>
      <p:sp>
        <p:nvSpPr>
          <p:cNvPr id="9177" name="TextBox 9176"/>
          <p:cNvSpPr txBox="1"/>
          <p:nvPr/>
        </p:nvSpPr>
        <p:spPr>
          <a:xfrm>
            <a:off x="1085800" y="1400000"/>
            <a:ext cx="9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E9F0F7"/>
                </a:solidFill>
                <a:latin typeface="Aptos Slab ExtraBold"/>
              </a:rPr>
              <a:t>Why Every Map Lies</a:t>
            </a:r>
          </a:p>
          <a:p>
            <a:r>
              <a:rPr sz="3400" b="1" i="0">
                <a:solidFill>
                  <a:srgbClr val="E9F0F7"/>
                </a:solidFill>
                <a:latin typeface="Aptos Slab ExtraBold"/>
              </a:rPr>
              <a:t>(a Little)</a:t>
            </a:r>
          </a:p>
        </p:txBody>
      </p:sp>
      <p:sp>
        <p:nvSpPr>
          <p:cNvPr id="9178" name="TextBox 9177"/>
          <p:cNvSpPr txBox="1"/>
          <p:nvPr/>
        </p:nvSpPr>
        <p:spPr>
          <a:xfrm>
            <a:off x="1085800" y="2950000"/>
            <a:ext cx="9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0" i="0">
                <a:solidFill>
                  <a:srgbClr val="E9F0F7"/>
                </a:solidFill>
                <a:latin typeface="Aptos Slab ExtraBold"/>
              </a:rPr>
              <a:t>The Earth is a sphere. Every flat map is a projection — and every projection has to trade away something to make that translation work.</a:t>
            </a:r>
          </a:p>
        </p:txBody>
      </p:sp>
      <p:sp>
        <p:nvSpPr>
          <p:cNvPr id="9179" name="GlassPill"/>
          <p:cNvSpPr/>
          <p:nvPr/>
        </p:nvSpPr>
        <p:spPr>
          <a:xfrm>
            <a:off x="1085800" y="3900000"/>
            <a:ext cx="9600000" cy="155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80" name="TextBox 9179"/>
          <p:cNvSpPr txBox="1"/>
          <p:nvPr/>
        </p:nvSpPr>
        <p:spPr>
          <a:xfrm>
            <a:off x="1435800" y="4120000"/>
            <a:ext cx="8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THE GREENLAND PROBLEM</a:t>
            </a:r>
          </a:p>
        </p:txBody>
      </p:sp>
      <p:sp>
        <p:nvSpPr>
          <p:cNvPr id="9181" name="TextBox 9180"/>
          <p:cNvSpPr txBox="1"/>
          <p:nvPr/>
        </p:nvSpPr>
        <p:spPr>
          <a:xfrm>
            <a:off x="1435800" y="4530000"/>
            <a:ext cx="8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E9F0F7"/>
                </a:solidFill>
                <a:latin typeface="Aptos Slab ExtraBold"/>
              </a:rPr>
              <a:t>On a standard Web Mercator map, Greenland looks roughly the same size as Africa. In reality, Africa is about 14 times larger. Next slide: what a projection actually trades away, and how to pick one on purpose.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8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1" name="TextBox 9180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82" name="TextBox 9181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14  /  36</a:t>
            </a:r>
          </a:p>
        </p:txBody>
      </p:sp>
      <p:sp>
        <p:nvSpPr>
          <p:cNvPr id="9183" name="TextBox 9182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05 · THE GEOMETRY OF MAPS</a:t>
            </a:r>
          </a:p>
        </p:txBody>
      </p:sp>
      <p:sp>
        <p:nvSpPr>
          <p:cNvPr id="9184" name="TextBox 9183"/>
          <p:cNvSpPr txBox="1"/>
          <p:nvPr/>
        </p:nvSpPr>
        <p:spPr>
          <a:xfrm>
            <a:off x="1085800" y="1400000"/>
            <a:ext cx="65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Common Projections</a:t>
            </a:r>
          </a:p>
        </p:txBody>
      </p:sp>
      <p:sp>
        <p:nvSpPr>
          <p:cNvPr id="9185" name="TextBox 9184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Every projection preserves something and distorts something else — shape, area, distance, or direction.</a:t>
            </a:r>
          </a:p>
        </p:txBody>
      </p:sp>
      <p:pic>
        <p:nvPicPr>
          <p:cNvPr id="9186" name="Picture 9185" descr="map_proje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04" y="2450000"/>
            <a:ext cx="8318591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81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2" name="TextBox 9181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83" name="TextBox 9182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15  /  36</a:t>
            </a:r>
          </a:p>
        </p:txBody>
      </p:sp>
      <p:sp>
        <p:nvSpPr>
          <p:cNvPr id="9184" name="TextBox 9183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05 · THE GEOMETRY OF MAPS</a:t>
            </a:r>
          </a:p>
        </p:txBody>
      </p:sp>
      <p:sp>
        <p:nvSpPr>
          <p:cNvPr id="9185" name="TextBox 9184"/>
          <p:cNvSpPr txBox="1"/>
          <p:nvPr/>
        </p:nvSpPr>
        <p:spPr>
          <a:xfrm>
            <a:off x="1085800" y="1400000"/>
            <a:ext cx="7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Generalization &amp; Scale</a:t>
            </a:r>
          </a:p>
        </p:txBody>
      </p:sp>
      <p:sp>
        <p:nvSpPr>
          <p:cNvPr id="9186" name="TextBox 9185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Simplification, selection, and smoothing across zoom levels — more detail isn't automatically better.</a:t>
            </a:r>
          </a:p>
        </p:txBody>
      </p:sp>
      <p:pic>
        <p:nvPicPr>
          <p:cNvPr id="9187" name="Picture 9186" descr="map_gener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96" y="2500000"/>
            <a:ext cx="8549607" cy="3450000"/>
          </a:xfrm>
          <a:prstGeom prst="rect">
            <a:avLst/>
          </a:prstGeom>
        </p:spPr>
      </p:pic>
      <p:sp>
        <p:nvSpPr>
          <p:cNvPr id="9188" name="TextBox 9187"/>
          <p:cNvSpPr txBox="1"/>
          <p:nvPr/>
        </p:nvSpPr>
        <p:spPr>
          <a:xfrm>
            <a:off x="1085800" y="6180000"/>
            <a:ext cx="100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A9BBCE"/>
                </a:solidFill>
                <a:latin typeface="Aptos Slab ExtraBold"/>
              </a:rPr>
              <a:t>Over-detailed geometry at a small scale slows rendering and adds visual noise without adding information the reader can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82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3" name="TextBox 9182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84" name="TextBox 9183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16  /  36</a:t>
            </a:r>
          </a:p>
        </p:txBody>
      </p:sp>
      <p:sp>
        <p:nvSpPr>
          <p:cNvPr id="9185" name="TextBox 9184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186" name="TextBox 9185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Composition &amp; Balance</a:t>
            </a:r>
          </a:p>
        </p:txBody>
      </p:sp>
      <p:sp>
        <p:nvSpPr>
          <p:cNvPr id="9187" name="TextBox 9186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Treat the map as a designed page, not just a plot of data dropped on a canvas.</a:t>
            </a:r>
          </a:p>
        </p:txBody>
      </p:sp>
      <p:sp>
        <p:nvSpPr>
          <p:cNvPr id="9188" name="GlassPill"/>
          <p:cNvSpPr/>
          <p:nvPr/>
        </p:nvSpPr>
        <p:spPr>
          <a:xfrm>
            <a:off x="1085800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89" name="TextBox 9188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VISUAL BALANCE</a:t>
            </a:r>
          </a:p>
        </p:txBody>
      </p:sp>
      <p:sp>
        <p:nvSpPr>
          <p:cNvPr id="9190" name="TextBox 9189"/>
          <p:cNvSpPr txBox="1"/>
          <p:nvPr/>
        </p:nvSpPr>
        <p:spPr>
          <a:xfrm>
            <a:off x="1265800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large map frame on one side needs a counterweight — legend, text block, or simply generous whitespace — on the other, or the page reads lopsided.</a:t>
            </a:r>
          </a:p>
        </p:txBody>
      </p:sp>
      <p:sp>
        <p:nvSpPr>
          <p:cNvPr id="9191" name="GlassPill"/>
          <p:cNvSpPr/>
          <p:nvPr/>
        </p:nvSpPr>
        <p:spPr>
          <a:xfrm>
            <a:off x="4485933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92" name="TextBox 9191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GRID ALIGNMENT</a:t>
            </a:r>
          </a:p>
        </p:txBody>
      </p:sp>
      <p:sp>
        <p:nvSpPr>
          <p:cNvPr id="9193" name="TextBox 9192"/>
          <p:cNvSpPr txBox="1"/>
          <p:nvPr/>
        </p:nvSpPr>
        <p:spPr>
          <a:xfrm>
            <a:off x="4665933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Title, legend, scale bar, and map frame edges should snap to a shared grid. Misaligned elements read as sloppy even when the data is right.</a:t>
            </a:r>
          </a:p>
        </p:txBody>
      </p:sp>
      <p:sp>
        <p:nvSpPr>
          <p:cNvPr id="9194" name="GlassPill"/>
          <p:cNvSpPr/>
          <p:nvPr/>
        </p:nvSpPr>
        <p:spPr>
          <a:xfrm>
            <a:off x="7886066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95" name="TextBox 9194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WHITESPACE IS A TOOL</a:t>
            </a:r>
          </a:p>
        </p:txBody>
      </p:sp>
      <p:sp>
        <p:nvSpPr>
          <p:cNvPr id="9196" name="TextBox 9195"/>
          <p:cNvSpPr txBox="1"/>
          <p:nvPr/>
        </p:nvSpPr>
        <p:spPr>
          <a:xfrm>
            <a:off x="8066066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Empty space isn't wasted space — it's what lets the eye rest and tells the reader which elements belong together.</a:t>
            </a:r>
          </a:p>
        </p:txBody>
      </p:sp>
      <p:sp>
        <p:nvSpPr>
          <p:cNvPr id="9197" name="TextBox 9196"/>
          <p:cNvSpPr txBox="1"/>
          <p:nvPr/>
        </p:nvSpPr>
        <p:spPr>
          <a:xfrm>
            <a:off x="1085800" y="5250000"/>
            <a:ext cx="100204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1">
                <a:solidFill>
                  <a:srgbClr val="E9F0F7"/>
                </a:solidFill>
                <a:latin typeface="Aptos Slab ExtraBold"/>
              </a:rPr>
              <a:t>In ArcGIS Pro: Layout tab ▸ Align / Distribute snaps elements to each other; Guides &amp; Grids give you a fixed reference to design against.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9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6" name="TextBox 9195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97" name="TextBox 9196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17  /  36</a:t>
            </a:r>
          </a:p>
        </p:txBody>
      </p:sp>
      <p:sp>
        <p:nvSpPr>
          <p:cNvPr id="9198" name="TextBox 9197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199" name="TextBox 9198"/>
          <p:cNvSpPr txBox="1"/>
          <p:nvPr/>
        </p:nvSpPr>
        <p:spPr>
          <a:xfrm>
            <a:off x="1085800" y="1400000"/>
            <a:ext cx="8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Composition: Good vs. Bad</a:t>
            </a:r>
          </a:p>
        </p:txBody>
      </p:sp>
      <p:sp>
        <p:nvSpPr>
          <p:cNvPr id="9200" name="TextBox 9199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same four elements, two arrangements — one reads as an accident, one reads as a decision.</a:t>
            </a:r>
          </a:p>
        </p:txBody>
      </p:sp>
      <p:pic>
        <p:nvPicPr>
          <p:cNvPr id="9201" name="Picture 9200" descr="map_composition_good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495" y="2450000"/>
            <a:ext cx="8607009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96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7" name="TextBox 9196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198" name="TextBox 919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18  /  36</a:t>
            </a:r>
          </a:p>
        </p:txBody>
      </p:sp>
      <p:sp>
        <p:nvSpPr>
          <p:cNvPr id="9199" name="TextBox 9198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200" name="TextBox 9199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Legend Design</a:t>
            </a:r>
          </a:p>
        </p:txBody>
      </p:sp>
      <p:sp>
        <p:nvSpPr>
          <p:cNvPr id="9201" name="TextBox 9200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legend is the map's dictionary — confusing or incomplete, and the rest of the design doesn't matter.</a:t>
            </a:r>
          </a:p>
        </p:txBody>
      </p:sp>
      <p:sp>
        <p:nvSpPr>
          <p:cNvPr id="9202" name="GlassPill"/>
          <p:cNvSpPr/>
          <p:nvPr/>
        </p:nvSpPr>
        <p:spPr>
          <a:xfrm>
            <a:off x="1085800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03" name="TextBox 9202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ORDER MATCHES THE DATA</a:t>
            </a:r>
          </a:p>
        </p:txBody>
      </p:sp>
      <p:sp>
        <p:nvSpPr>
          <p:cNvPr id="9204" name="TextBox 9203"/>
          <p:cNvSpPr txBox="1"/>
          <p:nvPr/>
        </p:nvSpPr>
        <p:spPr>
          <a:xfrm>
            <a:off x="1265800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Sequential or ordered data should list light-to-dark or low-to-high; qualitative categories can follow a logical grouping instead of an arbitrary one.</a:t>
            </a:r>
          </a:p>
        </p:txBody>
      </p:sp>
      <p:sp>
        <p:nvSpPr>
          <p:cNvPr id="9205" name="GlassPill"/>
          <p:cNvSpPr/>
          <p:nvPr/>
        </p:nvSpPr>
        <p:spPr>
          <a:xfrm>
            <a:off x="4485933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06" name="TextBox 9205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OMIT WHAT'S OBVIOUS</a:t>
            </a:r>
          </a:p>
        </p:txBody>
      </p:sp>
      <p:sp>
        <p:nvSpPr>
          <p:cNvPr id="9207" name="TextBox 9206"/>
          <p:cNvSpPr txBox="1"/>
          <p:nvPr/>
        </p:nvSpPr>
        <p:spPr>
          <a:xfrm>
            <a:off x="4665933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If a symbol reads unambiguously without an explanation — a single blue line for water — leave it out. A legend that documents everything is a wall of text nobody reads.</a:t>
            </a:r>
          </a:p>
        </p:txBody>
      </p:sp>
      <p:sp>
        <p:nvSpPr>
          <p:cNvPr id="9208" name="GlassPill"/>
          <p:cNvSpPr/>
          <p:nvPr/>
        </p:nvSpPr>
        <p:spPr>
          <a:xfrm>
            <a:off x="7886066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09" name="TextBox 9208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GROUP RELATED CLASSES</a:t>
            </a:r>
          </a:p>
        </p:txBody>
      </p:sp>
      <p:sp>
        <p:nvSpPr>
          <p:cNvPr id="9210" name="TextBox 9209"/>
          <p:cNvSpPr txBox="1"/>
          <p:nvPr/>
        </p:nvSpPr>
        <p:spPr>
          <a:xfrm>
            <a:off x="8066066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Past 7-8 entries, start grouping under subheads (e.g., “Roads” with Highway / Local / Trail beneath it) instead of one long flat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0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0" name="TextBox 920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11" name="TextBox 9210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19  /  36</a:t>
            </a:r>
          </a:p>
        </p:txBody>
      </p:sp>
      <p:sp>
        <p:nvSpPr>
          <p:cNvPr id="9212" name="TextBox 9211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213" name="TextBox 9212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Insets &amp; Locator Maps</a:t>
            </a:r>
          </a:p>
        </p:txBody>
      </p:sp>
      <p:sp>
        <p:nvSpPr>
          <p:cNvPr id="9214" name="TextBox 9213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When your map's extent isn't self-explanatory, a small inset tells the reader where they are in the bigger picture.</a:t>
            </a:r>
          </a:p>
        </p:txBody>
      </p:sp>
      <p:sp>
        <p:nvSpPr>
          <p:cNvPr id="9215" name="GlassPill"/>
          <p:cNvSpPr/>
          <p:nvPr/>
        </p:nvSpPr>
        <p:spPr>
          <a:xfrm>
            <a:off x="1085800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16" name="TextBox 9215"/>
          <p:cNvSpPr txBox="1"/>
          <p:nvPr/>
        </p:nvSpPr>
        <p:spPr>
          <a:xfrm>
            <a:off x="1265800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WHEN TO INCLUDE ONE</a:t>
            </a:r>
          </a:p>
        </p:txBody>
      </p:sp>
      <p:sp>
        <p:nvSpPr>
          <p:cNvPr id="9217" name="TextBox 9216"/>
          <p:cNvSpPr txBox="1"/>
          <p:nvPr/>
        </p:nvSpPr>
        <p:spPr>
          <a:xfrm>
            <a:off x="1265800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Use an inset whenever the main map's extent could be mistaken for somewhere else, or is zoomed in far enough that broader context helps — a neighborhood, a single county.</a:t>
            </a:r>
          </a:p>
        </p:txBody>
      </p:sp>
      <p:sp>
        <p:nvSpPr>
          <p:cNvPr id="9218" name="GlassPill"/>
          <p:cNvSpPr/>
          <p:nvPr/>
        </p:nvSpPr>
        <p:spPr>
          <a:xfrm>
            <a:off x="4485933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19" name="TextBox 9218"/>
          <p:cNvSpPr txBox="1"/>
          <p:nvPr/>
        </p:nvSpPr>
        <p:spPr>
          <a:xfrm>
            <a:off x="4665933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WHEN TO SKIP IT</a:t>
            </a:r>
          </a:p>
        </p:txBody>
      </p:sp>
      <p:sp>
        <p:nvSpPr>
          <p:cNvPr id="9220" name="TextBox 9219"/>
          <p:cNvSpPr txBox="1"/>
          <p:nvPr/>
        </p:nvSpPr>
        <p:spPr>
          <a:xfrm>
            <a:off x="4665933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widely-recognized extent — a whole country, a globally familiar city — rarely needs one. It adds clutter without adding information.</a:t>
            </a:r>
          </a:p>
        </p:txBody>
      </p:sp>
      <p:sp>
        <p:nvSpPr>
          <p:cNvPr id="9221" name="GlassPill"/>
          <p:cNvSpPr/>
          <p:nvPr/>
        </p:nvSpPr>
        <p:spPr>
          <a:xfrm>
            <a:off x="7886066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22" name="TextBox 9221"/>
          <p:cNvSpPr txBox="1"/>
          <p:nvPr/>
        </p:nvSpPr>
        <p:spPr>
          <a:xfrm>
            <a:off x="8066066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KEEP IT SUBORDINATE</a:t>
            </a:r>
          </a:p>
        </p:txBody>
      </p:sp>
      <p:sp>
        <p:nvSpPr>
          <p:cNvPr id="9223" name="TextBox 9222"/>
          <p:cNvSpPr txBox="1"/>
          <p:nvPr/>
        </p:nvSpPr>
        <p:spPr>
          <a:xfrm>
            <a:off x="8066066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An inset should never compete visually with the main map — smaller, quieter colors, tucked into a corner that doesn't cover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22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3" name="TextBox 9222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24" name="TextBox 9223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20  /  36</a:t>
            </a:r>
          </a:p>
        </p:txBody>
      </p:sp>
      <p:sp>
        <p:nvSpPr>
          <p:cNvPr id="9225" name="TextBox 9224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226" name="TextBox 9225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Scale-Bar Formats</a:t>
            </a:r>
          </a:p>
        </p:txBody>
      </p:sp>
      <p:sp>
        <p:nvSpPr>
          <p:cNvPr id="9227" name="TextBox 9226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Three ways to represent scale — pick based on how the map will actually be reproduced.</a:t>
            </a:r>
          </a:p>
        </p:txBody>
      </p:sp>
      <p:sp>
        <p:nvSpPr>
          <p:cNvPr id="9228" name="GlassPill"/>
          <p:cNvSpPr/>
          <p:nvPr/>
        </p:nvSpPr>
        <p:spPr>
          <a:xfrm>
            <a:off x="1085800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29" name="TextBox 9228"/>
          <p:cNvSpPr txBox="1"/>
          <p:nvPr/>
        </p:nvSpPr>
        <p:spPr>
          <a:xfrm>
            <a:off x="1265800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REPRESENTATIVE FRACTION</a:t>
            </a:r>
          </a:p>
        </p:txBody>
      </p:sp>
      <p:sp>
        <p:nvSpPr>
          <p:cNvPr id="9230" name="TextBox 9229"/>
          <p:cNvSpPr txBox="1"/>
          <p:nvPr/>
        </p:nvSpPr>
        <p:spPr>
          <a:xfrm>
            <a:off x="1265800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e.g., 1:24,000 — precise and compact, but meaningless the moment the map is resized (a PDF zoomed in, a slide projected larger).</a:t>
            </a:r>
          </a:p>
        </p:txBody>
      </p:sp>
      <p:sp>
        <p:nvSpPr>
          <p:cNvPr id="9231" name="GlassPill"/>
          <p:cNvSpPr/>
          <p:nvPr/>
        </p:nvSpPr>
        <p:spPr>
          <a:xfrm>
            <a:off x="4485933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32" name="TextBox 9231"/>
          <p:cNvSpPr txBox="1"/>
          <p:nvPr/>
        </p:nvSpPr>
        <p:spPr>
          <a:xfrm>
            <a:off x="4665933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VERBAL SCALE</a:t>
            </a:r>
          </a:p>
        </p:txBody>
      </p:sp>
      <p:sp>
        <p:nvSpPr>
          <p:cNvPr id="9233" name="TextBox 9232"/>
          <p:cNvSpPr txBox="1"/>
          <p:nvPr/>
        </p:nvSpPr>
        <p:spPr>
          <a:xfrm>
            <a:off x="4665933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“1 inch = 2,000 feet” — easier to read at a glance than a ratio, but breaks under the same resizing problem.</a:t>
            </a:r>
          </a:p>
        </p:txBody>
      </p:sp>
      <p:sp>
        <p:nvSpPr>
          <p:cNvPr id="9234" name="GlassPill"/>
          <p:cNvSpPr/>
          <p:nvPr/>
        </p:nvSpPr>
        <p:spPr>
          <a:xfrm>
            <a:off x="7886066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35" name="TextBox 9234"/>
          <p:cNvSpPr txBox="1"/>
          <p:nvPr/>
        </p:nvSpPr>
        <p:spPr>
          <a:xfrm>
            <a:off x="8066066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GRAPHIC (BAR) SCALE</a:t>
            </a:r>
          </a:p>
        </p:txBody>
      </p:sp>
      <p:sp>
        <p:nvSpPr>
          <p:cNvPr id="9236" name="TextBox 9235"/>
          <p:cNvSpPr txBox="1"/>
          <p:nvPr/>
        </p:nvSpPr>
        <p:spPr>
          <a:xfrm>
            <a:off x="8066066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segmented bar that resizes WITH the map — the only format that survives printing, projecting, or zooming. Default to this for anything that might be resized.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3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6" name="TextBox 9235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37" name="TextBox 9236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21  /  36</a:t>
            </a:r>
          </a:p>
        </p:txBody>
      </p:sp>
      <p:sp>
        <p:nvSpPr>
          <p:cNvPr id="9238" name="TextBox 9237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06 · COMPOSITION &amp; LAYOUT DESIGN</a:t>
            </a:r>
          </a:p>
        </p:txBody>
      </p:sp>
      <p:sp>
        <p:nvSpPr>
          <p:cNvPr id="9239" name="TextBox 9238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Basemap Selection &amp; Restraint</a:t>
            </a:r>
          </a:p>
        </p:txBody>
      </p:sp>
      <p:sp>
        <p:nvSpPr>
          <p:cNvPr id="9240" name="TextBox 9239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basemap's job is to give context without competing with your data.</a:t>
            </a:r>
          </a:p>
        </p:txBody>
      </p:sp>
      <p:sp>
        <p:nvSpPr>
          <p:cNvPr id="9241" name="GlassPill"/>
          <p:cNvSpPr/>
          <p:nvPr/>
        </p:nvSpPr>
        <p:spPr>
          <a:xfrm>
            <a:off x="1085800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42" name="TextBox 9241"/>
          <p:cNvSpPr txBox="1"/>
          <p:nvPr/>
        </p:nvSpPr>
        <p:spPr>
          <a:xfrm>
            <a:off x="1265800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MATCH THE TASK</a:t>
            </a:r>
          </a:p>
        </p:txBody>
      </p:sp>
      <p:sp>
        <p:nvSpPr>
          <p:cNvPr id="9243" name="TextBox 9242"/>
          <p:cNvSpPr txBox="1"/>
          <p:nvPr/>
        </p:nvSpPr>
        <p:spPr>
          <a:xfrm>
            <a:off x="1265800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street basemap for a walkability study; a minimal gray canvas for a data-dense choropleth; imagery for anything about land cover or terrain.</a:t>
            </a:r>
          </a:p>
        </p:txBody>
      </p:sp>
      <p:sp>
        <p:nvSpPr>
          <p:cNvPr id="9244" name="GlassPill"/>
          <p:cNvSpPr/>
          <p:nvPr/>
        </p:nvSpPr>
        <p:spPr>
          <a:xfrm>
            <a:off x="4485933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45" name="TextBox 9244"/>
          <p:cNvSpPr txBox="1"/>
          <p:nvPr/>
        </p:nvSpPr>
        <p:spPr>
          <a:xfrm>
            <a:off x="4665933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MUTE IT</a:t>
            </a:r>
          </a:p>
        </p:txBody>
      </p:sp>
      <p:sp>
        <p:nvSpPr>
          <p:cNvPr id="9246" name="TextBox 9245"/>
          <p:cNvSpPr txBox="1"/>
          <p:nvPr/>
        </p:nvSpPr>
        <p:spPr>
          <a:xfrm>
            <a:off x="4665933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Desaturate or lighten the basemap so your data — the figure — stays the visual focus. See Figure-Ground.</a:t>
            </a:r>
          </a:p>
        </p:txBody>
      </p:sp>
      <p:sp>
        <p:nvSpPr>
          <p:cNvPr id="9247" name="GlassPill"/>
          <p:cNvSpPr/>
          <p:nvPr/>
        </p:nvSpPr>
        <p:spPr>
          <a:xfrm>
            <a:off x="7886066" y="27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48" name="TextBox 9247"/>
          <p:cNvSpPr txBox="1"/>
          <p:nvPr/>
        </p:nvSpPr>
        <p:spPr>
          <a:xfrm>
            <a:off x="8066066" y="28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STRIP WHAT'S UNUSED</a:t>
            </a:r>
          </a:p>
        </p:txBody>
      </p:sp>
      <p:sp>
        <p:nvSpPr>
          <p:cNvPr id="9249" name="TextBox 9248"/>
          <p:cNvSpPr txBox="1"/>
          <p:nvPr/>
        </p:nvSpPr>
        <p:spPr>
          <a:xfrm>
            <a:off x="8066066" y="32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Turn off basemap layers your reader doesn't need. Every visible layer competes for attention, even ones that aren't part of the map's message.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48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9" name="TextBox 9248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50" name="TextBox 9249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22  /  36</a:t>
            </a:r>
          </a:p>
        </p:txBody>
      </p:sp>
      <p:sp>
        <p:nvSpPr>
          <p:cNvPr id="9251" name="TextBox 9250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05D5D"/>
                </a:solidFill>
                <a:latin typeface="Aptos Slab ExtraBold"/>
              </a:rPr>
              <a:t>SECTION 07 · DESIGNING RESPONSIBLY</a:t>
            </a:r>
          </a:p>
        </p:txBody>
      </p:sp>
      <p:sp>
        <p:nvSpPr>
          <p:cNvPr id="9252" name="TextBox 9251"/>
          <p:cNvSpPr txBox="1"/>
          <p:nvPr/>
        </p:nvSpPr>
        <p:spPr>
          <a:xfrm>
            <a:off x="1085800" y="1400000"/>
            <a:ext cx="85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MAUP &amp; Cherry-Picked Breaks</a:t>
            </a:r>
          </a:p>
        </p:txBody>
      </p:sp>
      <p:sp>
        <p:nvSpPr>
          <p:cNvPr id="9253" name="TextBox 9252"/>
          <p:cNvSpPr txBox="1"/>
          <p:nvPr/>
        </p:nvSpPr>
        <p:spPr>
          <a:xfrm>
            <a:off x="1085800" y="2020000"/>
            <a:ext cx="9800000" cy="46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Where the class boundaries fall is a choice, not a neutral fact — the same values, the same colors, can be made to tell different stories.</a:t>
            </a:r>
          </a:p>
        </p:txBody>
      </p:sp>
      <p:pic>
        <p:nvPicPr>
          <p:cNvPr id="9254" name="Picture 9253" descr="map_maup_brea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675" y="2661100"/>
            <a:ext cx="7148649" cy="3400000"/>
          </a:xfrm>
          <a:prstGeom prst="rect">
            <a:avLst/>
          </a:prstGeom>
        </p:spPr>
      </p:pic>
      <p:sp>
        <p:nvSpPr>
          <p:cNvPr id="9255" name="TextBox 9254"/>
          <p:cNvSpPr txBox="1"/>
          <p:nvPr/>
        </p:nvSpPr>
        <p:spPr>
          <a:xfrm>
            <a:off x="1085800" y="6120000"/>
            <a:ext cx="106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 i="1">
                <a:solidFill>
                  <a:srgbClr val="A9BBCE"/>
                </a:solidFill>
                <a:latin typeface="Aptos Slab ExtraBold"/>
              </a:rPr>
              <a:t>The same discipline applies to raw counts vs. normalized rates (see Power of Maps' Choropleth Mapping) and to choosing breaks that flatter an argument (see Politics &amp; Ethics of Mapping). For the classification methods themselves, see the companion Map Classification deck.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4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0" name="TextBox 924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51" name="TextBox 9250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23  /  36</a:t>
            </a:r>
          </a:p>
        </p:txBody>
      </p:sp>
      <p:sp>
        <p:nvSpPr>
          <p:cNvPr id="9252" name="TextBox 9251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07 · DESIGNING RESPONSIBLY</a:t>
            </a:r>
          </a:p>
        </p:txBody>
      </p:sp>
      <p:sp>
        <p:nvSpPr>
          <p:cNvPr id="9253" name="TextBox 9252"/>
          <p:cNvSpPr txBox="1"/>
          <p:nvPr/>
        </p:nvSpPr>
        <p:spPr>
          <a:xfrm>
            <a:off x="1085800" y="1400000"/>
            <a:ext cx="75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Design for Every Reader</a:t>
            </a:r>
          </a:p>
        </p:txBody>
      </p:sp>
      <p:sp>
        <p:nvSpPr>
          <p:cNvPr id="9254" name="TextBox 9253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About 8% of men have some form of color vision deficiency — simulate before you ship.</a:t>
            </a:r>
          </a:p>
        </p:txBody>
      </p:sp>
      <p:pic>
        <p:nvPicPr>
          <p:cNvPr id="9255" name="Picture 9254" descr="map_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04" y="2450000"/>
            <a:ext cx="8318591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5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51" name="TextBox 9250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52" name="TextBox 9251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24  /  36</a:t>
            </a:r>
          </a:p>
        </p:txBody>
      </p:sp>
      <p:sp>
        <p:nvSpPr>
          <p:cNvPr id="9253" name="TextBox 9252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07 · DESIGNING RESPONSIBLY</a:t>
            </a:r>
          </a:p>
        </p:txBody>
      </p:sp>
      <p:sp>
        <p:nvSpPr>
          <p:cNvPr id="9254" name="TextBox 9253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Output Context</a:t>
            </a:r>
          </a:p>
        </p:txBody>
      </p:sp>
      <p:sp>
        <p:nvSpPr>
          <p:cNvPr id="9255" name="TextBox 9254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Design for the medium the map will actually be viewed in — not the one it was designed on.</a:t>
            </a:r>
          </a:p>
        </p:txBody>
      </p:sp>
      <p:sp>
        <p:nvSpPr>
          <p:cNvPr id="9256" name="GlassPill"/>
          <p:cNvSpPr/>
          <p:nvPr/>
        </p:nvSpPr>
        <p:spPr>
          <a:xfrm>
            <a:off x="1085800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57" name="TextBox 9256"/>
          <p:cNvSpPr txBox="1"/>
          <p:nvPr/>
        </p:nvSpPr>
        <p:spPr>
          <a:xfrm>
            <a:off x="1265800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PRINT</a:t>
            </a:r>
          </a:p>
        </p:txBody>
      </p:sp>
      <p:sp>
        <p:nvSpPr>
          <p:cNvPr id="9258" name="TextBox 9257"/>
          <p:cNvSpPr txBox="1"/>
          <p:nvPr/>
        </p:nvSpPr>
        <p:spPr>
          <a:xfrm>
            <a:off x="1265800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Highest resolution requirement (300 DPI+). Colors shift under ink (CMYK) vs. screen (RGB) — proof before a large run.</a:t>
            </a:r>
          </a:p>
        </p:txBody>
      </p:sp>
      <p:sp>
        <p:nvSpPr>
          <p:cNvPr id="9259" name="GlassPill"/>
          <p:cNvSpPr/>
          <p:nvPr/>
        </p:nvSpPr>
        <p:spPr>
          <a:xfrm>
            <a:off x="4485933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60" name="TextBox 9259"/>
          <p:cNvSpPr txBox="1"/>
          <p:nvPr/>
        </p:nvSpPr>
        <p:spPr>
          <a:xfrm>
            <a:off x="4665933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SCREEN / WEB</a:t>
            </a:r>
          </a:p>
        </p:txBody>
      </p:sp>
      <p:sp>
        <p:nvSpPr>
          <p:cNvPr id="9261" name="TextBox 9260"/>
          <p:cNvSpPr txBox="1"/>
          <p:nvPr/>
        </p:nvSpPr>
        <p:spPr>
          <a:xfrm>
            <a:off x="4665933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Lower DPI is fine, but expect variable screen brightness and color calibration — keep contrast generous.</a:t>
            </a:r>
          </a:p>
        </p:txBody>
      </p:sp>
      <p:sp>
        <p:nvSpPr>
          <p:cNvPr id="9262" name="GlassPill"/>
          <p:cNvSpPr/>
          <p:nvPr/>
        </p:nvSpPr>
        <p:spPr>
          <a:xfrm>
            <a:off x="7886066" y="2650000"/>
            <a:ext cx="3220133" cy="23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63" name="TextBox 9262"/>
          <p:cNvSpPr txBox="1"/>
          <p:nvPr/>
        </p:nvSpPr>
        <p:spPr>
          <a:xfrm>
            <a:off x="8066066" y="2776000"/>
            <a:ext cx="286013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PROJECTOR / SLIDES</a:t>
            </a:r>
          </a:p>
        </p:txBody>
      </p:sp>
      <p:sp>
        <p:nvSpPr>
          <p:cNvPr id="9264" name="TextBox 9263"/>
          <p:cNvSpPr txBox="1"/>
          <p:nvPr/>
        </p:nvSpPr>
        <p:spPr>
          <a:xfrm>
            <a:off x="8066066" y="3116000"/>
            <a:ext cx="2860133" cy="1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Often the worst-lit, lowest-contrast environment of the three. Bump text size and contrast well beyond what looks necessary on your own monitor.</a:t>
            </a:r>
          </a:p>
        </p:txBody>
      </p:sp>
      <p:sp>
        <p:nvSpPr>
          <p:cNvPr id="9265" name="TextBox 9264"/>
          <p:cNvSpPr txBox="1"/>
          <p:nvPr/>
        </p:nvSpPr>
        <p:spPr>
          <a:xfrm>
            <a:off x="1085800" y="5250000"/>
            <a:ext cx="100204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1">
                <a:solidFill>
                  <a:srgbClr val="E9F0F7"/>
                </a:solidFill>
                <a:latin typeface="Aptos Slab ExtraBold"/>
              </a:rPr>
              <a:t>The same export can't always serve all three well — this is exactly why ArcGIS Pro separates file type, resolution, and dimensions as independent export settings, coming up next.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6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64" name="TextBox 9263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65" name="TextBox 9264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25  /  36</a:t>
            </a:r>
          </a:p>
        </p:txBody>
      </p:sp>
      <p:sp>
        <p:nvSpPr>
          <p:cNvPr id="9266" name="TextBox 9265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267" name="TextBox 9266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Layout Basics</a:t>
            </a:r>
          </a:p>
        </p:txBody>
      </p:sp>
      <p:sp>
        <p:nvSpPr>
          <p:cNvPr id="9268" name="TextBox 9267"/>
          <p:cNvSpPr txBox="1"/>
          <p:nvPr/>
        </p:nvSpPr>
        <p:spPr>
          <a:xfrm>
            <a:off x="1085800" y="2000000"/>
            <a:ext cx="3400000" cy="39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A layout is a page you can print or share. A map frame is a window into a map.</a:t>
            </a:r>
          </a:p>
        </p:txBody>
      </p:sp>
      <p:sp>
        <p:nvSpPr>
          <p:cNvPr id="9269" name="TextBox 9268"/>
          <p:cNvSpPr txBox="1"/>
          <p:nvPr/>
        </p:nvSpPr>
        <p:spPr>
          <a:xfrm>
            <a:off x="1085800" y="264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WHERE IN THE MENU</a:t>
            </a:r>
          </a:p>
        </p:txBody>
      </p:sp>
      <p:sp>
        <p:nvSpPr>
          <p:cNvPr id="9270" name="TextBox 9269"/>
          <p:cNvSpPr txBox="1"/>
          <p:nvPr/>
        </p:nvSpPr>
        <p:spPr>
          <a:xfrm>
            <a:off x="1085800" y="2947500"/>
            <a:ext cx="34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Insert ▸ New Layout ▸ Map Frame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Catalog pane ▸ Layouts (store + rename pages)</a:t>
            </a:r>
          </a:p>
        </p:txBody>
      </p:sp>
      <p:sp>
        <p:nvSpPr>
          <p:cNvPr id="9271" name="TextBox 9270"/>
          <p:cNvSpPr txBox="1"/>
          <p:nvPr/>
        </p:nvSpPr>
        <p:spPr>
          <a:xfrm>
            <a:off x="1085800" y="370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PATH</a:t>
            </a:r>
          </a:p>
        </p:txBody>
      </p:sp>
      <p:sp>
        <p:nvSpPr>
          <p:cNvPr id="9272" name="TextBox 9271"/>
          <p:cNvSpPr txBox="1"/>
          <p:nvPr/>
        </p:nvSpPr>
        <p:spPr>
          <a:xfrm>
            <a:off x="1085800" y="400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Insert ▸ New Layout ▸ Map Frame</a:t>
            </a:r>
          </a:p>
        </p:txBody>
      </p:sp>
      <p:sp>
        <p:nvSpPr>
          <p:cNvPr id="9273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74" name="Rounded Rectangle 9273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5" name="Rounded Rectangle 9274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6" name="Rectangle 9275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7" name="TextBox 9276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278" name="Rectangle 9277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9" name="TextBox 9278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9280" name="Rounded Rectangle 9279"/>
          <p:cNvSpPr/>
          <p:nvPr/>
        </p:nvSpPr>
        <p:spPr>
          <a:xfrm>
            <a:off x="577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1" name="Rectangle 9280"/>
          <p:cNvSpPr/>
          <p:nvPr/>
        </p:nvSpPr>
        <p:spPr>
          <a:xfrm>
            <a:off x="577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2" name="TextBox 9281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9283" name="TextBox 9282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9284" name="TextBox 9283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9285" name="TextBox 9284"/>
          <p:cNvSpPr txBox="1"/>
          <p:nvPr/>
        </p:nvSpPr>
        <p:spPr>
          <a:xfrm>
            <a:off x="86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9286" name="Rectangle 9285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7" name="Rounded Rectangle 9286"/>
          <p:cNvSpPr/>
          <p:nvPr/>
        </p:nvSpPr>
        <p:spPr>
          <a:xfrm>
            <a:off x="6255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88" name="Picture 9287" descr="clipboard_2b5c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100" y="2290520"/>
            <a:ext cx="304800" cy="304800"/>
          </a:xfrm>
          <a:prstGeom prst="rect">
            <a:avLst/>
          </a:prstGeom>
        </p:spPr>
      </p:pic>
      <p:sp>
        <p:nvSpPr>
          <p:cNvPr id="9289" name="TextBox 9288"/>
          <p:cNvSpPr txBox="1"/>
          <p:nvPr/>
        </p:nvSpPr>
        <p:spPr>
          <a:xfrm>
            <a:off x="612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New Layout</a:t>
            </a:r>
          </a:p>
        </p:txBody>
      </p:sp>
      <p:sp>
        <p:nvSpPr>
          <p:cNvPr id="9290" name="TextBox 9289"/>
          <p:cNvSpPr txBox="1"/>
          <p:nvPr/>
        </p:nvSpPr>
        <p:spPr>
          <a:xfrm>
            <a:off x="4830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Layouts</a:t>
            </a:r>
          </a:p>
        </p:txBody>
      </p:sp>
      <p:sp>
        <p:nvSpPr>
          <p:cNvPr id="9291" name="Rectangle 9290"/>
          <p:cNvSpPr/>
          <p:nvPr/>
        </p:nvSpPr>
        <p:spPr>
          <a:xfrm>
            <a:off x="8075000" y="2304800"/>
            <a:ext cx="0" cy="124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2" name="Rounded Rectangle 9291"/>
          <p:cNvSpPr/>
          <p:nvPr/>
        </p:nvSpPr>
        <p:spPr>
          <a:xfrm>
            <a:off x="860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93" name="Picture 9292" descr="mapmarked_2b5c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100" y="2290520"/>
            <a:ext cx="304800" cy="304800"/>
          </a:xfrm>
          <a:prstGeom prst="rect">
            <a:avLst/>
          </a:prstGeom>
        </p:spPr>
      </p:pic>
      <p:sp>
        <p:nvSpPr>
          <p:cNvPr id="9294" name="TextBox 9293"/>
          <p:cNvSpPr txBox="1"/>
          <p:nvPr/>
        </p:nvSpPr>
        <p:spPr>
          <a:xfrm>
            <a:off x="847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 Frame</a:t>
            </a:r>
          </a:p>
        </p:txBody>
      </p:sp>
      <p:pic>
        <p:nvPicPr>
          <p:cNvPr id="9295" name="Picture 9294" descr="compass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100" y="2290520"/>
            <a:ext cx="304800" cy="304800"/>
          </a:xfrm>
          <a:prstGeom prst="rect">
            <a:avLst/>
          </a:prstGeom>
        </p:spPr>
      </p:pic>
      <p:sp>
        <p:nvSpPr>
          <p:cNvPr id="9296" name="TextBox 9295"/>
          <p:cNvSpPr txBox="1"/>
          <p:nvPr/>
        </p:nvSpPr>
        <p:spPr>
          <a:xfrm>
            <a:off x="909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North Arrow</a:t>
            </a:r>
          </a:p>
        </p:txBody>
      </p:sp>
      <p:pic>
        <p:nvPicPr>
          <p:cNvPr id="9297" name="Picture 9296" descr="route_8a94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100" y="2290520"/>
            <a:ext cx="304800" cy="304800"/>
          </a:xfrm>
          <a:prstGeom prst="rect">
            <a:avLst/>
          </a:prstGeom>
        </p:spPr>
      </p:pic>
      <p:sp>
        <p:nvSpPr>
          <p:cNvPr id="9298" name="TextBox 9297"/>
          <p:cNvSpPr txBox="1"/>
          <p:nvPr/>
        </p:nvSpPr>
        <p:spPr>
          <a:xfrm>
            <a:off x="971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Scale Bar</a:t>
            </a:r>
          </a:p>
        </p:txBody>
      </p:sp>
      <p:pic>
        <p:nvPicPr>
          <p:cNvPr id="9299" name="Picture 9298" descr="layer_8a94a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100" y="2290520"/>
            <a:ext cx="304800" cy="304800"/>
          </a:xfrm>
          <a:prstGeom prst="rect">
            <a:avLst/>
          </a:prstGeom>
        </p:spPr>
      </p:pic>
      <p:sp>
        <p:nvSpPr>
          <p:cNvPr id="9300" name="TextBox 9299"/>
          <p:cNvSpPr txBox="1"/>
          <p:nvPr/>
        </p:nvSpPr>
        <p:spPr>
          <a:xfrm>
            <a:off x="1033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Legend</a:t>
            </a:r>
          </a:p>
        </p:txBody>
      </p:sp>
      <p:sp>
        <p:nvSpPr>
          <p:cNvPr id="9301" name="TextBox 9300"/>
          <p:cNvSpPr txBox="1"/>
          <p:nvPr/>
        </p:nvSpPr>
        <p:spPr>
          <a:xfrm>
            <a:off x="8105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Layout Elements</a:t>
            </a:r>
          </a:p>
        </p:txBody>
      </p:sp>
      <p:sp>
        <p:nvSpPr>
          <p:cNvPr id="9302" name="Rectangle 9301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3" name="Rectangle 9302"/>
          <p:cNvSpPr/>
          <p:nvPr/>
        </p:nvSpPr>
        <p:spPr>
          <a:xfrm>
            <a:off x="5717000" y="3841960"/>
            <a:ext cx="4716000" cy="1435424"/>
          </a:xfrm>
          <a:prstGeom prst="rect">
            <a:avLst/>
          </a:prstGeom>
          <a:solidFill>
            <a:srgbClr val="0B0F1A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4" name="Rounded Rectangle 9303"/>
          <p:cNvSpPr/>
          <p:nvPr/>
        </p:nvSpPr>
        <p:spPr>
          <a:xfrm>
            <a:off x="9933000" y="5027384"/>
            <a:ext cx="460000" cy="2100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9525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5" name="TextBox 9304"/>
          <p:cNvSpPr txBox="1"/>
          <p:nvPr/>
        </p:nvSpPr>
        <p:spPr>
          <a:xfrm>
            <a:off x="9933000" y="5027384"/>
            <a:ext cx="460000" cy="2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A2E38"/>
                </a:solidFill>
                <a:latin typeface="Segoe UI"/>
              </a:rPr>
              <a:t>Legend</a:t>
            </a:r>
          </a:p>
        </p:txBody>
      </p:sp>
      <p:sp>
        <p:nvSpPr>
          <p:cNvPr id="9306" name="Rectangle 9305"/>
          <p:cNvSpPr/>
          <p:nvPr/>
        </p:nvSpPr>
        <p:spPr>
          <a:xfrm>
            <a:off x="5717000" y="5337384"/>
            <a:ext cx="1414800" cy="400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7" name="TextBox 9306"/>
          <p:cNvSpPr txBox="1"/>
          <p:nvPr/>
        </p:nvSpPr>
        <p:spPr>
          <a:xfrm>
            <a:off x="5717000" y="5720000"/>
            <a:ext cx="4716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Map Title Goes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74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75" name="TextBox 9274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76" name="TextBox 9275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26  /  36</a:t>
            </a:r>
          </a:p>
        </p:txBody>
      </p:sp>
      <p:sp>
        <p:nvSpPr>
          <p:cNvPr id="9277" name="TextBox 9276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278" name="TextBox 9277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E9F0F7"/>
                </a:solidFill>
                <a:latin typeface="Aptos Slab ExtraBold"/>
              </a:rPr>
              <a:t>Activate &amp; Navigate</a:t>
            </a:r>
          </a:p>
          <a:p>
            <a:r>
              <a:rPr sz="2200" b="1" i="0">
                <a:solidFill>
                  <a:srgbClr val="E9F0F7"/>
                </a:solidFill>
                <a:latin typeface="Aptos Slab ExtraBold"/>
              </a:rPr>
              <a:t>the Map Frame</a:t>
            </a:r>
          </a:p>
        </p:txBody>
      </p:sp>
      <p:sp>
        <p:nvSpPr>
          <p:cNvPr id="9279" name="TextBox 9278"/>
          <p:cNvSpPr txBox="1"/>
          <p:nvPr/>
        </p:nvSpPr>
        <p:spPr>
          <a:xfrm>
            <a:off x="1085800" y="2450000"/>
            <a:ext cx="3400000" cy="59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Inserting a map frame drops in a snapshot. Activating it lets you pan and zoom inside — before anything exports.</a:t>
            </a:r>
          </a:p>
        </p:txBody>
      </p:sp>
      <p:sp>
        <p:nvSpPr>
          <p:cNvPr id="9280" name="TextBox 9279"/>
          <p:cNvSpPr txBox="1"/>
          <p:nvPr/>
        </p:nvSpPr>
        <p:spPr>
          <a:xfrm>
            <a:off x="1085800" y="351625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HOW TO ACTIVATE</a:t>
            </a:r>
          </a:p>
        </p:txBody>
      </p:sp>
      <p:sp>
        <p:nvSpPr>
          <p:cNvPr id="9281" name="TextBox 9280"/>
          <p:cNvSpPr txBox="1"/>
          <p:nvPr/>
        </p:nvSpPr>
        <p:spPr>
          <a:xfrm>
            <a:off x="1085800" y="3816250"/>
            <a:ext cx="3400000" cy="6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Double-click the map frame (or select it, then Layout tab ▸ Map Frame ▸ Activate). Its border switches to a dashed outline.</a:t>
            </a:r>
          </a:p>
        </p:txBody>
      </p:sp>
      <p:sp>
        <p:nvSpPr>
          <p:cNvPr id="9282" name="TextBox 9281"/>
          <p:cNvSpPr txBox="1"/>
          <p:nvPr/>
        </p:nvSpPr>
        <p:spPr>
          <a:xfrm>
            <a:off x="1085800" y="470625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WHILE ACTIVE</a:t>
            </a:r>
          </a:p>
        </p:txBody>
      </p:sp>
      <p:sp>
        <p:nvSpPr>
          <p:cNvPr id="9283" name="TextBox 9282"/>
          <p:cNvSpPr txBox="1"/>
          <p:nvPr/>
        </p:nvSpPr>
        <p:spPr>
          <a:xfrm>
            <a:off x="1085800" y="5006250"/>
            <a:ext cx="34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Pan and zoom like Map view — only this frame changes, not the source map.</a:t>
            </a:r>
          </a:p>
        </p:txBody>
      </p:sp>
      <p:sp>
        <p:nvSpPr>
          <p:cNvPr id="9284" name="TextBox 9283"/>
          <p:cNvSpPr txBox="1"/>
          <p:nvPr/>
        </p:nvSpPr>
        <p:spPr>
          <a:xfrm>
            <a:off x="1085800" y="566625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EXIT ACTIVATION</a:t>
            </a:r>
          </a:p>
        </p:txBody>
      </p:sp>
      <p:sp>
        <p:nvSpPr>
          <p:cNvPr id="9285" name="TextBox 9284"/>
          <p:cNvSpPr txBox="1"/>
          <p:nvPr/>
        </p:nvSpPr>
        <p:spPr>
          <a:xfrm>
            <a:off x="1085800" y="5966250"/>
            <a:ext cx="3400000" cy="6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Click Close Activation on the contextual tab, or double-click outside the frame, to resume arranging elements.</a:t>
            </a:r>
          </a:p>
        </p:txBody>
      </p:sp>
      <p:sp>
        <p:nvSpPr>
          <p:cNvPr id="9286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87" name="Rounded Rectangle 9286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8" name="Rounded Rectangle 9287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9" name="Rectangle 9288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0" name="TextBox 9289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291" name="Rectangle 9290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2" name="Rounded Rectangle 9291"/>
          <p:cNvSpPr/>
          <p:nvPr/>
        </p:nvSpPr>
        <p:spPr>
          <a:xfrm>
            <a:off x="482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3" name="Rectangle 9292"/>
          <p:cNvSpPr/>
          <p:nvPr/>
        </p:nvSpPr>
        <p:spPr>
          <a:xfrm>
            <a:off x="482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4" name="TextBox 9293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9295" name="TextBox 9294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9296" name="TextBox 9295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9297" name="TextBox 9296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9298" name="TextBox 9297"/>
          <p:cNvSpPr txBox="1"/>
          <p:nvPr/>
        </p:nvSpPr>
        <p:spPr>
          <a:xfrm>
            <a:off x="86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9299" name="Rectangle 9298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0" name="Rounded Rectangle 9299"/>
          <p:cNvSpPr/>
          <p:nvPr/>
        </p:nvSpPr>
        <p:spPr>
          <a:xfrm>
            <a:off x="696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01" name="Picture 9300" descr="compass_2b5c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600" y="2290520"/>
            <a:ext cx="304800" cy="304800"/>
          </a:xfrm>
          <a:prstGeom prst="rect">
            <a:avLst/>
          </a:prstGeom>
        </p:spPr>
      </p:pic>
      <p:sp>
        <p:nvSpPr>
          <p:cNvPr id="9302" name="TextBox 9301"/>
          <p:cNvSpPr txBox="1"/>
          <p:nvPr/>
        </p:nvSpPr>
        <p:spPr>
          <a:xfrm>
            <a:off x="683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sp>
        <p:nvSpPr>
          <p:cNvPr id="9303" name="Rounded Rectangle 9302"/>
          <p:cNvSpPr/>
          <p:nvPr/>
        </p:nvSpPr>
        <p:spPr>
          <a:xfrm>
            <a:off x="758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04" name="Picture 9303" descr="cog_2b5c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600" y="2290520"/>
            <a:ext cx="304800" cy="304800"/>
          </a:xfrm>
          <a:prstGeom prst="rect">
            <a:avLst/>
          </a:prstGeom>
        </p:spPr>
      </p:pic>
      <p:sp>
        <p:nvSpPr>
          <p:cNvPr id="9305" name="TextBox 9304"/>
          <p:cNvSpPr txBox="1"/>
          <p:nvPr/>
        </p:nvSpPr>
        <p:spPr>
          <a:xfrm>
            <a:off x="745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Pan</a:t>
            </a:r>
          </a:p>
        </p:txBody>
      </p:sp>
      <p:pic>
        <p:nvPicPr>
          <p:cNvPr id="9306" name="Picture 9305" descr="cog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600" y="2290520"/>
            <a:ext cx="304800" cy="304800"/>
          </a:xfrm>
          <a:prstGeom prst="rect">
            <a:avLst/>
          </a:prstGeom>
        </p:spPr>
      </p:pic>
      <p:sp>
        <p:nvSpPr>
          <p:cNvPr id="9307" name="TextBox 9306"/>
          <p:cNvSpPr txBox="1"/>
          <p:nvPr/>
        </p:nvSpPr>
        <p:spPr>
          <a:xfrm>
            <a:off x="807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Zoom In</a:t>
            </a:r>
          </a:p>
        </p:txBody>
      </p:sp>
      <p:pic>
        <p:nvPicPr>
          <p:cNvPr id="9308" name="Picture 9307" descr="cog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600" y="2290520"/>
            <a:ext cx="304800" cy="304800"/>
          </a:xfrm>
          <a:prstGeom prst="rect">
            <a:avLst/>
          </a:prstGeom>
        </p:spPr>
      </p:pic>
      <p:sp>
        <p:nvSpPr>
          <p:cNvPr id="9309" name="TextBox 9308"/>
          <p:cNvSpPr txBox="1"/>
          <p:nvPr/>
        </p:nvSpPr>
        <p:spPr>
          <a:xfrm>
            <a:off x="869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Zoom Out</a:t>
            </a:r>
          </a:p>
        </p:txBody>
      </p:sp>
      <p:sp>
        <p:nvSpPr>
          <p:cNvPr id="9310" name="TextBox 9309"/>
          <p:cNvSpPr txBox="1"/>
          <p:nvPr/>
        </p:nvSpPr>
        <p:spPr>
          <a:xfrm>
            <a:off x="4830000" y="3374800"/>
            <a:ext cx="649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Navigate</a:t>
            </a:r>
          </a:p>
        </p:txBody>
      </p:sp>
      <p:sp>
        <p:nvSpPr>
          <p:cNvPr id="9311" name="Rectangle 9310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2" name="Rectangle 9311"/>
          <p:cNvSpPr/>
          <p:nvPr/>
        </p:nvSpPr>
        <p:spPr>
          <a:xfrm>
            <a:off x="5717000" y="3841960"/>
            <a:ext cx="4716000" cy="1435424"/>
          </a:xfrm>
          <a:prstGeom prst="rect">
            <a:avLst/>
          </a:prstGeom>
          <a:solidFill>
            <a:srgbClr val="0B0F1A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3" name="Rounded Rectangle 9312"/>
          <p:cNvSpPr/>
          <p:nvPr/>
        </p:nvSpPr>
        <p:spPr>
          <a:xfrm>
            <a:off x="9933000" y="5027384"/>
            <a:ext cx="460000" cy="2100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9525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4" name="TextBox 9313"/>
          <p:cNvSpPr txBox="1"/>
          <p:nvPr/>
        </p:nvSpPr>
        <p:spPr>
          <a:xfrm>
            <a:off x="9933000" y="5027384"/>
            <a:ext cx="460000" cy="2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A2E38"/>
                </a:solidFill>
                <a:latin typeface="Segoe UI"/>
              </a:rPr>
              <a:t>Legend</a:t>
            </a:r>
          </a:p>
        </p:txBody>
      </p:sp>
      <p:sp>
        <p:nvSpPr>
          <p:cNvPr id="9315" name="Rectangle 9314"/>
          <p:cNvSpPr/>
          <p:nvPr/>
        </p:nvSpPr>
        <p:spPr>
          <a:xfrm>
            <a:off x="5717000" y="5337384"/>
            <a:ext cx="1414800" cy="400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6" name="TextBox 9315"/>
          <p:cNvSpPr txBox="1"/>
          <p:nvPr/>
        </p:nvSpPr>
        <p:spPr>
          <a:xfrm>
            <a:off x="5717000" y="5720000"/>
            <a:ext cx="4716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Map Title Goes Here</a:t>
            </a:r>
          </a:p>
        </p:txBody>
      </p:sp>
      <p:sp>
        <p:nvSpPr>
          <p:cNvPr id="9317" name="Rectangle 9316"/>
          <p:cNvSpPr/>
          <p:nvPr/>
        </p:nvSpPr>
        <p:spPr>
          <a:xfrm>
            <a:off x="5677000" y="3801960"/>
            <a:ext cx="4796000" cy="1515424"/>
          </a:xfrm>
          <a:prstGeom prst="rect">
            <a:avLst/>
          </a:prstGeom>
          <a:noFill/>
          <a:ln w="22225">
            <a:solidFill>
              <a:srgbClr val="F2A7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8" name="TextBox 9317"/>
          <p:cNvSpPr txBox="1"/>
          <p:nvPr/>
        </p:nvSpPr>
        <p:spPr>
          <a:xfrm>
            <a:off x="5677000" y="3501960"/>
            <a:ext cx="5616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1">
                <a:solidFill>
                  <a:srgbClr val="F2A72C"/>
                </a:solidFill>
                <a:latin typeface="Aptos Slab ExtraBold"/>
              </a:rPr>
              <a:t>◈  ACTIVATED — drag/scroll pans &amp; zooms this frame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8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88" name="TextBox 9287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89" name="TextBox 928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27  /  36</a:t>
            </a:r>
          </a:p>
        </p:txBody>
      </p:sp>
      <p:sp>
        <p:nvSpPr>
          <p:cNvPr id="9290" name="TextBox 9289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291" name="TextBox 9290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Essential Layout</a:t>
            </a:r>
          </a:p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Elements</a:t>
            </a:r>
          </a:p>
        </p:txBody>
      </p:sp>
      <p:sp>
        <p:nvSpPr>
          <p:cNvPr id="9292" name="TextBox 9291"/>
          <p:cNvSpPr txBox="1"/>
          <p:nvPr/>
        </p:nvSpPr>
        <p:spPr>
          <a:xfrm>
            <a:off x="1085800" y="2350000"/>
            <a:ext cx="3400000" cy="39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Each is its own movable element, bound to a map frame.</a:t>
            </a:r>
          </a:p>
        </p:txBody>
      </p:sp>
      <p:sp>
        <p:nvSpPr>
          <p:cNvPr id="9293" name="TextBox 9292"/>
          <p:cNvSpPr txBox="1"/>
          <p:nvPr/>
        </p:nvSpPr>
        <p:spPr>
          <a:xfrm>
            <a:off x="1085800" y="299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WHERE IN THE MENU</a:t>
            </a:r>
          </a:p>
        </p:txBody>
      </p:sp>
      <p:sp>
        <p:nvSpPr>
          <p:cNvPr id="9294" name="TextBox 9293"/>
          <p:cNvSpPr txBox="1"/>
          <p:nvPr/>
        </p:nvSpPr>
        <p:spPr>
          <a:xfrm>
            <a:off x="1085800" y="329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Insert ▸ Legend / Scale Bar / North Arrow / Text</a:t>
            </a:r>
          </a:p>
        </p:txBody>
      </p:sp>
      <p:sp>
        <p:nvSpPr>
          <p:cNvPr id="9295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296" name="Rounded Rectangle 9295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7" name="Rounded Rectangle 9296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8" name="Rectangle 9297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9" name="TextBox 9298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300" name="Rectangle 9299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1" name="TextBox 9300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9302" name="Rounded Rectangle 9301"/>
          <p:cNvSpPr/>
          <p:nvPr/>
        </p:nvSpPr>
        <p:spPr>
          <a:xfrm>
            <a:off x="577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3" name="Rectangle 9302"/>
          <p:cNvSpPr/>
          <p:nvPr/>
        </p:nvSpPr>
        <p:spPr>
          <a:xfrm>
            <a:off x="577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4" name="TextBox 9303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9305" name="TextBox 9304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9306" name="TextBox 9305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9307" name="TextBox 9306"/>
          <p:cNvSpPr txBox="1"/>
          <p:nvPr/>
        </p:nvSpPr>
        <p:spPr>
          <a:xfrm>
            <a:off x="86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9308" name="Rectangle 9307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09" name="Picture 9308" descr="clipboard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100" y="2290520"/>
            <a:ext cx="304800" cy="304800"/>
          </a:xfrm>
          <a:prstGeom prst="rect">
            <a:avLst/>
          </a:prstGeom>
        </p:spPr>
      </p:pic>
      <p:sp>
        <p:nvSpPr>
          <p:cNvPr id="9310" name="TextBox 9309"/>
          <p:cNvSpPr txBox="1"/>
          <p:nvPr/>
        </p:nvSpPr>
        <p:spPr>
          <a:xfrm>
            <a:off x="612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New Layout</a:t>
            </a:r>
          </a:p>
        </p:txBody>
      </p:sp>
      <p:sp>
        <p:nvSpPr>
          <p:cNvPr id="9311" name="TextBox 9310"/>
          <p:cNvSpPr txBox="1"/>
          <p:nvPr/>
        </p:nvSpPr>
        <p:spPr>
          <a:xfrm>
            <a:off x="4830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Layouts</a:t>
            </a:r>
          </a:p>
        </p:txBody>
      </p:sp>
      <p:sp>
        <p:nvSpPr>
          <p:cNvPr id="9312" name="Rectangle 9311"/>
          <p:cNvSpPr/>
          <p:nvPr/>
        </p:nvSpPr>
        <p:spPr>
          <a:xfrm>
            <a:off x="8075000" y="2304800"/>
            <a:ext cx="0" cy="124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3" name="Rounded Rectangle 9312"/>
          <p:cNvSpPr/>
          <p:nvPr/>
        </p:nvSpPr>
        <p:spPr>
          <a:xfrm>
            <a:off x="860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14" name="Picture 9313" descr="compass_2b5c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100" y="2290520"/>
            <a:ext cx="304800" cy="304800"/>
          </a:xfrm>
          <a:prstGeom prst="rect">
            <a:avLst/>
          </a:prstGeom>
        </p:spPr>
      </p:pic>
      <p:sp>
        <p:nvSpPr>
          <p:cNvPr id="9315" name="TextBox 9314"/>
          <p:cNvSpPr txBox="1"/>
          <p:nvPr/>
        </p:nvSpPr>
        <p:spPr>
          <a:xfrm>
            <a:off x="847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North Arrow</a:t>
            </a:r>
          </a:p>
        </p:txBody>
      </p:sp>
      <p:sp>
        <p:nvSpPr>
          <p:cNvPr id="9316" name="Rounded Rectangle 9315"/>
          <p:cNvSpPr/>
          <p:nvPr/>
        </p:nvSpPr>
        <p:spPr>
          <a:xfrm>
            <a:off x="922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17" name="Picture 9316" descr="route_2b5c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100" y="2290520"/>
            <a:ext cx="304800" cy="304800"/>
          </a:xfrm>
          <a:prstGeom prst="rect">
            <a:avLst/>
          </a:prstGeom>
        </p:spPr>
      </p:pic>
      <p:sp>
        <p:nvSpPr>
          <p:cNvPr id="9318" name="TextBox 9317"/>
          <p:cNvSpPr txBox="1"/>
          <p:nvPr/>
        </p:nvSpPr>
        <p:spPr>
          <a:xfrm>
            <a:off x="909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Scale Bar</a:t>
            </a:r>
          </a:p>
        </p:txBody>
      </p:sp>
      <p:sp>
        <p:nvSpPr>
          <p:cNvPr id="9319" name="Rounded Rectangle 9318"/>
          <p:cNvSpPr/>
          <p:nvPr/>
        </p:nvSpPr>
        <p:spPr>
          <a:xfrm>
            <a:off x="984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0" name="Picture 9319" descr="layer_2b5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100" y="2290520"/>
            <a:ext cx="304800" cy="304800"/>
          </a:xfrm>
          <a:prstGeom prst="rect">
            <a:avLst/>
          </a:prstGeom>
        </p:spPr>
      </p:pic>
      <p:sp>
        <p:nvSpPr>
          <p:cNvPr id="9321" name="TextBox 9320"/>
          <p:cNvSpPr txBox="1"/>
          <p:nvPr/>
        </p:nvSpPr>
        <p:spPr>
          <a:xfrm>
            <a:off x="971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Legend</a:t>
            </a:r>
          </a:p>
        </p:txBody>
      </p:sp>
      <p:sp>
        <p:nvSpPr>
          <p:cNvPr id="9322" name="Rounded Rectangle 9321"/>
          <p:cNvSpPr/>
          <p:nvPr/>
        </p:nvSpPr>
        <p:spPr>
          <a:xfrm>
            <a:off x="1046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3" name="Picture 9322" descr="bookopen_2b5c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100" y="2290520"/>
            <a:ext cx="304800" cy="304800"/>
          </a:xfrm>
          <a:prstGeom prst="rect">
            <a:avLst/>
          </a:prstGeom>
        </p:spPr>
      </p:pic>
      <p:sp>
        <p:nvSpPr>
          <p:cNvPr id="9324" name="TextBox 9323"/>
          <p:cNvSpPr txBox="1"/>
          <p:nvPr/>
        </p:nvSpPr>
        <p:spPr>
          <a:xfrm>
            <a:off x="1033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Text</a:t>
            </a:r>
          </a:p>
        </p:txBody>
      </p:sp>
      <p:sp>
        <p:nvSpPr>
          <p:cNvPr id="9325" name="TextBox 9324"/>
          <p:cNvSpPr txBox="1"/>
          <p:nvPr/>
        </p:nvSpPr>
        <p:spPr>
          <a:xfrm>
            <a:off x="8105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Layout Elements</a:t>
            </a:r>
          </a:p>
        </p:txBody>
      </p:sp>
      <p:sp>
        <p:nvSpPr>
          <p:cNvPr id="9326" name="Rectangle 9325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7" name="Rectangle 9326"/>
          <p:cNvSpPr/>
          <p:nvPr/>
        </p:nvSpPr>
        <p:spPr>
          <a:xfrm>
            <a:off x="5193000" y="3841960"/>
            <a:ext cx="4585000" cy="1389120"/>
          </a:xfrm>
          <a:prstGeom prst="rect">
            <a:avLst/>
          </a:prstGeom>
          <a:solidFill>
            <a:srgbClr val="0B0F1A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8" name="Rectangle 9327"/>
          <p:cNvSpPr/>
          <p:nvPr/>
        </p:nvSpPr>
        <p:spPr>
          <a:xfrm>
            <a:off x="5253000" y="4407064"/>
            <a:ext cx="1375500" cy="764016"/>
          </a:xfrm>
          <a:prstGeom prst="rect">
            <a:avLst/>
          </a:prstGeom>
          <a:solidFill>
            <a:srgbClr val="F8F8F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9" name="TextBox 9328"/>
          <p:cNvSpPr txBox="1"/>
          <p:nvPr/>
        </p:nvSpPr>
        <p:spPr>
          <a:xfrm>
            <a:off x="5298720" y="4437064"/>
            <a:ext cx="1284060" cy="1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Segoe UI"/>
              </a:rPr>
              <a:t>Legend</a:t>
            </a:r>
          </a:p>
        </p:txBody>
      </p:sp>
      <p:sp>
        <p:nvSpPr>
          <p:cNvPr id="9330" name="Oval 9329"/>
          <p:cNvSpPr/>
          <p:nvPr/>
        </p:nvSpPr>
        <p:spPr>
          <a:xfrm>
            <a:off x="5313000" y="4647064"/>
            <a:ext cx="55000" cy="550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1" name="TextBox 9330"/>
          <p:cNvSpPr txBox="1"/>
          <p:nvPr/>
        </p:nvSpPr>
        <p:spPr>
          <a:xfrm>
            <a:off x="5408000" y="461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City</a:t>
            </a:r>
          </a:p>
        </p:txBody>
      </p:sp>
      <p:sp>
        <p:nvSpPr>
          <p:cNvPr id="9332" name="Oval 9331"/>
          <p:cNvSpPr/>
          <p:nvPr/>
        </p:nvSpPr>
        <p:spPr>
          <a:xfrm>
            <a:off x="5313000" y="4817064"/>
            <a:ext cx="55000" cy="55000"/>
          </a:xfrm>
          <a:prstGeom prst="ellipse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3" name="TextBox 9332"/>
          <p:cNvSpPr txBox="1"/>
          <p:nvPr/>
        </p:nvSpPr>
        <p:spPr>
          <a:xfrm>
            <a:off x="5408000" y="478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Tribe</a:t>
            </a:r>
          </a:p>
        </p:txBody>
      </p:sp>
      <p:sp>
        <p:nvSpPr>
          <p:cNvPr id="9334" name="Oval 9333"/>
          <p:cNvSpPr/>
          <p:nvPr/>
        </p:nvSpPr>
        <p:spPr>
          <a:xfrm>
            <a:off x="5313000" y="4987064"/>
            <a:ext cx="55000" cy="55000"/>
          </a:xfrm>
          <a:prstGeom prst="ellipse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5" name="TextBox 9334"/>
          <p:cNvSpPr txBox="1"/>
          <p:nvPr/>
        </p:nvSpPr>
        <p:spPr>
          <a:xfrm>
            <a:off x="5408000" y="495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Boundary</a:t>
            </a:r>
          </a:p>
        </p:txBody>
      </p:sp>
      <p:sp>
        <p:nvSpPr>
          <p:cNvPr id="9336" name="Rectangle 9335"/>
          <p:cNvSpPr/>
          <p:nvPr/>
        </p:nvSpPr>
        <p:spPr>
          <a:xfrm>
            <a:off x="9559089" y="4918820"/>
            <a:ext cx="35561" cy="16002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7" name="TextBox 9336"/>
          <p:cNvSpPr txBox="1"/>
          <p:nvPr/>
        </p:nvSpPr>
        <p:spPr>
          <a:xfrm>
            <a:off x="9399063" y="4738820"/>
            <a:ext cx="355614" cy="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0F0F0"/>
                </a:solidFill>
                <a:latin typeface="Segoe UI"/>
              </a:rPr>
              <a:t>N</a:t>
            </a:r>
          </a:p>
        </p:txBody>
      </p:sp>
      <p:sp>
        <p:nvSpPr>
          <p:cNvPr id="9338" name="Rectangle 9337"/>
          <p:cNvSpPr/>
          <p:nvPr/>
        </p:nvSpPr>
        <p:spPr>
          <a:xfrm>
            <a:off x="67519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9" name="Rectangle 9338"/>
          <p:cNvSpPr/>
          <p:nvPr/>
        </p:nvSpPr>
        <p:spPr>
          <a:xfrm>
            <a:off x="71187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0" name="Rectangle 9339"/>
          <p:cNvSpPr/>
          <p:nvPr/>
        </p:nvSpPr>
        <p:spPr>
          <a:xfrm>
            <a:off x="74855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1" name="Rectangle 9340"/>
          <p:cNvSpPr/>
          <p:nvPr/>
        </p:nvSpPr>
        <p:spPr>
          <a:xfrm>
            <a:off x="78523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2" name="TextBox 9341"/>
          <p:cNvSpPr txBox="1"/>
          <p:nvPr/>
        </p:nvSpPr>
        <p:spPr>
          <a:xfrm>
            <a:off x="6751900" y="5131080"/>
            <a:ext cx="14672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Consolas"/>
              </a:rPr>
              <a:t>0        5       10 mi</a:t>
            </a:r>
          </a:p>
        </p:txBody>
      </p:sp>
      <p:sp>
        <p:nvSpPr>
          <p:cNvPr id="9343" name="TextBox 9342"/>
          <p:cNvSpPr txBox="1"/>
          <p:nvPr/>
        </p:nvSpPr>
        <p:spPr>
          <a:xfrm>
            <a:off x="6175500" y="5760000"/>
            <a:ext cx="4585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Map Title Goes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296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97" name="TextBox 9296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298" name="TextBox 929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28  /  36</a:t>
            </a:r>
          </a:p>
        </p:txBody>
      </p:sp>
      <p:sp>
        <p:nvSpPr>
          <p:cNvPr id="9299" name="TextBox 9298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300" name="TextBox 9299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A Full Layout,</a:t>
            </a:r>
          </a:p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Assembled</a:t>
            </a:r>
          </a:p>
        </p:txBody>
      </p:sp>
      <p:sp>
        <p:nvSpPr>
          <p:cNvPr id="9301" name="TextBox 9300"/>
          <p:cNvSpPr txBox="1"/>
          <p:nvPr/>
        </p:nvSpPr>
        <p:spPr>
          <a:xfrm>
            <a:off x="1085800" y="2350000"/>
            <a:ext cx="3400000" cy="59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Every element from this section, on one real sheet — including an inset, which only makes sense once there's real content to locate.</a:t>
            </a:r>
          </a:p>
        </p:txBody>
      </p:sp>
      <p:sp>
        <p:nvSpPr>
          <p:cNvPr id="9302" name="TextBox 9301"/>
          <p:cNvSpPr txBox="1"/>
          <p:nvPr/>
        </p:nvSpPr>
        <p:spPr>
          <a:xfrm>
            <a:off x="1085800" y="319625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THE INSET</a:t>
            </a:r>
          </a:p>
        </p:txBody>
      </p:sp>
      <p:sp>
        <p:nvSpPr>
          <p:cNvPr id="9303" name="TextBox 9302"/>
          <p:cNvSpPr txBox="1"/>
          <p:nvPr/>
        </p:nvSpPr>
        <p:spPr>
          <a:xfrm>
            <a:off x="1085800" y="3496250"/>
            <a:ext cx="3400000" cy="6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A small locator map dropped into its own frame — here, showing where NYC sits within the U.S. — gives viewers context a single close-up view can't.</a:t>
            </a:r>
          </a:p>
        </p:txBody>
      </p:sp>
      <p:sp>
        <p:nvSpPr>
          <p:cNvPr id="9304" name="TextBox 9303"/>
          <p:cNvSpPr txBox="1"/>
          <p:nvPr/>
        </p:nvSpPr>
        <p:spPr>
          <a:xfrm>
            <a:off x="1085800" y="430625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SAME MAP, THROUGHOUT</a:t>
            </a:r>
          </a:p>
        </p:txBody>
      </p:sp>
      <p:sp>
        <p:nvSpPr>
          <p:cNvPr id="9305" name="TextBox 9304"/>
          <p:cNvSpPr txBox="1"/>
          <p:nvPr/>
        </p:nvSpPr>
        <p:spPr>
          <a:xfrm>
            <a:off x="1085800" y="4606250"/>
            <a:ext cx="3400000" cy="6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The main frame reuses the five-borough NYC map from earlier in this deck, now carrying a title, legend, north arrow, and scale bar.</a:t>
            </a:r>
          </a:p>
        </p:txBody>
      </p:sp>
      <p:sp>
        <p:nvSpPr>
          <p:cNvPr id="9306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07" name="Rounded Rectangle 9306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8" name="Rounded Rectangle 9307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9" name="Rectangle 9308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0" name="TextBox 9309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311" name="Rectangle 9310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2" name="TextBox 9311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9313" name="Rounded Rectangle 9312"/>
          <p:cNvSpPr/>
          <p:nvPr/>
        </p:nvSpPr>
        <p:spPr>
          <a:xfrm>
            <a:off x="577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4" name="Rectangle 9313"/>
          <p:cNvSpPr/>
          <p:nvPr/>
        </p:nvSpPr>
        <p:spPr>
          <a:xfrm>
            <a:off x="577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5" name="TextBox 9314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9316" name="TextBox 9315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9317" name="TextBox 9316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9318" name="TextBox 9317"/>
          <p:cNvSpPr txBox="1"/>
          <p:nvPr/>
        </p:nvSpPr>
        <p:spPr>
          <a:xfrm>
            <a:off x="86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9319" name="Rectangle 9318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0" name="Rounded Rectangle 9319"/>
          <p:cNvSpPr/>
          <p:nvPr/>
        </p:nvSpPr>
        <p:spPr>
          <a:xfrm>
            <a:off x="696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1" name="Picture 9320" descr="compass_2b5c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600" y="2290520"/>
            <a:ext cx="304800" cy="304800"/>
          </a:xfrm>
          <a:prstGeom prst="rect">
            <a:avLst/>
          </a:prstGeom>
        </p:spPr>
      </p:pic>
      <p:sp>
        <p:nvSpPr>
          <p:cNvPr id="9322" name="TextBox 9321"/>
          <p:cNvSpPr txBox="1"/>
          <p:nvPr/>
        </p:nvSpPr>
        <p:spPr>
          <a:xfrm>
            <a:off x="683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North Arrow</a:t>
            </a:r>
          </a:p>
        </p:txBody>
      </p:sp>
      <p:sp>
        <p:nvSpPr>
          <p:cNvPr id="9323" name="Rounded Rectangle 9322"/>
          <p:cNvSpPr/>
          <p:nvPr/>
        </p:nvSpPr>
        <p:spPr>
          <a:xfrm>
            <a:off x="758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4" name="Picture 9323" descr="route_2b5c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600" y="2290520"/>
            <a:ext cx="304800" cy="304800"/>
          </a:xfrm>
          <a:prstGeom prst="rect">
            <a:avLst/>
          </a:prstGeom>
        </p:spPr>
      </p:pic>
      <p:sp>
        <p:nvSpPr>
          <p:cNvPr id="9325" name="TextBox 9324"/>
          <p:cNvSpPr txBox="1"/>
          <p:nvPr/>
        </p:nvSpPr>
        <p:spPr>
          <a:xfrm>
            <a:off x="745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Scale Bar</a:t>
            </a:r>
          </a:p>
        </p:txBody>
      </p:sp>
      <p:sp>
        <p:nvSpPr>
          <p:cNvPr id="9326" name="Rounded Rectangle 9325"/>
          <p:cNvSpPr/>
          <p:nvPr/>
        </p:nvSpPr>
        <p:spPr>
          <a:xfrm>
            <a:off x="820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7" name="Picture 9326" descr="layer_2b5c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2600" y="2290520"/>
            <a:ext cx="304800" cy="304800"/>
          </a:xfrm>
          <a:prstGeom prst="rect">
            <a:avLst/>
          </a:prstGeom>
        </p:spPr>
      </p:pic>
      <p:sp>
        <p:nvSpPr>
          <p:cNvPr id="9328" name="TextBox 9327"/>
          <p:cNvSpPr txBox="1"/>
          <p:nvPr/>
        </p:nvSpPr>
        <p:spPr>
          <a:xfrm>
            <a:off x="807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Legend</a:t>
            </a:r>
          </a:p>
        </p:txBody>
      </p:sp>
      <p:sp>
        <p:nvSpPr>
          <p:cNvPr id="9329" name="Rounded Rectangle 9328"/>
          <p:cNvSpPr/>
          <p:nvPr/>
        </p:nvSpPr>
        <p:spPr>
          <a:xfrm>
            <a:off x="88226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0" name="Picture 9329" descr="mapmarked_2b5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2600" y="2290520"/>
            <a:ext cx="304800" cy="304800"/>
          </a:xfrm>
          <a:prstGeom prst="rect">
            <a:avLst/>
          </a:prstGeom>
        </p:spPr>
      </p:pic>
      <p:sp>
        <p:nvSpPr>
          <p:cNvPr id="9331" name="TextBox 9330"/>
          <p:cNvSpPr txBox="1"/>
          <p:nvPr/>
        </p:nvSpPr>
        <p:spPr>
          <a:xfrm>
            <a:off x="86950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Map Frame</a:t>
            </a:r>
          </a:p>
        </p:txBody>
      </p:sp>
      <p:sp>
        <p:nvSpPr>
          <p:cNvPr id="9332" name="TextBox 9331"/>
          <p:cNvSpPr txBox="1"/>
          <p:nvPr/>
        </p:nvSpPr>
        <p:spPr>
          <a:xfrm>
            <a:off x="4830000" y="3374800"/>
            <a:ext cx="649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Layout Elements</a:t>
            </a:r>
          </a:p>
        </p:txBody>
      </p:sp>
      <p:sp>
        <p:nvSpPr>
          <p:cNvPr id="9333" name="Rectangle 9332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4" name="Rectangle 9333"/>
          <p:cNvSpPr/>
          <p:nvPr/>
        </p:nvSpPr>
        <p:spPr>
          <a:xfrm>
            <a:off x="5193000" y="3841960"/>
            <a:ext cx="4585000" cy="138912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5" name="Picture 9334" descr="nyc_boroughs_pl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300" y="3841960"/>
            <a:ext cx="1736400" cy="1389120"/>
          </a:xfrm>
          <a:prstGeom prst="rect">
            <a:avLst/>
          </a:prstGeom>
        </p:spPr>
      </p:pic>
      <p:sp>
        <p:nvSpPr>
          <p:cNvPr id="9336" name="Rectangle 9335"/>
          <p:cNvSpPr/>
          <p:nvPr/>
        </p:nvSpPr>
        <p:spPr>
          <a:xfrm>
            <a:off x="5193000" y="3841960"/>
            <a:ext cx="4585000" cy="1389120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7" name="Rectangle 9336"/>
          <p:cNvSpPr/>
          <p:nvPr/>
        </p:nvSpPr>
        <p:spPr>
          <a:xfrm>
            <a:off x="8342500" y="3901960"/>
            <a:ext cx="1375500" cy="472300"/>
          </a:xfrm>
          <a:prstGeom prst="rect">
            <a:avLst/>
          </a:prstGeom>
          <a:solidFill>
            <a:srgbClr val="F8F8F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8" name="Picture 9337" descr="us_locator_ny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2562" y="3931960"/>
            <a:ext cx="615374" cy="412300"/>
          </a:xfrm>
          <a:prstGeom prst="rect">
            <a:avLst/>
          </a:prstGeom>
        </p:spPr>
      </p:pic>
      <p:sp>
        <p:nvSpPr>
          <p:cNvPr id="9339" name="Rectangle 9338"/>
          <p:cNvSpPr/>
          <p:nvPr/>
        </p:nvSpPr>
        <p:spPr>
          <a:xfrm>
            <a:off x="8342500" y="3901960"/>
            <a:ext cx="1375500" cy="47230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0" name="TextBox 9339"/>
          <p:cNvSpPr txBox="1"/>
          <p:nvPr/>
        </p:nvSpPr>
        <p:spPr>
          <a:xfrm>
            <a:off x="8342500" y="3701960"/>
            <a:ext cx="1775500" cy="1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70" b="1" i="1">
                <a:solidFill>
                  <a:srgbClr val="5B6B8A"/>
                </a:solidFill>
                <a:latin typeface="Segoe UI"/>
              </a:rPr>
              <a:t>LOCATOR: NYC IN THE U.S.</a:t>
            </a:r>
          </a:p>
        </p:txBody>
      </p:sp>
      <p:sp>
        <p:nvSpPr>
          <p:cNvPr id="9341" name="Rectangle 9340"/>
          <p:cNvSpPr/>
          <p:nvPr/>
        </p:nvSpPr>
        <p:spPr>
          <a:xfrm>
            <a:off x="5253000" y="4407064"/>
            <a:ext cx="1375500" cy="764016"/>
          </a:xfrm>
          <a:prstGeom prst="rect">
            <a:avLst/>
          </a:prstGeom>
          <a:solidFill>
            <a:srgbClr val="F8F8F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2" name="TextBox 9341"/>
          <p:cNvSpPr txBox="1"/>
          <p:nvPr/>
        </p:nvSpPr>
        <p:spPr>
          <a:xfrm>
            <a:off x="5298720" y="4437064"/>
            <a:ext cx="1284060" cy="1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Segoe UI"/>
              </a:rPr>
              <a:t>Legend</a:t>
            </a:r>
          </a:p>
        </p:txBody>
      </p:sp>
      <p:sp>
        <p:nvSpPr>
          <p:cNvPr id="9343" name="Oval 9342"/>
          <p:cNvSpPr/>
          <p:nvPr/>
        </p:nvSpPr>
        <p:spPr>
          <a:xfrm>
            <a:off x="5313000" y="4647064"/>
            <a:ext cx="50000" cy="50000"/>
          </a:xfrm>
          <a:prstGeom prst="ellipse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4" name="TextBox 9343"/>
          <p:cNvSpPr txBox="1"/>
          <p:nvPr/>
        </p:nvSpPr>
        <p:spPr>
          <a:xfrm>
            <a:off x="5403000" y="4615064"/>
            <a:ext cx="117550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Segoe UI"/>
              </a:rPr>
              <a:t>Manhattan</a:t>
            </a:r>
          </a:p>
        </p:txBody>
      </p:sp>
      <p:sp>
        <p:nvSpPr>
          <p:cNvPr id="9345" name="Oval 9344"/>
          <p:cNvSpPr/>
          <p:nvPr/>
        </p:nvSpPr>
        <p:spPr>
          <a:xfrm>
            <a:off x="5313000" y="4792064"/>
            <a:ext cx="50000" cy="500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6" name="TextBox 9345"/>
          <p:cNvSpPr txBox="1"/>
          <p:nvPr/>
        </p:nvSpPr>
        <p:spPr>
          <a:xfrm>
            <a:off x="5403000" y="4760064"/>
            <a:ext cx="117550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Segoe UI"/>
              </a:rPr>
              <a:t>Brooklyn</a:t>
            </a:r>
          </a:p>
        </p:txBody>
      </p:sp>
      <p:sp>
        <p:nvSpPr>
          <p:cNvPr id="9347" name="Oval 9346"/>
          <p:cNvSpPr/>
          <p:nvPr/>
        </p:nvSpPr>
        <p:spPr>
          <a:xfrm>
            <a:off x="5313000" y="4937064"/>
            <a:ext cx="50000" cy="50000"/>
          </a:xfrm>
          <a:prstGeom prst="ellipse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8" name="TextBox 9347"/>
          <p:cNvSpPr txBox="1"/>
          <p:nvPr/>
        </p:nvSpPr>
        <p:spPr>
          <a:xfrm>
            <a:off x="5403000" y="4905064"/>
            <a:ext cx="117550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Segoe UI"/>
              </a:rPr>
              <a:t>Queens</a:t>
            </a:r>
          </a:p>
        </p:txBody>
      </p:sp>
      <p:sp>
        <p:nvSpPr>
          <p:cNvPr id="9349" name="Oval 9348"/>
          <p:cNvSpPr/>
          <p:nvPr/>
        </p:nvSpPr>
        <p:spPr>
          <a:xfrm>
            <a:off x="5313000" y="5082064"/>
            <a:ext cx="50000" cy="50000"/>
          </a:xfrm>
          <a:prstGeom prst="ellipse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0" name="TextBox 9349"/>
          <p:cNvSpPr txBox="1"/>
          <p:nvPr/>
        </p:nvSpPr>
        <p:spPr>
          <a:xfrm>
            <a:off x="5403000" y="5050064"/>
            <a:ext cx="1175500" cy="1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Segoe UI"/>
              </a:rPr>
              <a:t>Bronx</a:t>
            </a:r>
          </a:p>
        </p:txBody>
      </p:sp>
      <p:sp>
        <p:nvSpPr>
          <p:cNvPr id="9351" name="Rectangle 9350"/>
          <p:cNvSpPr/>
          <p:nvPr/>
        </p:nvSpPr>
        <p:spPr>
          <a:xfrm>
            <a:off x="9559089" y="4918820"/>
            <a:ext cx="35561" cy="16002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2" name="TextBox 9351"/>
          <p:cNvSpPr txBox="1"/>
          <p:nvPr/>
        </p:nvSpPr>
        <p:spPr>
          <a:xfrm>
            <a:off x="9399063" y="4738820"/>
            <a:ext cx="355614" cy="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0F0F0"/>
                </a:solidFill>
                <a:latin typeface="Segoe UI"/>
              </a:rPr>
              <a:t>N</a:t>
            </a:r>
          </a:p>
        </p:txBody>
      </p:sp>
      <p:sp>
        <p:nvSpPr>
          <p:cNvPr id="9353" name="Rectangle 9352"/>
          <p:cNvSpPr/>
          <p:nvPr/>
        </p:nvSpPr>
        <p:spPr>
          <a:xfrm>
            <a:off x="67519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4" name="Rectangle 9353"/>
          <p:cNvSpPr/>
          <p:nvPr/>
        </p:nvSpPr>
        <p:spPr>
          <a:xfrm>
            <a:off x="71187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5" name="Rectangle 9354"/>
          <p:cNvSpPr/>
          <p:nvPr/>
        </p:nvSpPr>
        <p:spPr>
          <a:xfrm>
            <a:off x="74855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6" name="Rectangle 9355"/>
          <p:cNvSpPr/>
          <p:nvPr/>
        </p:nvSpPr>
        <p:spPr>
          <a:xfrm>
            <a:off x="78523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7" name="TextBox 9356"/>
          <p:cNvSpPr txBox="1"/>
          <p:nvPr/>
        </p:nvSpPr>
        <p:spPr>
          <a:xfrm>
            <a:off x="6751900" y="5131080"/>
            <a:ext cx="14672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Consolas"/>
              </a:rPr>
              <a:t>0        5       10 mi</a:t>
            </a:r>
          </a:p>
        </p:txBody>
      </p:sp>
      <p:sp>
        <p:nvSpPr>
          <p:cNvPr id="9358" name="TextBox 9357"/>
          <p:cNvSpPr txBox="1"/>
          <p:nvPr/>
        </p:nvSpPr>
        <p:spPr>
          <a:xfrm>
            <a:off x="6175500" y="5760000"/>
            <a:ext cx="4585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Cartographic Principles — Five Boroughs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0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08" name="TextBox 9307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09" name="TextBox 930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29  /  36</a:t>
            </a:r>
          </a:p>
        </p:txBody>
      </p:sp>
      <p:sp>
        <p:nvSpPr>
          <p:cNvPr id="9310" name="TextBox 9309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311" name="TextBox 9310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E9F0F7"/>
                </a:solidFill>
                <a:latin typeface="Aptos Slab ExtraBold"/>
              </a:rPr>
              <a:t>Aligning &amp; Arranging</a:t>
            </a:r>
          </a:p>
        </p:txBody>
      </p:sp>
      <p:sp>
        <p:nvSpPr>
          <p:cNvPr id="9312" name="TextBox 9311"/>
          <p:cNvSpPr txBox="1"/>
          <p:nvPr/>
        </p:nvSpPr>
        <p:spPr>
          <a:xfrm>
            <a:off x="1085800" y="2100000"/>
            <a:ext cx="34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Layout tab ▸ Align / Distribute / Guides / Grids.</a:t>
            </a:r>
          </a:p>
        </p:txBody>
      </p:sp>
      <p:sp>
        <p:nvSpPr>
          <p:cNvPr id="9313" name="TextBox 9312"/>
          <p:cNvSpPr txBox="1"/>
          <p:nvPr/>
        </p:nvSpPr>
        <p:spPr>
          <a:xfrm>
            <a:off x="1085800" y="26700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SMART GUIDES</a:t>
            </a:r>
          </a:p>
        </p:txBody>
      </p:sp>
      <p:sp>
        <p:nvSpPr>
          <p:cNvPr id="9314" name="TextBox 9313"/>
          <p:cNvSpPr txBox="1"/>
          <p:nvPr/>
        </p:nvSpPr>
        <p:spPr>
          <a:xfrm>
            <a:off x="1085800" y="2970000"/>
            <a:ext cx="34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Pink alignment guides snap element edges and centers to each other as you drag — no ruler math needed.</a:t>
            </a:r>
          </a:p>
        </p:txBody>
      </p:sp>
      <p:sp>
        <p:nvSpPr>
          <p:cNvPr id="9315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16" name="Rounded Rectangle 9315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7" name="Rounded Rectangle 9316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8" name="Rectangle 9317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9" name="TextBox 9318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320" name="Rectangle 9319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1" name="TextBox 9320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9322" name="TextBox 9321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9323" name="Rounded Rectangle 9322"/>
          <p:cNvSpPr/>
          <p:nvPr/>
        </p:nvSpPr>
        <p:spPr>
          <a:xfrm>
            <a:off x="672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4" name="Rectangle 9323"/>
          <p:cNvSpPr/>
          <p:nvPr/>
        </p:nvSpPr>
        <p:spPr>
          <a:xfrm>
            <a:off x="672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5" name="TextBox 9324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Layout</a:t>
            </a:r>
          </a:p>
        </p:txBody>
      </p:sp>
      <p:sp>
        <p:nvSpPr>
          <p:cNvPr id="9326" name="TextBox 9325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9327" name="Rectangle 9326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8" name="Rounded Rectangle 9327"/>
          <p:cNvSpPr/>
          <p:nvPr/>
        </p:nvSpPr>
        <p:spPr>
          <a:xfrm>
            <a:off x="5635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29" name="Picture 9328" descr="bullseye_2b5c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100" y="2290520"/>
            <a:ext cx="304800" cy="304800"/>
          </a:xfrm>
          <a:prstGeom prst="rect">
            <a:avLst/>
          </a:prstGeom>
        </p:spPr>
      </p:pic>
      <p:sp>
        <p:nvSpPr>
          <p:cNvPr id="9330" name="TextBox 9329"/>
          <p:cNvSpPr txBox="1"/>
          <p:nvPr/>
        </p:nvSpPr>
        <p:spPr>
          <a:xfrm>
            <a:off x="550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Align</a:t>
            </a:r>
          </a:p>
        </p:txBody>
      </p:sp>
      <p:sp>
        <p:nvSpPr>
          <p:cNvPr id="9331" name="Rounded Rectangle 9330"/>
          <p:cNvSpPr/>
          <p:nvPr/>
        </p:nvSpPr>
        <p:spPr>
          <a:xfrm>
            <a:off x="6255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2" name="Picture 9331" descr="exchange_2b5c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100" y="2290520"/>
            <a:ext cx="304800" cy="304800"/>
          </a:xfrm>
          <a:prstGeom prst="rect">
            <a:avLst/>
          </a:prstGeom>
        </p:spPr>
      </p:pic>
      <p:sp>
        <p:nvSpPr>
          <p:cNvPr id="9333" name="TextBox 9332"/>
          <p:cNvSpPr txBox="1"/>
          <p:nvPr/>
        </p:nvSpPr>
        <p:spPr>
          <a:xfrm>
            <a:off x="612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Distribute</a:t>
            </a:r>
          </a:p>
        </p:txBody>
      </p:sp>
      <p:pic>
        <p:nvPicPr>
          <p:cNvPr id="9334" name="Picture 9333" descr="layer_8a94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100" y="2290520"/>
            <a:ext cx="304800" cy="304800"/>
          </a:xfrm>
          <a:prstGeom prst="rect">
            <a:avLst/>
          </a:prstGeom>
        </p:spPr>
      </p:pic>
      <p:sp>
        <p:nvSpPr>
          <p:cNvPr id="9335" name="TextBox 9334"/>
          <p:cNvSpPr txBox="1"/>
          <p:nvPr/>
        </p:nvSpPr>
        <p:spPr>
          <a:xfrm>
            <a:off x="674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Group</a:t>
            </a:r>
          </a:p>
        </p:txBody>
      </p:sp>
      <p:sp>
        <p:nvSpPr>
          <p:cNvPr id="9336" name="TextBox 9335"/>
          <p:cNvSpPr txBox="1"/>
          <p:nvPr/>
        </p:nvSpPr>
        <p:spPr>
          <a:xfrm>
            <a:off x="4830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Arrange</a:t>
            </a:r>
          </a:p>
        </p:txBody>
      </p:sp>
      <p:sp>
        <p:nvSpPr>
          <p:cNvPr id="9337" name="Rectangle 9336"/>
          <p:cNvSpPr/>
          <p:nvPr/>
        </p:nvSpPr>
        <p:spPr>
          <a:xfrm>
            <a:off x="8075000" y="2304800"/>
            <a:ext cx="0" cy="124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8" name="Rounded Rectangle 9337"/>
          <p:cNvSpPr/>
          <p:nvPr/>
        </p:nvSpPr>
        <p:spPr>
          <a:xfrm>
            <a:off x="922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9" name="Picture 9338" descr="triangle_2b5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100" y="2290520"/>
            <a:ext cx="304800" cy="304800"/>
          </a:xfrm>
          <a:prstGeom prst="rect">
            <a:avLst/>
          </a:prstGeom>
        </p:spPr>
      </p:pic>
      <p:sp>
        <p:nvSpPr>
          <p:cNvPr id="9340" name="TextBox 9339"/>
          <p:cNvSpPr txBox="1"/>
          <p:nvPr/>
        </p:nvSpPr>
        <p:spPr>
          <a:xfrm>
            <a:off x="909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Guides</a:t>
            </a:r>
          </a:p>
        </p:txBody>
      </p:sp>
      <p:sp>
        <p:nvSpPr>
          <p:cNvPr id="9341" name="Rounded Rectangle 9340"/>
          <p:cNvSpPr/>
          <p:nvPr/>
        </p:nvSpPr>
        <p:spPr>
          <a:xfrm>
            <a:off x="984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42" name="Picture 9341" descr="triangle_2b5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100" y="2290520"/>
            <a:ext cx="304800" cy="304800"/>
          </a:xfrm>
          <a:prstGeom prst="rect">
            <a:avLst/>
          </a:prstGeom>
        </p:spPr>
      </p:pic>
      <p:sp>
        <p:nvSpPr>
          <p:cNvPr id="9343" name="TextBox 9342"/>
          <p:cNvSpPr txBox="1"/>
          <p:nvPr/>
        </p:nvSpPr>
        <p:spPr>
          <a:xfrm>
            <a:off x="971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Grids</a:t>
            </a:r>
          </a:p>
        </p:txBody>
      </p:sp>
      <p:sp>
        <p:nvSpPr>
          <p:cNvPr id="9344" name="TextBox 9343"/>
          <p:cNvSpPr txBox="1"/>
          <p:nvPr/>
        </p:nvSpPr>
        <p:spPr>
          <a:xfrm>
            <a:off x="8105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Show</a:t>
            </a:r>
          </a:p>
        </p:txBody>
      </p:sp>
      <p:sp>
        <p:nvSpPr>
          <p:cNvPr id="9345" name="Rectangle 9344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ECECE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6" name="Rectangle 9345"/>
          <p:cNvSpPr/>
          <p:nvPr/>
        </p:nvSpPr>
        <p:spPr>
          <a:xfrm>
            <a:off x="5193000" y="3841960"/>
            <a:ext cx="4585000" cy="1389120"/>
          </a:xfrm>
          <a:prstGeom prst="rect">
            <a:avLst/>
          </a:prstGeom>
          <a:solidFill>
            <a:srgbClr val="0B0F1A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7" name="Rectangle 9346"/>
          <p:cNvSpPr/>
          <p:nvPr/>
        </p:nvSpPr>
        <p:spPr>
          <a:xfrm>
            <a:off x="5253000" y="4407064"/>
            <a:ext cx="1375500" cy="764016"/>
          </a:xfrm>
          <a:prstGeom prst="rect">
            <a:avLst/>
          </a:prstGeom>
          <a:solidFill>
            <a:srgbClr val="F8F8F6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8" name="TextBox 9347"/>
          <p:cNvSpPr txBox="1"/>
          <p:nvPr/>
        </p:nvSpPr>
        <p:spPr>
          <a:xfrm>
            <a:off x="5298720" y="4437064"/>
            <a:ext cx="1284060" cy="1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1A1A1A"/>
                </a:solidFill>
                <a:latin typeface="Segoe UI"/>
              </a:rPr>
              <a:t>Legend</a:t>
            </a:r>
          </a:p>
        </p:txBody>
      </p:sp>
      <p:sp>
        <p:nvSpPr>
          <p:cNvPr id="9349" name="Oval 9348"/>
          <p:cNvSpPr/>
          <p:nvPr/>
        </p:nvSpPr>
        <p:spPr>
          <a:xfrm>
            <a:off x="5313000" y="4647064"/>
            <a:ext cx="55000" cy="550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0" name="TextBox 9349"/>
          <p:cNvSpPr txBox="1"/>
          <p:nvPr/>
        </p:nvSpPr>
        <p:spPr>
          <a:xfrm>
            <a:off x="5408000" y="461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City</a:t>
            </a:r>
          </a:p>
        </p:txBody>
      </p:sp>
      <p:sp>
        <p:nvSpPr>
          <p:cNvPr id="9351" name="Oval 9350"/>
          <p:cNvSpPr/>
          <p:nvPr/>
        </p:nvSpPr>
        <p:spPr>
          <a:xfrm>
            <a:off x="5313000" y="4817064"/>
            <a:ext cx="55000" cy="55000"/>
          </a:xfrm>
          <a:prstGeom prst="ellipse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2" name="TextBox 9351"/>
          <p:cNvSpPr txBox="1"/>
          <p:nvPr/>
        </p:nvSpPr>
        <p:spPr>
          <a:xfrm>
            <a:off x="5408000" y="478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Tribe</a:t>
            </a:r>
          </a:p>
        </p:txBody>
      </p:sp>
      <p:sp>
        <p:nvSpPr>
          <p:cNvPr id="9353" name="Oval 9352"/>
          <p:cNvSpPr/>
          <p:nvPr/>
        </p:nvSpPr>
        <p:spPr>
          <a:xfrm>
            <a:off x="5313000" y="4987064"/>
            <a:ext cx="55000" cy="55000"/>
          </a:xfrm>
          <a:prstGeom prst="ellipse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4" name="TextBox 9353"/>
          <p:cNvSpPr txBox="1"/>
          <p:nvPr/>
        </p:nvSpPr>
        <p:spPr>
          <a:xfrm>
            <a:off x="5408000" y="4952064"/>
            <a:ext cx="11655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 i="0">
                <a:solidFill>
                  <a:srgbClr val="333333"/>
                </a:solidFill>
                <a:latin typeface="Segoe UI"/>
              </a:rPr>
              <a:t>Boundary</a:t>
            </a:r>
          </a:p>
        </p:txBody>
      </p:sp>
      <p:sp>
        <p:nvSpPr>
          <p:cNvPr id="9355" name="Rectangle 9354"/>
          <p:cNvSpPr/>
          <p:nvPr/>
        </p:nvSpPr>
        <p:spPr>
          <a:xfrm>
            <a:off x="9559089" y="4918820"/>
            <a:ext cx="35561" cy="16002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6" name="TextBox 9355"/>
          <p:cNvSpPr txBox="1"/>
          <p:nvPr/>
        </p:nvSpPr>
        <p:spPr>
          <a:xfrm>
            <a:off x="9399063" y="4738820"/>
            <a:ext cx="355614" cy="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0F0F0"/>
                </a:solidFill>
                <a:latin typeface="Segoe UI"/>
              </a:rPr>
              <a:t>N</a:t>
            </a:r>
          </a:p>
        </p:txBody>
      </p:sp>
      <p:sp>
        <p:nvSpPr>
          <p:cNvPr id="9357" name="Rectangle 9356"/>
          <p:cNvSpPr/>
          <p:nvPr/>
        </p:nvSpPr>
        <p:spPr>
          <a:xfrm>
            <a:off x="67519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8" name="Rectangle 9357"/>
          <p:cNvSpPr/>
          <p:nvPr/>
        </p:nvSpPr>
        <p:spPr>
          <a:xfrm>
            <a:off x="71187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9" name="Rectangle 9358"/>
          <p:cNvSpPr/>
          <p:nvPr/>
        </p:nvSpPr>
        <p:spPr>
          <a:xfrm>
            <a:off x="7485500" y="5341080"/>
            <a:ext cx="366800" cy="60000"/>
          </a:xfrm>
          <a:prstGeom prst="rect">
            <a:avLst/>
          </a:prstGeom>
          <a:solidFill>
            <a:srgbClr val="222222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0" name="Rectangle 9359"/>
          <p:cNvSpPr/>
          <p:nvPr/>
        </p:nvSpPr>
        <p:spPr>
          <a:xfrm>
            <a:off x="7852300" y="5341080"/>
            <a:ext cx="366800" cy="60000"/>
          </a:xfrm>
          <a:prstGeom prst="rect">
            <a:avLst/>
          </a:prstGeom>
          <a:solidFill>
            <a:srgbClr val="FFFFFF"/>
          </a:solidFill>
          <a:ln w="31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1" name="TextBox 9360"/>
          <p:cNvSpPr txBox="1"/>
          <p:nvPr/>
        </p:nvSpPr>
        <p:spPr>
          <a:xfrm>
            <a:off x="6751900" y="5131080"/>
            <a:ext cx="14672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0">
                <a:solidFill>
                  <a:srgbClr val="333333"/>
                </a:solidFill>
                <a:latin typeface="Consolas"/>
              </a:rPr>
              <a:t>0        5       10 mi</a:t>
            </a:r>
          </a:p>
        </p:txBody>
      </p:sp>
      <p:sp>
        <p:nvSpPr>
          <p:cNvPr id="9362" name="TextBox 9361"/>
          <p:cNvSpPr txBox="1"/>
          <p:nvPr/>
        </p:nvSpPr>
        <p:spPr>
          <a:xfrm>
            <a:off x="6175500" y="5760000"/>
            <a:ext cx="4585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A2E38"/>
                </a:solidFill>
                <a:latin typeface="Segoe UI"/>
              </a:rPr>
              <a:t>Map Title Goes Here</a:t>
            </a:r>
          </a:p>
        </p:txBody>
      </p:sp>
      <p:cxnSp>
        <p:nvCxnSpPr>
          <p:cNvPr id="9363" name="Connector 9362"/>
          <p:cNvCxnSpPr/>
          <p:nvPr/>
        </p:nvCxnSpPr>
        <p:spPr>
          <a:xfrm>
            <a:off x="8075000" y="3844800"/>
            <a:ext cx="0" cy="2035200"/>
          </a:xfrm>
          <a:prstGeom prst="bentConnector3">
            <a:avLst/>
          </a:prstGeom>
          <a:ln w="12700">
            <a:solidFill>
              <a:srgbClr val="E83E9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4" name="Connector 9363"/>
          <p:cNvCxnSpPr/>
          <p:nvPr/>
        </p:nvCxnSpPr>
        <p:spPr>
          <a:xfrm>
            <a:off x="4940000" y="4862400"/>
            <a:ext cx="6270000" cy="0"/>
          </a:xfrm>
          <a:prstGeom prst="bentConnector3">
            <a:avLst/>
          </a:prstGeom>
          <a:ln w="12700">
            <a:solidFill>
              <a:srgbClr val="E83E9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16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7" name="TextBox 9316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18" name="TextBox 931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30  /  36</a:t>
            </a:r>
          </a:p>
        </p:txBody>
      </p:sp>
      <p:sp>
        <p:nvSpPr>
          <p:cNvPr id="9319" name="TextBox 9318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320" name="TextBox 9319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Create a Layout: The Workflow</a:t>
            </a:r>
          </a:p>
        </p:txBody>
      </p:sp>
      <p:sp>
        <p:nvSpPr>
          <p:cNvPr id="9321" name="TextBox 9320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Map first → layout → export. Six steps, in order, every time.</a:t>
            </a:r>
          </a:p>
        </p:txBody>
      </p:sp>
      <p:sp>
        <p:nvSpPr>
          <p:cNvPr id="9322" name="Oval 9321"/>
          <p:cNvSpPr/>
          <p:nvPr/>
        </p:nvSpPr>
        <p:spPr>
          <a:xfrm>
            <a:off x="1085800" y="268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1</a:t>
            </a:r>
          </a:p>
        </p:txBody>
      </p:sp>
      <p:sp>
        <p:nvSpPr>
          <p:cNvPr id="9323" name="TextBox 9322"/>
          <p:cNvSpPr txBox="1"/>
          <p:nvPr/>
        </p:nvSpPr>
        <p:spPr>
          <a:xfrm>
            <a:off x="1605800" y="266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Finish symbology + labeling in Map view</a:t>
            </a:r>
          </a:p>
        </p:txBody>
      </p:sp>
      <p:sp>
        <p:nvSpPr>
          <p:cNvPr id="9324" name="Oval 9323"/>
          <p:cNvSpPr/>
          <p:nvPr/>
        </p:nvSpPr>
        <p:spPr>
          <a:xfrm>
            <a:off x="1085800" y="326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2</a:t>
            </a:r>
          </a:p>
        </p:txBody>
      </p:sp>
      <p:sp>
        <p:nvSpPr>
          <p:cNvPr id="9325" name="TextBox 9324"/>
          <p:cNvSpPr txBox="1"/>
          <p:nvPr/>
        </p:nvSpPr>
        <p:spPr>
          <a:xfrm>
            <a:off x="1605800" y="324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Insert a New Layout (choose paper size + orientation)</a:t>
            </a:r>
          </a:p>
        </p:txBody>
      </p:sp>
      <p:sp>
        <p:nvSpPr>
          <p:cNvPr id="9326" name="Oval 9325"/>
          <p:cNvSpPr/>
          <p:nvPr/>
        </p:nvSpPr>
        <p:spPr>
          <a:xfrm>
            <a:off x="1085800" y="384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3</a:t>
            </a:r>
          </a:p>
        </p:txBody>
      </p:sp>
      <p:sp>
        <p:nvSpPr>
          <p:cNvPr id="9327" name="TextBox 9326"/>
          <p:cNvSpPr txBox="1"/>
          <p:nvPr/>
        </p:nvSpPr>
        <p:spPr>
          <a:xfrm>
            <a:off x="1605800" y="382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Insert a Map Frame (pick the map you want)</a:t>
            </a:r>
          </a:p>
        </p:txBody>
      </p:sp>
      <p:sp>
        <p:nvSpPr>
          <p:cNvPr id="9328" name="Oval 9327"/>
          <p:cNvSpPr/>
          <p:nvPr/>
        </p:nvSpPr>
        <p:spPr>
          <a:xfrm>
            <a:off x="1085800" y="442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4</a:t>
            </a:r>
          </a:p>
        </p:txBody>
      </p:sp>
      <p:sp>
        <p:nvSpPr>
          <p:cNvPr id="9329" name="TextBox 9328"/>
          <p:cNvSpPr txBox="1"/>
          <p:nvPr/>
        </p:nvSpPr>
        <p:spPr>
          <a:xfrm>
            <a:off x="1605800" y="440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Activate the map frame to pan/zoom the map inside it</a:t>
            </a:r>
          </a:p>
        </p:txBody>
      </p:sp>
      <p:sp>
        <p:nvSpPr>
          <p:cNvPr id="9330" name="Oval 9329"/>
          <p:cNvSpPr/>
          <p:nvPr/>
        </p:nvSpPr>
        <p:spPr>
          <a:xfrm>
            <a:off x="1085800" y="500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5</a:t>
            </a:r>
          </a:p>
        </p:txBody>
      </p:sp>
      <p:sp>
        <p:nvSpPr>
          <p:cNvPr id="9331" name="TextBox 9330"/>
          <p:cNvSpPr txBox="1"/>
          <p:nvPr/>
        </p:nvSpPr>
        <p:spPr>
          <a:xfrm>
            <a:off x="1605800" y="498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Add layout elements (legend, north arrow, scale bar, text) + align them</a:t>
            </a:r>
          </a:p>
        </p:txBody>
      </p:sp>
      <p:sp>
        <p:nvSpPr>
          <p:cNvPr id="9332" name="Oval 9331"/>
          <p:cNvSpPr/>
          <p:nvPr/>
        </p:nvSpPr>
        <p:spPr>
          <a:xfrm>
            <a:off x="1085800" y="5580000"/>
            <a:ext cx="320000" cy="320000"/>
          </a:xfrm>
          <a:prstGeom prst="ellipse">
            <a:avLst/>
          </a:prstGeom>
          <a:solidFill>
            <a:srgbClr val="243A5E"/>
          </a:solidFill>
          <a:ln w="12700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2A72C"/>
                </a:solidFill>
                <a:latin typeface="Aptos Slab ExtraBold"/>
              </a:rPr>
              <a:t>6</a:t>
            </a:r>
          </a:p>
        </p:txBody>
      </p:sp>
      <p:sp>
        <p:nvSpPr>
          <p:cNvPr id="9333" name="TextBox 9332"/>
          <p:cNvSpPr txBox="1"/>
          <p:nvPr/>
        </p:nvSpPr>
        <p:spPr>
          <a:xfrm>
            <a:off x="1605800" y="5560000"/>
            <a:ext cx="95004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 i="0">
                <a:solidFill>
                  <a:srgbClr val="E9F0F7"/>
                </a:solidFill>
                <a:latin typeface="Aptos Slab ExtraBold"/>
              </a:rPr>
              <a:t>Export — PDF for print, PNG/JPG for slides or web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1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18" name="TextBox 9317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19" name="TextBox 931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31  /  36</a:t>
            </a:r>
          </a:p>
        </p:txBody>
      </p:sp>
      <p:sp>
        <p:nvSpPr>
          <p:cNvPr id="9320" name="TextBox 9319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321" name="TextBox 9320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Share &amp; Export</a:t>
            </a:r>
          </a:p>
        </p:txBody>
      </p:sp>
      <p:sp>
        <p:nvSpPr>
          <p:cNvPr id="9322" name="TextBox 9321"/>
          <p:cNvSpPr txBox="1"/>
          <p:nvPr/>
        </p:nvSpPr>
        <p:spPr>
          <a:xfrm>
            <a:off x="1085800" y="2000000"/>
            <a:ext cx="3400000" cy="39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Export Map (Map view) skips the legend &amp; scale bar. Export Layout keeps them.</a:t>
            </a:r>
          </a:p>
        </p:txBody>
      </p:sp>
      <p:sp>
        <p:nvSpPr>
          <p:cNvPr id="9323" name="TextBox 9322"/>
          <p:cNvSpPr txBox="1"/>
          <p:nvPr/>
        </p:nvSpPr>
        <p:spPr>
          <a:xfrm>
            <a:off x="1085800" y="2647500"/>
            <a:ext cx="3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2A72C"/>
                </a:solidFill>
                <a:latin typeface="Aptos Slab ExtraBold"/>
              </a:rPr>
              <a:t>WHERE IN THE MENU</a:t>
            </a:r>
          </a:p>
        </p:txBody>
      </p:sp>
      <p:sp>
        <p:nvSpPr>
          <p:cNvPr id="9324" name="TextBox 9323"/>
          <p:cNvSpPr txBox="1"/>
          <p:nvPr/>
        </p:nvSpPr>
        <p:spPr>
          <a:xfrm>
            <a:off x="1085800" y="2947500"/>
            <a:ext cx="34000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Share ▸ Export Layout / Export Map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Presets give you a fast start for common outputs.</a:t>
            </a:r>
          </a:p>
        </p:txBody>
      </p:sp>
      <p:sp>
        <p:nvSpPr>
          <p:cNvPr id="9325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26" name="Rounded Rectangle 9325"/>
          <p:cNvSpPr/>
          <p:nvPr/>
        </p:nvSpPr>
        <p:spPr>
          <a:xfrm>
            <a:off x="4800000" y="1620000"/>
            <a:ext cx="6550000" cy="6248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7" name="Rounded Rectangle 9326"/>
          <p:cNvSpPr/>
          <p:nvPr/>
        </p:nvSpPr>
        <p:spPr>
          <a:xfrm>
            <a:off x="4800000" y="1620000"/>
            <a:ext cx="65500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8" name="Rectangle 9327"/>
          <p:cNvSpPr/>
          <p:nvPr/>
        </p:nvSpPr>
        <p:spPr>
          <a:xfrm>
            <a:off x="4800000" y="1864800"/>
            <a:ext cx="65500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9" name="TextBox 9328"/>
          <p:cNvSpPr txBox="1"/>
          <p:nvPr/>
        </p:nvSpPr>
        <p:spPr>
          <a:xfrm>
            <a:off x="4952400" y="1620000"/>
            <a:ext cx="625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9330" name="Rectangle 9329"/>
          <p:cNvSpPr/>
          <p:nvPr/>
        </p:nvSpPr>
        <p:spPr>
          <a:xfrm>
            <a:off x="4800000" y="1924800"/>
            <a:ext cx="65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1" name="TextBox 9330"/>
          <p:cNvSpPr txBox="1"/>
          <p:nvPr/>
        </p:nvSpPr>
        <p:spPr>
          <a:xfrm>
            <a:off x="48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9332" name="TextBox 9331"/>
          <p:cNvSpPr txBox="1"/>
          <p:nvPr/>
        </p:nvSpPr>
        <p:spPr>
          <a:xfrm>
            <a:off x="57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9333" name="TextBox 9332"/>
          <p:cNvSpPr txBox="1"/>
          <p:nvPr/>
        </p:nvSpPr>
        <p:spPr>
          <a:xfrm>
            <a:off x="67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9334" name="Rounded Rectangle 9333"/>
          <p:cNvSpPr/>
          <p:nvPr/>
        </p:nvSpPr>
        <p:spPr>
          <a:xfrm>
            <a:off x="7670000" y="1944800"/>
            <a:ext cx="940000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5" name="Rectangle 9334"/>
          <p:cNvSpPr/>
          <p:nvPr/>
        </p:nvSpPr>
        <p:spPr>
          <a:xfrm>
            <a:off x="7670000" y="2216800"/>
            <a:ext cx="940000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6" name="TextBox 9335"/>
          <p:cNvSpPr txBox="1"/>
          <p:nvPr/>
        </p:nvSpPr>
        <p:spPr>
          <a:xfrm>
            <a:off x="767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Share</a:t>
            </a:r>
          </a:p>
        </p:txBody>
      </p:sp>
      <p:sp>
        <p:nvSpPr>
          <p:cNvPr id="9337" name="TextBox 9336"/>
          <p:cNvSpPr txBox="1"/>
          <p:nvPr/>
        </p:nvSpPr>
        <p:spPr>
          <a:xfrm>
            <a:off x="8620000" y="1924800"/>
            <a:ext cx="94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Help</a:t>
            </a:r>
          </a:p>
        </p:txBody>
      </p:sp>
      <p:sp>
        <p:nvSpPr>
          <p:cNvPr id="9338" name="Rectangle 9337"/>
          <p:cNvSpPr/>
          <p:nvPr/>
        </p:nvSpPr>
        <p:spPr>
          <a:xfrm>
            <a:off x="4800000" y="2244800"/>
            <a:ext cx="6550000" cy="136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39" name="Picture 9338" descr="desktop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100" y="2290520"/>
            <a:ext cx="304800" cy="304800"/>
          </a:xfrm>
          <a:prstGeom prst="rect">
            <a:avLst/>
          </a:prstGeom>
        </p:spPr>
      </p:pic>
      <p:sp>
        <p:nvSpPr>
          <p:cNvPr id="9340" name="TextBox 9339"/>
          <p:cNvSpPr txBox="1"/>
          <p:nvPr/>
        </p:nvSpPr>
        <p:spPr>
          <a:xfrm>
            <a:off x="581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Print Layout</a:t>
            </a:r>
          </a:p>
        </p:txBody>
      </p:sp>
      <p:pic>
        <p:nvPicPr>
          <p:cNvPr id="9341" name="Picture 9340" descr="clipboard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00" y="2290520"/>
            <a:ext cx="304800" cy="304800"/>
          </a:xfrm>
          <a:prstGeom prst="rect">
            <a:avLst/>
          </a:prstGeom>
        </p:spPr>
      </p:pic>
      <p:sp>
        <p:nvSpPr>
          <p:cNvPr id="9342" name="TextBox 9341"/>
          <p:cNvSpPr txBox="1"/>
          <p:nvPr/>
        </p:nvSpPr>
        <p:spPr>
          <a:xfrm>
            <a:off x="6437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Task Layout</a:t>
            </a:r>
          </a:p>
        </p:txBody>
      </p:sp>
      <p:sp>
        <p:nvSpPr>
          <p:cNvPr id="9343" name="TextBox 9342"/>
          <p:cNvSpPr txBox="1"/>
          <p:nvPr/>
        </p:nvSpPr>
        <p:spPr>
          <a:xfrm>
            <a:off x="4830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Save As</a:t>
            </a:r>
          </a:p>
        </p:txBody>
      </p:sp>
      <p:sp>
        <p:nvSpPr>
          <p:cNvPr id="9344" name="Rectangle 9343"/>
          <p:cNvSpPr/>
          <p:nvPr/>
        </p:nvSpPr>
        <p:spPr>
          <a:xfrm>
            <a:off x="8075000" y="2304800"/>
            <a:ext cx="0" cy="1240000"/>
          </a:xfrm>
          <a:prstGeom prst="rect">
            <a:avLst/>
          </a:prstGeom>
          <a:noFill/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5" name="Rounded Rectangle 9344"/>
          <p:cNvSpPr/>
          <p:nvPr/>
        </p:nvSpPr>
        <p:spPr>
          <a:xfrm>
            <a:off x="9220100" y="2275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46" name="Picture 9345" descr="download_2b5c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100" y="2290520"/>
            <a:ext cx="304800" cy="304800"/>
          </a:xfrm>
          <a:prstGeom prst="rect">
            <a:avLst/>
          </a:prstGeom>
        </p:spPr>
      </p:pic>
      <p:sp>
        <p:nvSpPr>
          <p:cNvPr id="9347" name="TextBox 9346"/>
          <p:cNvSpPr txBox="1"/>
          <p:nvPr/>
        </p:nvSpPr>
        <p:spPr>
          <a:xfrm>
            <a:off x="909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Export Layout</a:t>
            </a:r>
          </a:p>
        </p:txBody>
      </p:sp>
      <p:pic>
        <p:nvPicPr>
          <p:cNvPr id="9348" name="Picture 9347" descr="clipboard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100" y="2290520"/>
            <a:ext cx="304800" cy="304800"/>
          </a:xfrm>
          <a:prstGeom prst="rect">
            <a:avLst/>
          </a:prstGeom>
        </p:spPr>
      </p:pic>
      <p:sp>
        <p:nvSpPr>
          <p:cNvPr id="9349" name="TextBox 9348"/>
          <p:cNvSpPr txBox="1"/>
          <p:nvPr/>
        </p:nvSpPr>
        <p:spPr>
          <a:xfrm>
            <a:off x="9712500" y="2615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Capture To Clipboard</a:t>
            </a:r>
          </a:p>
        </p:txBody>
      </p:sp>
      <p:sp>
        <p:nvSpPr>
          <p:cNvPr id="9350" name="TextBox 9349"/>
          <p:cNvSpPr txBox="1"/>
          <p:nvPr/>
        </p:nvSpPr>
        <p:spPr>
          <a:xfrm>
            <a:off x="8105000" y="3374800"/>
            <a:ext cx="3215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Share As</a:t>
            </a:r>
          </a:p>
        </p:txBody>
      </p:sp>
      <p:sp>
        <p:nvSpPr>
          <p:cNvPr id="9351" name="Rectangle 9350"/>
          <p:cNvSpPr/>
          <p:nvPr/>
        </p:nvSpPr>
        <p:spPr>
          <a:xfrm>
            <a:off x="4800000" y="3704800"/>
            <a:ext cx="6550000" cy="2315200"/>
          </a:xfrm>
          <a:prstGeom prst="rect">
            <a:avLst/>
          </a:prstGeom>
          <a:solidFill>
            <a:srgbClr val="F4F4F2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2" name="Rounded Rectangle 9351"/>
          <p:cNvSpPr/>
          <p:nvPr/>
        </p:nvSpPr>
        <p:spPr>
          <a:xfrm>
            <a:off x="4937160" y="384196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3" name="Rounded Rectangle 9352"/>
          <p:cNvSpPr/>
          <p:nvPr/>
        </p:nvSpPr>
        <p:spPr>
          <a:xfrm>
            <a:off x="5752626" y="396196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4" name="TextBox 9353"/>
          <p:cNvSpPr txBox="1"/>
          <p:nvPr/>
        </p:nvSpPr>
        <p:spPr>
          <a:xfrm>
            <a:off x="4937160" y="396196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AIX</a:t>
            </a:r>
          </a:p>
        </p:txBody>
      </p:sp>
      <p:sp>
        <p:nvSpPr>
          <p:cNvPr id="9355" name="TextBox 9354"/>
          <p:cNvSpPr txBox="1"/>
          <p:nvPr/>
        </p:nvSpPr>
        <p:spPr>
          <a:xfrm>
            <a:off x="4967160" y="444196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Default AIX</a:t>
            </a:r>
          </a:p>
        </p:txBody>
      </p:sp>
      <p:sp>
        <p:nvSpPr>
          <p:cNvPr id="9356" name="Rounded Rectangle 9355"/>
          <p:cNvSpPr/>
          <p:nvPr/>
        </p:nvSpPr>
        <p:spPr>
          <a:xfrm>
            <a:off x="7059533" y="384196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7" name="Rounded Rectangle 9356"/>
          <p:cNvSpPr/>
          <p:nvPr/>
        </p:nvSpPr>
        <p:spPr>
          <a:xfrm>
            <a:off x="7875000" y="396196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8" name="TextBox 9357"/>
          <p:cNvSpPr txBox="1"/>
          <p:nvPr/>
        </p:nvSpPr>
        <p:spPr>
          <a:xfrm>
            <a:off x="7059533" y="396196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PDF</a:t>
            </a:r>
          </a:p>
        </p:txBody>
      </p:sp>
      <p:sp>
        <p:nvSpPr>
          <p:cNvPr id="9359" name="TextBox 9358"/>
          <p:cNvSpPr txBox="1"/>
          <p:nvPr/>
        </p:nvSpPr>
        <p:spPr>
          <a:xfrm>
            <a:off x="7089533" y="444196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Flattened PDF</a:t>
            </a:r>
          </a:p>
        </p:txBody>
      </p:sp>
      <p:sp>
        <p:nvSpPr>
          <p:cNvPr id="9360" name="Rounded Rectangle 9359"/>
          <p:cNvSpPr/>
          <p:nvPr/>
        </p:nvSpPr>
        <p:spPr>
          <a:xfrm>
            <a:off x="9181906" y="384196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1" name="Rounded Rectangle 9360"/>
          <p:cNvSpPr/>
          <p:nvPr/>
        </p:nvSpPr>
        <p:spPr>
          <a:xfrm>
            <a:off x="9997373" y="396196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2" name="TextBox 9361"/>
          <p:cNvSpPr txBox="1"/>
          <p:nvPr/>
        </p:nvSpPr>
        <p:spPr>
          <a:xfrm>
            <a:off x="9181906" y="396196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PDF</a:t>
            </a:r>
          </a:p>
        </p:txBody>
      </p:sp>
      <p:sp>
        <p:nvSpPr>
          <p:cNvPr id="9363" name="TextBox 9362"/>
          <p:cNvSpPr txBox="1"/>
          <p:nvPr/>
        </p:nvSpPr>
        <p:spPr>
          <a:xfrm>
            <a:off x="9211906" y="444196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GeoRef PDF</a:t>
            </a:r>
          </a:p>
        </p:txBody>
      </p:sp>
      <p:sp>
        <p:nvSpPr>
          <p:cNvPr id="9364" name="Rounded Rectangle 9363"/>
          <p:cNvSpPr/>
          <p:nvPr/>
        </p:nvSpPr>
        <p:spPr>
          <a:xfrm>
            <a:off x="4937160" y="493340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5" name="Rounded Rectangle 9364"/>
          <p:cNvSpPr/>
          <p:nvPr/>
        </p:nvSpPr>
        <p:spPr>
          <a:xfrm>
            <a:off x="5752626" y="505340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6" name="TextBox 9365"/>
          <p:cNvSpPr txBox="1"/>
          <p:nvPr/>
        </p:nvSpPr>
        <p:spPr>
          <a:xfrm>
            <a:off x="4937160" y="505340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TIFF</a:t>
            </a:r>
          </a:p>
        </p:txBody>
      </p:sp>
      <p:sp>
        <p:nvSpPr>
          <p:cNvPr id="9367" name="TextBox 9366"/>
          <p:cNvSpPr txBox="1"/>
          <p:nvPr/>
        </p:nvSpPr>
        <p:spPr>
          <a:xfrm>
            <a:off x="4967160" y="553340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GeoTIFF</a:t>
            </a:r>
          </a:p>
        </p:txBody>
      </p:sp>
      <p:sp>
        <p:nvSpPr>
          <p:cNvPr id="9368" name="Rounded Rectangle 9367"/>
          <p:cNvSpPr/>
          <p:nvPr/>
        </p:nvSpPr>
        <p:spPr>
          <a:xfrm>
            <a:off x="7059533" y="493340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9" name="Rounded Rectangle 9368"/>
          <p:cNvSpPr/>
          <p:nvPr/>
        </p:nvSpPr>
        <p:spPr>
          <a:xfrm>
            <a:off x="7875000" y="505340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0" name="TextBox 9369"/>
          <p:cNvSpPr txBox="1"/>
          <p:nvPr/>
        </p:nvSpPr>
        <p:spPr>
          <a:xfrm>
            <a:off x="7059533" y="505340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PDF</a:t>
            </a:r>
          </a:p>
        </p:txBody>
      </p:sp>
      <p:sp>
        <p:nvSpPr>
          <p:cNvPr id="9371" name="TextBox 9370"/>
          <p:cNvSpPr txBox="1"/>
          <p:nvPr/>
        </p:nvSpPr>
        <p:spPr>
          <a:xfrm>
            <a:off x="7089533" y="553340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Vector PDF</a:t>
            </a:r>
          </a:p>
        </p:txBody>
      </p:sp>
      <p:sp>
        <p:nvSpPr>
          <p:cNvPr id="9372" name="Rounded Rectangle 9371"/>
          <p:cNvSpPr/>
          <p:nvPr/>
        </p:nvSpPr>
        <p:spPr>
          <a:xfrm>
            <a:off x="9181906" y="4933400"/>
            <a:ext cx="2030933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3" name="Rounded Rectangle 9372"/>
          <p:cNvSpPr/>
          <p:nvPr/>
        </p:nvSpPr>
        <p:spPr>
          <a:xfrm>
            <a:off x="9997373" y="5053400"/>
            <a:ext cx="400000" cy="400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63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4" name="TextBox 9373"/>
          <p:cNvSpPr txBox="1"/>
          <p:nvPr/>
        </p:nvSpPr>
        <p:spPr>
          <a:xfrm>
            <a:off x="9181906" y="5053400"/>
            <a:ext cx="2030933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JPEG</a:t>
            </a:r>
          </a:p>
        </p:txBody>
      </p:sp>
      <p:sp>
        <p:nvSpPr>
          <p:cNvPr id="9375" name="TextBox 9374"/>
          <p:cNvSpPr txBox="1"/>
          <p:nvPr/>
        </p:nvSpPr>
        <p:spPr>
          <a:xfrm>
            <a:off x="9211906" y="5533400"/>
            <a:ext cx="1970933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2A2E38"/>
                </a:solidFill>
                <a:latin typeface="Segoe UI"/>
              </a:rPr>
              <a:t>Web JPEG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26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27" name="TextBox 9326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28" name="TextBox 932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32  /  36</a:t>
            </a:r>
          </a:p>
        </p:txBody>
      </p:sp>
      <p:sp>
        <p:nvSpPr>
          <p:cNvPr id="9329" name="TextBox 9328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08 · FROM MAP TO LAYOUT &amp; EXPORT</a:t>
            </a:r>
          </a:p>
        </p:txBody>
      </p:sp>
      <p:sp>
        <p:nvSpPr>
          <p:cNvPr id="9330" name="TextBox 9329"/>
          <p:cNvSpPr txBox="1"/>
          <p:nvPr/>
        </p:nvSpPr>
        <p:spPr>
          <a:xfrm>
            <a:off x="1085800" y="1400000"/>
            <a:ext cx="4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Export Formats</a:t>
            </a:r>
          </a:p>
        </p:txBody>
      </p:sp>
      <p:sp>
        <p:nvSpPr>
          <p:cNvPr id="9331" name="TextBox 9330"/>
          <p:cNvSpPr txBox="1"/>
          <p:nvPr/>
        </p:nvSpPr>
        <p:spPr>
          <a:xfrm>
            <a:off x="1085800" y="2000000"/>
            <a:ext cx="3400000" cy="39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1">
                <a:solidFill>
                  <a:srgbClr val="A9BBCE"/>
                </a:solidFill>
                <a:latin typeface="Aptos Slab ExtraBold"/>
              </a:rPr>
              <a:t>You control file type, resolution, and output settings independently.</a:t>
            </a:r>
          </a:p>
        </p:txBody>
      </p:sp>
      <p:sp>
        <p:nvSpPr>
          <p:cNvPr id="9332" name="GlassPill"/>
          <p:cNvSpPr/>
          <p:nvPr/>
        </p:nvSpPr>
        <p:spPr>
          <a:xfrm>
            <a:off x="1085800" y="3050000"/>
            <a:ext cx="3400000" cy="78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33" name="TextBox 9332"/>
          <p:cNvSpPr txBox="1"/>
          <p:nvPr/>
        </p:nvSpPr>
        <p:spPr>
          <a:xfrm>
            <a:off x="1305800" y="316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PDF</a:t>
            </a:r>
          </a:p>
        </p:txBody>
      </p:sp>
      <p:sp>
        <p:nvSpPr>
          <p:cNvPr id="9334" name="TextBox 9333"/>
          <p:cNvSpPr txBox="1"/>
          <p:nvPr/>
        </p:nvSpPr>
        <p:spPr>
          <a:xfrm>
            <a:off x="1305800" y="347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Printing + reports.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Vector-crisp text at any size.</a:t>
            </a:r>
          </a:p>
        </p:txBody>
      </p:sp>
      <p:sp>
        <p:nvSpPr>
          <p:cNvPr id="9335" name="GlassPill"/>
          <p:cNvSpPr/>
          <p:nvPr/>
        </p:nvSpPr>
        <p:spPr>
          <a:xfrm>
            <a:off x="1085800" y="3950000"/>
            <a:ext cx="3400000" cy="78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36" name="TextBox 9335"/>
          <p:cNvSpPr txBox="1"/>
          <p:nvPr/>
        </p:nvSpPr>
        <p:spPr>
          <a:xfrm>
            <a:off x="1305800" y="406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PNG</a:t>
            </a:r>
          </a:p>
        </p:txBody>
      </p:sp>
      <p:sp>
        <p:nvSpPr>
          <p:cNvPr id="9337" name="TextBox 9336"/>
          <p:cNvSpPr txBox="1"/>
          <p:nvPr/>
        </p:nvSpPr>
        <p:spPr>
          <a:xfrm>
            <a:off x="1305800" y="437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Slides / web.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Lossless, supports transparency.</a:t>
            </a:r>
          </a:p>
        </p:txBody>
      </p:sp>
      <p:sp>
        <p:nvSpPr>
          <p:cNvPr id="9338" name="GlassPill"/>
          <p:cNvSpPr/>
          <p:nvPr/>
        </p:nvSpPr>
        <p:spPr>
          <a:xfrm>
            <a:off x="1085800" y="4850000"/>
            <a:ext cx="3400000" cy="78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39" name="TextBox 9338"/>
          <p:cNvSpPr txBox="1"/>
          <p:nvPr/>
        </p:nvSpPr>
        <p:spPr>
          <a:xfrm>
            <a:off x="1305800" y="496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TIFF</a:t>
            </a:r>
          </a:p>
        </p:txBody>
      </p:sp>
      <p:sp>
        <p:nvSpPr>
          <p:cNvPr id="9340" name="TextBox 9339"/>
          <p:cNvSpPr txBox="1"/>
          <p:nvPr/>
        </p:nvSpPr>
        <p:spPr>
          <a:xfrm>
            <a:off x="1305800" y="5270000"/>
            <a:ext cx="30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Publication-quality images.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E9F0F7"/>
                </a:solidFill>
                <a:latin typeface="Aptos Slab ExtraBold"/>
              </a:rPr>
              <a:t>Large files, archival.</a:t>
            </a:r>
          </a:p>
        </p:txBody>
      </p:sp>
      <p:sp>
        <p:nvSpPr>
          <p:cNvPr id="9341" name="GoldFrame"/>
          <p:cNvSpPr/>
          <p:nvPr/>
        </p:nvSpPr>
        <p:spPr>
          <a:xfrm>
            <a:off x="4700000" y="1520000"/>
            <a:ext cx="6750000" cy="460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70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42" name="Rectangle 9341"/>
          <p:cNvSpPr/>
          <p:nvPr/>
        </p:nvSpPr>
        <p:spPr>
          <a:xfrm>
            <a:off x="4850000" y="1670000"/>
            <a:ext cx="2850000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3" name="Rectangle 9342"/>
          <p:cNvSpPr/>
          <p:nvPr/>
        </p:nvSpPr>
        <p:spPr>
          <a:xfrm>
            <a:off x="4850000" y="1670000"/>
            <a:ext cx="28500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4" name="TextBox 9343"/>
          <p:cNvSpPr txBox="1"/>
          <p:nvPr/>
        </p:nvSpPr>
        <p:spPr>
          <a:xfrm>
            <a:off x="4987160" y="1670000"/>
            <a:ext cx="25756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Export Layout</a:t>
            </a:r>
          </a:p>
        </p:txBody>
      </p:sp>
      <p:sp>
        <p:nvSpPr>
          <p:cNvPr id="9345" name="TextBox 9344"/>
          <p:cNvSpPr txBox="1"/>
          <p:nvPr/>
        </p:nvSpPr>
        <p:spPr>
          <a:xfrm>
            <a:off x="4987160" y="2090000"/>
            <a:ext cx="25756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FILE TYPE</a:t>
            </a:r>
          </a:p>
        </p:txBody>
      </p:sp>
      <p:sp>
        <p:nvSpPr>
          <p:cNvPr id="9346" name="Rounded Rectangle 9345"/>
          <p:cNvSpPr/>
          <p:nvPr/>
        </p:nvSpPr>
        <p:spPr>
          <a:xfrm>
            <a:off x="4987160" y="2330000"/>
            <a:ext cx="2575680" cy="32000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9525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7" name="TextBox 9346"/>
          <p:cNvSpPr txBox="1"/>
          <p:nvPr/>
        </p:nvSpPr>
        <p:spPr>
          <a:xfrm>
            <a:off x="5050000" y="2330000"/>
            <a:ext cx="239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onsolas"/>
              </a:rPr>
              <a:t>PDF</a:t>
            </a:r>
          </a:p>
        </p:txBody>
      </p:sp>
      <p:sp>
        <p:nvSpPr>
          <p:cNvPr id="9348" name="TextBox 9347"/>
          <p:cNvSpPr txBox="1"/>
          <p:nvPr/>
        </p:nvSpPr>
        <p:spPr>
          <a:xfrm>
            <a:off x="7380000" y="2330000"/>
            <a:ext cx="18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A8B4AC"/>
                </a:solidFill>
                <a:latin typeface="Segoe UI"/>
              </a:rPr>
              <a:t>▾</a:t>
            </a:r>
          </a:p>
        </p:txBody>
      </p:sp>
      <p:sp>
        <p:nvSpPr>
          <p:cNvPr id="9349" name="TextBox 9348"/>
          <p:cNvSpPr txBox="1"/>
          <p:nvPr/>
        </p:nvSpPr>
        <p:spPr>
          <a:xfrm>
            <a:off x="4987160" y="2770000"/>
            <a:ext cx="2575680" cy="2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RESOLUTION (DPI)</a:t>
            </a:r>
          </a:p>
        </p:txBody>
      </p:sp>
      <p:sp>
        <p:nvSpPr>
          <p:cNvPr id="9350" name="Rounded Rectangle 9349"/>
          <p:cNvSpPr/>
          <p:nvPr/>
        </p:nvSpPr>
        <p:spPr>
          <a:xfrm>
            <a:off x="4987160" y="3000000"/>
            <a:ext cx="2575680" cy="28000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1" name="TextBox 9350"/>
          <p:cNvSpPr txBox="1"/>
          <p:nvPr/>
        </p:nvSpPr>
        <p:spPr>
          <a:xfrm>
            <a:off x="5050000" y="3000000"/>
            <a:ext cx="24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300</a:t>
            </a:r>
          </a:p>
        </p:txBody>
      </p:sp>
      <p:sp>
        <p:nvSpPr>
          <p:cNvPr id="9352" name="TextBox 9351"/>
          <p:cNvSpPr txBox="1"/>
          <p:nvPr/>
        </p:nvSpPr>
        <p:spPr>
          <a:xfrm>
            <a:off x="4987160" y="3340000"/>
            <a:ext cx="2575680" cy="2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WIDTH x HEIGHT</a:t>
            </a:r>
          </a:p>
        </p:txBody>
      </p:sp>
      <p:sp>
        <p:nvSpPr>
          <p:cNvPr id="9353" name="Rounded Rectangle 9352"/>
          <p:cNvSpPr/>
          <p:nvPr/>
        </p:nvSpPr>
        <p:spPr>
          <a:xfrm>
            <a:off x="4987160" y="3570000"/>
            <a:ext cx="2575680" cy="28000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4" name="TextBox 9353"/>
          <p:cNvSpPr txBox="1"/>
          <p:nvPr/>
        </p:nvSpPr>
        <p:spPr>
          <a:xfrm>
            <a:off x="5050000" y="3570000"/>
            <a:ext cx="24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3300 x 2550 px</a:t>
            </a:r>
          </a:p>
        </p:txBody>
      </p:sp>
      <p:sp>
        <p:nvSpPr>
          <p:cNvPr id="9355" name="TextBox 9354"/>
          <p:cNvSpPr txBox="1"/>
          <p:nvPr/>
        </p:nvSpPr>
        <p:spPr>
          <a:xfrm>
            <a:off x="4987160" y="3910000"/>
            <a:ext cx="2575680" cy="2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CLIP TO GRAPHICS EXTENT</a:t>
            </a:r>
          </a:p>
        </p:txBody>
      </p:sp>
      <p:sp>
        <p:nvSpPr>
          <p:cNvPr id="9356" name="Rounded Rectangle 9355"/>
          <p:cNvSpPr/>
          <p:nvPr/>
        </p:nvSpPr>
        <p:spPr>
          <a:xfrm>
            <a:off x="4987160" y="4140000"/>
            <a:ext cx="2575680" cy="28000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7" name="TextBox 9356"/>
          <p:cNvSpPr txBox="1"/>
          <p:nvPr/>
        </p:nvSpPr>
        <p:spPr>
          <a:xfrm>
            <a:off x="5050000" y="4140000"/>
            <a:ext cx="245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Off</a:t>
            </a:r>
          </a:p>
        </p:txBody>
      </p:sp>
      <p:sp>
        <p:nvSpPr>
          <p:cNvPr id="9358" name="Rounded Rectangle 9357"/>
          <p:cNvSpPr/>
          <p:nvPr/>
        </p:nvSpPr>
        <p:spPr>
          <a:xfrm>
            <a:off x="4987160" y="5492840"/>
            <a:ext cx="2575680" cy="340000"/>
          </a:xfrm>
          <a:prstGeom prst="roundRect">
            <a:avLst>
              <a:gd name="adj" fmla="val 12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9" name="TextBox 9358"/>
          <p:cNvSpPr txBox="1"/>
          <p:nvPr/>
        </p:nvSpPr>
        <p:spPr>
          <a:xfrm>
            <a:off x="4987160" y="5492840"/>
            <a:ext cx="257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Export</a:t>
            </a:r>
          </a:p>
        </p:txBody>
      </p:sp>
      <p:sp>
        <p:nvSpPr>
          <p:cNvPr id="9360" name="TextBox 9359"/>
          <p:cNvSpPr txBox="1"/>
          <p:nvPr/>
        </p:nvSpPr>
        <p:spPr>
          <a:xfrm>
            <a:off x="7850000" y="1720000"/>
            <a:ext cx="34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05D5D"/>
                </a:solidFill>
                <a:latin typeface="Aptos Slab ExtraBold"/>
              </a:rPr>
              <a:t>WATCH OUT</a:t>
            </a:r>
          </a:p>
        </p:txBody>
      </p:sp>
      <p:sp>
        <p:nvSpPr>
          <p:cNvPr id="9361" name="TextBox 9360"/>
          <p:cNvSpPr txBox="1"/>
          <p:nvPr/>
        </p:nvSpPr>
        <p:spPr>
          <a:xfrm>
            <a:off x="7850000" y="2140000"/>
            <a:ext cx="345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 i="0">
                <a:solidFill>
                  <a:srgbClr val="E9F0F7"/>
                </a:solidFill>
                <a:latin typeface="Aptos Slab ExtraBold"/>
              </a:rPr>
              <a:t>•  Low DPI = blurry text on print</a:t>
            </a:r>
          </a:p>
        </p:txBody>
      </p:sp>
      <p:sp>
        <p:nvSpPr>
          <p:cNvPr id="9362" name="TextBox 9361"/>
          <p:cNvSpPr txBox="1"/>
          <p:nvPr/>
        </p:nvSpPr>
        <p:spPr>
          <a:xfrm>
            <a:off x="7850000" y="2890000"/>
            <a:ext cx="345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 i="0">
                <a:solidFill>
                  <a:srgbClr val="E9F0F7"/>
                </a:solidFill>
                <a:latin typeface="Aptos Slab ExtraBold"/>
              </a:rPr>
              <a:t>•  Export Map ≠ Export Layout — Map skips the legend &amp; scale bar</a:t>
            </a:r>
          </a:p>
        </p:txBody>
      </p:sp>
      <p:sp>
        <p:nvSpPr>
          <p:cNvPr id="9363" name="TextBox 9362"/>
          <p:cNvSpPr txBox="1"/>
          <p:nvPr/>
        </p:nvSpPr>
        <p:spPr>
          <a:xfrm>
            <a:off x="7850000" y="3640000"/>
            <a:ext cx="345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 b="0" i="0">
                <a:solidFill>
                  <a:srgbClr val="E9F0F7"/>
                </a:solidFill>
                <a:latin typeface="Aptos Slab ExtraBold"/>
              </a:rPr>
              <a:t>•  Clip to graphics extent can unexpectedly crop content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42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43" name="TextBox 9342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44" name="TextBox 9343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33  /  36</a:t>
            </a:r>
          </a:p>
        </p:txBody>
      </p:sp>
      <p:sp>
        <p:nvSpPr>
          <p:cNvPr id="9345" name="TextBox 9344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09 · BRINGING IT TOGETHER</a:t>
            </a:r>
          </a:p>
        </p:txBody>
      </p:sp>
      <p:sp>
        <p:nvSpPr>
          <p:cNvPr id="9346" name="TextBox 9345"/>
          <p:cNvSpPr txBox="1"/>
          <p:nvPr/>
        </p:nvSpPr>
        <p:spPr>
          <a:xfrm>
            <a:off x="1085800" y="1400000"/>
            <a:ext cx="8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Case Study: Before &amp; After</a:t>
            </a:r>
          </a:p>
        </p:txBody>
      </p:sp>
      <p:sp>
        <p:nvSpPr>
          <p:cNvPr id="9347" name="TextBox 9346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Same data, same technique (Graduated Symbols) — applying these principles end to end.</a:t>
            </a:r>
          </a:p>
        </p:txBody>
      </p:sp>
      <p:sp>
        <p:nvSpPr>
          <p:cNvPr id="9348" name="GoldFrame"/>
          <p:cNvSpPr/>
          <p:nvPr/>
        </p:nvSpPr>
        <p:spPr>
          <a:xfrm>
            <a:off x="900000" y="2800000"/>
            <a:ext cx="5150000" cy="3750000"/>
          </a:xfrm>
          <a:prstGeom prst="roundRect">
            <a:avLst>
              <a:gd name="adj" fmla="val 3500"/>
            </a:avLst>
          </a:prstGeom>
          <a:solidFill>
            <a:srgbClr val="0B1220"/>
          </a:solidFill>
          <a:ln w="9525">
            <a:solidFill>
              <a:srgbClr val="F2A72C">
                <a:alpha val="35000"/>
              </a:srgbClr>
            </a:solidFill>
          </a:ln>
          <a:effectLst>
            <a:outerShdw blurRad="190000" dist="30000" dir="5400000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49" name="TextBox 9348"/>
          <p:cNvSpPr txBox="1"/>
          <p:nvPr/>
        </p:nvSpPr>
        <p:spPr>
          <a:xfrm>
            <a:off x="1020000" y="2890000"/>
            <a:ext cx="491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9BBCE"/>
                </a:solidFill>
                <a:latin typeface="Aptos Slab ExtraBold"/>
              </a:rPr>
              <a:t>BEFORE</a:t>
            </a:r>
          </a:p>
        </p:txBody>
      </p:sp>
      <p:pic>
        <p:nvPicPr>
          <p:cNvPr id="9350" name="Picture 9349" descr="before_graduated_symb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667" y="3250000"/>
            <a:ext cx="4066666" cy="3050000"/>
          </a:xfrm>
          <a:prstGeom prst="rect">
            <a:avLst/>
          </a:prstGeom>
        </p:spPr>
      </p:pic>
      <p:sp>
        <p:nvSpPr>
          <p:cNvPr id="9351" name="TextBox 9350"/>
          <p:cNvSpPr txBox="1"/>
          <p:nvPr/>
        </p:nvSpPr>
        <p:spPr>
          <a:xfrm>
            <a:off x="6300000" y="2500000"/>
            <a:ext cx="491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AFTER</a:t>
            </a:r>
          </a:p>
        </p:txBody>
      </p:sp>
      <p:pic>
        <p:nvPicPr>
          <p:cNvPr id="9352" name="Picture 9351" descr="map_graduated_symb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125" y="2800000"/>
            <a:ext cx="3393750" cy="375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4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0" name="TextBox 934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51" name="TextBox 9350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34  /  36</a:t>
            </a:r>
          </a:p>
        </p:txBody>
      </p:sp>
      <p:sp>
        <p:nvSpPr>
          <p:cNvPr id="9352" name="TextBox 9351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09 · BRINGING IT TOGETHER</a:t>
            </a:r>
          </a:p>
        </p:txBody>
      </p:sp>
      <p:sp>
        <p:nvSpPr>
          <p:cNvPr id="9353" name="TextBox 9352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Knowledge Check</a:t>
            </a:r>
          </a:p>
        </p:txBody>
      </p:sp>
      <p:sp>
        <p:nvSpPr>
          <p:cNvPr id="9354" name="TextBox 9353"/>
          <p:cNvSpPr txBox="1"/>
          <p:nvPr/>
        </p:nvSpPr>
        <p:spPr>
          <a:xfrm>
            <a:off x="1085800" y="2450000"/>
            <a:ext cx="70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Q1</a:t>
            </a:r>
          </a:p>
        </p:txBody>
      </p:sp>
      <p:sp>
        <p:nvSpPr>
          <p:cNvPr id="9355" name="TextBox 9354"/>
          <p:cNvSpPr txBox="1"/>
          <p:nvPr/>
        </p:nvSpPr>
        <p:spPr>
          <a:xfrm>
            <a:off x="1835800" y="2450000"/>
            <a:ext cx="927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E9F0F7"/>
                </a:solidFill>
                <a:latin typeface="Aptos Slab ExtraBold"/>
              </a:rPr>
              <a:t>What's the real difference between a reference map and a thematic map?</a:t>
            </a:r>
          </a:p>
        </p:txBody>
      </p:sp>
      <p:sp>
        <p:nvSpPr>
          <p:cNvPr id="9356" name="Rounded Rectangle 9355"/>
          <p:cNvSpPr/>
          <p:nvPr/>
        </p:nvSpPr>
        <p:spPr>
          <a:xfrm>
            <a:off x="1835800" y="2870000"/>
            <a:ext cx="9270400" cy="480000"/>
          </a:xfrm>
          <a:prstGeom prst="roundRect">
            <a:avLst/>
          </a:prstGeom>
          <a:solidFill>
            <a:srgbClr val="111822"/>
          </a:solidFill>
          <a:ln w="9525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357" name="TextBox 9356"/>
          <p:cNvSpPr txBox="1"/>
          <p:nvPr/>
        </p:nvSpPr>
        <p:spPr>
          <a:xfrm>
            <a:off x="2055800" y="296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E9F0F7"/>
                </a:solidFill>
                <a:latin typeface="Aptos Slab ExtraBold"/>
              </a:rPr>
              <a:t>A reference map shows where things are (accuracy first); a thematic map shows a pattern in data (one clear message first).</a:t>
            </a:r>
          </a:p>
        </p:txBody>
      </p:sp>
      <p:sp>
        <p:nvSpPr>
          <p:cNvPr id="9358" name="TextBox 9357"/>
          <p:cNvSpPr txBox="1"/>
          <p:nvPr/>
        </p:nvSpPr>
        <p:spPr>
          <a:xfrm>
            <a:off x="2055800" y="296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 i="1">
                <a:solidFill>
                  <a:srgbClr val="F2A72C"/>
                </a:solidFill>
                <a:latin typeface="Aptos Slab ExtraBold"/>
              </a:rPr>
              <a:t>▸  Click to reveal answer</a:t>
            </a:r>
          </a:p>
        </p:txBody>
      </p:sp>
      <p:sp>
        <p:nvSpPr>
          <p:cNvPr id="9359" name="TextBox 9358"/>
          <p:cNvSpPr txBox="1"/>
          <p:nvPr/>
        </p:nvSpPr>
        <p:spPr>
          <a:xfrm>
            <a:off x="1085800" y="3400000"/>
            <a:ext cx="70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Q2</a:t>
            </a:r>
          </a:p>
        </p:txBody>
      </p:sp>
      <p:sp>
        <p:nvSpPr>
          <p:cNvPr id="9360" name="TextBox 9359"/>
          <p:cNvSpPr txBox="1"/>
          <p:nvPr/>
        </p:nvSpPr>
        <p:spPr>
          <a:xfrm>
            <a:off x="1835800" y="3400000"/>
            <a:ext cx="927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E9F0F7"/>
                </a:solidFill>
                <a:latin typeface="Aptos Slab ExtraBold"/>
              </a:rPr>
              <a:t>Why does Web Mercator make Greenland look about the same size as Africa?</a:t>
            </a:r>
          </a:p>
        </p:txBody>
      </p:sp>
      <p:sp>
        <p:nvSpPr>
          <p:cNvPr id="9361" name="Rounded Rectangle 9360"/>
          <p:cNvSpPr/>
          <p:nvPr/>
        </p:nvSpPr>
        <p:spPr>
          <a:xfrm>
            <a:off x="1835800" y="3820000"/>
            <a:ext cx="9270400" cy="480000"/>
          </a:xfrm>
          <a:prstGeom prst="roundRect">
            <a:avLst/>
          </a:prstGeom>
          <a:solidFill>
            <a:srgbClr val="111822"/>
          </a:solidFill>
          <a:ln w="9525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362" name="TextBox 9361"/>
          <p:cNvSpPr txBox="1"/>
          <p:nvPr/>
        </p:nvSpPr>
        <p:spPr>
          <a:xfrm>
            <a:off x="2055800" y="391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E9F0F7"/>
                </a:solidFill>
                <a:latin typeface="Aptos Slab ExtraBold"/>
              </a:rPr>
              <a:t>Mercator preserves shape and direction but distorts area — and that distortion grows toward the poles, inflating high-latitude landmasses like Greenland.</a:t>
            </a:r>
          </a:p>
        </p:txBody>
      </p:sp>
      <p:sp>
        <p:nvSpPr>
          <p:cNvPr id="9363" name="TextBox 9362"/>
          <p:cNvSpPr txBox="1"/>
          <p:nvPr/>
        </p:nvSpPr>
        <p:spPr>
          <a:xfrm>
            <a:off x="2055800" y="391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 i="1">
                <a:solidFill>
                  <a:srgbClr val="F2A72C"/>
                </a:solidFill>
                <a:latin typeface="Aptos Slab ExtraBold"/>
              </a:rPr>
              <a:t>▸  Click to reveal answer</a:t>
            </a:r>
          </a:p>
        </p:txBody>
      </p:sp>
      <p:sp>
        <p:nvSpPr>
          <p:cNvPr id="9364" name="TextBox 9363"/>
          <p:cNvSpPr txBox="1"/>
          <p:nvPr/>
        </p:nvSpPr>
        <p:spPr>
          <a:xfrm>
            <a:off x="1085800" y="4350000"/>
            <a:ext cx="70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Q3</a:t>
            </a:r>
          </a:p>
        </p:txBody>
      </p:sp>
      <p:sp>
        <p:nvSpPr>
          <p:cNvPr id="9365" name="TextBox 9364"/>
          <p:cNvSpPr txBox="1"/>
          <p:nvPr/>
        </p:nvSpPr>
        <p:spPr>
          <a:xfrm>
            <a:off x="1835800" y="4350000"/>
            <a:ext cx="927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E9F0F7"/>
                </a:solidFill>
                <a:latin typeface="Aptos Slab ExtraBold"/>
              </a:rPr>
              <a:t>True or False: raw population counts by region are usually a good choropleth variable.</a:t>
            </a:r>
          </a:p>
        </p:txBody>
      </p:sp>
      <p:sp>
        <p:nvSpPr>
          <p:cNvPr id="9366" name="Rounded Rectangle 9365"/>
          <p:cNvSpPr/>
          <p:nvPr/>
        </p:nvSpPr>
        <p:spPr>
          <a:xfrm>
            <a:off x="1835800" y="4770000"/>
            <a:ext cx="9270400" cy="480000"/>
          </a:xfrm>
          <a:prstGeom prst="roundRect">
            <a:avLst/>
          </a:prstGeom>
          <a:solidFill>
            <a:srgbClr val="111822"/>
          </a:solidFill>
          <a:ln w="9525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367" name="TextBox 9366"/>
          <p:cNvSpPr txBox="1"/>
          <p:nvPr/>
        </p:nvSpPr>
        <p:spPr>
          <a:xfrm>
            <a:off x="2055800" y="486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E9F0F7"/>
                </a:solidFill>
                <a:latin typeface="Aptos Slab ExtraBold"/>
              </a:rPr>
              <a:t>False — raw counts mostly just show where the land area (or base population) is largest; use a normalized rate instead (e.g., people per sq. mi.).</a:t>
            </a:r>
          </a:p>
        </p:txBody>
      </p:sp>
      <p:sp>
        <p:nvSpPr>
          <p:cNvPr id="9368" name="TextBox 9367"/>
          <p:cNvSpPr txBox="1"/>
          <p:nvPr/>
        </p:nvSpPr>
        <p:spPr>
          <a:xfrm>
            <a:off x="2055800" y="486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 i="1">
                <a:solidFill>
                  <a:srgbClr val="F2A72C"/>
                </a:solidFill>
                <a:latin typeface="Aptos Slab ExtraBold"/>
              </a:rPr>
              <a:t>▸  Click to reveal answer</a:t>
            </a:r>
          </a:p>
        </p:txBody>
      </p:sp>
      <p:sp>
        <p:nvSpPr>
          <p:cNvPr id="9369" name="TextBox 9368"/>
          <p:cNvSpPr txBox="1"/>
          <p:nvPr/>
        </p:nvSpPr>
        <p:spPr>
          <a:xfrm>
            <a:off x="1085800" y="5300000"/>
            <a:ext cx="70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Q4</a:t>
            </a:r>
          </a:p>
        </p:txBody>
      </p:sp>
      <p:sp>
        <p:nvSpPr>
          <p:cNvPr id="9370" name="TextBox 9369"/>
          <p:cNvSpPr txBox="1"/>
          <p:nvPr/>
        </p:nvSpPr>
        <p:spPr>
          <a:xfrm>
            <a:off x="1835800" y="5300000"/>
            <a:ext cx="927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E9F0F7"/>
                </a:solidFill>
                <a:latin typeface="Aptos Slab ExtraBold"/>
              </a:rPr>
              <a:t>In ArcGIS Pro, what's the difference between Export Map and Export Layout?</a:t>
            </a:r>
          </a:p>
        </p:txBody>
      </p:sp>
      <p:sp>
        <p:nvSpPr>
          <p:cNvPr id="9371" name="Rounded Rectangle 9370"/>
          <p:cNvSpPr/>
          <p:nvPr/>
        </p:nvSpPr>
        <p:spPr>
          <a:xfrm>
            <a:off x="1835800" y="5720000"/>
            <a:ext cx="9270400" cy="480000"/>
          </a:xfrm>
          <a:prstGeom prst="roundRect">
            <a:avLst/>
          </a:prstGeom>
          <a:solidFill>
            <a:srgbClr val="111822"/>
          </a:solidFill>
          <a:ln w="9525">
            <a:solidFill>
              <a:srgbClr val="F2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</a:p>
        </p:txBody>
      </p:sp>
      <p:sp>
        <p:nvSpPr>
          <p:cNvPr id="9372" name="TextBox 9371"/>
          <p:cNvSpPr txBox="1"/>
          <p:nvPr/>
        </p:nvSpPr>
        <p:spPr>
          <a:xfrm>
            <a:off x="2055800" y="581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E9F0F7"/>
                </a:solidFill>
                <a:latin typeface="Aptos Slab ExtraBold"/>
              </a:rPr>
              <a:t>Export Map (from Map view) exports just the map data — no legend, scale bar, or title. Export Layout exports the full designed page.</a:t>
            </a:r>
          </a:p>
        </p:txBody>
      </p:sp>
      <p:sp>
        <p:nvSpPr>
          <p:cNvPr id="9373" name="TextBox 9372"/>
          <p:cNvSpPr txBox="1"/>
          <p:nvPr/>
        </p:nvSpPr>
        <p:spPr>
          <a:xfrm>
            <a:off x="2055800" y="5810000"/>
            <a:ext cx="8830400" cy="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>
            <a:spAutoFit/>
          </a:bodyPr>
          <a:lstStyle/>
          <a:p>
            <a:r>
              <a:rPr sz="1150" i="1">
                <a:solidFill>
                  <a:srgbClr val="F2A72C"/>
                </a:solidFill>
                <a:latin typeface="Aptos Slab ExtraBold"/>
              </a:rPr>
              <a:t>▸  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9356"/>
                    </p:tgtEl>
                  </p:cond>
                  <p:cond evt="onClick" delay="0">
                    <p:tgtEl>
                      <p:spTgt spid="9358"/>
                    </p:tgtEl>
                  </p:cond>
                  <p:cond evt="onClick" delay="0">
                    <p:tgtEl>
                      <p:spTgt spid="9357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9361"/>
                    </p:tgtEl>
                  </p:cond>
                  <p:cond evt="onClick" delay="0">
                    <p:tgtEl>
                      <p:spTgt spid="9363"/>
                    </p:tgtEl>
                  </p:cond>
                  <p:cond evt="onClick" delay="0">
                    <p:tgtEl>
                      <p:spTgt spid="9362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9366"/>
                    </p:tgtEl>
                  </p:cond>
                  <p:cond evt="onClick" delay="0">
                    <p:tgtEl>
                      <p:spTgt spid="9368"/>
                    </p:tgtEl>
                  </p:cond>
                  <p:cond evt="onClick" delay="0">
                    <p:tgtEl>
                      <p:spTgt spid="9367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9371"/>
                    </p:tgtEl>
                  </p:cond>
                  <p:cond evt="onClick" delay="0">
                    <p:tgtEl>
                      <p:spTgt spid="9373"/>
                    </p:tgtEl>
                  </p:cond>
                  <p:cond evt="onClick" delay="0">
                    <p:tgtEl>
                      <p:spTgt spid="9372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5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1" name="TextBox 9350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52" name="TextBox 9351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35  /  36</a:t>
            </a:r>
          </a:p>
        </p:txBody>
      </p:sp>
      <p:sp>
        <p:nvSpPr>
          <p:cNvPr id="9353" name="TextBox 9352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09 · BRINGING IT TOGETHER</a:t>
            </a:r>
          </a:p>
        </p:txBody>
      </p:sp>
      <p:sp>
        <p:nvSpPr>
          <p:cNvPr id="9354" name="TextBox 9353"/>
          <p:cNvSpPr txBox="1"/>
          <p:nvPr/>
        </p:nvSpPr>
        <p:spPr>
          <a:xfrm>
            <a:off x="1085800" y="1400000"/>
            <a:ext cx="98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Principles Checklist</a:t>
            </a:r>
          </a:p>
        </p:txBody>
      </p:sp>
      <p:sp>
        <p:nvSpPr>
          <p:cNvPr id="9355" name="TextBox 9354"/>
          <p:cNvSpPr txBox="1"/>
          <p:nvPr/>
        </p:nvSpPr>
        <p:spPr>
          <a:xfrm>
            <a:off x="1085800" y="2020000"/>
            <a:ext cx="9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The short version — worth pinning above your desk.</a:t>
            </a:r>
          </a:p>
        </p:txBody>
      </p:sp>
      <p:sp>
        <p:nvSpPr>
          <p:cNvPr id="9356" name="TextBox 9355"/>
          <p:cNvSpPr txBox="1"/>
          <p:nvPr/>
        </p:nvSpPr>
        <p:spPr>
          <a:xfrm>
            <a:off x="1085800" y="26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57" name="TextBox 9356"/>
          <p:cNvSpPr txBox="1"/>
          <p:nvPr/>
        </p:nvSpPr>
        <p:spPr>
          <a:xfrm>
            <a:off x="1505800" y="26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Know the map's purpose and audience before anything else</a:t>
            </a:r>
          </a:p>
        </p:txBody>
      </p:sp>
      <p:sp>
        <p:nvSpPr>
          <p:cNvPr id="9358" name="TextBox 9357"/>
          <p:cNvSpPr txBox="1"/>
          <p:nvPr/>
        </p:nvSpPr>
        <p:spPr>
          <a:xfrm>
            <a:off x="1085800" y="35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59" name="TextBox 9358"/>
          <p:cNvSpPr txBox="1"/>
          <p:nvPr/>
        </p:nvSpPr>
        <p:spPr>
          <a:xfrm>
            <a:off x="1505800" y="35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Separate figure from ground — give the data visual priority</a:t>
            </a:r>
          </a:p>
        </p:txBody>
      </p:sp>
      <p:sp>
        <p:nvSpPr>
          <p:cNvPr id="9360" name="TextBox 9359"/>
          <p:cNvSpPr txBox="1"/>
          <p:nvPr/>
        </p:nvSpPr>
        <p:spPr>
          <a:xfrm>
            <a:off x="1085800" y="4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61" name="TextBox 9360"/>
          <p:cNvSpPr txBox="1"/>
          <p:nvPr/>
        </p:nvSpPr>
        <p:spPr>
          <a:xfrm>
            <a:off x="1505800" y="44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Match the visual variable to the data type (ordered vs. categorical)</a:t>
            </a:r>
          </a:p>
        </p:txBody>
      </p:sp>
      <p:sp>
        <p:nvSpPr>
          <p:cNvPr id="9362" name="TextBox 9361"/>
          <p:cNvSpPr txBox="1"/>
          <p:nvPr/>
        </p:nvSpPr>
        <p:spPr>
          <a:xfrm>
            <a:off x="1085800" y="5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63" name="TextBox 9362"/>
          <p:cNvSpPr txBox="1"/>
          <p:nvPr/>
        </p:nvSpPr>
        <p:spPr>
          <a:xfrm>
            <a:off x="1505800" y="53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Normalize choropleth data — rates, not raw counts</a:t>
            </a:r>
          </a:p>
        </p:txBody>
      </p:sp>
      <p:sp>
        <p:nvSpPr>
          <p:cNvPr id="9364" name="TextBox 9363"/>
          <p:cNvSpPr txBox="1"/>
          <p:nvPr/>
        </p:nvSpPr>
        <p:spPr>
          <a:xfrm>
            <a:off x="6255800" y="26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65" name="TextBox 9364"/>
          <p:cNvSpPr txBox="1"/>
          <p:nvPr/>
        </p:nvSpPr>
        <p:spPr>
          <a:xfrm>
            <a:off x="6675800" y="26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Pick a projection on purpose, not by default</a:t>
            </a:r>
          </a:p>
        </p:txBody>
      </p:sp>
      <p:sp>
        <p:nvSpPr>
          <p:cNvPr id="9366" name="TextBox 9365"/>
          <p:cNvSpPr txBox="1"/>
          <p:nvPr/>
        </p:nvSpPr>
        <p:spPr>
          <a:xfrm>
            <a:off x="6255800" y="35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67" name="TextBox 9366"/>
          <p:cNvSpPr txBox="1"/>
          <p:nvPr/>
        </p:nvSpPr>
        <p:spPr>
          <a:xfrm>
            <a:off x="6675800" y="35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Generalize geometry to match the map's actual scale</a:t>
            </a:r>
          </a:p>
        </p:txBody>
      </p:sp>
      <p:sp>
        <p:nvSpPr>
          <p:cNvPr id="9368" name="TextBox 9367"/>
          <p:cNvSpPr txBox="1"/>
          <p:nvPr/>
        </p:nvSpPr>
        <p:spPr>
          <a:xfrm>
            <a:off x="6255800" y="44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69" name="TextBox 9368"/>
          <p:cNvSpPr txBox="1"/>
          <p:nvPr/>
        </p:nvSpPr>
        <p:spPr>
          <a:xfrm>
            <a:off x="6675800" y="44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Design for colorblind readers by default, not as an afterthought</a:t>
            </a:r>
          </a:p>
        </p:txBody>
      </p:sp>
      <p:sp>
        <p:nvSpPr>
          <p:cNvPr id="9370" name="TextBox 9369"/>
          <p:cNvSpPr txBox="1"/>
          <p:nvPr/>
        </p:nvSpPr>
        <p:spPr>
          <a:xfrm>
            <a:off x="6255800" y="5350000"/>
            <a:ext cx="38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2A72C"/>
                </a:solidFill>
                <a:latin typeface="Aptos Slab ExtraBold"/>
              </a:rPr>
              <a:t>✓</a:t>
            </a:r>
          </a:p>
        </p:txBody>
      </p:sp>
      <p:sp>
        <p:nvSpPr>
          <p:cNvPr id="9371" name="TextBox 9370"/>
          <p:cNvSpPr txBox="1"/>
          <p:nvPr/>
        </p:nvSpPr>
        <p:spPr>
          <a:xfrm>
            <a:off x="6675800" y="5360000"/>
            <a:ext cx="443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E9F0F7"/>
                </a:solidFill>
                <a:latin typeface="Aptos Slab ExtraBold"/>
              </a:rPr>
              <a:t>Proof the export at the resolution and medium it will actually be viewed in</a:t>
            </a:r>
          </a:p>
        </p:txBody>
      </p:sp>
      <p:sp>
        <p:nvSpPr>
          <p:cNvPr id="9372" name="TextBox 9371"/>
          <p:cNvSpPr txBox="1"/>
          <p:nvPr/>
        </p:nvSpPr>
        <p:spPr>
          <a:xfrm>
            <a:off x="1085800" y="6480000"/>
            <a:ext cx="9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A9BBCE"/>
                </a:solidFill>
                <a:latin typeface="Aptos Slab ExtraBold"/>
              </a:rPr>
              <a:t>Companion deck: Symbology &amp; Map Classification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51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2" name="TextBox 9351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CARTOGRAPHIC PRINCIPLES</a:t>
            </a:r>
          </a:p>
        </p:txBody>
      </p:sp>
      <p:sp>
        <p:nvSpPr>
          <p:cNvPr id="9353" name="TextBox 9352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36  /  36</a:t>
            </a:r>
          </a:p>
        </p:txBody>
      </p:sp>
      <p:sp>
        <p:nvSpPr>
          <p:cNvPr id="9354" name="TextBox 9353"/>
          <p:cNvSpPr txBox="1"/>
          <p:nvPr/>
        </p:nvSpPr>
        <p:spPr>
          <a:xfrm>
            <a:off x="1085800" y="1120000"/>
            <a:ext cx="95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SECTION 09 · BRINGING IT TOGETHER</a:t>
            </a:r>
          </a:p>
        </p:txBody>
      </p:sp>
      <p:sp>
        <p:nvSpPr>
          <p:cNvPr id="9355" name="TextBox 9354"/>
          <p:cNvSpPr txBox="1"/>
          <p:nvPr/>
        </p:nvSpPr>
        <p:spPr>
          <a:xfrm>
            <a:off x="1085800" y="1400000"/>
            <a:ext cx="100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E9F0F7"/>
                </a:solidFill>
                <a:latin typeface="Aptos Slab ExtraBold"/>
              </a:rPr>
              <a:t>Further Reading: Real-World Galleries</a:t>
            </a:r>
          </a:p>
        </p:txBody>
      </p:sp>
      <p:sp>
        <p:nvSpPr>
          <p:cNvPr id="9356" name="TextBox 9355"/>
          <p:cNvSpPr txBox="1"/>
          <p:nvPr/>
        </p:nvSpPr>
        <p:spPr>
          <a:xfrm>
            <a:off x="1085800" y="2020000"/>
            <a:ext cx="104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A9BBCE"/>
                </a:solidFill>
                <a:latin typeface="Aptos Slab ExtraBold"/>
              </a:rPr>
              <a:t>For more inspiration once the fundamentals are second nature — curated by real cartographers and institutions, not built for this deck.</a:t>
            </a:r>
          </a:p>
        </p:txBody>
      </p:sp>
      <p:sp>
        <p:nvSpPr>
          <p:cNvPr id="9357" name="GlassPill"/>
          <p:cNvSpPr/>
          <p:nvPr/>
        </p:nvSpPr>
        <p:spPr>
          <a:xfrm>
            <a:off x="1085800" y="2600000"/>
            <a:ext cx="3346666" cy="20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58" name="TextBox 9357"/>
          <p:cNvSpPr txBox="1"/>
          <p:nvPr/>
        </p:nvSpPr>
        <p:spPr>
          <a:xfrm>
            <a:off x="1265800" y="2726000"/>
            <a:ext cx="2986666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Tufts GIS Poster Expo Gallery</a:t>
            </a:r>
          </a:p>
        </p:txBody>
      </p:sp>
      <p:sp>
        <p:nvSpPr>
          <p:cNvPr id="9359" name="TextBox 9358"/>
          <p:cNvSpPr txBox="1"/>
          <p:nvPr/>
        </p:nvSpPr>
        <p:spPr>
          <a:xfrm>
            <a:off x="1265800" y="3066000"/>
            <a:ext cx="2986666" cy="15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Student cartography posters spanning choropleth design, 3D terrain, and more, from Tufts' GIS course sequence.</a:t>
            </a:r>
          </a:p>
        </p:txBody>
      </p:sp>
      <p:sp>
        <p:nvSpPr>
          <p:cNvPr id="9360" name="GlassPill"/>
          <p:cNvSpPr/>
          <p:nvPr/>
        </p:nvSpPr>
        <p:spPr>
          <a:xfrm>
            <a:off x="4612466" y="2600000"/>
            <a:ext cx="3346666" cy="20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61" name="TextBox 9360"/>
          <p:cNvSpPr txBox="1"/>
          <p:nvPr/>
        </p:nvSpPr>
        <p:spPr>
          <a:xfrm>
            <a:off x="4792466" y="2726000"/>
            <a:ext cx="2986666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NACIS Atlas of Design</a:t>
            </a:r>
          </a:p>
        </p:txBody>
      </p:sp>
      <p:sp>
        <p:nvSpPr>
          <p:cNvPr id="9362" name="TextBox 9361"/>
          <p:cNvSpPr txBox="1"/>
          <p:nvPr/>
        </p:nvSpPr>
        <p:spPr>
          <a:xfrm>
            <a:off x="4792466" y="3066000"/>
            <a:ext cx="2986666" cy="15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A biennial, juried showcase of the year's best cartography, published by the North American Cartographic Information Society.</a:t>
            </a:r>
          </a:p>
        </p:txBody>
      </p:sp>
      <p:sp>
        <p:nvSpPr>
          <p:cNvPr id="9363" name="GlassPill"/>
          <p:cNvSpPr/>
          <p:nvPr/>
        </p:nvSpPr>
        <p:spPr>
          <a:xfrm>
            <a:off x="8139133" y="2600000"/>
            <a:ext cx="3346666" cy="205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64" name="TextBox 9363"/>
          <p:cNvSpPr txBox="1"/>
          <p:nvPr/>
        </p:nvSpPr>
        <p:spPr>
          <a:xfrm>
            <a:off x="8319133" y="2726000"/>
            <a:ext cx="2986666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2A72C"/>
                </a:solidFill>
                <a:latin typeface="Aptos Slab ExtraBold"/>
              </a:rPr>
              <a:t>ICA Commission on Map Design</a:t>
            </a:r>
          </a:p>
        </p:txBody>
      </p:sp>
      <p:sp>
        <p:nvSpPr>
          <p:cNvPr id="9365" name="TextBox 9364"/>
          <p:cNvSpPr txBox="1"/>
          <p:nvPr/>
        </p:nvSpPr>
        <p:spPr>
          <a:xfrm>
            <a:off x="8319133" y="3066000"/>
            <a:ext cx="2986666" cy="15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Ongoing map-design research and experiments from the International Cartographic Association.</a:t>
            </a:r>
          </a:p>
        </p:txBody>
      </p:sp>
      <p:sp>
        <p:nvSpPr>
          <p:cNvPr id="9366" name="TextBox 9365"/>
          <p:cNvSpPr txBox="1"/>
          <p:nvPr/>
        </p:nvSpPr>
        <p:spPr>
          <a:xfrm>
            <a:off x="1085800" y="4880000"/>
            <a:ext cx="104000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A9BBCE"/>
                </a:solidFill>
                <a:latin typeface="Aptos Slab ExtraBold"/>
              </a:rPr>
              <a:t>These galleries feature copyrighted work by individual cartographers and institutions — browse and enjoy, but ask before reusing any of the images themselves.</a:t>
            </a:r>
          </a:p>
        </p:txBody>
      </p:sp>
      <p:sp>
        <p:nvSpPr>
          <p:cNvPr id="9367" name="TextBox 9366"/>
          <p:cNvSpPr txBox="1"/>
          <p:nvPr/>
        </p:nvSpPr>
        <p:spPr>
          <a:xfrm>
            <a:off x="1085800" y="536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2A72C"/>
                </a:solidFill>
                <a:latin typeface="Aptos Slab ExtraBold"/>
              </a:rPr>
              <a:t>Sources</a:t>
            </a:r>
          </a:p>
        </p:txBody>
      </p:sp>
      <p:sp>
        <p:nvSpPr>
          <p:cNvPr id="9368" name="TextBox 9367"/>
          <p:cNvSpPr txBox="1"/>
          <p:nvPr/>
        </p:nvSpPr>
        <p:spPr>
          <a:xfrm>
            <a:off x="1085800" y="5660000"/>
            <a:ext cx="10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Tufts GIS Poster Expo Gallery — sites.tufts.edu/gis/2018-gis-poster-expo-gallery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NACIS Atlas of Design — atlasofdesign.org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E9F0F7"/>
                </a:solidFill>
                <a:latin typeface="Aptos Slab ExtraBold"/>
              </a:rPr>
              <a:t>ICA Commission on Map Design — mapdesign.icaci.org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