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12.xml"/><Relationship Id="rId4" Type="http://schemas.openxmlformats.org/officeDocument/2006/relationships/slide" Target="slide2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slide" Target="slide3.xml"/><Relationship Id="rId4" Type="http://schemas.openxmlformats.org/officeDocument/2006/relationships/slide" Target="slide12.xml"/><Relationship Id="rId5" Type="http://schemas.openxmlformats.org/officeDocument/2006/relationships/slide" Target="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data.cityofnewyork.us" TargetMode="External"/><Relationship Id="rId3" Type="http://schemas.openxmlformats.org/officeDocument/2006/relationships/hyperlink" Target="https://www.nyc.gov/site/planning/data-maps/open-data/dwn-pluto-mappluto.page" TargetMode="External"/><Relationship Id="rId4" Type="http://schemas.openxmlformats.org/officeDocument/2006/relationships/hyperlink" Target="https://popfactfinder.planning.nyc.gov" TargetMode="External"/><Relationship Id="rId5" Type="http://schemas.openxmlformats.org/officeDocument/2006/relationships/hyperlink" Target="https://www.nyc.gov/site/nypd/stats/crime-statistics/citywide-crime-stats.page" TargetMode="External"/><Relationship Id="rId6" Type="http://schemas.openxmlformats.org/officeDocument/2006/relationships/hyperlink" Target="https://www.nyc.gov/html/dot/html/about/datafeeds.shtml" TargetMode="External"/><Relationship Id="rId7" Type="http://schemas.openxmlformats.org/officeDocument/2006/relationships/hyperlink" Target="https://www.nycgovparks.org/regulations/gis-mapping-porta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.lacity.org" TargetMode="External"/><Relationship Id="rId3" Type="http://schemas.openxmlformats.org/officeDocument/2006/relationships/hyperlink" Target="https://data.cityofchicago.org" TargetMode="External"/><Relationship Id="rId4" Type="http://schemas.openxmlformats.org/officeDocument/2006/relationships/hyperlink" Target="https://data.houstontx.gov" TargetMode="External"/><Relationship Id="rId5" Type="http://schemas.openxmlformats.org/officeDocument/2006/relationships/hyperlink" Target="https://opendataphilly.org" TargetMode="External"/><Relationship Id="rId6" Type="http://schemas.openxmlformats.org/officeDocument/2006/relationships/hyperlink" Target="https://data.sanantonio.gov" TargetMode="External"/><Relationship Id="rId7" Type="http://schemas.openxmlformats.org/officeDocument/2006/relationships/hyperlink" Target="https://data.sandiego.gov" TargetMode="External"/><Relationship Id="rId8" Type="http://schemas.openxmlformats.org/officeDocument/2006/relationships/hyperlink" Target="https://dallasopendata.com" TargetMode="External"/><Relationship Id="rId9" Type="http://schemas.openxmlformats.org/officeDocument/2006/relationships/hyperlink" Target="https://data.sanjoseca.gov" TargetMode="External"/><Relationship Id="rId10" Type="http://schemas.openxmlformats.org/officeDocument/2006/relationships/hyperlink" Target="https://data.austintexas.gov" TargetMode="External"/><Relationship Id="rId11" Type="http://schemas.openxmlformats.org/officeDocument/2006/relationships/hyperlink" Target="https://data.sfgov.org" TargetMode="External"/><Relationship Id="rId12" Type="http://schemas.openxmlformats.org/officeDocument/2006/relationships/hyperlink" Target="https://data.seattle.gov" TargetMode="External"/><Relationship Id="rId13" Type="http://schemas.openxmlformats.org/officeDocument/2006/relationships/hyperlink" Target="https://denvergov.org/opendata" TargetMode="External"/><Relationship Id="rId14" Type="http://schemas.openxmlformats.org/officeDocument/2006/relationships/hyperlink" Target="https://opendata.dc.gov" TargetMode="External"/><Relationship Id="rId15" Type="http://schemas.openxmlformats.org/officeDocument/2006/relationships/hyperlink" Target="https://data.nashville.gov" TargetMode="External"/><Relationship Id="rId16" Type="http://schemas.openxmlformats.org/officeDocument/2006/relationships/hyperlink" Target="https://data.boston.gov" TargetMode="External"/><Relationship Id="rId17" Type="http://schemas.openxmlformats.org/officeDocument/2006/relationships/hyperlink" Target="https://data.baltimorecity.gov" TargetMode="External"/><Relationship Id="rId18" Type="http://schemas.openxmlformats.org/officeDocument/2006/relationships/hyperlink" Target="https://opendata.minneapolismn.gov" TargetMode="External"/><Relationship Id="rId19" Type="http://schemas.openxmlformats.org/officeDocument/2006/relationships/hyperlink" Target="https://gis.portlandmaps.com" TargetMode="External"/><Relationship Id="rId20" Type="http://schemas.openxmlformats.org/officeDocument/2006/relationships/hyperlink" Target="https://data.raleighnc.gov" TargetMode="External"/><Relationship Id="rId21" Type="http://schemas.openxmlformats.org/officeDocument/2006/relationships/hyperlink" Target="https://data.atlantaga.gov" TargetMode="External"/><Relationship Id="rId22" Type="http://schemas.openxmlformats.org/officeDocument/2006/relationships/hyperlink" Target="https://data.kcmo.org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ata.ny.gov" TargetMode="External"/><Relationship Id="rId3" Type="http://schemas.openxmlformats.org/officeDocument/2006/relationships/hyperlink" Target="https://dec.ny.gov/environmental-protection/site-cleanup/database-search" TargetMode="External"/><Relationship Id="rId4" Type="http://schemas.openxmlformats.org/officeDocument/2006/relationships/hyperlink" Target="https://nces.ed.gov/programs/edge/Geographic/DistrictBoundaries" TargetMode="External"/><Relationship Id="rId5" Type="http://schemas.openxmlformats.org/officeDocument/2006/relationships/hyperlink" Target="https://www.countyhealthrankings.org" TargetMode="External"/><Relationship Id="rId6" Type="http://schemas.openxmlformats.org/officeDocument/2006/relationships/hyperlink" Target="https://www.census.gov/data/tables/time-series/demo/geographic-mobility/state-to-state-migration.html" TargetMode="External"/><Relationship Id="rId7" Type="http://schemas.openxmlformats.org/officeDocument/2006/relationships/hyperlink" Target="https://www.census.gov/geo/tiger/TIGER2022/COUNTY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azards.fema.gov/nri/" TargetMode="External"/><Relationship Id="rId3" Type="http://schemas.openxmlformats.org/officeDocument/2006/relationships/hyperlink" Target="https://cde.ucr.cjis.gov" TargetMode="External"/><Relationship Id="rId4" Type="http://schemas.openxmlformats.org/officeDocument/2006/relationships/hyperlink" Target="https://wonder.cdc.gov" TargetMode="External"/><Relationship Id="rId5" Type="http://schemas.openxmlformats.org/officeDocument/2006/relationships/hyperlink" Target="https://data.census.gov" TargetMode="External"/><Relationship Id="rId6" Type="http://schemas.openxmlformats.org/officeDocument/2006/relationships/hyperlink" Target="https://www.census.gov/geo/maps-data/data/tiger-line.html" TargetMode="External"/><Relationship Id="rId7" Type="http://schemas.openxmlformats.org/officeDocument/2006/relationships/hyperlink" Target="https://www.mrlc.gov/data" TargetMode="External"/><Relationship Id="rId8" Type="http://schemas.openxmlformats.org/officeDocument/2006/relationships/hyperlink" Target="https://earthexplorer.usgs.gov" TargetMode="External"/><Relationship Id="rId9" Type="http://schemas.openxmlformats.org/officeDocument/2006/relationships/hyperlink" Target="https://apps.nationalmap.gov/downloader/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naturalearthdata.com" TargetMode="External"/><Relationship Id="rId3" Type="http://schemas.openxmlformats.org/officeDocument/2006/relationships/hyperlink" Target="https://gadm.org" TargetMode="External"/><Relationship Id="rId4" Type="http://schemas.openxmlformats.org/officeDocument/2006/relationships/hyperlink" Target="https://www.openstreetmap.org" TargetMode="External"/><Relationship Id="rId5" Type="http://schemas.openxmlformats.org/officeDocument/2006/relationships/hyperlink" Target="https://data.worldbank.org" TargetMode="External"/><Relationship Id="rId6" Type="http://schemas.openxmlformats.org/officeDocument/2006/relationships/hyperlink" Target="https://data.un.org" TargetMode="External"/><Relationship Id="rId7" Type="http://schemas.openxmlformats.org/officeDocument/2006/relationships/hyperlink" Target="https://www.earthdata.nasa.gov" TargetMode="External"/><Relationship Id="rId8" Type="http://schemas.openxmlformats.org/officeDocument/2006/relationships/hyperlink" Target="https://www.globalforestwatch.org" TargetMode="External"/><Relationship Id="rId9" Type="http://schemas.openxmlformats.org/officeDocument/2006/relationships/hyperlink" Target="https://ebird.org/home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06000" y="-900000"/>
            <a:ext cx="3200000" cy="3200000"/>
          </a:xfrm>
          <a:prstGeom prst="ellipse">
            <a:avLst/>
          </a:prstGeom>
          <a:solidFill>
            <a:srgbClr val="2A2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92000" y="-300000"/>
            <a:ext cx="1600000" cy="1600000"/>
          </a:xfrm>
          <a:prstGeom prst="ellipse">
            <a:avLst/>
          </a:prstGeom>
          <a:solidFill>
            <a:srgbClr val="1E1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9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 spc="250">
                <a:solidFill>
                  <a:srgbClr val="D8783D"/>
                </a:solidFill>
                <a:latin typeface="Segoe UI"/>
              </a:rPr>
              <a:t>ARCGIS PRO · DATA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2320000"/>
            <a:ext cx="10566400" cy="5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Finding, Acquiring &amp; Adding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3050000"/>
            <a:ext cx="100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0" i="1">
                <a:solidFill>
                  <a:srgbClr val="C7B59D"/>
                </a:solidFill>
                <a:latin typeface="Segoe UI"/>
              </a:rPr>
              <a:t>From an open-data portal to a working ArcGIS Pro map -- every source and every method, step by 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3750000"/>
            <a:ext cx="10566400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2800" y="3980000"/>
            <a:ext cx="90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 spc="200">
                <a:solidFill>
                  <a:srgbClr val="6E9B6B"/>
                </a:solidFill>
                <a:latin typeface="Segoe UI"/>
              </a:rPr>
              <a:t>JUMP TO A SECTION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812800" y="4360000"/>
            <a:ext cx="3369733" cy="165000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95680" y="4497160"/>
            <a:ext cx="3003973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D8783D"/>
                </a:solidFill>
                <a:latin typeface="Segoe UI"/>
              </a:rPr>
              <a:t>01</a:t>
            </a:r>
          </a:p>
        </p:txBody>
      </p:sp>
      <p:sp>
        <p:nvSpPr>
          <p:cNvPr id="12" name="TextBox 11">
            <a:hlinkClick action="ppaction://hlinksldjump" r:id="rId2"/>
          </p:cNvPr>
          <p:cNvSpPr txBox="1"/>
          <p:nvPr/>
        </p:nvSpPr>
        <p:spPr>
          <a:xfrm>
            <a:off x="995680" y="4840060"/>
            <a:ext cx="3003973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 u="sng">
                <a:solidFill>
                  <a:srgbClr val="FFFFFF"/>
                </a:solidFill>
                <a:latin typeface="Segoe UI"/>
              </a:rPr>
              <a:t>Data Resources Exploration</a:t>
            </a:r>
          </a:p>
        </p:txBody>
      </p:sp>
      <p:sp>
        <p:nvSpPr>
          <p:cNvPr id="13" name="TextBox 12">
            <a:hlinkClick action="ppaction://hlinksldjump" r:id="rId2"/>
          </p:cNvPr>
          <p:cNvSpPr txBox="1"/>
          <p:nvPr/>
        </p:nvSpPr>
        <p:spPr>
          <a:xfrm>
            <a:off x="995680" y="5280000"/>
            <a:ext cx="3003973" cy="6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C7B59D"/>
                </a:solidFill>
                <a:latin typeface="Segoe UI"/>
              </a:rPr>
              <a:t>Where public GIS data actually lives, at every geographic scale from a single city to the whole planet</a:t>
            </a:r>
          </a:p>
        </p:txBody>
      </p:sp>
      <p:sp>
        <p:nvSpPr>
          <p:cNvPr id="14" name="Rounded Rectangle 13">
            <a:hlinkClick action="ppaction://hlinksldjump" r:id="rId3"/>
          </p:cNvPr>
          <p:cNvSpPr/>
          <p:nvPr/>
        </p:nvSpPr>
        <p:spPr>
          <a:xfrm>
            <a:off x="4411133" y="4360000"/>
            <a:ext cx="3369733" cy="165000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3"/>
          </p:cNvPr>
          <p:cNvSpPr txBox="1"/>
          <p:nvPr/>
        </p:nvSpPr>
        <p:spPr>
          <a:xfrm>
            <a:off x="4594013" y="4497160"/>
            <a:ext cx="3003973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6E9B6B"/>
                </a:solidFill>
                <a:latin typeface="Segoe UI"/>
              </a:rPr>
              <a:t>02</a:t>
            </a:r>
          </a:p>
        </p:txBody>
      </p:sp>
      <p:sp>
        <p:nvSpPr>
          <p:cNvPr id="16" name="TextBox 15">
            <a:hlinkClick action="ppaction://hlinksldjump" r:id="rId3"/>
          </p:cNvPr>
          <p:cNvSpPr txBox="1"/>
          <p:nvPr/>
        </p:nvSpPr>
        <p:spPr>
          <a:xfrm>
            <a:off x="4594013" y="4840060"/>
            <a:ext cx="3003973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 u="sng">
                <a:solidFill>
                  <a:srgbClr val="FFFFFF"/>
                </a:solidFill>
                <a:latin typeface="Segoe UI"/>
              </a:rPr>
              <a:t>Data Acquisition</a:t>
            </a:r>
          </a:p>
        </p:txBody>
      </p:sp>
      <p:sp>
        <p:nvSpPr>
          <p:cNvPr id="17" name="TextBox 16">
            <a:hlinkClick action="ppaction://hlinksldjump" r:id="rId3"/>
          </p:cNvPr>
          <p:cNvSpPr txBox="1"/>
          <p:nvPr/>
        </p:nvSpPr>
        <p:spPr>
          <a:xfrm>
            <a:off x="4594013" y="5280000"/>
            <a:ext cx="3003973" cy="6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C7B59D"/>
                </a:solidFill>
                <a:latin typeface="Segoe UI"/>
              </a:rPr>
              <a:t>The exact click path from search to unzip, worked through live on NYC Open Data</a:t>
            </a:r>
          </a:p>
        </p:txBody>
      </p:sp>
      <p:sp>
        <p:nvSpPr>
          <p:cNvPr id="18" name="Rounded Rectangle 17">
            <a:hlinkClick action="ppaction://hlinksldjump" r:id="rId4"/>
          </p:cNvPr>
          <p:cNvSpPr/>
          <p:nvPr/>
        </p:nvSpPr>
        <p:spPr>
          <a:xfrm>
            <a:off x="8009466" y="4360000"/>
            <a:ext cx="3369733" cy="165000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>
            <a:hlinkClick action="ppaction://hlinksldjump" r:id="rId4"/>
          </p:cNvPr>
          <p:cNvSpPr txBox="1"/>
          <p:nvPr/>
        </p:nvSpPr>
        <p:spPr>
          <a:xfrm>
            <a:off x="8192346" y="4497160"/>
            <a:ext cx="3003973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D9A83A"/>
                </a:solidFill>
                <a:latin typeface="Segoe UI"/>
              </a:rPr>
              <a:t>03</a:t>
            </a:r>
          </a:p>
        </p:txBody>
      </p:sp>
      <p:sp>
        <p:nvSpPr>
          <p:cNvPr id="20" name="TextBox 19">
            <a:hlinkClick action="ppaction://hlinksldjump" r:id="rId4"/>
          </p:cNvPr>
          <p:cNvSpPr txBox="1"/>
          <p:nvPr/>
        </p:nvSpPr>
        <p:spPr>
          <a:xfrm>
            <a:off x="8192346" y="4840060"/>
            <a:ext cx="3003973" cy="4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350" b="1" i="0" u="sng">
                <a:solidFill>
                  <a:srgbClr val="FFFFFF"/>
                </a:solidFill>
                <a:latin typeface="Segoe UI"/>
              </a:rPr>
              <a:t>Adding Data</a:t>
            </a:r>
          </a:p>
        </p:txBody>
      </p:sp>
      <p:sp>
        <p:nvSpPr>
          <p:cNvPr id="21" name="TextBox 20">
            <a:hlinkClick action="ppaction://hlinksldjump" r:id="rId4"/>
          </p:cNvPr>
          <p:cNvSpPr txBox="1"/>
          <p:nvPr/>
        </p:nvSpPr>
        <p:spPr>
          <a:xfrm>
            <a:off x="8192346" y="5280000"/>
            <a:ext cx="3003973" cy="6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850" b="0" i="1">
                <a:solidFill>
                  <a:srgbClr val="C7B59D"/>
                </a:solidFill>
                <a:latin typeface="Segoe UI"/>
              </a:rPr>
              <a:t>Every way to get a dataset from your disk, database, or the cloud onto an ArcGIS Pro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190000"/>
            <a:ext cx="8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1">
                <a:solidFill>
                  <a:srgbClr val="6E9B6B"/>
                </a:solidFill>
                <a:latin typeface="Segoe UI"/>
              </a:rPr>
              <a:t>Click a card above to jump straight to that section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72" y="366648"/>
            <a:ext cx="182880" cy="182880"/>
          </a:xfrm>
          <a:prstGeom prst="ellipse">
            <a:avLst/>
          </a:prstGeom>
          <a:solidFill>
            <a:srgbClr val="6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Where to find everything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Three stops from open data to a working map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1905000"/>
            <a:ext cx="11058144" cy="134189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>
            <a:hlinkClick action="ppaction://hlinksldjump" r:id="rId3"/>
          </p:cNvPr>
          <p:cNvSpPr txBox="1"/>
          <p:nvPr/>
        </p:nvSpPr>
        <p:spPr>
          <a:xfrm>
            <a:off x="795528" y="1905000"/>
            <a:ext cx="700000" cy="1341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800" b="1" i="0">
                <a:solidFill>
                  <a:srgbClr val="D8783D"/>
                </a:solidFill>
                <a:latin typeface="Segoe UI"/>
              </a:rPr>
              <a:t>01</a:t>
            </a:r>
          </a:p>
        </p:txBody>
      </p:sp>
      <p:sp>
        <p:nvSpPr>
          <p:cNvPr id="10" name="TextBox 9">
            <a:hlinkClick action="ppaction://hlinksldjump" r:id="rId3"/>
          </p:cNvPr>
          <p:cNvSpPr txBox="1"/>
          <p:nvPr/>
        </p:nvSpPr>
        <p:spPr>
          <a:xfrm>
            <a:off x="1616928" y="2146540"/>
            <a:ext cx="8658144" cy="483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 u="sng">
                <a:solidFill>
                  <a:srgbClr val="FFFFFF"/>
                </a:solidFill>
                <a:latin typeface="Segoe UI"/>
              </a:rPr>
              <a:t>Data Resources Exploration</a:t>
            </a:r>
          </a:p>
        </p:txBody>
      </p:sp>
      <p:sp>
        <p:nvSpPr>
          <p:cNvPr id="11" name="TextBox 10">
            <a:hlinkClick action="ppaction://hlinksldjump" r:id="rId3"/>
          </p:cNvPr>
          <p:cNvSpPr txBox="1"/>
          <p:nvPr/>
        </p:nvSpPr>
        <p:spPr>
          <a:xfrm>
            <a:off x="1616928" y="2629622"/>
            <a:ext cx="8658144" cy="5367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1">
                <a:solidFill>
                  <a:srgbClr val="C7B59D"/>
                </a:solidFill>
                <a:latin typeface="Segoe UI"/>
              </a:rPr>
              <a:t>Where public GIS data actually lives, at every geographic scale from a single city to the whole planet</a:t>
            </a:r>
          </a:p>
        </p:txBody>
      </p:sp>
      <p:sp>
        <p:nvSpPr>
          <p:cNvPr id="12" name="Oval 11">
            <a:hlinkClick action="ppaction://hlinksldjump" r:id="rId3"/>
          </p:cNvPr>
          <p:cNvSpPr/>
          <p:nvPr/>
        </p:nvSpPr>
        <p:spPr>
          <a:xfrm>
            <a:off x="10940228" y="2347824"/>
            <a:ext cx="456243" cy="456243"/>
          </a:xfrm>
          <a:prstGeom prst="ellipse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.png">
            <a:hlinkClick action="ppaction://hlinksldjump"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726" y="2457323"/>
            <a:ext cx="237246" cy="237246"/>
          </a:xfrm>
          <a:prstGeom prst="rect">
            <a:avLst/>
          </a:prstGeom>
        </p:spPr>
      </p:pic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566928" y="3384053"/>
            <a:ext cx="11058144" cy="134189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>
            <a:hlinkClick action="ppaction://hlinksldjump" r:id="rId4"/>
          </p:cNvPr>
          <p:cNvSpPr txBox="1"/>
          <p:nvPr/>
        </p:nvSpPr>
        <p:spPr>
          <a:xfrm>
            <a:off x="795528" y="3384053"/>
            <a:ext cx="700000" cy="1341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800" b="1" i="0">
                <a:solidFill>
                  <a:srgbClr val="6E9B6B"/>
                </a:solidFill>
                <a:latin typeface="Segoe UI"/>
              </a:rPr>
              <a:t>02</a:t>
            </a:r>
          </a:p>
        </p:txBody>
      </p: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616928" y="3625594"/>
            <a:ext cx="8658144" cy="483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 u="sng">
                <a:solidFill>
                  <a:srgbClr val="FFFFFF"/>
                </a:solidFill>
                <a:latin typeface="Segoe UI"/>
              </a:rPr>
              <a:t>Data Acquisition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1616928" y="4108675"/>
            <a:ext cx="8658144" cy="5367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1">
                <a:solidFill>
                  <a:srgbClr val="C7B59D"/>
                </a:solidFill>
                <a:latin typeface="Segoe UI"/>
              </a:rPr>
              <a:t>The exact click path from search to unzip, worked through live on NYC Open Data</a:t>
            </a:r>
          </a:p>
        </p:txBody>
      </p:sp>
      <p:sp>
        <p:nvSpPr>
          <p:cNvPr id="18" name="Oval 17">
            <a:hlinkClick action="ppaction://hlinksldjump" r:id="rId4"/>
          </p:cNvPr>
          <p:cNvSpPr/>
          <p:nvPr/>
        </p:nvSpPr>
        <p:spPr>
          <a:xfrm>
            <a:off x="10940228" y="3826878"/>
            <a:ext cx="456243" cy="456243"/>
          </a:xfrm>
          <a:prstGeom prst="ellipse">
            <a:avLst/>
          </a:prstGeom>
          <a:solidFill>
            <a:srgbClr val="6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.png">
            <a:hlinkClick action="ppaction://hlinksldjump" r:id="rId4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726" y="3936376"/>
            <a:ext cx="237246" cy="237246"/>
          </a:xfrm>
          <a:prstGeom prst="rect">
            <a:avLst/>
          </a:prstGeom>
        </p:spPr>
      </p:pic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566928" y="4863106"/>
            <a:ext cx="11058144" cy="134189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795528" y="4863106"/>
            <a:ext cx="700000" cy="1341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800" b="1" i="0">
                <a:solidFill>
                  <a:srgbClr val="D9A83A"/>
                </a:solidFill>
                <a:latin typeface="Segoe UI"/>
              </a:rPr>
              <a:t>03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1616928" y="5104647"/>
            <a:ext cx="8658144" cy="4830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1" i="0" u="sng">
                <a:solidFill>
                  <a:srgbClr val="FFFFFF"/>
                </a:solidFill>
                <a:latin typeface="Segoe UI"/>
              </a:rPr>
              <a:t>Adding Data</a:t>
            </a:r>
          </a:p>
        </p:txBody>
      </p:sp>
      <p:sp>
        <p:nvSpPr>
          <p:cNvPr id="23" name="TextBox 22">
            <a:hlinkClick action="ppaction://hlinksldjump" r:id="rId5"/>
          </p:cNvPr>
          <p:cNvSpPr txBox="1"/>
          <p:nvPr/>
        </p:nvSpPr>
        <p:spPr>
          <a:xfrm>
            <a:off x="1616928" y="5587729"/>
            <a:ext cx="8658144" cy="53675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100" b="0" i="1">
                <a:solidFill>
                  <a:srgbClr val="C7B59D"/>
                </a:solidFill>
                <a:latin typeface="Segoe UI"/>
              </a:rPr>
              <a:t>Every way to get a dataset from your disk, database, or the cloud onto an ArcGIS Pro map</a:t>
            </a:r>
          </a:p>
        </p:txBody>
      </p:sp>
      <p:sp>
        <p:nvSpPr>
          <p:cNvPr id="24" name="Oval 23">
            <a:hlinkClick action="ppaction://hlinksldjump" r:id="rId5"/>
          </p:cNvPr>
          <p:cNvSpPr/>
          <p:nvPr/>
        </p:nvSpPr>
        <p:spPr>
          <a:xfrm>
            <a:off x="10940228" y="5305931"/>
            <a:ext cx="456243" cy="456243"/>
          </a:xfrm>
          <a:prstGeom prst="ellipse">
            <a:avLst/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rrow.png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726" y="5415429"/>
            <a:ext cx="237246" cy="23724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6928" y="6402160"/>
            <a:ext cx="800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1">
                <a:solidFill>
                  <a:srgbClr val="6E9B6B"/>
                </a:solidFill>
                <a:latin typeface="Segoe UI"/>
              </a:rPr>
              <a:t>Click any section below to jump straight to it 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D8783D"/>
                </a:solidFill>
                <a:latin typeface="Segoe UI"/>
              </a:rPr>
              <a:t>SECTION 01 OF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Data Resources Exploration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C7B59D"/>
                </a:solidFill>
                <a:latin typeface="Segoe UI"/>
              </a:rPr>
              <a:t>Where public GIS data actually lives, at every geographic scale from a single city to the whole planet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8C7A64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DATA RESOURCES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data source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Five scales, one habit: start as local as your project allows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ity_d878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143792"/>
            <a:ext cx="345838" cy="3458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2958" y="2036747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NYC Data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958" y="2300243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City-level portals and department data — the fastest path when your project is New York City-specific.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774144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ome_d878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012936"/>
            <a:ext cx="345838" cy="3458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2958" y="2905891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Urban 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2958" y="3169387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The same open-data pattern repeated across roughly twenty other major U.S. cities.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3643288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oute_d878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882080"/>
            <a:ext cx="345838" cy="3458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2958" y="3775035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Regional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2958" y="4038531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State agencies, counties, and multi-county datasets — a bigger footprint, still domestic.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4512432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andmark_d878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4751224"/>
            <a:ext cx="345838" cy="3458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32958" y="4644179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National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2958" y="4907675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Federal agencies — Census, CDC, FEMA, USGS — the most authoritative U.S.-wide layers.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5381576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lobe_d878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" y="5620368"/>
            <a:ext cx="345838" cy="3458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32958" y="5513323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World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2958" y="5776819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Global boundaries, imagery, and statistics for anything outside the United States.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DATA RESOURCES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How to evaluate a data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Before you download anything, check four things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tie_d878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250095"/>
            <a:ext cx="35052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7640" y="207151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Authority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640" y="240454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Who published it? A government agency or university carries more weight than an anonymous re-upload.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99143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lendar_d878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336525"/>
            <a:ext cx="350520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7640" y="315794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7640" y="349097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When was it last updated? A five-year-old parcel layer can be dangerously out of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07786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yer_d878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4422955"/>
            <a:ext cx="350520" cy="350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7640" y="424437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Format &amp;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7640" y="457740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Shapefile, geodatabase, or CSV? Check the file size too — some 'small' downloads are deceptively huge once unzipped.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516429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ey_d8783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5509385"/>
            <a:ext cx="350520" cy="350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37640" y="533080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License &amp; terms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7640" y="566383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Public domain, Creative Commons, or 'ask permission'? Confirm you can actually use it before you build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DATA RESOURCES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NYC 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Where most course projects should start looking first — click any name to open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opendata.cityofnewyork.us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240" y="2316440"/>
            <a:ext cx="5989320" cy="613803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4240" y="2316440"/>
            <a:ext cx="27432" cy="613803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9500" y="2365544"/>
            <a:ext cx="1796796" cy="5155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PORTAL / ALL-PURPOSE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715" y="2316440"/>
            <a:ext cx="3875684" cy="613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2"/>
              </a:rPr>
              <a:t>NYC Open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240" y="2953103"/>
            <a:ext cx="5989320" cy="613803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240" y="2953103"/>
            <a:ext cx="27432" cy="613803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9500" y="3002207"/>
            <a:ext cx="1796796" cy="5155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LAND USE / PARCELS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715" y="2953103"/>
            <a:ext cx="3875684" cy="613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3"/>
              </a:rPr>
              <a:t>NYC MapPLUTO (Tax Lot Database)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240" y="3589766"/>
            <a:ext cx="5989320" cy="613803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240" y="3589766"/>
            <a:ext cx="27432" cy="613803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9500" y="3638870"/>
            <a:ext cx="1796796" cy="5155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DEMOGRAPHICS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715" y="3589766"/>
            <a:ext cx="3875684" cy="613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4"/>
              </a:rPr>
              <a:t>NYC Population FactFinder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240" y="4226430"/>
            <a:ext cx="5989320" cy="613803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240" y="4226430"/>
            <a:ext cx="27432" cy="613803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9500" y="4275534"/>
            <a:ext cx="1796796" cy="5155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CRIME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715" y="4226430"/>
            <a:ext cx="3875684" cy="613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5"/>
              </a:rPr>
              <a:t>NYPD Crime Statistics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240" y="4863093"/>
            <a:ext cx="5989320" cy="613803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4240" y="4863093"/>
            <a:ext cx="27432" cy="613803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9500" y="4912197"/>
            <a:ext cx="1796796" cy="5155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TRANSPORTATION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715" y="4863093"/>
            <a:ext cx="3875684" cy="613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6"/>
              </a:rPr>
              <a:t>NYC DOT Data Feeds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240" y="5499756"/>
            <a:ext cx="5989320" cy="613803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240" y="5499756"/>
            <a:ext cx="27432" cy="613803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500" y="5548860"/>
            <a:ext cx="1796796" cy="5155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PARKS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715" y="5499756"/>
            <a:ext cx="3875684" cy="6138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7"/>
              </a:rPr>
              <a:t>NYC Parks GIS Mapping Portal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Where most labs will start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If your assignment is NYC-specific, NYC Open Data or MapPLUTO almost always has what you need.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One account, everything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 single free account gets you the full open data catalog — no per-dataset registration.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DATA RESOURCES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Urban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same pattern, repeated: nearly every major U.S. city runs its own open-data portal — click a city to open its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data.&lt;city&gt;.gov — 21 city portals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240" y="288652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960" y="288652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2"/>
              </a:rPr>
              <a:t>Los Angeles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14296" y="288652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16" y="288652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3"/>
              </a:rPr>
              <a:t>Chicago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24352" y="288652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70072" y="288652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4"/>
              </a:rPr>
              <a:t>Houston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4408" y="288652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0128" y="288652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5"/>
              </a:rPr>
              <a:t>Philadelphia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4464" y="288652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90184" y="288652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6"/>
              </a:rPr>
              <a:t>San Antonio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240" y="343010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9960" y="343010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7"/>
              </a:rPr>
              <a:t>San Diego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14296" y="343010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60016" y="343010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8"/>
              </a:rPr>
              <a:t>Dallas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24352" y="343010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0072" y="343010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9"/>
              </a:rPr>
              <a:t>San Jose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4408" y="343010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0128" y="343010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0"/>
              </a:rPr>
              <a:t>Austin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44464" y="343010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90184" y="343010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1"/>
              </a:rPr>
              <a:t>San Francisco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240" y="397368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9960" y="397368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2"/>
              </a:rPr>
              <a:t>Seattle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14296" y="397368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60016" y="397368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3"/>
              </a:rPr>
              <a:t>Denver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24352" y="397368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70072" y="397368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4"/>
              </a:rPr>
              <a:t>Washington DC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34408" y="397368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80128" y="397368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5"/>
              </a:rPr>
              <a:t>Nashville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44464" y="3973689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90184" y="3973689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6"/>
              </a:rPr>
              <a:t>Boston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4240" y="4517270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9960" y="4517270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7"/>
              </a:rPr>
              <a:t>Baltimore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14296" y="4517270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0016" y="4517270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8"/>
              </a:rPr>
              <a:t>Minneapolis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324352" y="4517270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70072" y="4517270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19"/>
              </a:rPr>
              <a:t>Portland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34408" y="4517270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80128" y="4517270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20"/>
              </a:rPr>
              <a:t>Raleigh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44464" y="4517270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90184" y="4517270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21"/>
              </a:rPr>
              <a:t>Atlanta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4240" y="5060850"/>
            <a:ext cx="1149096" cy="482620"/>
          </a:xfrm>
          <a:prstGeom prst="roundRect">
            <a:avLst>
              <a:gd name="adj" fmla="val 5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9960" y="5060850"/>
            <a:ext cx="1057656" cy="482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  <a:hlinkClick r:id="rId22"/>
              </a:rPr>
              <a:t>Kansas City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Same idea, every city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Nearly all of these run on the same handful of platforms (Socrata, ArcGIS Hub) — the category names look familiar fast.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Great for comparison projects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Comparing housing, transit, or crime across two or more cities? Each portal organizes data the same way.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DATA RESOURCES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Regional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State agencies, counties, and multi-county datasets — click any name to open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data.ny.gov · census.gov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240" y="2316440"/>
            <a:ext cx="5989320" cy="52285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4240" y="2316440"/>
            <a:ext cx="27432" cy="522851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9500" y="2358268"/>
            <a:ext cx="1796796" cy="43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ALL-PURPOSE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715" y="2316440"/>
            <a:ext cx="3875684" cy="522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2"/>
              </a:rPr>
              <a:t>NY State Open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240" y="2862151"/>
            <a:ext cx="5989320" cy="52285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240" y="2862151"/>
            <a:ext cx="27432" cy="522851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9500" y="2903979"/>
            <a:ext cx="1796796" cy="43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ENVIRONMENT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715" y="2862151"/>
            <a:ext cx="3875684" cy="522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3"/>
              </a:rPr>
              <a:t>NY State Environmental Site Database (DEC)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240" y="3407862"/>
            <a:ext cx="5989320" cy="52285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240" y="3407862"/>
            <a:ext cx="27432" cy="522851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9500" y="3449690"/>
            <a:ext cx="1796796" cy="43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EDUCATION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715" y="3407862"/>
            <a:ext cx="3875684" cy="522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4"/>
              </a:rPr>
              <a:t>NCES EDGE School District Boundaries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240" y="3953574"/>
            <a:ext cx="5989320" cy="52285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240" y="3953574"/>
            <a:ext cx="27432" cy="522851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9500" y="3995402"/>
            <a:ext cx="1796796" cy="43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HEALTH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715" y="3953574"/>
            <a:ext cx="3875684" cy="522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5"/>
              </a:rPr>
              <a:t>County Health Rankings &amp; Roadmaps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240" y="4499285"/>
            <a:ext cx="5989320" cy="52285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4240" y="4499285"/>
            <a:ext cx="27432" cy="522851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9500" y="4541113"/>
            <a:ext cx="1796796" cy="43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MIGRATION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715" y="4499285"/>
            <a:ext cx="3875684" cy="522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6"/>
              </a:rPr>
              <a:t>Census State-to-State Migration Flows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240" y="5044997"/>
            <a:ext cx="5989320" cy="52285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240" y="5044997"/>
            <a:ext cx="27432" cy="522851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500" y="5086825"/>
            <a:ext cx="1796796" cy="43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ADMIN. BOUNDARIES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715" y="5044997"/>
            <a:ext cx="3875684" cy="522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7"/>
              </a:rPr>
              <a:t>Census TIGER/Line Counties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240" y="5590708"/>
            <a:ext cx="5989320" cy="52285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4240" y="5590708"/>
            <a:ext cx="27432" cy="522851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9500" y="5632536"/>
            <a:ext cx="1796796" cy="4391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HEALTH / DEMOGRAPHICS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715" y="5590708"/>
            <a:ext cx="3875684" cy="522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NE County Health Data (course CSV)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Bigger than a city, still domestic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Useful the moment your project crosses a city line but doesn't need the whole country.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Where GIS meets statistics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Migration, health, and education data at this scale often come packaged by the state, sourced from federal agencies.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DATA RESOURCES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National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Federal agencies — the most authoritative U.S.-wide layers — click any name to open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data.census.gov · usgs.gov · cdc.gov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240" y="2316440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4240" y="2316440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9500" y="2352811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DISASTERS / HAZARDS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715" y="2316440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2"/>
              </a:rPr>
              <a:t>FEMA National Risk Index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240" y="2793937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240" y="2793937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9500" y="2830308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CRIME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715" y="2793937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3"/>
              </a:rPr>
              <a:t>FBI Crime Data Explorer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240" y="3271435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240" y="3271435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9500" y="3307806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HEALTH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715" y="3271435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4"/>
              </a:rPr>
              <a:t>CDC Wonder / CDC Open Data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240" y="3748932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240" y="3748932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9500" y="3785303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DEMOGRAPHICS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715" y="3748932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5"/>
              </a:rPr>
              <a:t>U.S. Census Data Portal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240" y="4226430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4240" y="4226430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9500" y="4262801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GIS / BOUNDARIES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715" y="4226430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6"/>
              </a:rPr>
              <a:t>Census TIGER/Line Shapefiles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240" y="4703927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240" y="4703927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500" y="4740298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LAND COVER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715" y="4703927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7"/>
              </a:rPr>
              <a:t>MRLC Land Use Land Cover (NLCD)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240" y="5181425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4240" y="5181425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9500" y="5217796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IMAGERY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715" y="5181425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8"/>
              </a:rPr>
              <a:t>USGS Earth Explorer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240" y="5658922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4240" y="5658922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9500" y="5695293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ELEVATION / 3DEP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715" y="5658922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9"/>
              </a:rPr>
              <a:t>USGS National Map Downloader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Authoritative &amp; well-documented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Expect a real metadata record with every download — federal data is usually the most rigorously documented.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default for boundaries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Census TIGER/Line is the standard source for U.S. administrative boundaries, largely free of licensing worries.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DATA RESOURCES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World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Global and international datasets — the first stop once a project leaves the U.S. — click any name to open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naturalearthdata.com · worldbank.org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240" y="2316440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4240" y="2316440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9500" y="2352811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ADMIN.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715" y="2316440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2"/>
              </a:rPr>
              <a:t>Natural Earth — Global Cartographic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240" y="2793937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240" y="2793937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9500" y="2830308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ADMIN. BOUNDARIES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715" y="2793937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3"/>
              </a:rPr>
              <a:t>GADM — Global Administrative Boundaries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4240" y="3271435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4240" y="3271435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9500" y="3307806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ALL-PURPOSE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715" y="3271435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4"/>
              </a:rPr>
              <a:t>OpenStreetMap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240" y="3748932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240" y="3748932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9500" y="3785303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ECONOMICS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715" y="3748932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5"/>
              </a:rPr>
              <a:t>World Bank Open Data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4240" y="4226430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4240" y="4226430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9500" y="4262801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STATISTICS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715" y="4226430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6"/>
              </a:rPr>
              <a:t>UN 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240" y="4703927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4240" y="4703927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9500" y="4740298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SATELLITE / IMAGERY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715" y="4703927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7"/>
              </a:rPr>
              <a:t>NASA Earthdata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240" y="5181425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4240" y="5181425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9500" y="5217796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ENVIRONMENT / FOREST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715" y="5181425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8"/>
              </a:rPr>
              <a:t>Global Forest Watch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240" y="5658922"/>
            <a:ext cx="5989320" cy="454637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4240" y="5658922"/>
            <a:ext cx="27432" cy="454637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9500" y="5695293"/>
            <a:ext cx="1796796" cy="38189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750" b="1" i="0" spc="60">
                <a:solidFill>
                  <a:srgbClr val="D8783D"/>
                </a:solidFill>
                <a:latin typeface="Segoe UI"/>
              </a:rPr>
              <a:t>ANIMALS / WILDLIFE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80715" y="5658922"/>
            <a:ext cx="3875684" cy="4546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  <a:hlinkClick r:id="rId9"/>
              </a:rPr>
              <a:t>eBird (Cornell Lab of Ornithology)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Public domain, largely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Most global sources here are explicitly public domain or CC-licensed — check the specific dataset anyway.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default world basemaps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Natural Earth and GADM are the two most common 'world basemap' choices in cartography.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DATA RESOURCES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Choosing the right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One habit covers almost every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llseye_d878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431166"/>
            <a:ext cx="35052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7640" y="2129456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Start as local as your project allows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640" y="2578369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 citywide question almost always has a better, more detailed answer at the city or county level than at the national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lobe_d878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879739"/>
            <a:ext cx="350520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7640" y="3578029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Zoom out only when you have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7640" y="4026942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Multi-state or nationwide comparisons force you up to federal sources — that's the tradeoff for wider coverage.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mpass_d878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5328313"/>
            <a:ext cx="350520" cy="350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7640" y="502660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International work starts at World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7640" y="5475516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Natural Earth, GADM, and OpenStreetMap are usually your first stop the moment a project leaves the U.S.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6E9B6B"/>
                </a:solidFill>
                <a:latin typeface="Segoe UI"/>
              </a:rPr>
              <a:t>SECTION 02 OF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Data Acquisition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C7B59D"/>
                </a:solidFill>
                <a:latin typeface="Segoe UI"/>
              </a:rPr>
              <a:t>The exact click path from search to unzip, worked through live on NYC Open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10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8C7A64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download path, start to finish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same five clicks work on NYC Open Data — and on almost every other portal in this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05000"/>
            <a:ext cx="6172200" cy="430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5621" y="3410000"/>
            <a:ext cx="888796" cy="1290000"/>
          </a:xfrm>
          <a:prstGeom prst="roundRect">
            <a:avLst>
              <a:gd name="adj" fmla="val 50000"/>
            </a:avLst>
          </a:prstGeom>
          <a:solidFill>
            <a:srgbClr val="1E1610"/>
          </a:solidFill>
          <a:ln w="1270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5621" y="3410000"/>
            <a:ext cx="888796" cy="12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Search the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catalog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20061" y="3410000"/>
            <a:ext cx="888796" cy="1290000"/>
          </a:xfrm>
          <a:prstGeom prst="roundRect">
            <a:avLst>
              <a:gd name="adj" fmla="val 15000"/>
            </a:avLst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20061" y="3410000"/>
            <a:ext cx="888796" cy="12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A2208"/>
                </a:solidFill>
                <a:latin typeface="Segoe UI"/>
              </a:rPr>
              <a:t>Open the</a:t>
            </a:r>
          </a:p>
          <a:p>
            <a:pPr algn="ctr"/>
            <a:r>
              <a:rPr sz="1000" b="1" i="0">
                <a:solidFill>
                  <a:srgbClr val="2A2208"/>
                </a:solidFill>
                <a:latin typeface="Segoe UI"/>
              </a:rPr>
              <a:t>dataset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4501" y="3410000"/>
            <a:ext cx="888796" cy="1290000"/>
          </a:xfrm>
          <a:prstGeom prst="roundRect">
            <a:avLst>
              <a:gd name="adj" fmla="val 50000"/>
            </a:avLst>
          </a:prstGeom>
          <a:solidFill>
            <a:srgbClr val="1E1610"/>
          </a:solidFill>
          <a:ln w="1270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4501" y="3410000"/>
            <a:ext cx="888796" cy="12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Check the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metadata panel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8941" y="3410000"/>
            <a:ext cx="888796" cy="1290000"/>
          </a:xfrm>
          <a:prstGeom prst="roundRect">
            <a:avLst>
              <a:gd name="adj" fmla="val 15000"/>
            </a:avLst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8941" y="3410000"/>
            <a:ext cx="888796" cy="12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A2208"/>
                </a:solidFill>
                <a:latin typeface="Segoe UI"/>
              </a:rPr>
              <a:t>Export →</a:t>
            </a:r>
          </a:p>
          <a:p>
            <a:pPr algn="ctr"/>
            <a:r>
              <a:rPr sz="1000" b="1" i="0">
                <a:solidFill>
                  <a:srgbClr val="2A2208"/>
                </a:solidFill>
                <a:latin typeface="Segoe UI"/>
              </a:rPr>
              <a:t>pick a format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3381" y="3410000"/>
            <a:ext cx="888796" cy="1290000"/>
          </a:xfrm>
          <a:prstGeom prst="roundRect">
            <a:avLst>
              <a:gd name="adj" fmla="val 50000"/>
            </a:avLst>
          </a:prstGeom>
          <a:solidFill>
            <a:srgbClr val="1E1610"/>
          </a:solidFill>
          <a:ln w="12700">
            <a:solidFill>
              <a:srgbClr val="D87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3381" y="3410000"/>
            <a:ext cx="888796" cy="129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Unzip into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your folder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418" y="4048650"/>
            <a:ext cx="285643" cy="12700"/>
          </a:xfrm>
          <a:prstGeom prst="rect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30061" y="4010000"/>
            <a:ext cx="90000" cy="900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108858" y="4048650"/>
            <a:ext cx="285643" cy="12700"/>
          </a:xfrm>
          <a:prstGeom prst="rect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64501" y="4010000"/>
            <a:ext cx="90000" cy="900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298" y="4048650"/>
            <a:ext cx="285643" cy="12700"/>
          </a:xfrm>
          <a:prstGeom prst="rect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98941" y="4010000"/>
            <a:ext cx="90000" cy="900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77738" y="4048650"/>
            <a:ext cx="285643" cy="12700"/>
          </a:xfrm>
          <a:prstGeom prst="rect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33381" y="4010000"/>
            <a:ext cx="90000" cy="900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Same five steps, every portal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This is the exact path you'll walk on NYC Open Data below — and on Chicago's, LA's, or the Census Bureau's portal, the steps barely change.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Metadata is a checkpoint, not a chore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One glance at the panel in step 3 catches a stale or wrong-agency dataset before you've wasted a download.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Step 1 — Search the catalog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opendata.cityofnewyork.us — the same search bar as the homepage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opendata.cityofnewyork.us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225000"/>
            <a:ext cx="6172200" cy="398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4240" y="2316440"/>
            <a:ext cx="5989320" cy="380000"/>
          </a:xfrm>
          <a:prstGeom prst="roundRect">
            <a:avLst>
              <a:gd name="adj" fmla="val 40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arch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20" y="2421440"/>
            <a:ext cx="170000" cy="17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2820" y="2316440"/>
            <a:ext cx="558932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>
                <a:solidFill>
                  <a:srgbClr val="FFFFFF"/>
                </a:solidFill>
                <a:latin typeface="Segoe UI"/>
              </a:rPr>
              <a:t>parks properties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240" y="2816440"/>
            <a:ext cx="5989320" cy="1079520"/>
          </a:xfrm>
          <a:prstGeom prst="roundRect">
            <a:avLst>
              <a:gd name="adj" fmla="val 8000"/>
            </a:avLst>
          </a:prstGeom>
          <a:solidFill>
            <a:srgbClr val="1E1610"/>
          </a:solidFill>
          <a:ln w="12700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atabase_6e9b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266200"/>
            <a:ext cx="180000" cy="180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09960" y="2967572"/>
            <a:ext cx="4789320" cy="453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Parks Properties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9960" y="3399380"/>
            <a:ext cx="4789320" cy="431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C7B59D"/>
                </a:solidFill>
                <a:latin typeface="Segoe UI"/>
              </a:rPr>
              <a:t>Recreation · NYC Parks &amp; Recreation · Updated 3 weeks ago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13560" y="3216200"/>
            <a:ext cx="1080000" cy="280000"/>
          </a:xfrm>
          <a:prstGeom prst="roundRect">
            <a:avLst>
              <a:gd name="adj" fmla="val 50000"/>
            </a:avLst>
          </a:prstGeom>
          <a:solidFill>
            <a:srgbClr val="6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3560" y="3216200"/>
            <a:ext cx="108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Open 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4240" y="3925960"/>
            <a:ext cx="5989320" cy="107952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atabase_6e9b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4375720"/>
            <a:ext cx="180000" cy="180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09960" y="4077092"/>
            <a:ext cx="5669320" cy="453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Parks Properties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9960" y="4508900"/>
            <a:ext cx="5669320" cy="431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C7B59D"/>
                </a:solidFill>
                <a:latin typeface="Segoe UI"/>
              </a:rPr>
              <a:t>Recreation · NYC Parks &amp; Recreation · Map 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4240" y="5035480"/>
            <a:ext cx="5989320" cy="107952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database_6e9b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5485240"/>
            <a:ext cx="180000" cy="180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9960" y="5186612"/>
            <a:ext cx="5669320" cy="45339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ARCHIVED - Parks Properties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9960" y="5618420"/>
            <a:ext cx="5669320" cy="431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C7B59D"/>
                </a:solidFill>
                <a:latin typeface="Segoe UI"/>
              </a:rPr>
              <a:t>City Government · Retired dataset — do not use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 duplicate you don't want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Notice "ARCHIVED - Parks Properties" sitting right next to the current one — city portals rarely delete old datasets, they just relabel them.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site does the filtering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 plain-language query is enough; you don't need the dataset's internal ID or exact title up front.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Step 2 — Open the dataset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Every field on this page is worth a glance before you click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data.cityofnewyork.us/Recreation/Parks-Properties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225000"/>
            <a:ext cx="6172200" cy="398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960" y="2325000"/>
            <a:ext cx="4572200" cy="4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Segoe UI"/>
              </a:rPr>
              <a:t>Parks Properties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47840" y="2362160"/>
            <a:ext cx="1200000" cy="340000"/>
          </a:xfrm>
          <a:prstGeom prst="roundRect">
            <a:avLst>
              <a:gd name="adj" fmla="val 15000"/>
            </a:avLst>
          </a:prstGeom>
          <a:solidFill>
            <a:srgbClr val="6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ownload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5000" y="2447160"/>
            <a:ext cx="170000" cy="17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27840" y="2362160"/>
            <a:ext cx="82000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Segoe UI"/>
              </a:rPr>
              <a:t>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9960" y="2865000"/>
            <a:ext cx="5897880" cy="0"/>
          </a:xfrm>
          <a:prstGeom prst="rect">
            <a:avLst/>
          </a:prstGeom>
          <a:noFill/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960" y="3005000"/>
            <a:ext cx="1604772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40">
                <a:solidFill>
                  <a:srgbClr val="6E9B6B"/>
                </a:solidFill>
                <a:latin typeface="Segoe UI"/>
              </a:rPr>
              <a:t>AGENCY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54732" y="3005000"/>
            <a:ext cx="4293108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Segoe UI"/>
              </a:rPr>
              <a:t>NYC Parks &amp; Recreation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960" y="3385000"/>
            <a:ext cx="1604772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40">
                <a:solidFill>
                  <a:srgbClr val="6E9B6B"/>
                </a:solidFill>
                <a:latin typeface="Segoe UI"/>
              </a:rPr>
              <a:t>CATEGORY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4732" y="3385000"/>
            <a:ext cx="4293108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Segoe UI"/>
              </a:rPr>
              <a:t>Recreation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960" y="3765000"/>
            <a:ext cx="1604772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40">
                <a:solidFill>
                  <a:srgbClr val="6E9B6B"/>
                </a:solidFill>
                <a:latin typeface="Segoe UI"/>
              </a:rPr>
              <a:t>UPDATED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54732" y="3765000"/>
            <a:ext cx="4293108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Segoe UI"/>
              </a:rPr>
              <a:t>3 weeks ago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960" y="4145000"/>
            <a:ext cx="1604772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40">
                <a:solidFill>
                  <a:srgbClr val="6E9B6B"/>
                </a:solidFill>
                <a:latin typeface="Segoe UI"/>
              </a:rPr>
              <a:t>ROWS ·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54732" y="4145000"/>
            <a:ext cx="4293108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Segoe UI"/>
              </a:rPr>
              <a:t>~5,300 · 60+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960" y="4525000"/>
            <a:ext cx="1604772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00" b="1" i="0" spc="40">
                <a:solidFill>
                  <a:srgbClr val="6E9B6B"/>
                </a:solidFill>
                <a:latin typeface="Segoe UI"/>
              </a:rPr>
              <a:t>LICENSE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54732" y="4525000"/>
            <a:ext cx="4293108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Segoe UI"/>
              </a:rPr>
              <a:t>Public Domain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Agency = authority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NYC Parks &amp; Recreation publishing this page is the 'who published it' check from Data Resources Exploration — now anchored to a real page.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"Updated" is the currency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"3 weeks ago" is worth trusting; the same field reading "2019" would be your cue to look for a newer source first.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Step 3 — Pick a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Export button opens a short list — the format you pick changes what you 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data.cityofnewyork.us — Export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800" y="2225000"/>
            <a:ext cx="6172200" cy="398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9960" y="2316440"/>
            <a:ext cx="246888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8A94A8"/>
                </a:solidFill>
                <a:latin typeface="Segoe UI"/>
              </a:rPr>
              <a:t>Export 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64460" y="3006420"/>
            <a:ext cx="2590800" cy="2417160"/>
          </a:xfrm>
          <a:prstGeom prst="roundRect">
            <a:avLst>
              <a:gd name="adj" fmla="val 4000"/>
            </a:avLst>
          </a:prstGeom>
          <a:solidFill>
            <a:srgbClr val="2A2019"/>
          </a:solidFill>
          <a:ln w="9525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1620" y="30750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C7B59D"/>
                </a:solidFill>
                <a:latin typeface="Segoe UI"/>
              </a:rPr>
              <a:t>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1620" y="34550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C7B59D"/>
                </a:solidFill>
                <a:latin typeface="Segoe UI"/>
              </a:rPr>
              <a:t>CSV for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1620" y="38350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C7B59D"/>
                </a:solidFill>
                <a:latin typeface="Segoe UI"/>
              </a:rPr>
              <a:t>CSV for Excel (Europe)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10180" y="4192140"/>
            <a:ext cx="2499360" cy="334280"/>
          </a:xfrm>
          <a:prstGeom prst="roundRect">
            <a:avLst>
              <a:gd name="adj" fmla="val 10000"/>
            </a:avLst>
          </a:prstGeom>
          <a:solidFill>
            <a:srgbClr val="6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1620" y="42150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Segoe UI"/>
              </a:rPr>
              <a:t>Shapefile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1620" y="45950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C7B59D"/>
                </a:solidFill>
                <a:latin typeface="Segoe UI"/>
              </a:rPr>
              <a:t>GeoJSON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1620" y="49750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C7B59D"/>
                </a:solidFill>
                <a:latin typeface="Segoe UI"/>
              </a:rPr>
              <a:t>KML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Watch out: 10-character field names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Shapefile export truncates every column name to 10 characters — a field like PARK_NAME_DISPLAY silently becomes something like PARK_NAME_ the moment you pick this format.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Watch out: dates split in two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Shapefiles can't store a combined date-and-time value, so any timestamp column exports as two separate date and time fields instead of one.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Step 4 — What lands in your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Unzip immediately — a cryptic download name is the first thing worth fixing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20000"/>
          </a:xfrm>
          <a:prstGeom prst="roundRect">
            <a:avLst>
              <a:gd name="adj" fmla="val 2000"/>
            </a:avLst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85000"/>
            <a:ext cx="6172200" cy="40000"/>
          </a:xfrm>
          <a:prstGeom prst="rect">
            <a:avLst/>
          </a:prstGeom>
          <a:solidFill>
            <a:srgbClr val="2A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2800" y="2020000"/>
            <a:ext cx="90000" cy="90000"/>
          </a:xfrm>
          <a:prstGeom prst="ellipse">
            <a:avLst/>
          </a:prstGeom>
          <a:solidFill>
            <a:srgbClr val="E0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2800" y="2020000"/>
            <a:ext cx="90000" cy="90000"/>
          </a:xfrm>
          <a:prstGeom prst="ellipse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82800" y="2020000"/>
            <a:ext cx="90000" cy="90000"/>
          </a:xfrm>
          <a:prstGeom prst="ellipse">
            <a:avLst/>
          </a:prstGeom>
          <a:solidFill>
            <a:srgbClr val="5EC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800" y="1905000"/>
            <a:ext cx="587220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8A94A8"/>
                </a:solidFill>
                <a:latin typeface="Consolas"/>
              </a:rPr>
              <a:t>Downloads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7120" y="2500400"/>
            <a:ext cx="93500" cy="374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87120" y="2531000"/>
            <a:ext cx="170000" cy="98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7120" y="2405000"/>
            <a:ext cx="533072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Consolas"/>
              </a:rPr>
              <a:t>Downloads</a:t>
            </a:r>
          </a:p>
        </p:txBody>
      </p:sp>
      <p:sp>
        <p:nvSpPr>
          <p:cNvPr id="18" name="Oval 17"/>
          <p:cNvSpPr/>
          <p:nvPr/>
        </p:nvSpPr>
        <p:spPr>
          <a:xfrm>
            <a:off x="1421520" y="2859500"/>
            <a:ext cx="61200" cy="612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57120" y="2725000"/>
            <a:ext cx="505072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Parks_Properties.zip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67120" y="3140400"/>
            <a:ext cx="93500" cy="3740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67120" y="3171000"/>
            <a:ext cx="170000" cy="98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57120" y="3045000"/>
            <a:ext cx="505072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Consolas"/>
              </a:rPr>
              <a:t>Parks_Properties</a:t>
            </a:r>
          </a:p>
        </p:txBody>
      </p:sp>
      <p:sp>
        <p:nvSpPr>
          <p:cNvPr id="23" name="Oval 22"/>
          <p:cNvSpPr/>
          <p:nvPr/>
        </p:nvSpPr>
        <p:spPr>
          <a:xfrm>
            <a:off x="1701520" y="3499500"/>
            <a:ext cx="61200" cy="61200"/>
          </a:xfrm>
          <a:prstGeom prst="ellipse">
            <a:avLst/>
          </a:prstGeom>
          <a:solidFill>
            <a:srgbClr val="6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37120" y="3365000"/>
            <a:ext cx="477072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6E9B6B"/>
                </a:solidFill>
                <a:latin typeface="Consolas"/>
              </a:rPr>
              <a:t>Parks_Properties.shp</a:t>
            </a:r>
          </a:p>
        </p:txBody>
      </p:sp>
      <p:sp>
        <p:nvSpPr>
          <p:cNvPr id="25" name="Oval 24"/>
          <p:cNvSpPr/>
          <p:nvPr/>
        </p:nvSpPr>
        <p:spPr>
          <a:xfrm>
            <a:off x="1701520" y="3819500"/>
            <a:ext cx="61200" cy="612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37120" y="3685000"/>
            <a:ext cx="477072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Parks_Properties.shx</a:t>
            </a:r>
          </a:p>
        </p:txBody>
      </p:sp>
      <p:sp>
        <p:nvSpPr>
          <p:cNvPr id="27" name="Oval 26"/>
          <p:cNvSpPr/>
          <p:nvPr/>
        </p:nvSpPr>
        <p:spPr>
          <a:xfrm>
            <a:off x="1701520" y="4139500"/>
            <a:ext cx="61200" cy="612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37120" y="4005000"/>
            <a:ext cx="477072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Parks_Properties.dbf</a:t>
            </a:r>
          </a:p>
        </p:txBody>
      </p:sp>
      <p:sp>
        <p:nvSpPr>
          <p:cNvPr id="29" name="Oval 28"/>
          <p:cNvSpPr/>
          <p:nvPr/>
        </p:nvSpPr>
        <p:spPr>
          <a:xfrm>
            <a:off x="1701520" y="4459500"/>
            <a:ext cx="61200" cy="612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37120" y="4325000"/>
            <a:ext cx="477072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Parks_Properties.prj</a:t>
            </a:r>
          </a:p>
        </p:txBody>
      </p:sp>
      <p:sp>
        <p:nvSpPr>
          <p:cNvPr id="31" name="Oval 30"/>
          <p:cNvSpPr/>
          <p:nvPr/>
        </p:nvSpPr>
        <p:spPr>
          <a:xfrm>
            <a:off x="1701520" y="4779500"/>
            <a:ext cx="61200" cy="61200"/>
          </a:xfrm>
          <a:prstGeom prst="ellipse">
            <a:avLst/>
          </a:prstGeom>
          <a:solidFill>
            <a:srgbClr val="C7B5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37120" y="4645000"/>
            <a:ext cx="477072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Parks_Properties.cpg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This becomes parks.shp next section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Rename it before you forget which download this was — after a quick rename, this is the exact file Adding Data's right-click demo uses.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Five files, one dataset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All five must stay together in this folder — separating them is exactly the sidecar-file problem a shapefile download creates.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Watch out for these on any city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same four traps show up on almost every open-data site, not just NYC's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istory_6e9b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250095"/>
            <a:ext cx="35052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7640" y="207151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Archived or duplicate listings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640" y="240454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Search results often surface a retired copy right next to the current one — check the title for "ARCHIVED" or a version number before you download.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99143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alendar_6e9b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336525"/>
            <a:ext cx="350520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7640" y="315794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 stale "Updated"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7640" y="349097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 dataset last touched years ago can still rank near the top of search results — the metadata panel is the only thing that will tell you.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07786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yer_6e9b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4422955"/>
            <a:ext cx="350520" cy="350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7640" y="424437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Format changes the file, not the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7640" y="457740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The same click flow can hand you a shapefile, a CSV, or a GeoJSON — pick the format your software expects, since converting later costs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516429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ullseye_6e9b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5509385"/>
            <a:ext cx="350520" cy="350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37640" y="533080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Row and column counts as a sanity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7640" y="566383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If the metadata panel says ~5,300 rows and your download opens with 12, something broke — re-download before you build anything on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Same five clicks, every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Search, open, check metadata, export, unzip — the habit that carries across every source in this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ity_6e9b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431166"/>
            <a:ext cx="35052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7640" y="2129456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City portals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640" y="2578369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NYC Open Data, Chicago, LA, and the other city portals from Data Resources Exploration all run this same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ndmark_6e9b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879739"/>
            <a:ext cx="350520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7640" y="3578029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State and federal portals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7640" y="4026942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NY State Open Data, Census, USGS — same search bar, same Export button, same format list, just a bigger catalog behind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lobe_6e9b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5328313"/>
            <a:ext cx="350520" cy="350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7640" y="502660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Academic and nonprofit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7640" y="5475516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Natural Earth, GADM, and similar sites trade the Export dialog for a plain Download link, but the metadata-check habit still applies.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DATA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From download to ArcGIS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You now have a real file sitting in a folder — next, every way to get it onto a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yer_6e9b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431166"/>
            <a:ext cx="35052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7640" y="2129456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What you have right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640" y="2578369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 five-file shapefile bundle sitting in a project folder, exported directly from NYC Open Data using the exact steps above.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353573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6e9b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879739"/>
            <a:ext cx="350520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7640" y="3578029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same bundle, a new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7640" y="4026942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Renamed to parks.shp, this is the exact file the Adding Data section's right-click demo uses — same download, same five 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802146"/>
            <a:ext cx="10566400" cy="1402853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ownload_6e9b6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5328313"/>
            <a:ext cx="350520" cy="350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7640" y="502660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What's 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7640" y="5475516"/>
            <a:ext cx="9804400" cy="7014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Adding Data covers every method ArcGIS Pro offers to bring that file — or any other source — onto a map, starting with the Add Data button.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700000"/>
            <a:ext cx="4200000" cy="2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0" b="1" i="0">
                <a:solidFill>
                  <a:srgbClr val="222733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650000"/>
            <a:ext cx="9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50">
                <a:solidFill>
                  <a:srgbClr val="D9A83A"/>
                </a:solidFill>
                <a:latin typeface="Segoe UI"/>
              </a:rPr>
              <a:t>SECTION 03 OF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020000"/>
            <a:ext cx="105664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Segoe UI"/>
              </a:rPr>
              <a:t>Adding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980000"/>
            <a:ext cx="8500000" cy="0"/>
          </a:xfrm>
          <a:prstGeom prst="rect">
            <a:avLst/>
          </a:prstGeom>
          <a:noFill/>
          <a:ln w="19050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200000"/>
            <a:ext cx="92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1">
                <a:solidFill>
                  <a:srgbClr val="C7B59D"/>
                </a:solidFill>
                <a:latin typeface="Segoe UI"/>
              </a:rPr>
              <a:t>Every way to get a dataset from your disk, database, or the cloud onto an ArcGIS Pro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19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812800" y="6413500"/>
            <a:ext cx="24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 u="sng">
                <a:solidFill>
                  <a:srgbClr val="8C7A64"/>
                </a:solidFill>
                <a:latin typeface="Segoe UI"/>
              </a:rPr>
              <a:t>◂  Table of Contents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All the ways to add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Five families of methods cover everything ArcGIS Pro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ownload_d9a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143792"/>
            <a:ext cx="345838" cy="3458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2958" y="2036747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Browse &amp; 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2958" y="2300243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The Add Data button or Add Data From Path — point ArcGIS Pro at a file, folder, or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774144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yer_d9a8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012936"/>
            <a:ext cx="345838" cy="3458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2958" y="2905891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Drag it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2958" y="3169387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From the Catalog pane, or straight from your OS file explorer, onto the map canvas.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3643288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marker_d9a8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3882080"/>
            <a:ext cx="345838" cy="3458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2958" y="3775035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Right-click shortcuts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2958" y="4038531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The Catalog pane's context menu reaches 'Add To Current Map' without touching the ribbon.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4512432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globe_d9a8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4751224"/>
            <a:ext cx="345838" cy="34583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32958" y="4644179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Built-in galleries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2958" y="4907675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The Basemap gallery and Portal / Living Atlas search — curated layers, no file path required.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5381576"/>
            <a:ext cx="10566400" cy="823424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hart_d9a83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960" y="5620368"/>
            <a:ext cx="345838" cy="3458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32958" y="5513323"/>
            <a:ext cx="9809081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From a spreadsheet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32958" y="5776819"/>
            <a:ext cx="9809081" cy="411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Add XY Data converts latitude/longitude columns into a real point layer.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Method 1 — The Add Data button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one method that always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800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800" y="2501800"/>
            <a:ext cx="756525" cy="28000"/>
          </a:xfrm>
          <a:prstGeom prst="rect">
            <a:avLst/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8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E8B84B"/>
                </a:solidFill>
                <a:latin typeface="Segoe UI"/>
              </a:rPr>
              <a:t>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99325" y="2229800"/>
            <a:ext cx="756525" cy="300000"/>
          </a:xfrm>
          <a:prstGeom prst="roundRect">
            <a:avLst>
              <a:gd name="adj" fmla="val 15000"/>
            </a:avLst>
          </a:prstGeom>
          <a:solidFill>
            <a:srgbClr val="2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99325" y="2501800"/>
            <a:ext cx="756525" cy="28000"/>
          </a:xfrm>
          <a:prstGeom prst="rect">
            <a:avLst/>
          </a:prstGeom>
          <a:solidFill>
            <a:srgbClr val="4B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993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658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Insert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23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890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542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950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Imagery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8475" y="2209800"/>
            <a:ext cx="756525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0">
                <a:solidFill>
                  <a:srgbClr val="8A94A8"/>
                </a:solidFill>
                <a:latin typeface="Segoe UI"/>
              </a:rPr>
              <a:t>Share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800" y="2529800"/>
            <a:ext cx="6172200" cy="90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96500" y="2560520"/>
            <a:ext cx="364800" cy="364800"/>
          </a:xfrm>
          <a:prstGeom prst="roundRect">
            <a:avLst>
              <a:gd name="adj" fmla="val 15000"/>
            </a:avLst>
          </a:prstGeom>
          <a:noFill/>
          <a:ln w="12700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ownload_d9a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00" y="2575520"/>
            <a:ext cx="304800" cy="3048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96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Add</a:t>
            </a:r>
          </a:p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Segoe UI"/>
              </a:rPr>
              <a:t>Data</a:t>
            </a:r>
          </a:p>
        </p:txBody>
      </p:sp>
      <p:pic>
        <p:nvPicPr>
          <p:cNvPr id="29" name="Picture 28" descr="globe_8a9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500" y="2575520"/>
            <a:ext cx="304800" cy="304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58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Basemap</a:t>
            </a:r>
          </a:p>
        </p:txBody>
      </p:sp>
      <p:pic>
        <p:nvPicPr>
          <p:cNvPr id="31" name="Picture 30" descr="route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00" y="2575520"/>
            <a:ext cx="304800" cy="304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208900" y="2900320"/>
            <a:ext cx="62000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Add Data</a:t>
            </a:r>
          </a:p>
          <a:p>
            <a:pPr algn="ctr">
              <a:lnSpc>
                <a:spcPct val="95000"/>
              </a:lnSpc>
            </a:pPr>
            <a:r>
              <a:rPr sz="850" b="0" i="0">
                <a:solidFill>
                  <a:srgbClr val="8A94A8"/>
                </a:solidFill>
                <a:latin typeface="Segoe UI"/>
              </a:rPr>
              <a:t>From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800" y="3199800"/>
            <a:ext cx="6112200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1">
                <a:solidFill>
                  <a:srgbClr val="8A94A8"/>
                </a:solidFill>
                <a:latin typeface="Segoe UI"/>
              </a:rPr>
              <a:t>Layer group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2800" y="3429800"/>
            <a:ext cx="1975104" cy="277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960" y="3521240"/>
            <a:ext cx="1700784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Segoe UI"/>
              </a:rPr>
              <a:t>Contents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820" y="3849800"/>
            <a:ext cx="137160" cy="137160"/>
          </a:xfrm>
          <a:prstGeom prst="rect">
            <a:avLst/>
          </a:prstGeom>
          <a:solidFill>
            <a:srgbClr val="6E9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3160" y="381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parks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2820" y="4109800"/>
            <a:ext cx="137160" cy="137160"/>
          </a:xfrm>
          <a:prstGeom prst="rect">
            <a:avLst/>
          </a:prstGeom>
          <a:solidFill>
            <a:srgbClr val="D87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3160" y="407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boundaries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2820" y="4369800"/>
            <a:ext cx="137160" cy="137160"/>
          </a:xfrm>
          <a:prstGeom prst="rect">
            <a:avLst/>
          </a:prstGeom>
          <a:solidFill>
            <a:srgbClr val="6B7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3160" y="433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roads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2820" y="4629800"/>
            <a:ext cx="137160" cy="137160"/>
          </a:xfrm>
          <a:prstGeom prst="rect">
            <a:avLst/>
          </a:prstGeom>
          <a:solidFill>
            <a:srgbClr val="505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53160" y="4599800"/>
            <a:ext cx="1495104" cy="2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basemap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3624" y="3429800"/>
            <a:ext cx="4151376" cy="277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0784" y="3521240"/>
            <a:ext cx="38770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46" name="Oval 45"/>
          <p:cNvSpPr/>
          <p:nvPr/>
        </p:nvSpPr>
        <p:spPr>
          <a:xfrm>
            <a:off x="4520784" y="4488872"/>
            <a:ext cx="777056" cy="777056"/>
          </a:xfrm>
          <a:prstGeom prst="ellipse">
            <a:avLst/>
          </a:prstGeom>
          <a:noFill/>
          <a:ln w="19050">
            <a:solidFill>
              <a:srgbClr val="B85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Opens a browse dialog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Navigate through connected folders, geodatabases, and databases to the exact feature class you want.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default choice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If you're not sure which method to use, this is the one that always works.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The Add Data browse dialog, up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Feature classes usually live one level deeper than you expect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Add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549800"/>
            <a:ext cx="5897880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8A94A8"/>
                </a:solidFill>
                <a:latin typeface="Consolas"/>
              </a:rPr>
              <a:t>This PC ▸ GIS_Data ▸ parks.gdb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2820" y="2917600"/>
            <a:ext cx="104500" cy="41800"/>
          </a:xfrm>
          <a:prstGeom prst="roundRect">
            <a:avLst>
              <a:gd name="adj" fmla="val 35000"/>
            </a:avLst>
          </a:prstGeom>
          <a:solidFill>
            <a:srgbClr val="8A9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2820" y="2951800"/>
            <a:ext cx="190000" cy="110199"/>
          </a:xfrm>
          <a:prstGeom prst="roundRect">
            <a:avLst>
              <a:gd name="adj" fmla="val 10000"/>
            </a:avLst>
          </a:prstGeom>
          <a:solidFill>
            <a:srgbClr val="8A9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2820" y="2819800"/>
            <a:ext cx="553932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Databases</a:t>
            </a:r>
          </a:p>
        </p:txBody>
      </p:sp>
      <p:pic>
        <p:nvPicPr>
          <p:cNvPr id="19" name="Picture 18" descr="database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20" y="3234800"/>
            <a:ext cx="190000" cy="190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82820" y="3159800"/>
            <a:ext cx="553932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parks.gdb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4240" y="3499800"/>
            <a:ext cx="5989320" cy="340000"/>
          </a:xfrm>
          <a:prstGeom prst="roundRect">
            <a:avLst>
              <a:gd name="adj" fmla="val 8000"/>
            </a:avLst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ay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20" y="3574800"/>
            <a:ext cx="190000" cy="190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82820" y="3499800"/>
            <a:ext cx="553932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1" i="0">
                <a:solidFill>
                  <a:srgbClr val="FFFFFF"/>
                </a:solidFill>
                <a:latin typeface="Consolas"/>
              </a:rPr>
              <a:t>parks</a:t>
            </a:r>
          </a:p>
        </p:txBody>
      </p:sp>
      <p:pic>
        <p:nvPicPr>
          <p:cNvPr id="24" name="Picture 23" descr="layer_8a94a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820" y="3914800"/>
            <a:ext cx="190000" cy="19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82820" y="3839800"/>
            <a:ext cx="5539320" cy="3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50" b="0" i="0">
                <a:solidFill>
                  <a:srgbClr val="C7B59D"/>
                </a:solidFill>
                <a:latin typeface="Consolas"/>
              </a:rPr>
              <a:t>boundaries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93560" y="5813560"/>
            <a:ext cx="900000" cy="300000"/>
          </a:xfrm>
          <a:prstGeom prst="roundRect">
            <a:avLst>
              <a:gd name="adj" fmla="val 15000"/>
            </a:avLst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93560" y="5813560"/>
            <a:ext cx="9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Segoe UI"/>
              </a:rPr>
              <a:t>Add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 geodatabase is a container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You'll often need to expand one more level than you expect — a .gdb holds several feature classes, it isn't one itself.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Multi-select 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Ctrl-click (or Cmd-click) to add several feature classes from the same location in one go.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Method 2 — Add Data From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Faster than browsing, once you already know where the data 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Add Data From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Path or URL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960" y="284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00" y="28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C7B59D"/>
                </a:solidFill>
                <a:latin typeface="Consolas"/>
              </a:rPr>
              <a:t>C:/GIS_Data/nyc_parks.shp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960" y="318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Also accepts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960" y="342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800" y="342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C7B59D"/>
                </a:solidFill>
                <a:latin typeface="Consolas"/>
              </a:rPr>
              <a:t>https://services.arcgis.com/.../FeatureServer/0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Skips the browse tree entirely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Paste a path you already have copied, or a service URL — no clicking through folders.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Works for web services too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 REST endpoint URL (FeatureServer/MapServer) adds a live layer, not a static copy.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Method 3 — Drag from the Catalog pane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No dialog at all — click, hold, and drop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05000"/>
            <a:ext cx="2592324" cy="430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05000"/>
            <a:ext cx="2592324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9960" y="1905000"/>
            <a:ext cx="2318004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Catalog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800" y="2325000"/>
            <a:ext cx="2232324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C7B59D"/>
                </a:solidFill>
                <a:latin typeface="Consolas"/>
              </a:rPr>
              <a:t>▸ Databases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800" y="2605000"/>
            <a:ext cx="2232324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C7B59D"/>
                </a:solidFill>
                <a:latin typeface="Consolas"/>
              </a:rPr>
              <a:t>   RasterAnalysis.gdb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800" y="2885000"/>
            <a:ext cx="2232324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C7B59D"/>
                </a:solidFill>
                <a:latin typeface="Consolas"/>
              </a:rPr>
              <a:t>▸ Folders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800" y="3135000"/>
            <a:ext cx="2352324" cy="260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2800" y="3165000"/>
            <a:ext cx="2232324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Consolas"/>
              </a:rPr>
              <a:t>   parks.shp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5124" y="1905000"/>
            <a:ext cx="3079876" cy="430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2284" y="1996440"/>
            <a:ext cx="28055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18" name="Oval 17"/>
          <p:cNvSpPr/>
          <p:nvPr/>
        </p:nvSpPr>
        <p:spPr>
          <a:xfrm>
            <a:off x="5044678" y="3700336"/>
            <a:ext cx="800767" cy="800767"/>
          </a:xfrm>
          <a:prstGeom prst="ellipse">
            <a:avLst/>
          </a:prstGeom>
          <a:noFill/>
          <a:ln w="1587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65124" y="3250237"/>
            <a:ext cx="380000" cy="9525"/>
          </a:xfrm>
          <a:prstGeom prst="rect">
            <a:avLst/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arrow_d9a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124" y="3165000"/>
            <a:ext cx="180000" cy="180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fastest method, once it's visible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If the data's already in your Catalog tree, dragging it beats opening any dialog.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Multi-select still works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Select several items in Catalog first, then drag them all onto the map together.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Method 4 — Drag from File Explorer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Works even before you've opened ArcGIS Pro's own panes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800" y="1905000"/>
            <a:ext cx="2592324" cy="43000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2800" y="1905000"/>
            <a:ext cx="2592324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9960" y="1905000"/>
            <a:ext cx="2318004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File Explorer — GIS_Data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2800" y="2325000"/>
            <a:ext cx="2232324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C7B59D"/>
                </a:solidFill>
                <a:latin typeface="Consolas"/>
              </a:rPr>
              <a:t>▸ 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800" y="2605000"/>
            <a:ext cx="2232324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 i="0">
                <a:solidFill>
                  <a:srgbClr val="C7B59D"/>
                </a:solidFill>
                <a:latin typeface="Consolas"/>
              </a:rPr>
              <a:t>▸ processed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800" y="2855000"/>
            <a:ext cx="2352324" cy="260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2800" y="2885000"/>
            <a:ext cx="2232324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FFFFFF"/>
                </a:solidFill>
                <a:latin typeface="Consolas"/>
              </a:rPr>
              <a:t>   nyc_parks_2024.shp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5124" y="1905000"/>
            <a:ext cx="3079876" cy="43000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42284" y="1996440"/>
            <a:ext cx="2805556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8A94A8"/>
                </a:solidFill>
                <a:latin typeface="Segoe UI"/>
              </a:rPr>
              <a:t>Map view</a:t>
            </a:r>
          </a:p>
        </p:txBody>
      </p:sp>
      <p:sp>
        <p:nvSpPr>
          <p:cNvPr id="17" name="Oval 16"/>
          <p:cNvSpPr/>
          <p:nvPr/>
        </p:nvSpPr>
        <p:spPr>
          <a:xfrm>
            <a:off x="5044678" y="3700336"/>
            <a:ext cx="800767" cy="800767"/>
          </a:xfrm>
          <a:prstGeom prst="ellipse">
            <a:avLst/>
          </a:prstGeom>
          <a:noFill/>
          <a:ln w="1587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65124" y="2970237"/>
            <a:ext cx="380000" cy="9525"/>
          </a:xfrm>
          <a:prstGeom prst="rect">
            <a:avLst/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arrow_d9a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124" y="2885000"/>
            <a:ext cx="180000" cy="1800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Works outside ArcGIS Pro entirely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Drag straight from Windows Explorer or macOS Finder — you never have to open the Catalog pane first.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Multiple files at once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Select several shapefiles, or a whole folder of CSVs, and drop them together as separate layers.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Method 5 — Right-click ▸ Add To Current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Catalog pane's shortcut around the ribbon entirely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0B0F1A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9960" y="2301240"/>
            <a:ext cx="2468880" cy="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8A94A8"/>
                </a:solidFill>
                <a:latin typeface="Segoe UI"/>
              </a:rPr>
              <a:t>parks.shp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4460" y="3378820"/>
            <a:ext cx="2590800" cy="1657160"/>
          </a:xfrm>
          <a:prstGeom prst="roundRect">
            <a:avLst>
              <a:gd name="adj" fmla="val 4000"/>
            </a:avLst>
          </a:prstGeom>
          <a:solidFill>
            <a:srgbClr val="2A2019"/>
          </a:solidFill>
          <a:ln w="9525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10180" y="3424540"/>
            <a:ext cx="2499360" cy="334280"/>
          </a:xfrm>
          <a:prstGeom prst="roundRect">
            <a:avLst>
              <a:gd name="adj" fmla="val 10000"/>
            </a:avLst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1620" y="344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Segoe UI"/>
              </a:rPr>
              <a:t>Add To Current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1620" y="382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C7B59D"/>
                </a:solidFill>
                <a:latin typeface="Segoe UI"/>
              </a:rPr>
              <a:t>Add To New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1620" y="420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C7B59D"/>
                </a:solidFill>
                <a:latin typeface="Segoe UI"/>
              </a:rPr>
              <a:t>Copy 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1620" y="4587400"/>
            <a:ext cx="2316480" cy="334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0" i="0">
                <a:solidFill>
                  <a:srgbClr val="C7B59D"/>
                </a:solidFill>
                <a:latin typeface="Segoe UI"/>
              </a:rPr>
              <a:t>Properties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Same menu you already know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Right-click any Catalog pane item — the Contents-pane context menu gets 'Add To Current/New Map' rows at the top.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Add To New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Starts a brand-new map with just this layer — handy when you don't want to clutter your current one.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Method 6 — Choosing a Basemap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A reference layer, picked from a gallery instead of browsed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609320"/>
            <a:ext cx="1161288" cy="2796640"/>
          </a:xfrm>
          <a:prstGeom prst="roundRect">
            <a:avLst>
              <a:gd name="adj" fmla="val 10000"/>
            </a:avLst>
          </a:prstGeom>
          <a:solidFill>
            <a:srgbClr val="5E8B4A"/>
          </a:solidFill>
          <a:ln w="19050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68368" y="2655040"/>
            <a:ext cx="260000" cy="260000"/>
          </a:xfrm>
          <a:prstGeom prst="ellipse">
            <a:avLst/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8368" y="2655040"/>
            <a:ext cx="260000" cy="2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5451680"/>
            <a:ext cx="1161288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Topographic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65528" y="2609320"/>
            <a:ext cx="1161288" cy="2796640"/>
          </a:xfrm>
          <a:prstGeom prst="roundRect">
            <a:avLst>
              <a:gd name="adj" fmla="val 10000"/>
            </a:avLst>
          </a:prstGeom>
          <a:solidFill>
            <a:srgbClr val="E8B84B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65528" y="5451680"/>
            <a:ext cx="1161288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7B59D"/>
                </a:solidFill>
                <a:latin typeface="Segoe UI"/>
              </a:rPr>
              <a:t>Streets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8256" y="2609320"/>
            <a:ext cx="1161288" cy="2796640"/>
          </a:xfrm>
          <a:prstGeom prst="roundRect">
            <a:avLst>
              <a:gd name="adj" fmla="val 10000"/>
            </a:avLst>
          </a:prstGeom>
          <a:solidFill>
            <a:srgbClr val="3A3322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8256" y="5451680"/>
            <a:ext cx="1161288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7B59D"/>
                </a:solidFill>
                <a:latin typeface="Segoe UI"/>
              </a:rPr>
              <a:t>Imagery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0984" y="2609320"/>
            <a:ext cx="1161288" cy="2796640"/>
          </a:xfrm>
          <a:prstGeom prst="roundRect">
            <a:avLst>
              <a:gd name="adj" fmla="val 10000"/>
            </a:avLst>
          </a:prstGeom>
          <a:solidFill>
            <a:srgbClr val="9AA0AC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0984" y="5451680"/>
            <a:ext cx="1161288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7B59D"/>
                </a:solidFill>
                <a:latin typeface="Segoe UI"/>
              </a:rPr>
              <a:t>Light Gray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3712" y="2609320"/>
            <a:ext cx="1161288" cy="2796640"/>
          </a:xfrm>
          <a:prstGeom prst="roundRect">
            <a:avLst>
              <a:gd name="adj" fmla="val 10000"/>
            </a:avLst>
          </a:prstGeom>
          <a:solidFill>
            <a:srgbClr val="4BA3E0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23712" y="5451680"/>
            <a:ext cx="1161288" cy="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C7B59D"/>
                </a:solidFill>
                <a:latin typeface="Segoe UI"/>
              </a:rPr>
              <a:t>Oceans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 reference, not your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The basemap sits underneath your own layers — it's context, not content, and doesn't count toward your analysis.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Swappable any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Change it from the Map tab's Layer group whenever you like — it never affects any layer already on the map.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Method 7 — Add XY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bridge from a spreadsheet to a real point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Add XY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Input 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960" y="284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00" y="28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C7B59D"/>
                </a:solidFill>
                <a:latin typeface="Consolas"/>
              </a:rPr>
              <a:t>survey_points.csv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960" y="318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X Field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960" y="342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800" y="342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C7B59D"/>
                </a:solidFill>
                <a:latin typeface="Consolas"/>
              </a:rPr>
              <a:t>longitude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960" y="376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Y Field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960" y="400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2800" y="400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C7B59D"/>
                </a:solidFill>
                <a:latin typeface="Consolas"/>
              </a:rPr>
              <a:t>latitude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960" y="434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Coordinate System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9960" y="458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800" y="458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C7B59D"/>
                </a:solidFill>
                <a:latin typeface="Consolas"/>
              </a:rPr>
              <a:t>GCS_WGS_1984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No GIS software needed to create the 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Any CSV with two coordinate columns becomes a real point feature layer.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Double-check the coordinate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Get this wrong and every point lands in the same place — usually off the coast of Africa, at 0°, 0°.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Method 8 — Portal &amp; Living Atlas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Curated layers, added directly — no download step at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4240" y="2301240"/>
            <a:ext cx="5989320" cy="380000"/>
          </a:xfrm>
          <a:prstGeom prst="roundRect">
            <a:avLst>
              <a:gd name="adj" fmla="val 40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arch_8a94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820" y="2406240"/>
            <a:ext cx="170000" cy="17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2820" y="2301240"/>
            <a:ext cx="5589320" cy="3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0" i="1">
                <a:solidFill>
                  <a:srgbClr val="FFFFFF"/>
                </a:solidFill>
                <a:latin typeface="Segoe UI"/>
              </a:rPr>
              <a:t>flood zones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240" y="2801240"/>
            <a:ext cx="5989320" cy="1084586"/>
          </a:xfrm>
          <a:prstGeom prst="roundRect">
            <a:avLst>
              <a:gd name="adj" fmla="val 8000"/>
            </a:avLst>
          </a:prstGeom>
          <a:solidFill>
            <a:srgbClr val="1E1610"/>
          </a:solidFill>
          <a:ln w="12700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globe_d9a8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253533"/>
            <a:ext cx="180000" cy="18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09960" y="2953082"/>
            <a:ext cx="4789320" cy="4555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FEMA Flood Hazard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9960" y="3386916"/>
            <a:ext cx="4789320" cy="433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C7B59D"/>
                </a:solidFill>
                <a:latin typeface="Segoe UI"/>
              </a:rPr>
              <a:t>Feature Layer · Esri Living Atlas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3560" y="3203533"/>
            <a:ext cx="1080000" cy="280000"/>
          </a:xfrm>
          <a:prstGeom prst="roundRect">
            <a:avLst>
              <a:gd name="adj" fmla="val 50000"/>
            </a:avLst>
          </a:prstGeom>
          <a:solidFill>
            <a:srgbClr val="D9A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3560" y="3203533"/>
            <a:ext cx="10800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+ Add to Map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4240" y="3915826"/>
            <a:ext cx="5989320" cy="1084586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lobe_d9a8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4368120"/>
            <a:ext cx="180000" cy="18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09960" y="4067668"/>
            <a:ext cx="5669320" cy="4555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NYC Flood Hazard Mapper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9960" y="4501503"/>
            <a:ext cx="5669320" cy="433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C7B59D"/>
                </a:solidFill>
                <a:latin typeface="Segoe UI"/>
              </a:rPr>
              <a:t>Feature Layer · NYC Open Data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4240" y="5030413"/>
            <a:ext cx="5989320" cy="1084586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lobe_d9a8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5482706"/>
            <a:ext cx="180000" cy="18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9960" y="5182255"/>
            <a:ext cx="5669320" cy="4555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100-yr Floodplain (FEMA NFHL)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9960" y="5616090"/>
            <a:ext cx="5669320" cy="43383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0" i="1">
                <a:solidFill>
                  <a:srgbClr val="C7B59D"/>
                </a:solidFill>
                <a:latin typeface="Segoe UI"/>
              </a:rPr>
              <a:t>Feature Layer · Esri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Curated, not just crawled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Living Atlas layers are maintained and kept current by Esri and its partners — a step up from a random download.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Adds a live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Like Add Data From Path with a URL, this adds a connection to hosted data, not a local copy.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Connect first: Folders &amp;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browse tree can only show you places ArcGIS Pro already knows about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4300000"/>
          </a:xfrm>
          <a:prstGeom prst="roundRect">
            <a:avLst>
              <a:gd name="adj" fmla="val 2000"/>
            </a:avLst>
          </a:prstGeom>
          <a:solidFill>
            <a:srgbClr val="101626"/>
          </a:solidFill>
          <a:ln w="1270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2800" y="1905000"/>
            <a:ext cx="6172200" cy="304800"/>
          </a:xfrm>
          <a:prstGeom prst="roundRect">
            <a:avLst>
              <a:gd name="adj" fmla="val 2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800" y="2149800"/>
            <a:ext cx="6172200" cy="600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5200" y="1905000"/>
            <a:ext cx="58722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00" b="1" i="0">
                <a:solidFill>
                  <a:srgbClr val="D7DEEA"/>
                </a:solidFill>
                <a:latin typeface="Segoe UI"/>
              </a:rPr>
              <a:t>ArcGIS Pro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2800" y="2209800"/>
            <a:ext cx="6172200" cy="3995200"/>
          </a:xfrm>
          <a:prstGeom prst="rect">
            <a:avLst/>
          </a:prstGeom>
          <a:solidFill>
            <a:srgbClr val="101626"/>
          </a:solidFill>
          <a:ln w="9525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800" y="2209800"/>
            <a:ext cx="6172200" cy="320000"/>
          </a:xfrm>
          <a:prstGeom prst="rect">
            <a:avLst/>
          </a:prstGeom>
          <a:solidFill>
            <a:srgbClr val="1B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960" y="2209800"/>
            <a:ext cx="5897880" cy="3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50" b="1" i="0">
                <a:solidFill>
                  <a:srgbClr val="FFFFFF"/>
                </a:solidFill>
                <a:latin typeface="Segoe UI"/>
              </a:rPr>
              <a:t>Folder &amp; Database Connections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960" y="260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Folder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960" y="284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2800" y="284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C7B59D"/>
                </a:solidFill>
                <a:latin typeface="Consolas"/>
              </a:rPr>
              <a:t>C:/GIS_Data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960" y="3189800"/>
            <a:ext cx="589788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50" b="1" i="0">
                <a:solidFill>
                  <a:srgbClr val="8A94A8"/>
                </a:solidFill>
                <a:latin typeface="Segoe UI"/>
              </a:rPr>
              <a:t>Database Connection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960" y="3429800"/>
            <a:ext cx="5897880" cy="280000"/>
          </a:xfrm>
          <a:prstGeom prst="roundRect">
            <a:avLst>
              <a:gd name="adj" fmla="val 12000"/>
            </a:avLst>
          </a:prstGeom>
          <a:solidFill>
            <a:srgbClr val="0B0F1A"/>
          </a:solidFill>
          <a:ln w="6350">
            <a:solidFill>
              <a:srgbClr val="2A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800" y="3429800"/>
            <a:ext cx="5772200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850" b="0" i="0">
                <a:solidFill>
                  <a:srgbClr val="C7B59D"/>
                </a:solidFill>
                <a:latin typeface="Consolas"/>
              </a:rPr>
              <a:t>parks_prod.sde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7400" y="190500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74560" y="224534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 one-time setup, reused every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74560" y="292602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Add a connection once and it stays in your Catalog pane's Folders/Databases nodes going forward.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7400" y="4077860"/>
            <a:ext cx="4487672" cy="212714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4560" y="4418202"/>
            <a:ext cx="4213352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Do this before Add Data, not during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74560" y="5098887"/>
            <a:ext cx="4213352" cy="106357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Connecting mid-browse works too, but setting it up ahead of time keeps the workflow moving.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9A83A"/>
                </a:solidFill>
                <a:latin typeface="Segoe UI"/>
              </a:rPr>
              <a:t>DATA MANAGEMENT · ADDING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Verifying your data after adding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The lesson's last workflow step — don't skip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ullseye_d9a8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2250095"/>
            <a:ext cx="350520" cy="35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37640" y="207151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Does it draw where you expect?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7640" y="240454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Zoom to the layer — if it's off the coast of Africa or missing entirely, suspect the coordinate system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99143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ayer_d9a8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60" y="3336525"/>
            <a:ext cx="350520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37640" y="315794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Does the attribute table populate?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7640" y="349097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Open it. An empty or garbled table often means the wrong file within a multi-file format got selected.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07786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hart_d9a8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960" y="4422955"/>
            <a:ext cx="350520" cy="3505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37640" y="424437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Does the symbology make sense?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7640" y="457740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 single flat color is fine for now — just confirm it isn't rendering as all-one-value when it shouldn't be.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5164290"/>
            <a:ext cx="10566400" cy="1040710"/>
          </a:xfrm>
          <a:prstGeom prst="roundRect">
            <a:avLst>
              <a:gd name="adj" fmla="val 6000"/>
            </a:avLst>
          </a:prstGeom>
          <a:solidFill>
            <a:srgbClr val="2A2019"/>
          </a:solidFill>
          <a:ln w="9525">
            <a:solidFill>
              <a:srgbClr val="D9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riangle_d9a8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960" y="5509385"/>
            <a:ext cx="350520" cy="350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37640" y="5330803"/>
            <a:ext cx="98044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Does the coordinate system match your project?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7640" y="5663830"/>
            <a:ext cx="9804400" cy="5203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Check the layer's properties — a mismatch here is invisible until you measure something and get the wrong answer.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D8783D"/>
                </a:solidFill>
                <a:latin typeface="Segoe UI"/>
              </a:rPr>
              <a:t>DATA MANAGEMENT · 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Quick reference — resource or method?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A map from 'I need...' to where to look or which button to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1400" y="1905000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...data for a project inside New York City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2640" y="1986200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3968" y="1905000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NYC Open Data / MapPLUTO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2386111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1E1610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2386111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...the same kind of data for another U.S. 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2640" y="2467311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3968" y="2386111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That city's own open-data portal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2867222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2867222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...data for a project spanning a state or county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52640" y="2948422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3968" y="2867222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State Open Data portal / Census TIGER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3348333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1E1610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1400" y="3348333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...authoritative U.S.-wide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2640" y="3429533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3968" y="3348333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A federal agency portal (Census, USGS, CDC, FEMA)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3829444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1400" y="3829444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...data for a project outside the U.S.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2640" y="3910644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3968" y="3829444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Natural Earth, GADM, OpenStreetMap, World Bank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4310555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1E1610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1400" y="4310555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...to add a shapefile or geodatabase already on disk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52640" y="4391755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63968" y="4310555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The Add Data button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800" y="4791666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1400" y="4791666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...to add data from a path or service URL I already have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2640" y="4872866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3968" y="4791666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Add Data From Path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800" y="5272777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1E1610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1400" y="5272777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...to map a spreadsheet with coordinate columns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52640" y="5353977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3968" y="5272777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Add XY Data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2800" y="5753888"/>
            <a:ext cx="10566400" cy="451111"/>
          </a:xfrm>
          <a:prstGeom prst="roundRect">
            <a:avLst>
              <a:gd name="adj" fmla="val 10000"/>
            </a:avLst>
          </a:prstGeom>
          <a:solidFill>
            <a:srgbClr val="2A2019"/>
          </a:solidFill>
          <a:ln w="6350">
            <a:solidFill>
              <a:srgbClr val="4534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1400" y="5753888"/>
            <a:ext cx="591718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0" i="1">
                <a:solidFill>
                  <a:srgbClr val="C7B59D"/>
                </a:solidFill>
                <a:latin typeface="Segoe UI"/>
              </a:rPr>
              <a:t>...a curated, maintained layer with no download step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52640" y="5835088"/>
            <a:ext cx="0" cy="288711"/>
          </a:xfrm>
          <a:prstGeom prst="rect">
            <a:avLst/>
          </a:prstGeom>
          <a:noFill/>
          <a:ln w="9525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63968" y="5753888"/>
            <a:ext cx="3803904" cy="45111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250" b="1" i="0">
                <a:solidFill>
                  <a:srgbClr val="D8783D"/>
                </a:solidFill>
                <a:latin typeface="Segoe UI"/>
              </a:rPr>
              <a:t>Portal / Living Atlas search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6E9B6B"/>
                </a:solidFill>
                <a:latin typeface="Segoe UI"/>
              </a:rPr>
              <a:t>DATA MANAGEMENT · KNOWLEDGE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Quick check: sourcing and adding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Click each card's “Click to reveal” box to see the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5168900" cy="2035700"/>
          </a:xfrm>
          <a:prstGeom prst="roundRect">
            <a:avLst>
              <a:gd name="adj" fmla="val 5000"/>
            </a:avLst>
          </a:prstGeom>
          <a:solidFill>
            <a:srgbClr val="2A2019"/>
          </a:solidFill>
          <a:ln w="12700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3300" y="2055000"/>
            <a:ext cx="4787900" cy="85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You need parcel-level data for a project inside New York City. Where should you look first?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00" y="3090712"/>
            <a:ext cx="4787900" cy="641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C7B59D"/>
                </a:solidFill>
                <a:latin typeface="Segoe UI"/>
              </a:rPr>
              <a:t>NYC Open Data / NYC MapPLUTO — the city-level portal, not a national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3300" y="3044992"/>
            <a:ext cx="4787900" cy="732852"/>
          </a:xfrm>
          <a:prstGeom prst="roundRect">
            <a:avLst>
              <a:gd name="adj" fmla="val 12000"/>
            </a:avLst>
          </a:prstGeom>
          <a:solidFill>
            <a:srgbClr val="1E1610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3300" y="3044992"/>
            <a:ext cx="4787900" cy="732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1">
                <a:solidFill>
                  <a:srgbClr val="6E9B6B"/>
                </a:solidFill>
                <a:latin typeface="Segoe UI"/>
              </a:rPr>
              <a:t>Click to reveal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300" y="1905000"/>
            <a:ext cx="5168900" cy="2035700"/>
          </a:xfrm>
          <a:prstGeom prst="roundRect">
            <a:avLst>
              <a:gd name="adj" fmla="val 5000"/>
            </a:avLst>
          </a:prstGeom>
          <a:solidFill>
            <a:srgbClr val="2A2019"/>
          </a:solidFill>
          <a:ln w="12700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55000"/>
            <a:ext cx="4787900" cy="85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A downloaded shapefile won't open — ArcGIS Pro says it can't find the file. What's the most likely cause?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90712"/>
            <a:ext cx="4787900" cy="641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C7B59D"/>
                </a:solidFill>
                <a:latin typeface="Segoe UI"/>
              </a:rPr>
              <a:t>A sidecar file is missing — .shp needs its .shx and .dbf (and ideally .prj) to travel with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44992"/>
            <a:ext cx="4787900" cy="732852"/>
          </a:xfrm>
          <a:prstGeom prst="roundRect">
            <a:avLst>
              <a:gd name="adj" fmla="val 12000"/>
            </a:avLst>
          </a:prstGeom>
          <a:solidFill>
            <a:srgbClr val="1E1610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044992"/>
            <a:ext cx="4787900" cy="732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1">
                <a:solidFill>
                  <a:srgbClr val="6E9B6B"/>
                </a:solidFill>
                <a:latin typeface="Segoe UI"/>
              </a:rPr>
              <a:t>Click to reveal answer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4169300"/>
            <a:ext cx="5168900" cy="2035700"/>
          </a:xfrm>
          <a:prstGeom prst="roundRect">
            <a:avLst>
              <a:gd name="adj" fmla="val 5000"/>
            </a:avLst>
          </a:prstGeom>
          <a:solidFill>
            <a:srgbClr val="2A2019"/>
          </a:solidFill>
          <a:ln w="12700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300" y="4319300"/>
            <a:ext cx="4787900" cy="85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You have a CSV of survey points with latitude/longitude columns. Which tool turns it into a map layer?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3300" y="5355012"/>
            <a:ext cx="4787900" cy="641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C7B59D"/>
                </a:solidFill>
                <a:latin typeface="Segoe UI"/>
              </a:rPr>
              <a:t>Add XY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3300" y="5309292"/>
            <a:ext cx="4787900" cy="732852"/>
          </a:xfrm>
          <a:prstGeom prst="roundRect">
            <a:avLst>
              <a:gd name="adj" fmla="val 12000"/>
            </a:avLst>
          </a:prstGeom>
          <a:solidFill>
            <a:srgbClr val="1E1610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3300" y="5309292"/>
            <a:ext cx="4787900" cy="732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1">
                <a:solidFill>
                  <a:srgbClr val="6E9B6B"/>
                </a:solidFill>
                <a:latin typeface="Segoe UI"/>
              </a:rPr>
              <a:t>Click to reveal answer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300" y="4169300"/>
            <a:ext cx="5168900" cy="2035700"/>
          </a:xfrm>
          <a:prstGeom prst="roundRect">
            <a:avLst>
              <a:gd name="adj" fmla="val 5000"/>
            </a:avLst>
          </a:prstGeom>
          <a:solidFill>
            <a:srgbClr val="2A2019"/>
          </a:solidFill>
          <a:ln w="12700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319300"/>
            <a:ext cx="4787900" cy="85499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Your new point layer shows up off the coast of Africa. What should you check first?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355012"/>
            <a:ext cx="4787900" cy="6414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150" b="0" i="0">
                <a:solidFill>
                  <a:srgbClr val="C7B59D"/>
                </a:solidFill>
                <a:latin typeface="Segoe UI"/>
              </a:rPr>
              <a:t>The coordinate system — 0°, 0° is the classic symptom of a missing or wrong CRS.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309292"/>
            <a:ext cx="4787900" cy="732852"/>
          </a:xfrm>
          <a:prstGeom prst="roundRect">
            <a:avLst>
              <a:gd name="adj" fmla="val 12000"/>
            </a:avLst>
          </a:prstGeom>
          <a:solidFill>
            <a:srgbClr val="1E1610"/>
          </a:solidFill>
          <a:ln w="9525">
            <a:solidFill>
              <a:srgbClr val="6E9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309292"/>
            <a:ext cx="4787900" cy="7328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1">
                <a:solidFill>
                  <a:srgbClr val="6E9B6B"/>
                </a:solidFill>
                <a:latin typeface="Segoe UI"/>
              </a:rPr>
              <a:t>Click to reveal answer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0" restart="whenNotActive" fill="hold" nodeType="interactiveSeq">
                <p:stCondLst>
                  <p:cond evt="onClick" delay="0">
                    <p:tgtEl>
                      <p:spTgt spid="8"/>
                    </p:tgtEl>
                  </p:cond>
                  <p:cond evt="onClick" delay="0">
                    <p:tgtEl>
                      <p:spTgt spid="11"/>
                    </p:tgtEl>
                  </p:cond>
                  <p:cond evt="onClick" delay="0">
                    <p:tgtEl>
                      <p:spTgt spid="12"/>
                    </p:tgtEl>
                  </p:cond>
                </p:stCondLst>
                <p:childTnLst>
                  <p:par>
                    <p:cTn id="1001" fill="hold">
                      <p:stCondLst>
                        <p:cond delay="0"/>
                      </p:stCondLst>
                      <p:childTnLst>
                        <p:par>
                          <p:cTn id="10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0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2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00" restart="whenNotActive" fill="hold" nodeType="interactiveSeq">
                <p:stCondLst>
                  <p:cond evt="onClick" delay="0">
                    <p:tgtEl>
                      <p:spTgt spid="13"/>
                    </p:tgtEl>
                  </p:cond>
                  <p:cond evt="onClick" delay="0">
                    <p:tgtEl>
                      <p:spTgt spid="16"/>
                    </p:tgtEl>
                  </p:cond>
                  <p:cond evt="onClick" delay="0">
                    <p:tgtEl>
                      <p:spTgt spid="17"/>
                    </p:tgtEl>
                  </p:cond>
                </p:stCondLst>
                <p:childTnLst>
                  <p:par>
                    <p:cTn id="1301" fill="hold">
                      <p:stCondLst>
                        <p:cond delay="0"/>
                      </p:stCondLst>
                      <p:childTnLst>
                        <p:par>
                          <p:cTn id="13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3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5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00" restart="whenNotActive" fill="hold" nodeType="interactiveSeq">
                <p:stCondLst>
                  <p:cond evt="onClick" delay="0">
                    <p:tgtEl>
                      <p:spTgt spid="18"/>
                    </p:tgtEl>
                  </p:cond>
                  <p:cond evt="onClick" delay="0">
                    <p:tgtEl>
                      <p:spTgt spid="21"/>
                    </p:tgtEl>
                  </p:cond>
                  <p:cond evt="onClick" delay="0">
                    <p:tgtEl>
                      <p:spTgt spid="22"/>
                    </p:tgtEl>
                  </p:cond>
                </p:stCondLst>
                <p:childTnLst>
                  <p:par>
                    <p:cTn id="1601" fill="hold">
                      <p:stCondLst>
                        <p:cond delay="0"/>
                      </p:stCondLst>
                      <p:childTnLst>
                        <p:par>
                          <p:cTn id="16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6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8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8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00" restart="whenNotActive" fill="hold" nodeType="interactiveSeq">
                <p:stCondLst>
                  <p:cond evt="onClick" delay="0">
                    <p:tgtEl>
                      <p:spTgt spid="23"/>
                    </p:tgtEl>
                  </p:cond>
                  <p:cond evt="onClick" delay="0">
                    <p:tgtEl>
                      <p:spTgt spid="26"/>
                    </p:tgtEl>
                  </p:cond>
                  <p:cond evt="onClick" delay="0">
                    <p:tgtEl>
                      <p:spTgt spid="27"/>
                    </p:tgtEl>
                  </p:cond>
                </p:stCondLst>
                <p:childTnLst>
                  <p:par>
                    <p:cTn id="1901" fill="hold">
                      <p:stCondLst>
                        <p:cond delay="0"/>
                      </p:stCondLst>
                      <p:childTnLst>
                        <p:par>
                          <p:cTn id="1902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0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1903" presetID="1" presetClass="exit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hidden"/>
                                </p:to>
                              </p:set>
                            </p:childTnLst>
                          </p:cTn>
                        </p:par>
                        <p:par>
                          <p:cTn id="2100" presetID="1" presetClass="entr" presetSubtype="0" fill="hold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0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241C15"/>
              </a:gs>
              <a:gs pos="100000">
                <a:srgbClr val="120D09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9000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 spc="200">
                <a:solidFill>
                  <a:srgbClr val="B85630"/>
                </a:solidFill>
                <a:latin typeface="Segoe UI"/>
              </a:rPr>
              <a:t>DATA MANAGEMENT · RECAP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658368"/>
            <a:ext cx="11057839" cy="0"/>
          </a:xfrm>
          <a:prstGeom prst="rect">
            <a:avLst/>
          </a:prstGeom>
          <a:noFill/>
          <a:ln w="12700">
            <a:solidFill>
              <a:srgbClr val="3D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41248"/>
            <a:ext cx="1023487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Segoe UI"/>
              </a:rPr>
              <a:t>From open data to a working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26464"/>
            <a:ext cx="102348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0" i="0">
                <a:solidFill>
                  <a:srgbClr val="C7B59D"/>
                </a:solidFill>
                <a:latin typeface="Segoe UI"/>
              </a:rPr>
              <a:t>You know where the data comes from and how it gets in — next, let's build the project it lives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3600" y="6413500"/>
            <a:ext cx="6035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6E5D49"/>
                </a:solidFill>
                <a:latin typeface="Segoe UI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1905000"/>
            <a:ext cx="6172200" cy="104071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9525">
            <a:solidFill>
              <a:srgbClr val="B85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3300" y="2050699"/>
            <a:ext cx="5791200" cy="416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Start local, zoom out only when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3300" y="2425355"/>
            <a:ext cx="5791200" cy="478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NYC → other cities → state/county → federal → global — pick the narrowest scale that actually covers your project.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2991430"/>
            <a:ext cx="6172200" cy="104071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9525">
            <a:solidFill>
              <a:srgbClr val="B85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3300" y="3137129"/>
            <a:ext cx="5791200" cy="416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A dataset page is worth reading before you click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300" y="3511785"/>
            <a:ext cx="5791200" cy="478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Agency, category, and the Updated date are sitting right there on the page — checking them costs ten seconds and saves you from a stale or wrong-source download.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4077860"/>
            <a:ext cx="6172200" cy="104071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9525">
            <a:solidFill>
              <a:srgbClr val="B85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300" y="4223559"/>
            <a:ext cx="5791200" cy="416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 same five clicks work almost everywhere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300" y="4598215"/>
            <a:ext cx="5791200" cy="478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Search the catalog, open the page, check the metadata, export, unzip — that exact path carries from NYC Open Data to state, federal, and global portals with barely a change.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5164290"/>
            <a:ext cx="6172200" cy="1040710"/>
          </a:xfrm>
          <a:prstGeom prst="roundRect">
            <a:avLst>
              <a:gd name="adj" fmla="val 8000"/>
            </a:avLst>
          </a:prstGeom>
          <a:solidFill>
            <a:srgbClr val="2A2019"/>
          </a:solidFill>
          <a:ln w="9525">
            <a:solidFill>
              <a:srgbClr val="B85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3300" y="5309989"/>
            <a:ext cx="5791200" cy="416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Segoe UI"/>
              </a:rPr>
              <a:t>There's no single 'right' way to add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3300" y="5684645"/>
            <a:ext cx="5791200" cy="47872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Button, path, drag, right-click, gallery, or search — pick whichever method matches what you already have in hand.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13600" y="1905000"/>
            <a:ext cx="4411472" cy="4300000"/>
          </a:xfrm>
          <a:prstGeom prst="roundRect">
            <a:avLst>
              <a:gd name="adj" fmla="val 6000"/>
            </a:avLst>
          </a:prstGeom>
          <a:solidFill>
            <a:srgbClr val="1E1610"/>
          </a:solidFill>
          <a:ln w="12700">
            <a:solidFill>
              <a:srgbClr val="B85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2200" y="2095500"/>
            <a:ext cx="3954272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B85630"/>
                </a:solidFill>
                <a:latin typeface="Segoe UI"/>
              </a:rPr>
              <a:t>Up next: Project, Map, Layer &amp; Geodatabase Creation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2200" y="2705000"/>
            <a:ext cx="4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B85630"/>
                </a:solidFill>
                <a:latin typeface="Segoe UI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3600" y="2705000"/>
            <a:ext cx="3561472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New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3600" y="3073000"/>
            <a:ext cx="3561472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how do you set up a brand-new ArcGIS Pro project the right way, starting from an empty folder?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2200" y="3505000"/>
            <a:ext cx="4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B85630"/>
                </a:solidFill>
                <a:latin typeface="Segoe U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3600" y="3505000"/>
            <a:ext cx="3561472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New vocabulary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3600" y="3873000"/>
            <a:ext cx="3561472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projects (.aprx) vs. maps vs. layers vs. geodatabases — four different containers, one file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2200" y="4305000"/>
            <a:ext cx="4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B85630"/>
                </a:solidFill>
                <a:latin typeface="Segoe UI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33600" y="4305000"/>
            <a:ext cx="3561472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Same habit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33600" y="4673000"/>
            <a:ext cx="3561472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you'll add the very data you just sourced in this lesson straight into that new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2200" y="5105000"/>
            <a:ext cx="4000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>
                <a:solidFill>
                  <a:srgbClr val="B85630"/>
                </a:solidFill>
                <a:latin typeface="Segoe UI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33600" y="5105000"/>
            <a:ext cx="3561472" cy="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Segoe UI"/>
              </a:rPr>
              <a:t>Carry it 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3600" y="5473000"/>
            <a:ext cx="3561472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050" b="0" i="0">
                <a:solidFill>
                  <a:srgbClr val="C7B59D"/>
                </a:solidFill>
                <a:latin typeface="Segoe UI"/>
              </a:rPr>
              <a:t>the same Catalog pane, Add Data methods, and folder discipline from this lesson carry forward unchanged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6265000"/>
            <a:ext cx="105664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C7B59D"/>
                </a:solidFill>
                <a:latin typeface="Segoe UI"/>
              </a:rPr>
              <a:t>You know where the data comes from and how it gets in — next, let's build the project it lives 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