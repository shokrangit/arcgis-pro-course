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320" r:id="rId2"/>
    <p:sldId id="288" r:id="rId3"/>
    <p:sldId id="290" r:id="rId4"/>
    <p:sldId id="292" r:id="rId5"/>
    <p:sldId id="294" r:id="rId6"/>
    <p:sldId id="297" r:id="rId7"/>
    <p:sldId id="299" r:id="rId8"/>
    <p:sldId id="301" r:id="rId9"/>
    <p:sldId id="303" r:id="rId10"/>
    <p:sldId id="305" r:id="rId11"/>
    <p:sldId id="307" r:id="rId12"/>
    <p:sldId id="341" r:id="rId13"/>
    <p:sldId id="342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8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5552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- Select by Location  · 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by Location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71500" y="2209800"/>
            <a:ext cx="5394960" cy="603504"/>
          </a:xfrm>
          <a:prstGeom prst="roundRect">
            <a:avLst>
              <a:gd name="adj" fmla="val 9091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 sz="1100">
              <a:solidFill>
                <a:srgbClr val="80808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66928" y="3456432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by Location identifies features by where they sit relative to another layer rather than by the values in their table. The result is a selected subset you can inspect, export, summarize, or feed into further spatial analysis.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66928" y="58064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2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7269480" y="914400"/>
            <a:ext cx="4355287" cy="5394960"/>
          </a:xfrm>
          <a:prstGeom prst="roundRect">
            <a:avLst>
              <a:gd name="adj" fmla="val 2309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35240" y="1170432"/>
            <a:ext cx="36237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lesson covers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635240" y="1865376"/>
            <a:ext cx="512064" cy="512064"/>
          </a:xfrm>
          <a:prstGeom prst="line">
            <a:avLst/>
          </a:prstGeom>
          <a:solidFill>
            <a:srgbClr val="07211A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assets/ic_loc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8135" y="1988271"/>
            <a:ext cx="266273" cy="26627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93608" y="1810512"/>
            <a:ext cx="29836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spatial selection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293608" y="2103120"/>
            <a:ext cx="29836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Select by Location differs from attribute queries.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35240" y="2724912"/>
            <a:ext cx="512064" cy="512064"/>
          </a:xfrm>
          <a:prstGeom prst="line">
            <a:avLst/>
          </a:prstGeom>
          <a:solidFill>
            <a:srgbClr val="07211A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assets/ic_pa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8135" y="2847807"/>
            <a:ext cx="266273" cy="26627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293608" y="2670048"/>
            <a:ext cx="29836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three ingredients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8293608" y="2962656"/>
            <a:ext cx="29836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layer, source features, and a spatial relationship.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635240" y="3584448"/>
            <a:ext cx="512064" cy="512064"/>
          </a:xfrm>
          <a:prstGeom prst="line">
            <a:avLst/>
          </a:prstGeom>
          <a:solidFill>
            <a:srgbClr val="07211A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assets/ic_sq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8135" y="3707343"/>
            <a:ext cx="266273" cy="26627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93608" y="3529584"/>
            <a:ext cx="29836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relationship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293608" y="3822192"/>
            <a:ext cx="29836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Intersect, within, contains, or within a distance.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7635240" y="4443984"/>
            <a:ext cx="512064" cy="512064"/>
          </a:xfrm>
          <a:prstGeom prst="line">
            <a:avLst/>
          </a:prstGeom>
          <a:solidFill>
            <a:srgbClr val="07211A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assets/ic_logi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8135" y="4566879"/>
            <a:ext cx="266273" cy="26627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293608" y="4389120"/>
            <a:ext cx="29836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dialog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8293608" y="4681728"/>
            <a:ext cx="29836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fields and combine selection methods.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7635240" y="5303520"/>
            <a:ext cx="512064" cy="512064"/>
          </a:xfrm>
          <a:prstGeom prst="line">
            <a:avLst/>
          </a:prstGeom>
          <a:solidFill>
            <a:srgbClr val="07211A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assets/ic_diagno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8135" y="5426415"/>
            <a:ext cx="266273" cy="26627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293608" y="5248656"/>
            <a:ext cx="29836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and refine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8293608" y="5541264"/>
            <a:ext cx="29836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an example and avoid common pitfalls.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69530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- Select by Location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0F2F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23600" y="6413500"/>
            <a:ext cx="603504" cy="402336"/>
          </a:xfrm>
          <a:prstGeom prst="roundRect">
            <a:avLst>
              <a:gd name="adj" fmla="val 13636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>
              <a:solidFill>
                <a:srgbClr val="8080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Select by Location does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driven by spatial relationship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4297680" cy="1783080"/>
          </a:xfrm>
          <a:prstGeom prst="roundRect">
            <a:avLst>
              <a:gd name="adj" fmla="val 5641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9536" y="2231136"/>
            <a:ext cx="475488" cy="475488"/>
          </a:xfrm>
          <a:prstGeom prst="line">
            <a:avLst/>
          </a:prstGeom>
          <a:solidFill>
            <a:srgbClr val="07211A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assets/ic_sq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653" y="2345253"/>
            <a:ext cx="247254" cy="24725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224942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Location, not attributes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77824" y="2798064"/>
            <a:ext cx="3675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testing a field value, it tests how each feature in the target layer relates spatially to a source layer — do they intersect, fall inside, or lie within a set distance?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58368" y="4114800"/>
            <a:ext cx="1225296" cy="566928"/>
          </a:xfrm>
          <a:prstGeom prst="roundRect">
            <a:avLst>
              <a:gd name="adj" fmla="val 9677"/>
            </a:avLst>
          </a:prstGeom>
          <a:solidFill>
            <a:srgbClr val="07211A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58368" y="4114800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883664" y="4114800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2176272" y="4114800"/>
            <a:ext cx="1225296" cy="566928"/>
          </a:xfrm>
          <a:prstGeom prst="roundRect">
            <a:avLst>
              <a:gd name="adj" fmla="val 9677"/>
            </a:avLst>
          </a:prstGeom>
          <a:solidFill>
            <a:srgbClr val="07211A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176272" y="4114800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401568" y="4114800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3694176" y="4114800"/>
            <a:ext cx="1225296" cy="566928"/>
          </a:xfrm>
          <a:prstGeom prst="roundRect">
            <a:avLst>
              <a:gd name="adj" fmla="val 9677"/>
            </a:avLst>
          </a:prstGeom>
          <a:solidFill>
            <a:srgbClr val="07211A"/>
          </a:solidFill>
          <a:ln w="1587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694176" y="4114800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58368" y="4892040"/>
            <a:ext cx="4261104" cy="548640"/>
          </a:xfrm>
          <a:prstGeom prst="roundRect">
            <a:avLst>
              <a:gd name="adj" fmla="val 10000"/>
            </a:avLst>
          </a:prstGeom>
          <a:solidFill>
            <a:srgbClr val="07211A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04672" y="4892040"/>
            <a:ext cx="3986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 parks  INTERSECT  flood_zone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166360" y="1956816"/>
            <a:ext cx="6458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questions it answers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166360" y="2395728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422392" y="23957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Proximity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452360" y="2395728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schools within 1 km of highways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166360" y="3054096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422392" y="305409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Containment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7452360" y="3054096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wells inside protected areas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166360" y="3712464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422392" y="371246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7452360" y="3712464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parcels intersecting a flood zone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166360" y="4370832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422392" y="43708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Adjacency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7452360" y="4370832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lots sharing a boundary with a park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5166360" y="5029200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5422392" y="5029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Along a network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7452360" y="5029200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stops that touch a bus route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5166360" y="5705856"/>
            <a:ext cx="64584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feature is kept or dropped by a true / false spatial test — like an attribute query, but geometric.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734592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- Select by Location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0F2F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23600" y="6413500"/>
            <a:ext cx="603504" cy="402336"/>
          </a:xfrm>
          <a:prstGeom prst="roundRect">
            <a:avLst>
              <a:gd name="adj" fmla="val 13636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>
              <a:solidFill>
                <a:srgbClr val="8080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 vs. Location selection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ask 'which features?'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19202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for Select by Location when…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2340864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86384" y="2514600"/>
            <a:ext cx="493776" cy="493776"/>
          </a:xfrm>
          <a:prstGeom prst="line">
            <a:avLst/>
          </a:prstGeom>
          <a:solidFill>
            <a:srgbClr val="07211A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assets/ic_noreco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90" y="2633106"/>
            <a:ext cx="256764" cy="2567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44752" y="2441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matters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44752" y="272491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features near something — within 500 m of, or closest to.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310128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86384" y="3483864"/>
            <a:ext cx="493776" cy="493776"/>
          </a:xfrm>
          <a:prstGeom prst="line">
            <a:avLst/>
          </a:prstGeom>
          <a:solidFill>
            <a:srgbClr val="07211A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assets/ic_tooman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90" y="3602370"/>
            <a:ext cx="256764" cy="2567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44752" y="34107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Geometry matters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444752" y="369417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depends on inside, outside, or overlapping — not a column value.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66928" y="4279392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86384" y="4453128"/>
            <a:ext cx="493776" cy="493776"/>
          </a:xfrm>
          <a:prstGeom prst="line">
            <a:avLst/>
          </a:prstGeom>
          <a:solidFill>
            <a:srgbClr val="07211A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assets/ic_synt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90" y="4571634"/>
            <a:ext cx="256764" cy="2567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44752" y="43799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shared key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444752" y="466344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layers describe the same place but share no field to join on.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66928" y="5248656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786384" y="5422392"/>
            <a:ext cx="493776" cy="493776"/>
          </a:xfrm>
          <a:prstGeom prst="line">
            <a:avLst/>
          </a:prstGeom>
          <a:solidFill>
            <a:srgbClr val="07211A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assets/ic_unexpect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90" y="5540898"/>
            <a:ext cx="256764" cy="25676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44752" y="5349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+ tabular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444752" y="563270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want to combine 'near a river' with 'zoned residential'.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355080" y="2011680"/>
            <a:ext cx="5269687" cy="4160520"/>
          </a:xfrm>
          <a:prstGeom prst="roundRect">
            <a:avLst>
              <a:gd name="adj" fmla="val 2418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6684264" y="2194560"/>
            <a:ext cx="46296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decision guide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6684264" y="267004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6684264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7123176" y="265176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in the table?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7123176" y="299923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7211A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7269480" y="299923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by Attributes  →  ZONING = 'R1'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6684264" y="340156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6684264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7123176" y="338328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on the map?</a:t>
            </a:r>
            <a:endParaRPr lang="en-US" sz="1250" dirty="0"/>
          </a:p>
        </p:txBody>
      </p:sp>
      <p:sp>
        <p:nvSpPr>
          <p:cNvPr id="39" name="Shape 33"/>
          <p:cNvSpPr/>
          <p:nvPr/>
        </p:nvSpPr>
        <p:spPr>
          <a:xfrm>
            <a:off x="7123176" y="373075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7211A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7269480" y="373075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by Location  →  WITHIN A DISTANCE OF rivers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6684264" y="413308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6684264" y="4133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43" name="Text 37"/>
          <p:cNvSpPr/>
          <p:nvPr/>
        </p:nvSpPr>
        <p:spPr>
          <a:xfrm>
            <a:off x="7123176" y="411480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conditions?</a:t>
            </a:r>
            <a:endParaRPr lang="en-US" sz="1250" dirty="0"/>
          </a:p>
        </p:txBody>
      </p:sp>
      <p:sp>
        <p:nvSpPr>
          <p:cNvPr id="44" name="Shape 38"/>
          <p:cNvSpPr/>
          <p:nvPr/>
        </p:nvSpPr>
        <p:spPr>
          <a:xfrm>
            <a:off x="7123176" y="446227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7211A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/>
          <p:nvPr/>
        </p:nvSpPr>
        <p:spPr>
          <a:xfrm>
            <a:off x="7269480" y="446227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 them  →  Attributes, then Location</a:t>
            </a:r>
            <a:endParaRPr lang="en-US" sz="1150" dirty="0"/>
          </a:p>
        </p:txBody>
      </p:sp>
      <p:sp>
        <p:nvSpPr>
          <p:cNvPr id="46" name="Shape 40"/>
          <p:cNvSpPr/>
          <p:nvPr/>
        </p:nvSpPr>
        <p:spPr>
          <a:xfrm>
            <a:off x="6684264" y="486460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1"/>
          <p:cNvSpPr/>
          <p:nvPr/>
        </p:nvSpPr>
        <p:spPr>
          <a:xfrm>
            <a:off x="6684264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48" name="Text 42"/>
          <p:cNvSpPr/>
          <p:nvPr/>
        </p:nvSpPr>
        <p:spPr>
          <a:xfrm>
            <a:off x="7123176" y="484632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is spatial?</a:t>
            </a:r>
            <a:endParaRPr lang="en-US" sz="1250" dirty="0"/>
          </a:p>
        </p:txBody>
      </p:sp>
      <p:sp>
        <p:nvSpPr>
          <p:cNvPr id="49" name="Shape 43"/>
          <p:cNvSpPr/>
          <p:nvPr/>
        </p:nvSpPr>
        <p:spPr>
          <a:xfrm>
            <a:off x="7123176" y="519379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7211A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/>
          <p:nvPr/>
        </p:nvSpPr>
        <p:spPr>
          <a:xfrm>
            <a:off x="7269480" y="519379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a plain table query</a:t>
            </a:r>
            <a:endParaRPr lang="en-US" sz="1150" dirty="0"/>
          </a:p>
        </p:txBody>
      </p:sp>
      <p:sp>
        <p:nvSpPr>
          <p:cNvPr id="51" name="Shape 45"/>
          <p:cNvSpPr/>
          <p:nvPr/>
        </p:nvSpPr>
        <p:spPr>
          <a:xfrm>
            <a:off x="6684264" y="5614416"/>
            <a:ext cx="4629607" cy="566928"/>
          </a:xfrm>
          <a:prstGeom prst="roundRect">
            <a:avLst>
              <a:gd name="adj" fmla="val 9677"/>
            </a:avLst>
          </a:prstGeom>
          <a:solidFill>
            <a:srgbClr val="0F2F26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/>
          <p:nvPr/>
        </p:nvSpPr>
        <p:spPr>
          <a:xfrm>
            <a:off x="6867144" y="5614416"/>
            <a:ext cx="42638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is my filter a fact in the table, or a fact on the map?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802991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- Select by Location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0F2F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23600" y="6413500"/>
            <a:ext cx="603504" cy="402336"/>
          </a:xfrm>
          <a:prstGeom prst="roundRect">
            <a:avLst>
              <a:gd name="adj" fmla="val 13636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>
              <a:solidFill>
                <a:srgbClr val="8080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ingredients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every Select by Location needs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4297680" cy="1783080"/>
          </a:xfrm>
          <a:prstGeom prst="roundRect">
            <a:avLst>
              <a:gd name="adj" fmla="val 5641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9536" y="2231136"/>
            <a:ext cx="475488" cy="475488"/>
          </a:xfrm>
          <a:prstGeom prst="line">
            <a:avLst/>
          </a:prstGeom>
          <a:solidFill>
            <a:srgbClr val="07211A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assets/ic_sq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653" y="2345253"/>
            <a:ext cx="247254" cy="24725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224942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it as a sentence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77824" y="2798064"/>
            <a:ext cx="3675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features from the TARGET layer that share a RELATIONSHIP with the SOURCE (selecting) features. Get those three right and the dialog fills itself in.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58368" y="4114800"/>
            <a:ext cx="1225296" cy="566928"/>
          </a:xfrm>
          <a:prstGeom prst="roundRect">
            <a:avLst>
              <a:gd name="adj" fmla="val 9677"/>
            </a:avLst>
          </a:prstGeom>
          <a:solidFill>
            <a:srgbClr val="07211A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58368" y="4114800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883664" y="4114800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2176272" y="4114800"/>
            <a:ext cx="1225296" cy="566928"/>
          </a:xfrm>
          <a:prstGeom prst="roundRect">
            <a:avLst>
              <a:gd name="adj" fmla="val 9677"/>
            </a:avLst>
          </a:prstGeom>
          <a:solidFill>
            <a:srgbClr val="07211A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176272" y="4114800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401568" y="4114800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3694176" y="4114800"/>
            <a:ext cx="1225296" cy="566928"/>
          </a:xfrm>
          <a:prstGeom prst="roundRect">
            <a:avLst>
              <a:gd name="adj" fmla="val 9677"/>
            </a:avLst>
          </a:prstGeom>
          <a:solidFill>
            <a:srgbClr val="07211A"/>
          </a:solidFill>
          <a:ln w="1587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694176" y="4114800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58368" y="4892040"/>
            <a:ext cx="4261104" cy="548640"/>
          </a:xfrm>
          <a:prstGeom prst="roundRect">
            <a:avLst>
              <a:gd name="adj" fmla="val 10000"/>
            </a:avLst>
          </a:prstGeom>
          <a:solidFill>
            <a:srgbClr val="07211A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04672" y="4892040"/>
            <a:ext cx="3986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 select  parcels  that INTERSECT  flood_zone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166360" y="1956816"/>
            <a:ext cx="6458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maps to the dialog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166360" y="2395728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422392" y="23957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layer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452360" y="2395728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 you want to select (parcels)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166360" y="3054096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422392" y="305409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layer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7452360" y="3054096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reference features (flood_zone)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166360" y="3712464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422392" y="371246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7452360" y="3712464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intersect, within, within a distance…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166360" y="4370832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422392" y="43708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distance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7452360" y="4370832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for distance relationships (500 m)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5166360" y="5029200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5422392" y="5029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type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7452360" y="5029200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new, add, remove, or subset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5166360" y="5705856"/>
            <a:ext cx="64584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grammar every time — only the three nouns change.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612177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- Select by Location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0F2F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23600" y="6413500"/>
            <a:ext cx="603504" cy="402336"/>
          </a:xfrm>
          <a:prstGeom prst="roundRect">
            <a:avLst>
              <a:gd name="adj" fmla="val 13636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>
              <a:solidFill>
                <a:srgbClr val="8080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relationships at a glance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vocabulary of Select by Location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19202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families of relationship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2340864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86384" y="2514600"/>
            <a:ext cx="493776" cy="493776"/>
          </a:xfrm>
          <a:prstGeom prst="line">
            <a:avLst/>
          </a:prstGeom>
          <a:solidFill>
            <a:srgbClr val="07211A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assets/ic_noreco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90" y="2633106"/>
            <a:ext cx="256764" cy="2567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44752" y="2441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44752" y="272491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share any space — the everyday default.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310128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86384" y="3483864"/>
            <a:ext cx="493776" cy="493776"/>
          </a:xfrm>
          <a:prstGeom prst="line">
            <a:avLst/>
          </a:prstGeom>
          <a:solidFill>
            <a:srgbClr val="07211A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assets/ic_tooman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90" y="3602370"/>
            <a:ext cx="256764" cy="2567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44752" y="34107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/ Contains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444752" y="369417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feature falls completely inside the other.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66928" y="4279392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86384" y="4453128"/>
            <a:ext cx="493776" cy="493776"/>
          </a:xfrm>
          <a:prstGeom prst="line">
            <a:avLst/>
          </a:prstGeom>
          <a:solidFill>
            <a:srgbClr val="07211A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assets/ic_synt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90" y="4571634"/>
            <a:ext cx="256764" cy="2567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44752" y="43799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a distance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444752" y="466344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closer than a set search distance.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66928" y="5248656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786384" y="5422392"/>
            <a:ext cx="493776" cy="493776"/>
          </a:xfrm>
          <a:prstGeom prst="line">
            <a:avLst/>
          </a:prstGeom>
          <a:solidFill>
            <a:srgbClr val="07211A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assets/ic_unexpect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90" y="5540898"/>
            <a:ext cx="256764" cy="25676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44752" y="5349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touches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444752" y="563270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meet at an edge but do not overlap.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355080" y="2011680"/>
            <a:ext cx="5269687" cy="4160520"/>
          </a:xfrm>
          <a:prstGeom prst="roundRect">
            <a:avLst>
              <a:gd name="adj" fmla="val 2418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6684264" y="2194560"/>
            <a:ext cx="46296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relationships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6684264" y="267004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6684264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7123176" y="265176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7123176" y="299923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7211A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7269480" y="299923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geometries overlap or touch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6684264" y="340156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6684264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7123176" y="338328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</a:t>
            </a:r>
            <a:endParaRPr lang="en-US" sz="1250" dirty="0"/>
          </a:p>
        </p:txBody>
      </p:sp>
      <p:sp>
        <p:nvSpPr>
          <p:cNvPr id="39" name="Shape 33"/>
          <p:cNvSpPr/>
          <p:nvPr/>
        </p:nvSpPr>
        <p:spPr>
          <a:xfrm>
            <a:off x="7123176" y="373075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7211A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7269480" y="373075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lies inside the source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6684264" y="413308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6684264" y="4133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43" name="Text 37"/>
          <p:cNvSpPr/>
          <p:nvPr/>
        </p:nvSpPr>
        <p:spPr>
          <a:xfrm>
            <a:off x="7123176" y="411480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</a:t>
            </a:r>
            <a:endParaRPr lang="en-US" sz="1250" dirty="0"/>
          </a:p>
        </p:txBody>
      </p:sp>
      <p:sp>
        <p:nvSpPr>
          <p:cNvPr id="44" name="Shape 38"/>
          <p:cNvSpPr/>
          <p:nvPr/>
        </p:nvSpPr>
        <p:spPr>
          <a:xfrm>
            <a:off x="7123176" y="446227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7211A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/>
          <p:nvPr/>
        </p:nvSpPr>
        <p:spPr>
          <a:xfrm>
            <a:off x="7269480" y="446227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encloses the source</a:t>
            </a:r>
            <a:endParaRPr lang="en-US" sz="1150" dirty="0"/>
          </a:p>
        </p:txBody>
      </p:sp>
      <p:sp>
        <p:nvSpPr>
          <p:cNvPr id="46" name="Shape 40"/>
          <p:cNvSpPr/>
          <p:nvPr/>
        </p:nvSpPr>
        <p:spPr>
          <a:xfrm>
            <a:off x="6684264" y="486460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1"/>
          <p:cNvSpPr/>
          <p:nvPr/>
        </p:nvSpPr>
        <p:spPr>
          <a:xfrm>
            <a:off x="6684264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48" name="Text 42"/>
          <p:cNvSpPr/>
          <p:nvPr/>
        </p:nvSpPr>
        <p:spPr>
          <a:xfrm>
            <a:off x="7123176" y="484632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a distance of</a:t>
            </a:r>
            <a:endParaRPr lang="en-US" sz="1250" dirty="0"/>
          </a:p>
        </p:txBody>
      </p:sp>
      <p:sp>
        <p:nvSpPr>
          <p:cNvPr id="49" name="Shape 43"/>
          <p:cNvSpPr/>
          <p:nvPr/>
        </p:nvSpPr>
        <p:spPr>
          <a:xfrm>
            <a:off x="7123176" y="519379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7211A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/>
          <p:nvPr/>
        </p:nvSpPr>
        <p:spPr>
          <a:xfrm>
            <a:off x="7269480" y="519379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within N units of the source</a:t>
            </a:r>
            <a:endParaRPr lang="en-US" sz="1150" dirty="0"/>
          </a:p>
        </p:txBody>
      </p:sp>
      <p:sp>
        <p:nvSpPr>
          <p:cNvPr id="51" name="Shape 45"/>
          <p:cNvSpPr/>
          <p:nvPr/>
        </p:nvSpPr>
        <p:spPr>
          <a:xfrm>
            <a:off x="6684264" y="5614416"/>
            <a:ext cx="4629607" cy="566928"/>
          </a:xfrm>
          <a:prstGeom prst="roundRect">
            <a:avLst>
              <a:gd name="adj" fmla="val 9677"/>
            </a:avLst>
          </a:prstGeom>
          <a:solidFill>
            <a:srgbClr val="0F2F26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/>
          <p:nvPr/>
        </p:nvSpPr>
        <p:spPr>
          <a:xfrm>
            <a:off x="6867144" y="5614416"/>
            <a:ext cx="42638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Intersect, then refine to a stricter relationship.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556606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- Select by Location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0F2F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23600" y="6413500"/>
            <a:ext cx="603504" cy="402336"/>
          </a:xfrm>
          <a:prstGeom prst="roundRect">
            <a:avLst>
              <a:gd name="adj" fmla="val 13636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>
              <a:solidFill>
                <a:srgbClr val="8080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Select by Location dialog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three ingredients go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6858000" cy="4023360"/>
          </a:xfrm>
          <a:prstGeom prst="roundRect">
            <a:avLst>
              <a:gd name="adj" fmla="val 2500"/>
            </a:avLst>
          </a:prstGeom>
          <a:solidFill>
            <a:srgbClr val="0E1730"/>
          </a:solidFill>
          <a:ln w="12700">
            <a:solidFill>
              <a:srgbClr val="2E6E5B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66928" y="2011680"/>
            <a:ext cx="6858000" cy="384048"/>
          </a:xfrm>
          <a:prstGeom prst="roundRect">
            <a:avLst>
              <a:gd name="adj" fmla="val 2619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928" y="2231136"/>
            <a:ext cx="6858000" cy="16459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2011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2487168"/>
            <a:ext cx="8001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659636" y="2487168"/>
            <a:ext cx="598932" cy="310896"/>
          </a:xfrm>
          <a:prstGeom prst="roundRect">
            <a:avLst>
              <a:gd name="adj" fmla="val 11765"/>
            </a:avLst>
          </a:prstGeom>
          <a:solidFill>
            <a:srgbClr val="1E3A8A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714500" y="2487168"/>
            <a:ext cx="4892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68296" y="2487168"/>
            <a:ext cx="722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55264" y="2487168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297680" y="248716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0" y="248716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760720" y="2487168"/>
            <a:ext cx="8001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Imagery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725412" y="2487168"/>
            <a:ext cx="6446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04088" y="2880360"/>
            <a:ext cx="6583680" cy="0"/>
          </a:xfrm>
          <a:prstGeom prst="line">
            <a:avLst/>
          </a:prstGeom>
          <a:noFill/>
          <a:ln w="12700">
            <a:solidFill>
              <a:srgbClr val="26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86968" y="3035808"/>
            <a:ext cx="932688" cy="786384"/>
          </a:xfrm>
          <a:prstGeom prst="roundRect">
            <a:avLst>
              <a:gd name="adj" fmla="val 5814"/>
            </a:avLst>
          </a:prstGeom>
          <a:solidFill>
            <a:srgbClr val="11203A"/>
          </a:solidFill>
          <a:ln w="12700">
            <a:solidFill>
              <a:srgbClr val="2C40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207008" y="3145536"/>
            <a:ext cx="292608" cy="237744"/>
          </a:xfrm>
          <a:prstGeom prst="roundRect">
            <a:avLst>
              <a:gd name="adj" fmla="val 11538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1248" y="3419856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965960" y="3035808"/>
            <a:ext cx="932688" cy="786384"/>
          </a:xfrm>
          <a:prstGeom prst="roundRect">
            <a:avLst>
              <a:gd name="adj" fmla="val 5814"/>
            </a:avLst>
          </a:prstGeom>
          <a:solidFill>
            <a:srgbClr val="11203A"/>
          </a:solidFill>
          <a:ln w="12700">
            <a:solidFill>
              <a:srgbClr val="2C40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286000" y="3145536"/>
            <a:ext cx="292608" cy="237744"/>
          </a:xfrm>
          <a:prstGeom prst="roundRect">
            <a:avLst>
              <a:gd name="adj" fmla="val 11538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920240" y="3419856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By</a:t>
            </a:r>
            <a:endParaRPr lang="en-US" sz="90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9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044952" y="3035808"/>
            <a:ext cx="932688" cy="786384"/>
          </a:xfrm>
          <a:prstGeom prst="roundRect">
            <a:avLst>
              <a:gd name="adj" fmla="val 5814"/>
            </a:avLst>
          </a:prstGeom>
          <a:solidFill>
            <a:srgbClr val="14233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364992" y="3145536"/>
            <a:ext cx="292608" cy="237744"/>
          </a:xfrm>
          <a:prstGeom prst="roundRect">
            <a:avLst>
              <a:gd name="adj" fmla="val 11538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999232" y="3419856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By</a:t>
            </a:r>
            <a:endParaRPr lang="en-US" sz="90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9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23944" y="3035808"/>
            <a:ext cx="932688" cy="786384"/>
          </a:xfrm>
          <a:prstGeom prst="roundRect">
            <a:avLst>
              <a:gd name="adj" fmla="val 5814"/>
            </a:avLst>
          </a:prstGeom>
          <a:solidFill>
            <a:srgbClr val="11203A"/>
          </a:solidFill>
          <a:ln w="12700">
            <a:solidFill>
              <a:srgbClr val="2C40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443984" y="3145536"/>
            <a:ext cx="292608" cy="237744"/>
          </a:xfrm>
          <a:prstGeom prst="roundRect">
            <a:avLst>
              <a:gd name="adj" fmla="val 11538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078224" y="3419856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86968" y="38587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29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group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49808" y="4297680"/>
            <a:ext cx="1828800" cy="1572768"/>
          </a:xfrm>
          <a:prstGeom prst="roundRect">
            <a:avLst>
              <a:gd name="adj" fmla="val 2907"/>
            </a:avLst>
          </a:prstGeom>
          <a:solidFill>
            <a:srgbClr val="0B1428"/>
          </a:solidFill>
          <a:ln w="12700">
            <a:solidFill>
              <a:srgbClr val="2C40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77824" y="4389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96112" y="4782312"/>
            <a:ext cx="128016" cy="12801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97280" y="4709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CB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parks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96112" y="5093208"/>
            <a:ext cx="128016" cy="12801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97280" y="5020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CB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rivers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96112" y="5404104"/>
            <a:ext cx="128016" cy="128016"/>
          </a:xfrm>
          <a:prstGeom prst="rect">
            <a:avLst/>
          </a:prstGeom>
          <a:solidFill>
            <a:srgbClr val="3A56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097280" y="5330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CB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parcels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96112" y="5715000"/>
            <a:ext cx="128016" cy="128016"/>
          </a:xfrm>
          <a:prstGeom prst="rect">
            <a:avLst/>
          </a:prstGeom>
          <a:solidFill>
            <a:srgbClr val="3A56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97280" y="5641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CB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basemap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715768" y="4297680"/>
            <a:ext cx="4526280" cy="1572768"/>
          </a:xfrm>
          <a:prstGeom prst="roundRect">
            <a:avLst>
              <a:gd name="adj" fmla="val 2907"/>
            </a:avLst>
          </a:prstGeom>
          <a:solidFill>
            <a:srgbClr val="0C1B34"/>
          </a:solidFill>
          <a:ln w="12700">
            <a:solidFill>
              <a:srgbClr val="2C40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852928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29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view</a:t>
            </a:r>
            <a:endParaRPr lang="en-US" sz="1100" dirty="0"/>
          </a:p>
        </p:txBody>
      </p:sp>
      <p:pic>
        <p:nvPicPr>
          <p:cNvPr id="47" name="Image 0" descr="assets/ic_mapview.png"/>
          <p:cNvPicPr>
            <a:picLocks noChangeAspect="1"/>
          </p:cNvPicPr>
          <p:nvPr/>
        </p:nvPicPr>
        <p:blipFill>
          <a:blip r:embed="rId4">
            <a:alphaModFix amt="65000"/>
          </a:blip>
          <a:stretch>
            <a:fillRect/>
          </a:stretch>
        </p:blipFill>
        <p:spPr>
          <a:xfrm>
            <a:off x="4658868" y="4764024"/>
            <a:ext cx="640080" cy="640080"/>
          </a:xfrm>
          <a:prstGeom prst="rect">
            <a:avLst/>
          </a:prstGeom>
        </p:spPr>
      </p:pic>
      <p:sp>
        <p:nvSpPr>
          <p:cNvPr id="48" name="Shape 45"/>
          <p:cNvSpPr/>
          <p:nvPr/>
        </p:nvSpPr>
        <p:spPr>
          <a:xfrm>
            <a:off x="7772400" y="2011680"/>
            <a:ext cx="3852367" cy="877824"/>
          </a:xfrm>
          <a:prstGeom prst="roundRect">
            <a:avLst>
              <a:gd name="adj" fmla="val 11458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7991856" y="2194560"/>
            <a:ext cx="512064" cy="512064"/>
          </a:xfrm>
          <a:prstGeom prst="line">
            <a:avLst/>
          </a:prstGeom>
          <a:solidFill>
            <a:srgbClr val="07211A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Image 1" descr="assets/ic_ribb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4751" y="2317455"/>
            <a:ext cx="266273" cy="266273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8668512" y="2130552"/>
            <a:ext cx="2755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Features</a:t>
            </a:r>
            <a:endParaRPr lang="en-US" sz="1450" dirty="0"/>
          </a:p>
        </p:txBody>
      </p:sp>
      <p:sp>
        <p:nvSpPr>
          <p:cNvPr id="52" name="Text 48"/>
          <p:cNvSpPr/>
          <p:nvPr/>
        </p:nvSpPr>
        <p:spPr>
          <a:xfrm>
            <a:off x="8668512" y="2414016"/>
            <a:ext cx="27550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target layer you want to select from.</a:t>
            </a:r>
            <a:endParaRPr lang="en-US" sz="1150" dirty="0"/>
          </a:p>
        </p:txBody>
      </p:sp>
      <p:sp>
        <p:nvSpPr>
          <p:cNvPr id="53" name="Shape 49"/>
          <p:cNvSpPr/>
          <p:nvPr/>
        </p:nvSpPr>
        <p:spPr>
          <a:xfrm>
            <a:off x="7772400" y="2999232"/>
            <a:ext cx="3852367" cy="877824"/>
          </a:xfrm>
          <a:prstGeom prst="roundRect">
            <a:avLst>
              <a:gd name="adj" fmla="val 11458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0"/>
          <p:cNvSpPr/>
          <p:nvPr/>
        </p:nvSpPr>
        <p:spPr>
          <a:xfrm>
            <a:off x="7991856" y="3182112"/>
            <a:ext cx="512064" cy="512064"/>
          </a:xfrm>
          <a:prstGeom prst="line">
            <a:avLst/>
          </a:prstGeom>
          <a:solidFill>
            <a:srgbClr val="07211A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5" name="Image 2" descr="assets/ic_mapta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4751" y="3305007"/>
            <a:ext cx="266273" cy="266273"/>
          </a:xfrm>
          <a:prstGeom prst="rect">
            <a:avLst/>
          </a:prstGeom>
        </p:spPr>
      </p:pic>
      <p:sp>
        <p:nvSpPr>
          <p:cNvPr id="56" name="Text 51"/>
          <p:cNvSpPr/>
          <p:nvPr/>
        </p:nvSpPr>
        <p:spPr>
          <a:xfrm>
            <a:off x="8668512" y="3118104"/>
            <a:ext cx="2755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</a:t>
            </a:r>
            <a:endParaRPr lang="en-US" sz="1450" dirty="0"/>
          </a:p>
        </p:txBody>
      </p:sp>
      <p:sp>
        <p:nvSpPr>
          <p:cNvPr id="57" name="Text 52"/>
          <p:cNvSpPr/>
          <p:nvPr/>
        </p:nvSpPr>
        <p:spPr>
          <a:xfrm>
            <a:off x="8668512" y="3401568"/>
            <a:ext cx="27550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target relates to the selecting features.</a:t>
            </a:r>
            <a:endParaRPr lang="en-US" sz="1150" dirty="0"/>
          </a:p>
        </p:txBody>
      </p:sp>
      <p:sp>
        <p:nvSpPr>
          <p:cNvPr id="58" name="Shape 53"/>
          <p:cNvSpPr/>
          <p:nvPr/>
        </p:nvSpPr>
        <p:spPr>
          <a:xfrm>
            <a:off x="7772400" y="3986784"/>
            <a:ext cx="3852367" cy="877824"/>
          </a:xfrm>
          <a:prstGeom prst="roundRect">
            <a:avLst>
              <a:gd name="adj" fmla="val 11458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54"/>
          <p:cNvSpPr/>
          <p:nvPr/>
        </p:nvSpPr>
        <p:spPr>
          <a:xfrm>
            <a:off x="7991856" y="4169664"/>
            <a:ext cx="512064" cy="512064"/>
          </a:xfrm>
          <a:prstGeom prst="line">
            <a:avLst/>
          </a:prstGeom>
          <a:solidFill>
            <a:srgbClr val="07211A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0" name="Image 3" descr="assets/ic_conten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4751" y="4292559"/>
            <a:ext cx="266273" cy="266273"/>
          </a:xfrm>
          <a:prstGeom prst="rect">
            <a:avLst/>
          </a:prstGeom>
        </p:spPr>
      </p:pic>
      <p:sp>
        <p:nvSpPr>
          <p:cNvPr id="61" name="Text 55"/>
          <p:cNvSpPr/>
          <p:nvPr/>
        </p:nvSpPr>
        <p:spPr>
          <a:xfrm>
            <a:off x="8668512" y="4105656"/>
            <a:ext cx="2755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Features</a:t>
            </a:r>
            <a:endParaRPr lang="en-US" sz="1450" dirty="0"/>
          </a:p>
        </p:txBody>
      </p:sp>
      <p:sp>
        <p:nvSpPr>
          <p:cNvPr id="62" name="Text 56"/>
          <p:cNvSpPr/>
          <p:nvPr/>
        </p:nvSpPr>
        <p:spPr>
          <a:xfrm>
            <a:off x="8668512" y="4389120"/>
            <a:ext cx="27550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reference layer that drives the selection.</a:t>
            </a:r>
            <a:endParaRPr lang="en-US" sz="1150" dirty="0"/>
          </a:p>
        </p:txBody>
      </p:sp>
      <p:sp>
        <p:nvSpPr>
          <p:cNvPr id="63" name="Shape 57"/>
          <p:cNvSpPr/>
          <p:nvPr/>
        </p:nvSpPr>
        <p:spPr>
          <a:xfrm>
            <a:off x="7772400" y="4974336"/>
            <a:ext cx="3852367" cy="877824"/>
          </a:xfrm>
          <a:prstGeom prst="roundRect">
            <a:avLst>
              <a:gd name="adj" fmla="val 11458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Shape 58"/>
          <p:cNvSpPr/>
          <p:nvPr/>
        </p:nvSpPr>
        <p:spPr>
          <a:xfrm>
            <a:off x="7991856" y="5157216"/>
            <a:ext cx="512064" cy="512064"/>
          </a:xfrm>
          <a:prstGeom prst="line">
            <a:avLst/>
          </a:prstGeom>
          <a:solidFill>
            <a:srgbClr val="07211A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5" name="Image 4" descr="assets/ic_map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4751" y="5280111"/>
            <a:ext cx="266273" cy="266273"/>
          </a:xfrm>
          <a:prstGeom prst="rect">
            <a:avLst/>
          </a:prstGeom>
        </p:spPr>
      </p:pic>
      <p:sp>
        <p:nvSpPr>
          <p:cNvPr id="66" name="Text 59"/>
          <p:cNvSpPr/>
          <p:nvPr/>
        </p:nvSpPr>
        <p:spPr>
          <a:xfrm>
            <a:off x="8668512" y="5093208"/>
            <a:ext cx="2755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Distance</a:t>
            </a:r>
            <a:endParaRPr lang="en-US" sz="1450" dirty="0"/>
          </a:p>
        </p:txBody>
      </p:sp>
      <p:sp>
        <p:nvSpPr>
          <p:cNvPr id="67" name="Text 60"/>
          <p:cNvSpPr/>
          <p:nvPr/>
        </p:nvSpPr>
        <p:spPr>
          <a:xfrm>
            <a:off x="8668512" y="5376672"/>
            <a:ext cx="27550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Enabled for 'within a distance' relationships.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4072666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- Select by Location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0F2F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23600" y="6413500"/>
            <a:ext cx="603504" cy="402336"/>
          </a:xfrm>
          <a:prstGeom prst="roundRect">
            <a:avLst>
              <a:gd name="adj" fmla="val 13636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>
              <a:solidFill>
                <a:srgbClr val="8080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Intersect, Within, Contains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you will use most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19202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they differ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2340864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86384" y="2514600"/>
            <a:ext cx="493776" cy="493776"/>
          </a:xfrm>
          <a:prstGeom prst="line">
            <a:avLst/>
          </a:prstGeom>
          <a:solidFill>
            <a:srgbClr val="07211A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assets/ic_noreco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90" y="2633106"/>
            <a:ext cx="256764" cy="2567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44752" y="2441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44752" y="272491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a feature if it shares any space with the source — an overlap or a single touching point.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310128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86384" y="3483864"/>
            <a:ext cx="493776" cy="493776"/>
          </a:xfrm>
          <a:prstGeom prst="line">
            <a:avLst/>
          </a:prstGeom>
          <a:solidFill>
            <a:srgbClr val="07211A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assets/ic_tooman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90" y="3602370"/>
            <a:ext cx="256764" cy="2567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44752" y="34107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444752" y="369417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target features that lie completely inside a source feature.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66928" y="4279392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86384" y="4453128"/>
            <a:ext cx="493776" cy="493776"/>
          </a:xfrm>
          <a:prstGeom prst="line">
            <a:avLst/>
          </a:prstGeom>
          <a:solidFill>
            <a:srgbClr val="07211A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assets/ic_synt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90" y="4571634"/>
            <a:ext cx="256764" cy="2567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44752" y="43799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444752" y="466344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reverse of within — keeps targets that fully enclose a source feature.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66928" y="5248656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786384" y="5422392"/>
            <a:ext cx="493776" cy="493776"/>
          </a:xfrm>
          <a:prstGeom prst="line">
            <a:avLst/>
          </a:prstGeom>
          <a:solidFill>
            <a:srgbClr val="07211A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assets/ic_unexpect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90" y="5540898"/>
            <a:ext cx="256764" cy="25676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44752" y="5349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444752" y="563270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Swapping within for intersect can multiply your selection — choose deliberately.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355080" y="2011680"/>
            <a:ext cx="5269687" cy="4160520"/>
          </a:xfrm>
          <a:prstGeom prst="roundRect">
            <a:avLst>
              <a:gd name="adj" fmla="val 2418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6684264" y="2194560"/>
            <a:ext cx="46296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layers, different results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6684264" y="267004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6684264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7123176" y="265176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parcels INTERSECT flood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7123176" y="299923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7211A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7269480" y="299923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 parcel touching the zone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6684264" y="340156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6684264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7123176" y="338328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parcels WITHIN flood</a:t>
            </a:r>
            <a:endParaRPr lang="en-US" sz="1250" dirty="0"/>
          </a:p>
        </p:txBody>
      </p:sp>
      <p:sp>
        <p:nvSpPr>
          <p:cNvPr id="39" name="Shape 33"/>
          <p:cNvSpPr/>
          <p:nvPr/>
        </p:nvSpPr>
        <p:spPr>
          <a:xfrm>
            <a:off x="7123176" y="373075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7211A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7269480" y="373075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fully-flooded parcels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6684264" y="413308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6684264" y="4133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43" name="Text 37"/>
          <p:cNvSpPr/>
          <p:nvPr/>
        </p:nvSpPr>
        <p:spPr>
          <a:xfrm>
            <a:off x="7123176" y="411480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tracts CONTAINS school</a:t>
            </a:r>
            <a:endParaRPr lang="en-US" sz="1250" dirty="0"/>
          </a:p>
        </p:txBody>
      </p:sp>
      <p:sp>
        <p:nvSpPr>
          <p:cNvPr id="44" name="Shape 38"/>
          <p:cNvSpPr/>
          <p:nvPr/>
        </p:nvSpPr>
        <p:spPr>
          <a:xfrm>
            <a:off x="7123176" y="446227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7211A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/>
          <p:nvPr/>
        </p:nvSpPr>
        <p:spPr>
          <a:xfrm>
            <a:off x="7269480" y="446227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tracts that hold a school</a:t>
            </a:r>
            <a:endParaRPr lang="en-US" sz="1150" dirty="0"/>
          </a:p>
        </p:txBody>
      </p:sp>
      <p:sp>
        <p:nvSpPr>
          <p:cNvPr id="46" name="Shape 40"/>
          <p:cNvSpPr/>
          <p:nvPr/>
        </p:nvSpPr>
        <p:spPr>
          <a:xfrm>
            <a:off x="6684264" y="486460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1"/>
          <p:cNvSpPr/>
          <p:nvPr/>
        </p:nvSpPr>
        <p:spPr>
          <a:xfrm>
            <a:off x="6684264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48" name="Text 42"/>
          <p:cNvSpPr/>
          <p:nvPr/>
        </p:nvSpPr>
        <p:spPr>
          <a:xfrm>
            <a:off x="7123176" y="484632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</a:t>
            </a:r>
            <a:endParaRPr lang="en-US" sz="1250" dirty="0"/>
          </a:p>
        </p:txBody>
      </p:sp>
      <p:sp>
        <p:nvSpPr>
          <p:cNvPr id="49" name="Shape 43"/>
          <p:cNvSpPr/>
          <p:nvPr/>
        </p:nvSpPr>
        <p:spPr>
          <a:xfrm>
            <a:off x="7123176" y="519379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7211A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/>
          <p:nvPr/>
        </p:nvSpPr>
        <p:spPr>
          <a:xfrm>
            <a:off x="7269480" y="519379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stricter relationship = fewer results</a:t>
            </a:r>
            <a:endParaRPr lang="en-US" sz="1150" dirty="0"/>
          </a:p>
        </p:txBody>
      </p:sp>
      <p:sp>
        <p:nvSpPr>
          <p:cNvPr id="51" name="Shape 45"/>
          <p:cNvSpPr/>
          <p:nvPr/>
        </p:nvSpPr>
        <p:spPr>
          <a:xfrm>
            <a:off x="6684264" y="5614416"/>
            <a:ext cx="4629607" cy="566928"/>
          </a:xfrm>
          <a:prstGeom prst="roundRect">
            <a:avLst>
              <a:gd name="adj" fmla="val 9677"/>
            </a:avLst>
          </a:prstGeom>
          <a:solidFill>
            <a:srgbClr val="0F2F26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/>
          <p:nvPr/>
        </p:nvSpPr>
        <p:spPr>
          <a:xfrm>
            <a:off x="6867144" y="5614416"/>
            <a:ext cx="42638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counts look too high, tighten Intersect to Within.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656738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- Select by Location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0F2F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23600" y="6413500"/>
            <a:ext cx="603504" cy="402336"/>
          </a:xfrm>
          <a:prstGeom prst="roundRect">
            <a:avLst>
              <a:gd name="adj" fmla="val 13636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>
              <a:solidFill>
                <a:srgbClr val="8080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Distance-based selection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'within a distance of' relationship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4297680" cy="1783080"/>
          </a:xfrm>
          <a:prstGeom prst="roundRect">
            <a:avLst>
              <a:gd name="adj" fmla="val 5641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9536" y="2231136"/>
            <a:ext cx="475488" cy="475488"/>
          </a:xfrm>
          <a:prstGeom prst="line">
            <a:avLst/>
          </a:prstGeom>
          <a:solidFill>
            <a:srgbClr val="07211A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assets/ic_sq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653" y="2345253"/>
            <a:ext cx="247254" cy="24725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224942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buffer, implicitly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77824" y="2798064"/>
            <a:ext cx="3675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'Within a distance of' selects every target feature whose geometry falls inside a search radius of the source — no separate buffer layer required. Set the number and the units.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58368" y="4114800"/>
            <a:ext cx="1225296" cy="566928"/>
          </a:xfrm>
          <a:prstGeom prst="roundRect">
            <a:avLst>
              <a:gd name="adj" fmla="val 9677"/>
            </a:avLst>
          </a:prstGeom>
          <a:solidFill>
            <a:srgbClr val="07211A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58368" y="4114800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883664" y="4114800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2176272" y="4114800"/>
            <a:ext cx="1225296" cy="566928"/>
          </a:xfrm>
          <a:prstGeom prst="roundRect">
            <a:avLst>
              <a:gd name="adj" fmla="val 9677"/>
            </a:avLst>
          </a:prstGeom>
          <a:solidFill>
            <a:srgbClr val="07211A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176272" y="4114800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401568" y="4114800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3694176" y="4114800"/>
            <a:ext cx="1225296" cy="566928"/>
          </a:xfrm>
          <a:prstGeom prst="roundRect">
            <a:avLst>
              <a:gd name="adj" fmla="val 9677"/>
            </a:avLst>
          </a:prstGeom>
          <a:solidFill>
            <a:srgbClr val="07211A"/>
          </a:solidFill>
          <a:ln w="1587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694176" y="4114800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58368" y="4892040"/>
            <a:ext cx="4261104" cy="548640"/>
          </a:xfrm>
          <a:prstGeom prst="roundRect">
            <a:avLst>
              <a:gd name="adj" fmla="val 10000"/>
            </a:avLst>
          </a:prstGeom>
          <a:solidFill>
            <a:srgbClr val="07211A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04672" y="4892040"/>
            <a:ext cx="3986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 homes  WITHIN 500 m OF  highways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166360" y="1956816"/>
            <a:ext cx="6458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distance essentials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166360" y="2395728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422392" y="23957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value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452360" y="2395728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500, 1, 0.25 …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166360" y="3054096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422392" y="305409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units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7452360" y="3054096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meters, kilometers, feet, miles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166360" y="3712464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422392" y="371246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to edge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7452360" y="3712464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measured from nearest boundaries, not centroids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166360" y="4370832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422392" y="43708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matters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7452360" y="4370832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a projected CRS for true distance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5166360" y="5029200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5422392" y="5029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distance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7452360" y="5029200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behaves like Intersect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5166360" y="5705856"/>
            <a:ext cx="64584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follow your choice, not the map — always set them explicitly.</a:t>
            </a:r>
            <a:endParaRPr lang="en-US" sz="1250" dirty="0"/>
          </a:p>
        </p:txBody>
      </p:sp>
      <p:sp>
        <p:nvSpPr>
          <p:cNvPr id="41" name="Text 2">
            <a:extLst>
              <a:ext uri="{FF2B5EF4-FFF2-40B4-BE49-F238E27FC236}">
                <a16:creationId xmlns:a16="http://schemas.microsoft.com/office/drawing/2014/main" id="{3728F13A-3EA9-B2D5-E18E-9020ABECEFB6}"/>
              </a:ext>
            </a:extLst>
          </p:cNvPr>
          <p:cNvSpPr/>
          <p:nvPr/>
        </p:nvSpPr>
        <p:spPr>
          <a:xfrm>
            <a:off x="5833872" y="1179576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features by their spatial relationship in ArcGIS Pro</a:t>
            </a:r>
            <a:endParaRPr lang="en-US" sz="1600" dirty="0"/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A8703881-C376-CFE5-C6B1-61CF9A6BF5F9}"/>
              </a:ext>
            </a:extLst>
          </p:cNvPr>
          <p:cNvSpPr/>
          <p:nvPr/>
        </p:nvSpPr>
        <p:spPr>
          <a:xfrm>
            <a:off x="6756224" y="129288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parks WITHIN 500 m OF rivers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11478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- Select by Location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0F2F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23600" y="6413500"/>
            <a:ext cx="603504" cy="402336"/>
          </a:xfrm>
          <a:prstGeom prst="roundRect">
            <a:avLst>
              <a:gd name="adj" fmla="val 13636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>
              <a:solidFill>
                <a:srgbClr val="8080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methods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selection step by step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19202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apply a result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2340864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86384" y="2514600"/>
            <a:ext cx="493776" cy="493776"/>
          </a:xfrm>
          <a:prstGeom prst="line">
            <a:avLst/>
          </a:prstGeom>
          <a:solidFill>
            <a:srgbClr val="07211A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assets/ic_noreco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90" y="2633106"/>
            <a:ext cx="256764" cy="2567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44752" y="2441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selection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44752" y="272491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any current selection with the new result.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310128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86384" y="3483864"/>
            <a:ext cx="493776" cy="493776"/>
          </a:xfrm>
          <a:prstGeom prst="line">
            <a:avLst/>
          </a:prstGeom>
          <a:solidFill>
            <a:srgbClr val="07211A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assets/ic_tooman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90" y="3602370"/>
            <a:ext cx="256764" cy="2567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44752" y="34107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current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444752" y="369417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Unions the new result with what is already selected.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66928" y="4279392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86384" y="4453128"/>
            <a:ext cx="493776" cy="493776"/>
          </a:xfrm>
          <a:prstGeom prst="line">
            <a:avLst/>
          </a:prstGeom>
          <a:solidFill>
            <a:srgbClr val="07211A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assets/ic_synt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90" y="4571634"/>
            <a:ext cx="256764" cy="2567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44752" y="43799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from current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444752" y="466344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Subtracts the new matches from the current selection.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66928" y="5248656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786384" y="5422392"/>
            <a:ext cx="493776" cy="493776"/>
          </a:xfrm>
          <a:prstGeom prst="line">
            <a:avLst/>
          </a:prstGeom>
          <a:solidFill>
            <a:srgbClr val="07211A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assets/ic_unexpect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90" y="5540898"/>
            <a:ext cx="256764" cy="25676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44752" y="5349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Subset (select from)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444752" y="563270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the test only within the current selection.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355080" y="2011680"/>
            <a:ext cx="5269687" cy="4160520"/>
          </a:xfrm>
          <a:prstGeom prst="roundRect">
            <a:avLst>
              <a:gd name="adj" fmla="val 2418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6684264" y="2194560"/>
            <a:ext cx="46296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Chaining in action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6684264" y="267004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6684264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7123176" y="265176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7123176" y="299923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7211A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7269480" y="299923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parcels WITHIN flood_zone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6684264" y="340156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6684264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7123176" y="338328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Subset</a:t>
            </a:r>
            <a:endParaRPr lang="en-US" sz="1250" dirty="0"/>
          </a:p>
        </p:txBody>
      </p:sp>
      <p:sp>
        <p:nvSpPr>
          <p:cNvPr id="39" name="Shape 33"/>
          <p:cNvSpPr/>
          <p:nvPr/>
        </p:nvSpPr>
        <p:spPr>
          <a:xfrm>
            <a:off x="7123176" y="373075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7211A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7269480" y="373075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those, keep ZONING = 'R1'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6684264" y="413308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6684264" y="4133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43" name="Text 37"/>
          <p:cNvSpPr/>
          <p:nvPr/>
        </p:nvSpPr>
        <p:spPr>
          <a:xfrm>
            <a:off x="7123176" y="411480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</a:t>
            </a:r>
            <a:endParaRPr lang="en-US" sz="1250" dirty="0"/>
          </a:p>
        </p:txBody>
      </p:sp>
      <p:sp>
        <p:nvSpPr>
          <p:cNvPr id="44" name="Shape 38"/>
          <p:cNvSpPr/>
          <p:nvPr/>
        </p:nvSpPr>
        <p:spPr>
          <a:xfrm>
            <a:off x="7123176" y="446227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7211A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/>
          <p:nvPr/>
        </p:nvSpPr>
        <p:spPr>
          <a:xfrm>
            <a:off x="7269480" y="446227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parcels INTERSECT road_row</a:t>
            </a:r>
            <a:endParaRPr lang="en-US" sz="1150" dirty="0"/>
          </a:p>
        </p:txBody>
      </p:sp>
      <p:sp>
        <p:nvSpPr>
          <p:cNvPr id="46" name="Shape 40"/>
          <p:cNvSpPr/>
          <p:nvPr/>
        </p:nvSpPr>
        <p:spPr>
          <a:xfrm>
            <a:off x="6684264" y="486460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1"/>
          <p:cNvSpPr/>
          <p:nvPr/>
        </p:nvSpPr>
        <p:spPr>
          <a:xfrm>
            <a:off x="6684264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48" name="Text 42"/>
          <p:cNvSpPr/>
          <p:nvPr/>
        </p:nvSpPr>
        <p:spPr>
          <a:xfrm>
            <a:off x="7123176" y="484632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250" dirty="0"/>
          </a:p>
        </p:txBody>
      </p:sp>
      <p:sp>
        <p:nvSpPr>
          <p:cNvPr id="49" name="Shape 43"/>
          <p:cNvSpPr/>
          <p:nvPr/>
        </p:nvSpPr>
        <p:spPr>
          <a:xfrm>
            <a:off x="7123176" y="519379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7211A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/>
          <p:nvPr/>
        </p:nvSpPr>
        <p:spPr>
          <a:xfrm>
            <a:off x="7269480" y="519379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residential, flooded, road-free parcels</a:t>
            </a:r>
            <a:endParaRPr lang="en-US" sz="1150" dirty="0"/>
          </a:p>
        </p:txBody>
      </p:sp>
      <p:sp>
        <p:nvSpPr>
          <p:cNvPr id="51" name="Shape 45"/>
          <p:cNvSpPr/>
          <p:nvPr/>
        </p:nvSpPr>
        <p:spPr>
          <a:xfrm>
            <a:off x="6684264" y="5614416"/>
            <a:ext cx="4629607" cy="566928"/>
          </a:xfrm>
          <a:prstGeom prst="roundRect">
            <a:avLst>
              <a:gd name="adj" fmla="val 9677"/>
            </a:avLst>
          </a:prstGeom>
          <a:solidFill>
            <a:srgbClr val="0F2F26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/>
          <p:nvPr/>
        </p:nvSpPr>
        <p:spPr>
          <a:xfrm>
            <a:off x="6867144" y="5614416"/>
            <a:ext cx="42638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Subset is how you safely combine spatial and attribute logic.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275406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- Select by Location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0F2F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23600" y="6413500"/>
            <a:ext cx="603504" cy="402336"/>
          </a:xfrm>
          <a:prstGeom prst="roundRect">
            <a:avLst>
              <a:gd name="adj" fmla="val 13636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>
              <a:solidFill>
                <a:srgbClr val="8080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— riverside parks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map question to selection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4297680" cy="1783080"/>
          </a:xfrm>
          <a:prstGeom prst="roundRect">
            <a:avLst>
              <a:gd name="adj" fmla="val 5641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9536" y="2231136"/>
            <a:ext cx="475488" cy="475488"/>
          </a:xfrm>
          <a:prstGeom prst="line">
            <a:avLst/>
          </a:prstGeom>
          <a:solidFill>
            <a:srgbClr val="07211A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assets/ic_sq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653" y="2345253"/>
            <a:ext cx="247254" cy="24725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224942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77824" y="2798064"/>
            <a:ext cx="3675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parks lie within 500 m of a river and are larger than 5 acres? Run a distance selection first, then refine it with an attribute subset.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58368" y="4114800"/>
            <a:ext cx="1225296" cy="566928"/>
          </a:xfrm>
          <a:prstGeom prst="roundRect">
            <a:avLst>
              <a:gd name="adj" fmla="val 9677"/>
            </a:avLst>
          </a:prstGeom>
          <a:solidFill>
            <a:srgbClr val="07211A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58368" y="4114800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883664" y="4114800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2176272" y="4114800"/>
            <a:ext cx="1225296" cy="566928"/>
          </a:xfrm>
          <a:prstGeom prst="roundRect">
            <a:avLst>
              <a:gd name="adj" fmla="val 9677"/>
            </a:avLst>
          </a:prstGeom>
          <a:solidFill>
            <a:srgbClr val="07211A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176272" y="4114800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401568" y="4114800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3694176" y="4114800"/>
            <a:ext cx="1225296" cy="566928"/>
          </a:xfrm>
          <a:prstGeom prst="roundRect">
            <a:avLst>
              <a:gd name="adj" fmla="val 9677"/>
            </a:avLst>
          </a:prstGeom>
          <a:solidFill>
            <a:srgbClr val="07211A"/>
          </a:solidFill>
          <a:ln w="1587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694176" y="4114800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58368" y="4892040"/>
            <a:ext cx="4261104" cy="548640"/>
          </a:xfrm>
          <a:prstGeom prst="roundRect">
            <a:avLst>
              <a:gd name="adj" fmla="val 10000"/>
            </a:avLst>
          </a:prstGeom>
          <a:solidFill>
            <a:srgbClr val="07211A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04672" y="4892040"/>
            <a:ext cx="3986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 riverside parks over 5 acres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166360" y="1956816"/>
            <a:ext cx="6458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by step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166360" y="2395728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422392" y="23957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layer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452360" y="2395728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parks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166360" y="3054096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422392" y="305409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7452360" y="3054096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within a distance of rivers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166360" y="3712464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422392" y="371246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distance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7452360" y="3712464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meters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166360" y="4370832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422392" y="43708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7452360" y="4370832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selection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5166360" y="5029200"/>
            <a:ext cx="6458407" cy="548640"/>
          </a:xfrm>
          <a:prstGeom prst="roundRect">
            <a:avLst>
              <a:gd name="adj" fmla="val 18333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5422392" y="5029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subset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7452360" y="5029200"/>
            <a:ext cx="398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ACRES &gt; 5 (attribute)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5166360" y="5705856"/>
            <a:ext cx="64584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spatial pass first, then refine with attributes.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763077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- Select by Location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0F2F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23600" y="6413500"/>
            <a:ext cx="603504" cy="402336"/>
          </a:xfrm>
          <a:prstGeom prst="roundRect">
            <a:avLst>
              <a:gd name="adj" fmla="val 13636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>
              <a:solidFill>
                <a:srgbClr val="8080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and avoid pitfalls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clean, defensible results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19202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pitfalls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2340864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86384" y="2514600"/>
            <a:ext cx="493776" cy="493776"/>
          </a:xfrm>
          <a:prstGeom prst="line">
            <a:avLst/>
          </a:prstGeom>
          <a:solidFill>
            <a:srgbClr val="07211A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assets/ic_noreco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90" y="2633106"/>
            <a:ext cx="256764" cy="2567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44752" y="2441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relationship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44752" y="272491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 where you meant within inflates the count — match the word to the intent.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310128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86384" y="3483864"/>
            <a:ext cx="493776" cy="493776"/>
          </a:xfrm>
          <a:prstGeom prst="line">
            <a:avLst/>
          </a:prstGeom>
          <a:solidFill>
            <a:srgbClr val="07211A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assets/ic_tooman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90" y="3602370"/>
            <a:ext cx="256764" cy="2567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44752" y="34107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Unprojected distance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444752" y="369417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Distances in degrees are meaningless — use a projected CRS first.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66928" y="4279392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86384" y="4453128"/>
            <a:ext cx="493776" cy="493776"/>
          </a:xfrm>
          <a:prstGeom prst="line">
            <a:avLst/>
          </a:prstGeom>
          <a:solidFill>
            <a:srgbClr val="07211A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assets/ic_synt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90" y="4571634"/>
            <a:ext cx="256764" cy="2567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44752" y="43799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Forgotten selection type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444752" y="466344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'Add to' leaves stale features selected — start from New.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66928" y="5248656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786384" y="5422392"/>
            <a:ext cx="493776" cy="493776"/>
          </a:xfrm>
          <a:prstGeom prst="line">
            <a:avLst/>
          </a:prstGeom>
          <a:solidFill>
            <a:srgbClr val="07211A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assets/ic_unexpect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90" y="5540898"/>
            <a:ext cx="256764" cy="25676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44752" y="5349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Swapped target and source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444752" y="563270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Reversing the two selects the opposite layer — read it as a sentence.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355080" y="2011680"/>
            <a:ext cx="5269687" cy="4160520"/>
          </a:xfrm>
          <a:prstGeom prst="roundRect">
            <a:avLst>
              <a:gd name="adj" fmla="val 2418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6684264" y="2194560"/>
            <a:ext cx="46296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prompts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6684264" y="267004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6684264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7123176" y="265176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Schools within 1 km of a highway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7123176" y="299923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7211A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7269480" y="299923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schools WITHIN 1 km OF highways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6684264" y="340156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6684264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7123176" y="338328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Parcels intersecting the flood zone</a:t>
            </a:r>
            <a:endParaRPr lang="en-US" sz="1250" dirty="0"/>
          </a:p>
        </p:txBody>
      </p:sp>
      <p:sp>
        <p:nvSpPr>
          <p:cNvPr id="39" name="Shape 33"/>
          <p:cNvSpPr/>
          <p:nvPr/>
        </p:nvSpPr>
        <p:spPr>
          <a:xfrm>
            <a:off x="7123176" y="373075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7211A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7269480" y="373075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parcels INTERSECT flood_zone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6684264" y="413308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6684264" y="4133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43" name="Text 37"/>
          <p:cNvSpPr/>
          <p:nvPr/>
        </p:nvSpPr>
        <p:spPr>
          <a:xfrm>
            <a:off x="7123176" y="411480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Riverside parks over 5 acres</a:t>
            </a:r>
            <a:endParaRPr lang="en-US" sz="1250" dirty="0"/>
          </a:p>
        </p:txBody>
      </p:sp>
      <p:sp>
        <p:nvSpPr>
          <p:cNvPr id="44" name="Shape 38"/>
          <p:cNvSpPr/>
          <p:nvPr/>
        </p:nvSpPr>
        <p:spPr>
          <a:xfrm>
            <a:off x="7123176" y="446227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7211A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/>
          <p:nvPr/>
        </p:nvSpPr>
        <p:spPr>
          <a:xfrm>
            <a:off x="7269480" y="446227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parks WITHIN 500 m OF rivers → ACRES &gt; 5</a:t>
            </a:r>
            <a:endParaRPr lang="en-US" sz="1150" dirty="0"/>
          </a:p>
        </p:txBody>
      </p:sp>
      <p:sp>
        <p:nvSpPr>
          <p:cNvPr id="46" name="Shape 40"/>
          <p:cNvSpPr/>
          <p:nvPr/>
        </p:nvSpPr>
        <p:spPr>
          <a:xfrm>
            <a:off x="6684264" y="486460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1"/>
          <p:cNvSpPr/>
          <p:nvPr/>
        </p:nvSpPr>
        <p:spPr>
          <a:xfrm>
            <a:off x="6684264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48" name="Text 42"/>
          <p:cNvSpPr/>
          <p:nvPr/>
        </p:nvSpPr>
        <p:spPr>
          <a:xfrm>
            <a:off x="7123176" y="484632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Tracts that contain a hospital</a:t>
            </a:r>
            <a:endParaRPr lang="en-US" sz="1250" dirty="0"/>
          </a:p>
        </p:txBody>
      </p:sp>
      <p:sp>
        <p:nvSpPr>
          <p:cNvPr id="49" name="Shape 43"/>
          <p:cNvSpPr/>
          <p:nvPr/>
        </p:nvSpPr>
        <p:spPr>
          <a:xfrm>
            <a:off x="7123176" y="519379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7211A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/>
          <p:nvPr/>
        </p:nvSpPr>
        <p:spPr>
          <a:xfrm>
            <a:off x="7269480" y="519379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tracts CONTAINS hospitals</a:t>
            </a:r>
            <a:endParaRPr lang="en-US" sz="1150" dirty="0"/>
          </a:p>
        </p:txBody>
      </p:sp>
      <p:sp>
        <p:nvSpPr>
          <p:cNvPr id="51" name="Shape 45"/>
          <p:cNvSpPr/>
          <p:nvPr/>
        </p:nvSpPr>
        <p:spPr>
          <a:xfrm>
            <a:off x="6684264" y="5614416"/>
            <a:ext cx="4629607" cy="566928"/>
          </a:xfrm>
          <a:prstGeom prst="roundRect">
            <a:avLst>
              <a:gd name="adj" fmla="val 9677"/>
            </a:avLst>
          </a:prstGeom>
          <a:solidFill>
            <a:srgbClr val="0F2F26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/>
          <p:nvPr/>
        </p:nvSpPr>
        <p:spPr>
          <a:xfrm>
            <a:off x="6867144" y="5614416"/>
            <a:ext cx="42638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students phrase the map question in words before opening the dialog.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58700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200">
                <a:solidFill>
                  <a:srgbClr val="34D399"/>
                </a:solidFill>
                <a:latin typeface="Arial"/>
              </a:rPr>
              <a:t>ArcGIS Pro - Select by Location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0F2F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</a:rPr>
              <a:t>Knowledge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0" i="0">
                <a:solidFill>
                  <a:srgbClr val="AECBBE"/>
                </a:solidFill>
                <a:latin typeface="Arial"/>
              </a:rPr>
              <a:t>Check your understanding of spatial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808080"/>
                </a:solidFill>
                <a:latin typeface="Arial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93392"/>
            <a:ext cx="5414772" cy="2100000"/>
          </a:xfrm>
          <a:prstGeom prst="roundRect">
            <a:avLst>
              <a:gd name="adj" fmla="val 4500"/>
            </a:avLst>
          </a:prstGeom>
          <a:solidFill>
            <a:srgbClr val="0E2A22"/>
          </a:solidFill>
          <a:ln w="12700">
            <a:solidFill>
              <a:srgbClr val="2E6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0928" y="2183892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0928" y="21838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7211A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8628" y="2183892"/>
            <a:ext cx="4259072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What's the core difference between Select by Attributes and Select by Location?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928" y="2963992"/>
            <a:ext cx="4906772" cy="254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0928" y="3052892"/>
            <a:ext cx="4906772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0" i="1">
                <a:solidFill>
                  <a:srgbClr val="AECBBE"/>
                </a:solidFill>
                <a:latin typeface="Arial"/>
              </a:rPr>
              <a:t>Click to reveal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928" y="3306892"/>
            <a:ext cx="4906772" cy="666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>
                <a:solidFill>
                  <a:srgbClr val="2DD4BF"/>
                </a:solidFill>
                <a:latin typeface="Arial"/>
              </a:rPr>
              <a:t>Answer   </a:t>
            </a:r>
            <a:r>
              <a:rPr sz="1250" b="0">
                <a:solidFill>
                  <a:srgbClr val="E0E7FF"/>
                </a:solidFill>
                <a:latin typeface="Arial"/>
              </a:rPr>
              <a:t>Attributes tests values stored in the table; Location tests a spatial relationship, like near, inside, or overlapping.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300" y="1993392"/>
            <a:ext cx="5414772" cy="2100000"/>
          </a:xfrm>
          <a:prstGeom prst="roundRect">
            <a:avLst>
              <a:gd name="adj" fmla="val 4500"/>
            </a:avLst>
          </a:prstGeom>
          <a:solidFill>
            <a:srgbClr val="0E2A22"/>
          </a:solidFill>
          <a:ln w="12700">
            <a:solidFill>
              <a:srgbClr val="2E6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64300" y="218389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300" y="21838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7211A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2000" y="2183892"/>
            <a:ext cx="4259072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What three ingredients does every Select by Location query need?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64300" y="2963992"/>
            <a:ext cx="4906772" cy="2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64300" y="3052892"/>
            <a:ext cx="4906772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0" i="1">
                <a:solidFill>
                  <a:srgbClr val="AECBBE"/>
                </a:solidFill>
                <a:latin typeface="Arial"/>
              </a:rPr>
              <a:t>Click to reveal answer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300" y="3306892"/>
            <a:ext cx="4906772" cy="666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>
                <a:solidFill>
                  <a:srgbClr val="F59E0B"/>
                </a:solidFill>
                <a:latin typeface="Arial"/>
              </a:rPr>
              <a:t>Answer   </a:t>
            </a:r>
            <a:r>
              <a:rPr sz="1250" b="0">
                <a:solidFill>
                  <a:srgbClr val="E0E7FF"/>
                </a:solidFill>
                <a:latin typeface="Arial"/>
              </a:rPr>
              <a:t>A target layer, a source (selecting) layer, and a spatial relationship — plus distance for distance-based ones.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250000"/>
            <a:ext cx="5414772" cy="2100000"/>
          </a:xfrm>
          <a:prstGeom prst="roundRect">
            <a:avLst>
              <a:gd name="adj" fmla="val 4500"/>
            </a:avLst>
          </a:prstGeom>
          <a:solidFill>
            <a:srgbClr val="0E2A22"/>
          </a:solidFill>
          <a:ln w="12700">
            <a:solidFill>
              <a:srgbClr val="2E6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20928" y="4440500"/>
            <a:ext cx="457200" cy="4572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0928" y="44405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7211A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8628" y="4440500"/>
            <a:ext cx="4259072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How does Within differ from Intersect?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0928" y="5220600"/>
            <a:ext cx="4906772" cy="254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0928" y="5309500"/>
            <a:ext cx="4906772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0" i="1">
                <a:solidFill>
                  <a:srgbClr val="AECBBE"/>
                </a:solidFill>
                <a:latin typeface="Arial"/>
              </a:rPr>
              <a:t>Click to reveal answer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928" y="5563500"/>
            <a:ext cx="4906772" cy="666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>
                <a:solidFill>
                  <a:srgbClr val="2DD4BF"/>
                </a:solidFill>
                <a:latin typeface="Arial"/>
              </a:rPr>
              <a:t>Answer   </a:t>
            </a:r>
            <a:r>
              <a:rPr sz="1250" b="0">
                <a:solidFill>
                  <a:srgbClr val="E0E7FF"/>
                </a:solidFill>
                <a:latin typeface="Arial"/>
              </a:rPr>
              <a:t>Intersect keeps any feature sharing even a touching point; Within keeps only features fully inside the source.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0300" y="4250000"/>
            <a:ext cx="5414772" cy="2100000"/>
          </a:xfrm>
          <a:prstGeom prst="roundRect">
            <a:avLst>
              <a:gd name="adj" fmla="val 4500"/>
            </a:avLst>
          </a:prstGeom>
          <a:solidFill>
            <a:srgbClr val="0E2A22"/>
          </a:solidFill>
          <a:ln w="12700">
            <a:solidFill>
              <a:srgbClr val="2E6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464300" y="444050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64300" y="44405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7211A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0" y="4440500"/>
            <a:ext cx="4259072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rial"/>
              </a:rPr>
              <a:t>Why must you project your data before a distance-based selection?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64300" y="5220600"/>
            <a:ext cx="4906772" cy="2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64300" y="5309500"/>
            <a:ext cx="4906772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0" i="1">
                <a:solidFill>
                  <a:srgbClr val="AECBBE"/>
                </a:solidFill>
                <a:latin typeface="Arial"/>
              </a:rPr>
              <a:t>Click to reveal answer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300" y="5563500"/>
            <a:ext cx="4906772" cy="666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>
                <a:solidFill>
                  <a:srgbClr val="F59E0B"/>
                </a:solidFill>
                <a:latin typeface="Arial"/>
              </a:rPr>
              <a:t>Answer   </a:t>
            </a:r>
            <a:r>
              <a:rPr sz="1250" b="0">
                <a:solidFill>
                  <a:srgbClr val="E0E7FF"/>
                </a:solidFill>
                <a:latin typeface="Arial"/>
              </a:rPr>
              <a:t>Distances in an unprojected, geographic CRS are in degrees, not true ground distance.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" restart="whenNotActive" fill="hold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5" restart="whenNotActive" fill="hold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9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1" restart="whenNotActive" fill="hold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25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Pro - Select by Location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11057839" cy="0"/>
          </a:xfrm>
          <a:prstGeom prst="line">
            <a:avLst/>
          </a:prstGeom>
          <a:noFill/>
          <a:ln w="12700">
            <a:solidFill>
              <a:srgbClr val="0F2F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23600" y="6413500"/>
            <a:ext cx="603504" cy="402336"/>
          </a:xfrm>
          <a:prstGeom prst="roundRect">
            <a:avLst>
              <a:gd name="adj" fmla="val 13636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>
              <a:solidFill>
                <a:srgbClr val="8080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and what's next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query the map — next, connect two tables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19202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2340864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86384" y="2514600"/>
            <a:ext cx="493776" cy="493776"/>
          </a:xfrm>
          <a:prstGeom prst="line">
            <a:avLst/>
          </a:prstGeom>
          <a:solidFill>
            <a:srgbClr val="07211A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assets/ic_noreco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90" y="2633106"/>
            <a:ext cx="256764" cy="2567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44752" y="2441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Location, not just values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44752" y="272491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spatial relationship — near, inside, overlapping — replaces a field test.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310128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86384" y="3483864"/>
            <a:ext cx="493776" cy="493776"/>
          </a:xfrm>
          <a:prstGeom prst="line">
            <a:avLst/>
          </a:prstGeom>
          <a:solidFill>
            <a:srgbClr val="07211A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assets/ic_tooman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90" y="3602370"/>
            <a:ext cx="256764" cy="2567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44752" y="34107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ingredients every time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444752" y="369417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layer, source layer, and a relationship (plus distance when needed).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66928" y="4279392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86384" y="4453128"/>
            <a:ext cx="493776" cy="493776"/>
          </a:xfrm>
          <a:prstGeom prst="line">
            <a:avLst/>
          </a:prstGeom>
          <a:solidFill>
            <a:srgbClr val="07211A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assets/ic_synt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90" y="4571634"/>
            <a:ext cx="256764" cy="2567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44752" y="43799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 strictness matters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444752" y="466344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Intersect, within, and contains return different-sized results — choose deliberately.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66928" y="5248656"/>
            <a:ext cx="5486400" cy="841248"/>
          </a:xfrm>
          <a:prstGeom prst="roundRect">
            <a:avLst>
              <a:gd name="adj" fmla="val 11957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786384" y="5422392"/>
            <a:ext cx="493776" cy="493776"/>
          </a:xfrm>
          <a:prstGeom prst="line">
            <a:avLst/>
          </a:prstGeom>
          <a:solidFill>
            <a:srgbClr val="07211A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assets/ic_unexpect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90" y="5540898"/>
            <a:ext cx="256764" cy="25676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44752" y="5349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spatial and attribute logic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444752" y="563270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EC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Subset to safely combine a location pass with a table filter.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355080" y="2011680"/>
            <a:ext cx="5269687" cy="4160520"/>
          </a:xfrm>
          <a:prstGeom prst="roundRect">
            <a:avLst>
              <a:gd name="adj" fmla="val 2418"/>
            </a:avLst>
          </a:prstGeom>
          <a:solidFill>
            <a:srgbClr val="0E2A22"/>
          </a:solidFill>
          <a:ln w="12700">
            <a:solidFill>
              <a:srgbClr val="2E6E5B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6684264" y="2194560"/>
            <a:ext cx="46296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next: Table Join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6684264" y="267004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6684264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7123176" y="265176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question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7123176" y="299923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7211A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7269480" y="299923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do two tables relate to each other?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6684264" y="340156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6684264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7123176" y="338328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driver</a:t>
            </a:r>
            <a:endParaRPr lang="en-US" sz="1250" dirty="0"/>
          </a:p>
        </p:txBody>
      </p:sp>
      <p:sp>
        <p:nvSpPr>
          <p:cNvPr id="39" name="Shape 33"/>
          <p:cNvSpPr/>
          <p:nvPr/>
        </p:nvSpPr>
        <p:spPr>
          <a:xfrm>
            <a:off x="7123176" y="373075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7211A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7269480" y="373075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shared key field, not a spatial test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6684264" y="413308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6684264" y="4133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43" name="Text 37"/>
          <p:cNvSpPr/>
          <p:nvPr/>
        </p:nvSpPr>
        <p:spPr>
          <a:xfrm>
            <a:off x="7123176" y="411480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habit</a:t>
            </a:r>
            <a:endParaRPr lang="en-US" sz="1250" dirty="0"/>
          </a:p>
        </p:txBody>
      </p:sp>
      <p:sp>
        <p:nvSpPr>
          <p:cNvPr id="44" name="Shape 38"/>
          <p:cNvSpPr/>
          <p:nvPr/>
        </p:nvSpPr>
        <p:spPr>
          <a:xfrm>
            <a:off x="7123176" y="446227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7211A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/>
          <p:nvPr/>
        </p:nvSpPr>
        <p:spPr>
          <a:xfrm>
            <a:off x="7269480" y="446227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the join as a plain sentence</a:t>
            </a:r>
            <a:endParaRPr lang="en-US" sz="1150" dirty="0"/>
          </a:p>
        </p:txBody>
      </p:sp>
      <p:sp>
        <p:nvSpPr>
          <p:cNvPr id="46" name="Shape 40"/>
          <p:cNvSpPr/>
          <p:nvPr/>
        </p:nvSpPr>
        <p:spPr>
          <a:xfrm>
            <a:off x="6684264" y="486460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1"/>
          <p:cNvSpPr/>
          <p:nvPr/>
        </p:nvSpPr>
        <p:spPr>
          <a:xfrm>
            <a:off x="6684264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48" name="Text 42"/>
          <p:cNvSpPr/>
          <p:nvPr/>
        </p:nvSpPr>
        <p:spPr>
          <a:xfrm>
            <a:off x="7123176" y="4846320"/>
            <a:ext cx="4218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it over</a:t>
            </a:r>
            <a:endParaRPr lang="en-US" sz="1250" dirty="0"/>
          </a:p>
        </p:txBody>
      </p:sp>
      <p:sp>
        <p:nvSpPr>
          <p:cNvPr id="49" name="Shape 43"/>
          <p:cNvSpPr/>
          <p:nvPr/>
        </p:nvSpPr>
        <p:spPr>
          <a:xfrm>
            <a:off x="7123176" y="5193792"/>
            <a:ext cx="4218127" cy="384048"/>
          </a:xfrm>
          <a:prstGeom prst="roundRect">
            <a:avLst>
              <a:gd name="adj" fmla="val 14286"/>
            </a:avLst>
          </a:prstGeom>
          <a:solidFill>
            <a:srgbClr val="07211A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/>
          <p:nvPr/>
        </p:nvSpPr>
        <p:spPr>
          <a:xfrm>
            <a:off x="7269480" y="5193792"/>
            <a:ext cx="3943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combine joins with spatial selections</a:t>
            </a:r>
            <a:endParaRPr lang="en-US" sz="1150" dirty="0"/>
          </a:p>
        </p:txBody>
      </p:sp>
      <p:sp>
        <p:nvSpPr>
          <p:cNvPr id="51" name="Shape 45"/>
          <p:cNvSpPr/>
          <p:nvPr/>
        </p:nvSpPr>
        <p:spPr>
          <a:xfrm>
            <a:off x="6684264" y="5614416"/>
            <a:ext cx="4629607" cy="566928"/>
          </a:xfrm>
          <a:prstGeom prst="roundRect">
            <a:avLst>
              <a:gd name="adj" fmla="val 9677"/>
            </a:avLst>
          </a:prstGeom>
          <a:solidFill>
            <a:srgbClr val="0F2F26"/>
          </a:solidFill>
          <a:ln w="12700">
            <a:solidFill>
              <a:srgbClr val="2E6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/>
          <p:nvPr/>
        </p:nvSpPr>
        <p:spPr>
          <a:xfrm>
            <a:off x="6867144" y="5614416"/>
            <a:ext cx="42638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learned to query by location — next, you'll connect tables that don't even share a map.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79F9377-1831-41BE-9584-35EEB8FBA86B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ce7ce5bd-3860-4eee-b012-d925fd1a874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1717</Words>
  <Application>Microsoft Office PowerPoint</Application>
  <PresentationFormat>Widescreen</PresentationFormat>
  <Paragraphs>340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Selection by Attribute</dc:title>
  <dc:subject>PptxGenJS Presentation</dc:subject>
  <dc:creator>GISC</dc:creator>
  <cp:lastModifiedBy>Shokran Rahiminezhad</cp:lastModifiedBy>
  <cp:revision>4</cp:revision>
  <dcterms:created xsi:type="dcterms:W3CDTF">2026-07-03T19:18:43Z</dcterms:created>
  <dcterms:modified xsi:type="dcterms:W3CDTF">2026-07-23T04:38:27Z</dcterms:modified>
</cp:coreProperties>
</file>