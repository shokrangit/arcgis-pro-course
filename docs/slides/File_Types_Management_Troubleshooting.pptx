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2192000" cy="50800"/>
          </a:xfrm>
          <a:prstGeom prst="rect">
            <a:avLst/>
          </a:prstGeom>
          <a:solidFill>
            <a:srgbClr val="161614"/>
          </a:solidFill>
          <a:ln>
            <a:noFill/>
          </a:ln>
          <a:effectLst/>
        </p:spPr>
        <p:txBody>
          <a:bodyPr rtlCol="0" anchor="ctr"/>
          <a:lstStyle/>
          <a:p>
            <a:pPr algn="ctr"/>
          </a:p>
        </p:txBody>
      </p:sp>
      <p:sp>
        <p:nvSpPr>
          <p:cNvPr id="4" name="Rectangle 3"/>
          <p:cNvSpPr/>
          <p:nvPr/>
        </p:nvSpPr>
        <p:spPr>
          <a:xfrm>
            <a:off x="0" y="6553200"/>
            <a:ext cx="12192000" cy="0"/>
          </a:xfrm>
          <a:prstGeom prst="rect">
            <a:avLst/>
          </a:prstGeom>
          <a:noFill/>
          <a:ln w="6350">
            <a:solidFill>
              <a:srgbClr val="DAD8CC"/>
            </a:solidFill>
          </a:ln>
          <a:effectLst/>
        </p:spPr>
        <p:txBody>
          <a:bodyPr rtlCol="0" anchor="ctr"/>
          <a:lstStyle/>
          <a:p>
            <a:pPr algn="ctr"/>
          </a:p>
        </p:txBody>
      </p:sp>
      <p:sp>
        <p:nvSpPr>
          <p:cNvPr id="5" name="Rectangle 4"/>
          <p:cNvSpPr/>
          <p:nvPr/>
        </p:nvSpPr>
        <p:spPr>
          <a:xfrm>
            <a:off x="566928" y="344424"/>
            <a:ext cx="137160" cy="137160"/>
          </a:xfrm>
          <a:prstGeom prst="rect">
            <a:avLst/>
          </a:prstGeom>
          <a:solidFill>
            <a:srgbClr val="161614"/>
          </a:solidFill>
          <a:ln>
            <a:noFill/>
          </a:ln>
          <a:effectLst/>
        </p:spPr>
        <p:txBody>
          <a:bodyPr rtlCol="0" anchor="ctr"/>
          <a:lstStyle/>
          <a:p>
            <a:pPr algn="ctr"/>
          </a:p>
        </p:txBody>
      </p:sp>
      <p:sp>
        <p:nvSpPr>
          <p:cNvPr id="6" name="TextBox 5"/>
          <p:cNvSpPr txBox="1"/>
          <p:nvPr/>
        </p:nvSpPr>
        <p:spPr>
          <a:xfrm>
            <a:off x="866648" y="310896"/>
            <a:ext cx="9000000" cy="274320"/>
          </a:xfrm>
          <a:prstGeom prst="rect">
            <a:avLst/>
          </a:prstGeom>
          <a:noFill/>
        </p:spPr>
        <p:txBody>
          <a:bodyPr wrap="square" lIns="0" rIns="0" tIns="0" bIns="0">
            <a:spAutoFit/>
          </a:bodyPr>
          <a:lstStyle/>
          <a:p>
            <a:r>
              <a:rPr sz="1200" b="1" i="0" spc="250">
                <a:solidFill>
                  <a:srgbClr val="161614"/>
                </a:solidFill>
                <a:latin typeface="Consolas"/>
              </a:rPr>
              <a:t>GIS WORKING PRACTICES</a:t>
            </a:r>
          </a:p>
        </p:txBody>
      </p:sp>
      <p:sp>
        <p:nvSpPr>
          <p:cNvPr id="7" name="TextBox 6"/>
          <p:cNvSpPr txBox="1"/>
          <p:nvPr/>
        </p:nvSpPr>
        <p:spPr>
          <a:xfrm>
            <a:off x="566928" y="780000"/>
            <a:ext cx="10600000" cy="900000"/>
          </a:xfrm>
          <a:prstGeom prst="rect">
            <a:avLst/>
          </a:prstGeom>
          <a:noFill/>
        </p:spPr>
        <p:txBody>
          <a:bodyPr wrap="square" lIns="0" rIns="0" tIns="0" bIns="0">
            <a:spAutoFit/>
          </a:bodyPr>
          <a:lstStyle/>
          <a:p>
            <a:pPr>
              <a:lnSpc>
                <a:spcPct val="105000"/>
              </a:lnSpc>
            </a:pPr>
            <a:r>
              <a:rPr sz="4000" b="1" i="0">
                <a:solidFill>
                  <a:srgbClr val="161614"/>
                </a:solidFill>
                <a:latin typeface="Arial"/>
              </a:rPr>
              <a:t>File Types, File Management</a:t>
            </a:r>
          </a:p>
          <a:p>
            <a:pPr>
              <a:lnSpc>
                <a:spcPct val="105000"/>
              </a:lnSpc>
            </a:pPr>
            <a:r>
              <a:rPr sz="4000" b="1" i="0">
                <a:solidFill>
                  <a:srgbClr val="161614"/>
                </a:solidFill>
                <a:latin typeface="Arial"/>
              </a:rPr>
              <a:t>&amp; Troubleshooting</a:t>
            </a:r>
          </a:p>
        </p:txBody>
      </p:sp>
      <p:sp>
        <p:nvSpPr>
          <p:cNvPr id="8" name="TextBox 7"/>
          <p:cNvSpPr txBox="1"/>
          <p:nvPr/>
        </p:nvSpPr>
        <p:spPr>
          <a:xfrm>
            <a:off x="566928" y="2400000"/>
            <a:ext cx="9600000" cy="460000"/>
          </a:xfrm>
          <a:prstGeom prst="rect">
            <a:avLst/>
          </a:prstGeom>
          <a:noFill/>
        </p:spPr>
        <p:txBody>
          <a:bodyPr wrap="square" lIns="0" rIns="0" tIns="0" bIns="0">
            <a:spAutoFit/>
          </a:bodyPr>
          <a:lstStyle/>
          <a:p>
            <a:r>
              <a:rPr sz="1550" b="0" i="1">
                <a:solidFill>
                  <a:srgbClr val="5C5B53"/>
                </a:solidFill>
                <a:latin typeface="Arial"/>
              </a:rPr>
              <a:t>Three practical habits for working with GIS software: choosing the right file, keeping it organized, and getting unstuck on your own</a:t>
            </a:r>
          </a:p>
        </p:txBody>
      </p:sp>
      <p:sp>
        <p:nvSpPr>
          <p:cNvPr id="9" name="Rectangle 8"/>
          <p:cNvSpPr/>
          <p:nvPr/>
        </p:nvSpPr>
        <p:spPr>
          <a:xfrm>
            <a:off x="566928" y="3050000"/>
            <a:ext cx="11058144" cy="0"/>
          </a:xfrm>
          <a:prstGeom prst="rect">
            <a:avLst/>
          </a:prstGeom>
          <a:noFill/>
          <a:ln w="12700">
            <a:solidFill>
              <a:srgbClr val="B8B5A5"/>
            </a:solidFill>
          </a:ln>
          <a:effectLst/>
        </p:spPr>
        <p:txBody>
          <a:bodyPr rtlCol="0" anchor="ctr"/>
          <a:lstStyle/>
          <a:p>
            <a:pPr algn="ctr"/>
          </a:p>
        </p:txBody>
      </p:sp>
      <p:sp>
        <p:nvSpPr>
          <p:cNvPr id="10" name="TextBox 9"/>
          <p:cNvSpPr txBox="1"/>
          <p:nvPr/>
        </p:nvSpPr>
        <p:spPr>
          <a:xfrm>
            <a:off x="566928" y="3230000"/>
            <a:ext cx="9000000" cy="280000"/>
          </a:xfrm>
          <a:prstGeom prst="rect">
            <a:avLst/>
          </a:prstGeom>
          <a:noFill/>
        </p:spPr>
        <p:txBody>
          <a:bodyPr wrap="square" lIns="0" rIns="0" tIns="0" bIns="0">
            <a:spAutoFit/>
          </a:bodyPr>
          <a:lstStyle/>
          <a:p>
            <a:r>
              <a:rPr sz="1050" b="1" i="0" spc="200">
                <a:solidFill>
                  <a:srgbClr val="5C5B53"/>
                </a:solidFill>
                <a:latin typeface="Consolas"/>
              </a:rPr>
              <a:t>THREE SECTIONS</a:t>
            </a:r>
          </a:p>
        </p:txBody>
      </p:sp>
      <p:sp>
        <p:nvSpPr>
          <p:cNvPr id="11" name="Rectangle 10">
            <a:hlinkClick action="ppaction://hlinksldjump" r:id="rId2"/>
          </p:cNvPr>
          <p:cNvSpPr/>
          <p:nvPr/>
        </p:nvSpPr>
        <p:spPr>
          <a:xfrm>
            <a:off x="566928" y="3600000"/>
            <a:ext cx="3667760" cy="2550000"/>
          </a:xfrm>
          <a:prstGeom prst="rect">
            <a:avLst/>
          </a:prstGeom>
          <a:solidFill>
            <a:srgbClr val="1B4B8F"/>
          </a:solidFill>
          <a:ln>
            <a:noFill/>
          </a:ln>
          <a:effectLst/>
        </p:spPr>
        <p:txBody>
          <a:bodyPr rtlCol="0" anchor="ctr"/>
          <a:lstStyle/>
          <a:p>
            <a:pPr algn="ctr"/>
          </a:p>
        </p:txBody>
      </p:sp>
      <p:sp>
        <p:nvSpPr>
          <p:cNvPr id="12" name="TextBox 11">
            <a:hlinkClick action="ppaction://hlinksldjump" r:id="rId2"/>
          </p:cNvPr>
          <p:cNvSpPr txBox="1"/>
          <p:nvPr/>
        </p:nvSpPr>
        <p:spPr>
          <a:xfrm>
            <a:off x="795528" y="3828600"/>
            <a:ext cx="3186048" cy="500000"/>
          </a:xfrm>
          <a:prstGeom prst="rect">
            <a:avLst/>
          </a:prstGeom>
          <a:noFill/>
        </p:spPr>
        <p:txBody>
          <a:bodyPr wrap="square" lIns="0" rIns="0" tIns="0" bIns="0">
            <a:spAutoFit/>
          </a:bodyPr>
          <a:lstStyle/>
          <a:p>
            <a:r>
              <a:rPr sz="3400" b="1" i="0">
                <a:solidFill>
                  <a:srgbClr val="FFFFFF"/>
                </a:solidFill>
                <a:latin typeface="Consolas"/>
              </a:rPr>
              <a:t>01</a:t>
            </a:r>
          </a:p>
        </p:txBody>
      </p:sp>
      <p:sp>
        <p:nvSpPr>
          <p:cNvPr id="13" name="TextBox 12">
            <a:hlinkClick action="ppaction://hlinksldjump" r:id="rId2"/>
          </p:cNvPr>
          <p:cNvSpPr txBox="1"/>
          <p:nvPr/>
        </p:nvSpPr>
        <p:spPr>
          <a:xfrm>
            <a:off x="795528" y="4450000"/>
            <a:ext cx="3186048" cy="500000"/>
          </a:xfrm>
          <a:prstGeom prst="rect">
            <a:avLst/>
          </a:prstGeom>
          <a:noFill/>
        </p:spPr>
        <p:txBody>
          <a:bodyPr wrap="square" lIns="0" rIns="0" tIns="0" bIns="0">
            <a:spAutoFit/>
          </a:bodyPr>
          <a:lstStyle/>
          <a:p>
            <a:r>
              <a:rPr sz="1700" b="1" i="0">
                <a:solidFill>
                  <a:srgbClr val="FFFFFF"/>
                </a:solidFill>
                <a:latin typeface="Arial"/>
              </a:rPr>
              <a:t>File Types</a:t>
            </a:r>
          </a:p>
        </p:txBody>
      </p:sp>
      <p:sp>
        <p:nvSpPr>
          <p:cNvPr id="14" name="TextBox 13">
            <a:hlinkClick action="ppaction://hlinksldjump" r:id="rId2"/>
          </p:cNvPr>
          <p:cNvSpPr txBox="1"/>
          <p:nvPr/>
        </p:nvSpPr>
        <p:spPr>
          <a:xfrm>
            <a:off x="795528" y="4950000"/>
            <a:ext cx="3216048" cy="1100000"/>
          </a:xfrm>
          <a:prstGeom prst="rect">
            <a:avLst/>
          </a:prstGeom>
          <a:noFill/>
        </p:spPr>
        <p:txBody>
          <a:bodyPr wrap="square" lIns="0" rIns="0" tIns="0" bIns="0">
            <a:spAutoFit/>
          </a:bodyPr>
          <a:lstStyle/>
          <a:p>
            <a:pPr>
              <a:lnSpc>
                <a:spcPct val="110000"/>
              </a:lnSpc>
            </a:pPr>
            <a:r>
              <a:rPr sz="1050" b="0" i="1">
                <a:solidFill>
                  <a:srgbClr val="FFFFFF"/>
                </a:solidFill>
                <a:latin typeface="Arial"/>
              </a:rPr>
              <a:t>The formats and files every GIS project is built from</a:t>
            </a:r>
          </a:p>
        </p:txBody>
      </p:sp>
      <p:sp>
        <p:nvSpPr>
          <p:cNvPr id="15" name="Rectangle 14">
            <a:hlinkClick action="ppaction://hlinksldjump" r:id="rId3"/>
          </p:cNvPr>
          <p:cNvSpPr/>
          <p:nvPr/>
        </p:nvSpPr>
        <p:spPr>
          <a:xfrm>
            <a:off x="4252976" y="3600000"/>
            <a:ext cx="3667760" cy="2550000"/>
          </a:xfrm>
          <a:prstGeom prst="rect">
            <a:avLst/>
          </a:prstGeom>
          <a:solidFill>
            <a:srgbClr val="B3242A"/>
          </a:solidFill>
          <a:ln>
            <a:noFill/>
          </a:ln>
          <a:effectLst/>
        </p:spPr>
        <p:txBody>
          <a:bodyPr rtlCol="0" anchor="ctr"/>
          <a:lstStyle/>
          <a:p>
            <a:pPr algn="ctr"/>
          </a:p>
        </p:txBody>
      </p:sp>
      <p:sp>
        <p:nvSpPr>
          <p:cNvPr id="16" name="TextBox 15">
            <a:hlinkClick action="ppaction://hlinksldjump" r:id="rId3"/>
          </p:cNvPr>
          <p:cNvSpPr txBox="1"/>
          <p:nvPr/>
        </p:nvSpPr>
        <p:spPr>
          <a:xfrm>
            <a:off x="4481576" y="3828600"/>
            <a:ext cx="3186048" cy="500000"/>
          </a:xfrm>
          <a:prstGeom prst="rect">
            <a:avLst/>
          </a:prstGeom>
          <a:noFill/>
        </p:spPr>
        <p:txBody>
          <a:bodyPr wrap="square" lIns="0" rIns="0" tIns="0" bIns="0">
            <a:spAutoFit/>
          </a:bodyPr>
          <a:lstStyle/>
          <a:p>
            <a:r>
              <a:rPr sz="3400" b="1" i="0">
                <a:solidFill>
                  <a:srgbClr val="FFFFFF"/>
                </a:solidFill>
                <a:latin typeface="Consolas"/>
              </a:rPr>
              <a:t>02</a:t>
            </a:r>
          </a:p>
        </p:txBody>
      </p:sp>
      <p:sp>
        <p:nvSpPr>
          <p:cNvPr id="17" name="TextBox 16">
            <a:hlinkClick action="ppaction://hlinksldjump" r:id="rId3"/>
          </p:cNvPr>
          <p:cNvSpPr txBox="1"/>
          <p:nvPr/>
        </p:nvSpPr>
        <p:spPr>
          <a:xfrm>
            <a:off x="4481576" y="4450000"/>
            <a:ext cx="3186048" cy="500000"/>
          </a:xfrm>
          <a:prstGeom prst="rect">
            <a:avLst/>
          </a:prstGeom>
          <a:noFill/>
        </p:spPr>
        <p:txBody>
          <a:bodyPr wrap="square" lIns="0" rIns="0" tIns="0" bIns="0">
            <a:spAutoFit/>
          </a:bodyPr>
          <a:lstStyle/>
          <a:p>
            <a:r>
              <a:rPr sz="1700" b="1" i="0">
                <a:solidFill>
                  <a:srgbClr val="FFFFFF"/>
                </a:solidFill>
                <a:latin typeface="Arial"/>
              </a:rPr>
              <a:t>File Management</a:t>
            </a:r>
          </a:p>
        </p:txBody>
      </p:sp>
      <p:sp>
        <p:nvSpPr>
          <p:cNvPr id="18" name="TextBox 17">
            <a:hlinkClick action="ppaction://hlinksldjump" r:id="rId3"/>
          </p:cNvPr>
          <p:cNvSpPr txBox="1"/>
          <p:nvPr/>
        </p:nvSpPr>
        <p:spPr>
          <a:xfrm>
            <a:off x="4481576" y="4950000"/>
            <a:ext cx="3216048" cy="1100000"/>
          </a:xfrm>
          <a:prstGeom prst="rect">
            <a:avLst/>
          </a:prstGeom>
          <a:noFill/>
        </p:spPr>
        <p:txBody>
          <a:bodyPr wrap="square" lIns="0" rIns="0" tIns="0" bIns="0">
            <a:spAutoFit/>
          </a:bodyPr>
          <a:lstStyle/>
          <a:p>
            <a:pPr>
              <a:lnSpc>
                <a:spcPct val="110000"/>
              </a:lnSpc>
            </a:pPr>
            <a:r>
              <a:rPr sz="1050" b="0" i="1">
                <a:solidFill>
                  <a:srgbClr val="FFFFFF"/>
                </a:solidFill>
                <a:latin typeface="Arial"/>
              </a:rPr>
              <a:t>Folder structure, naming conventions, and how ArcGIS Pro organizes it all</a:t>
            </a:r>
          </a:p>
        </p:txBody>
      </p:sp>
      <p:sp>
        <p:nvSpPr>
          <p:cNvPr id="19" name="Rectangle 18">
            <a:hlinkClick action="ppaction://hlinksldjump" r:id="rId4"/>
          </p:cNvPr>
          <p:cNvSpPr/>
          <p:nvPr/>
        </p:nvSpPr>
        <p:spPr>
          <a:xfrm>
            <a:off x="7939024" y="3600000"/>
            <a:ext cx="3667760" cy="2550000"/>
          </a:xfrm>
          <a:prstGeom prst="rect">
            <a:avLst/>
          </a:prstGeom>
          <a:solidFill>
            <a:srgbClr val="B87C0C"/>
          </a:solidFill>
          <a:ln>
            <a:noFill/>
          </a:ln>
          <a:effectLst/>
        </p:spPr>
        <p:txBody>
          <a:bodyPr rtlCol="0" anchor="ctr"/>
          <a:lstStyle/>
          <a:p>
            <a:pPr algn="ctr"/>
          </a:p>
        </p:txBody>
      </p:sp>
      <p:sp>
        <p:nvSpPr>
          <p:cNvPr id="20" name="TextBox 19">
            <a:hlinkClick action="ppaction://hlinksldjump" r:id="rId4"/>
          </p:cNvPr>
          <p:cNvSpPr txBox="1"/>
          <p:nvPr/>
        </p:nvSpPr>
        <p:spPr>
          <a:xfrm>
            <a:off x="8167624" y="3828600"/>
            <a:ext cx="3186048" cy="500000"/>
          </a:xfrm>
          <a:prstGeom prst="rect">
            <a:avLst/>
          </a:prstGeom>
          <a:noFill/>
        </p:spPr>
        <p:txBody>
          <a:bodyPr wrap="square" lIns="0" rIns="0" tIns="0" bIns="0">
            <a:spAutoFit/>
          </a:bodyPr>
          <a:lstStyle/>
          <a:p>
            <a:r>
              <a:rPr sz="3400" b="1" i="0">
                <a:solidFill>
                  <a:srgbClr val="FFFFFF"/>
                </a:solidFill>
                <a:latin typeface="Consolas"/>
              </a:rPr>
              <a:t>03</a:t>
            </a:r>
          </a:p>
        </p:txBody>
      </p:sp>
      <p:sp>
        <p:nvSpPr>
          <p:cNvPr id="21" name="TextBox 20">
            <a:hlinkClick action="ppaction://hlinksldjump" r:id="rId4"/>
          </p:cNvPr>
          <p:cNvSpPr txBox="1"/>
          <p:nvPr/>
        </p:nvSpPr>
        <p:spPr>
          <a:xfrm>
            <a:off x="8167624" y="4450000"/>
            <a:ext cx="3186048" cy="500000"/>
          </a:xfrm>
          <a:prstGeom prst="rect">
            <a:avLst/>
          </a:prstGeom>
          <a:noFill/>
        </p:spPr>
        <p:txBody>
          <a:bodyPr wrap="square" lIns="0" rIns="0" tIns="0" bIns="0">
            <a:spAutoFit/>
          </a:bodyPr>
          <a:lstStyle/>
          <a:p>
            <a:r>
              <a:rPr sz="1700" b="1" i="0">
                <a:solidFill>
                  <a:srgbClr val="FFFFFF"/>
                </a:solidFill>
                <a:latin typeface="Arial"/>
              </a:rPr>
              <a:t>Troubleshooting</a:t>
            </a:r>
          </a:p>
        </p:txBody>
      </p:sp>
      <p:sp>
        <p:nvSpPr>
          <p:cNvPr id="22" name="TextBox 21">
            <a:hlinkClick action="ppaction://hlinksldjump" r:id="rId4"/>
          </p:cNvPr>
          <p:cNvSpPr txBox="1"/>
          <p:nvPr/>
        </p:nvSpPr>
        <p:spPr>
          <a:xfrm>
            <a:off x="8167624" y="4950000"/>
            <a:ext cx="3216048" cy="1100000"/>
          </a:xfrm>
          <a:prstGeom prst="rect">
            <a:avLst/>
          </a:prstGeom>
          <a:noFill/>
        </p:spPr>
        <p:txBody>
          <a:bodyPr wrap="square" lIns="0" rIns="0" tIns="0" bIns="0">
            <a:spAutoFit/>
          </a:bodyPr>
          <a:lstStyle/>
          <a:p>
            <a:pPr>
              <a:lnSpc>
                <a:spcPct val="110000"/>
              </a:lnSpc>
            </a:pPr>
            <a:r>
              <a:rPr sz="1050" b="0" i="1">
                <a:solidFill>
                  <a:srgbClr val="FFFFFF"/>
                </a:solidFill>
                <a:latin typeface="Arial"/>
              </a:rPr>
              <a:t>A method for working through problems on your own first</a:t>
            </a:r>
          </a:p>
        </p:txBody>
      </p:sp>
      <p:sp>
        <p:nvSpPr>
          <p:cNvPr id="23" name="TextBox 22"/>
          <p:cNvSpPr txBox="1"/>
          <p:nvPr/>
        </p:nvSpPr>
        <p:spPr>
          <a:xfrm>
            <a:off x="566928" y="6310000"/>
            <a:ext cx="8000000" cy="280000"/>
          </a:xfrm>
          <a:prstGeom prst="rect">
            <a:avLst/>
          </a:prstGeom>
          <a:noFill/>
        </p:spPr>
        <p:txBody>
          <a:bodyPr wrap="square" lIns="0" rIns="0" tIns="0" bIns="0">
            <a:spAutoFit/>
          </a:bodyPr>
          <a:lstStyle/>
          <a:p>
            <a:r>
              <a:rPr sz="1050" b="1" i="1">
                <a:solidFill>
                  <a:srgbClr val="161614"/>
                </a:solidFill>
                <a:latin typeface="Arial"/>
              </a:rPr>
              <a:t>Click a section above to jump straight to it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2192000" cy="50800"/>
          </a:xfrm>
          <a:prstGeom prst="rect">
            <a:avLst/>
          </a:prstGeom>
          <a:solidFill>
            <a:srgbClr val="161614"/>
          </a:solidFill>
          <a:ln>
            <a:noFill/>
          </a:ln>
          <a:effectLst/>
        </p:spPr>
        <p:txBody>
          <a:bodyPr rtlCol="0" anchor="ctr"/>
          <a:lstStyle/>
          <a:p>
            <a:pPr algn="ctr"/>
          </a:p>
        </p:txBody>
      </p:sp>
      <p:sp>
        <p:nvSpPr>
          <p:cNvPr id="4" name="Rectangle 3"/>
          <p:cNvSpPr/>
          <p:nvPr/>
        </p:nvSpPr>
        <p:spPr>
          <a:xfrm>
            <a:off x="0" y="6553200"/>
            <a:ext cx="12192000" cy="0"/>
          </a:xfrm>
          <a:prstGeom prst="rect">
            <a:avLst/>
          </a:prstGeom>
          <a:noFill/>
          <a:ln w="6350">
            <a:solidFill>
              <a:srgbClr val="DAD8CC"/>
            </a:solidFill>
          </a:ln>
          <a:effectLst/>
        </p:spPr>
        <p:txBody>
          <a:bodyPr rtlCol="0" anchor="ctr"/>
          <a:lstStyle/>
          <a:p>
            <a:pPr algn="ctr"/>
          </a:p>
        </p:txBody>
      </p:sp>
      <p:sp>
        <p:nvSpPr>
          <p:cNvPr id="5" name="Rectangle 4"/>
          <p:cNvSpPr/>
          <p:nvPr/>
        </p:nvSpPr>
        <p:spPr>
          <a:xfrm>
            <a:off x="566928" y="344424"/>
            <a:ext cx="137160" cy="137160"/>
          </a:xfrm>
          <a:prstGeom prst="rect">
            <a:avLst/>
          </a:prstGeom>
          <a:solidFill>
            <a:srgbClr val="161614"/>
          </a:solidFill>
          <a:ln>
            <a:noFill/>
          </a:ln>
          <a:effectLst/>
        </p:spPr>
        <p:txBody>
          <a:bodyPr rtlCol="0" anchor="ctr"/>
          <a:lstStyle/>
          <a:p>
            <a:pPr algn="ctr"/>
          </a:p>
        </p:txBody>
      </p:sp>
      <p:sp>
        <p:nvSpPr>
          <p:cNvPr id="6" name="TextBox 5"/>
          <p:cNvSpPr txBox="1"/>
          <p:nvPr/>
        </p:nvSpPr>
        <p:spPr>
          <a:xfrm>
            <a:off x="866648" y="310896"/>
            <a:ext cx="9000000" cy="274320"/>
          </a:xfrm>
          <a:prstGeom prst="rect">
            <a:avLst/>
          </a:prstGeom>
          <a:noFill/>
        </p:spPr>
        <p:txBody>
          <a:bodyPr wrap="square" lIns="0" rIns="0" tIns="0" bIns="0">
            <a:spAutoFit/>
          </a:bodyPr>
          <a:lstStyle/>
          <a:p>
            <a:r>
              <a:rPr sz="1100" b="1" i="0" spc="200">
                <a:solidFill>
                  <a:srgbClr val="161614"/>
                </a:solidFill>
                <a:latin typeface="Consolas"/>
              </a:rPr>
              <a:t>TABLE OF CONTENTS</a:t>
            </a:r>
          </a:p>
        </p:txBody>
      </p:sp>
      <p:sp>
        <p:nvSpPr>
          <p:cNvPr id="7" name="TextBox 6"/>
          <p:cNvSpPr txBox="1"/>
          <p:nvPr/>
        </p:nvSpPr>
        <p:spPr>
          <a:xfrm>
            <a:off x="566928" y="700000"/>
            <a:ext cx="10234879" cy="700000"/>
          </a:xfrm>
          <a:prstGeom prst="rect">
            <a:avLst/>
          </a:prstGeom>
          <a:noFill/>
        </p:spPr>
        <p:txBody>
          <a:bodyPr wrap="square" lIns="0" rIns="0" tIns="0" bIns="0">
            <a:spAutoFit/>
          </a:bodyPr>
          <a:lstStyle/>
          <a:p>
            <a:r>
              <a:rPr sz="3200" b="1" i="0">
                <a:solidFill>
                  <a:srgbClr val="161614"/>
                </a:solidFill>
                <a:latin typeface="Arial"/>
              </a:rPr>
              <a:t>Where to find everything</a:t>
            </a:r>
          </a:p>
        </p:txBody>
      </p:sp>
      <p:sp>
        <p:nvSpPr>
          <p:cNvPr id="8" name="Rectangle 7"/>
          <p:cNvSpPr/>
          <p:nvPr/>
        </p:nvSpPr>
        <p:spPr>
          <a:xfrm>
            <a:off x="566928" y="1420000"/>
            <a:ext cx="900000" cy="0"/>
          </a:xfrm>
          <a:prstGeom prst="rect">
            <a:avLst/>
          </a:prstGeom>
          <a:noFill/>
          <a:ln w="28575">
            <a:solidFill>
              <a:srgbClr val="161614"/>
            </a:solidFill>
          </a:ln>
          <a:effectLst/>
        </p:spPr>
        <p:txBody>
          <a:bodyPr rtlCol="0" anchor="ctr"/>
          <a:lstStyle/>
          <a:p>
            <a:pPr algn="ctr"/>
          </a:p>
        </p:txBody>
      </p:sp>
      <p:sp>
        <p:nvSpPr>
          <p:cNvPr id="9" name="TextBox 8"/>
          <p:cNvSpPr txBox="1"/>
          <p:nvPr/>
        </p:nvSpPr>
        <p:spPr>
          <a:xfrm>
            <a:off x="566928" y="1520000"/>
            <a:ext cx="10234879" cy="320000"/>
          </a:xfrm>
          <a:prstGeom prst="rect">
            <a:avLst/>
          </a:prstGeom>
          <a:noFill/>
        </p:spPr>
        <p:txBody>
          <a:bodyPr wrap="square" lIns="0" rIns="0" tIns="0" bIns="0">
            <a:spAutoFit/>
          </a:bodyPr>
          <a:lstStyle/>
          <a:p>
            <a:r>
              <a:rPr sz="1450" b="0" i="1">
                <a:solidFill>
                  <a:srgbClr val="5C5B53"/>
                </a:solidFill>
                <a:latin typeface="Arial"/>
              </a:rPr>
              <a:t>Three habits, in the order you'll actually use them</a:t>
            </a:r>
          </a:p>
        </p:txBody>
      </p:sp>
      <p:sp>
        <p:nvSpPr>
          <p:cNvPr id="10" name="Rectangle 9"/>
          <p:cNvSpPr/>
          <p:nvPr/>
        </p:nvSpPr>
        <p:spPr>
          <a:xfrm>
            <a:off x="566928" y="1920000"/>
            <a:ext cx="11057839" cy="0"/>
          </a:xfrm>
          <a:prstGeom prst="rect">
            <a:avLst/>
          </a:prstGeom>
          <a:noFill/>
          <a:ln w="6350">
            <a:solidFill>
              <a:srgbClr val="DAD8CC"/>
            </a:solidFill>
          </a:ln>
          <a:effectLst/>
        </p:spPr>
        <p:txBody>
          <a:bodyPr rtlCol="0" anchor="ctr"/>
          <a:lstStyle/>
          <a:p>
            <a:pPr algn="ctr"/>
          </a:p>
        </p:txBody>
      </p:sp>
      <p:sp>
        <p:nvSpPr>
          <p:cNvPr id="11" name="TextBox 10">
            <a:hlinkClick action="ppaction://hlinksldjump" r:id="rId2"/>
          </p:cNvPr>
          <p:cNvSpPr txBox="1"/>
          <p:nvPr/>
        </p:nvSpPr>
        <p:spPr>
          <a:xfrm>
            <a:off x="566928" y="2200000"/>
            <a:ext cx="700000" cy="980746"/>
          </a:xfrm>
          <a:prstGeom prst="rect">
            <a:avLst/>
          </a:prstGeom>
          <a:noFill/>
        </p:spPr>
        <p:txBody>
          <a:bodyPr wrap="square" lIns="0" rIns="0" tIns="0" bIns="0" anchor="t">
            <a:spAutoFit/>
          </a:bodyPr>
          <a:lstStyle/>
          <a:p>
            <a:r>
              <a:rPr sz="3000" b="1" i="0">
                <a:solidFill>
                  <a:srgbClr val="1B4B8F"/>
                </a:solidFill>
                <a:latin typeface="Consolas"/>
              </a:rPr>
              <a:t>01</a:t>
            </a:r>
          </a:p>
        </p:txBody>
      </p:sp>
      <p:sp>
        <p:nvSpPr>
          <p:cNvPr id="12" name="TextBox 11">
            <a:hlinkClick action="ppaction://hlinksldjump" r:id="rId2"/>
          </p:cNvPr>
          <p:cNvSpPr txBox="1"/>
          <p:nvPr/>
        </p:nvSpPr>
        <p:spPr>
          <a:xfrm>
            <a:off x="1616928" y="2200000"/>
            <a:ext cx="8758144" cy="560426"/>
          </a:xfrm>
          <a:prstGeom prst="rect">
            <a:avLst/>
          </a:prstGeom>
          <a:noFill/>
        </p:spPr>
        <p:txBody>
          <a:bodyPr wrap="square" lIns="0" rIns="0" tIns="0" bIns="0" anchor="t">
            <a:spAutoFit/>
          </a:bodyPr>
          <a:lstStyle/>
          <a:p>
            <a:r>
              <a:rPr sz="1900" b="1" i="0" u="sng">
                <a:solidFill>
                  <a:srgbClr val="161614"/>
                </a:solidFill>
                <a:latin typeface="Arial"/>
              </a:rPr>
              <a:t>File Types</a:t>
            </a:r>
          </a:p>
        </p:txBody>
      </p:sp>
      <p:sp>
        <p:nvSpPr>
          <p:cNvPr id="13" name="TextBox 12">
            <a:hlinkClick action="ppaction://hlinksldjump" r:id="rId2"/>
          </p:cNvPr>
          <p:cNvSpPr txBox="1"/>
          <p:nvPr/>
        </p:nvSpPr>
        <p:spPr>
          <a:xfrm>
            <a:off x="1616928" y="2788448"/>
            <a:ext cx="8758144" cy="560426"/>
          </a:xfrm>
          <a:prstGeom prst="rect">
            <a:avLst/>
          </a:prstGeom>
          <a:noFill/>
        </p:spPr>
        <p:txBody>
          <a:bodyPr wrap="square" lIns="0" rIns="0" tIns="0" bIns="0" anchor="t">
            <a:spAutoFit/>
          </a:bodyPr>
          <a:lstStyle/>
          <a:p>
            <a:r>
              <a:rPr sz="1200" b="0" i="1">
                <a:solidFill>
                  <a:srgbClr val="5C5B53"/>
                </a:solidFill>
                <a:latin typeface="Arial"/>
              </a:rPr>
              <a:t>The formats and files every GIS project is built from</a:t>
            </a:r>
          </a:p>
        </p:txBody>
      </p:sp>
      <p:sp>
        <p:nvSpPr>
          <p:cNvPr id="14" name="TextBox 13">
            <a:hlinkClick action="ppaction://hlinksldjump" r:id="rId2"/>
          </p:cNvPr>
          <p:cNvSpPr txBox="1"/>
          <p:nvPr/>
        </p:nvSpPr>
        <p:spPr>
          <a:xfrm>
            <a:off x="10925072" y="2200000"/>
            <a:ext cx="700000" cy="980746"/>
          </a:xfrm>
          <a:prstGeom prst="rect">
            <a:avLst/>
          </a:prstGeom>
          <a:noFill/>
        </p:spPr>
        <p:txBody>
          <a:bodyPr wrap="square" lIns="0" rIns="0" tIns="0" bIns="0" anchor="t">
            <a:spAutoFit/>
          </a:bodyPr>
          <a:lstStyle/>
          <a:p>
            <a:pPr algn="r"/>
            <a:r>
              <a:rPr sz="2600" b="1" i="0">
                <a:solidFill>
                  <a:srgbClr val="1B4B8F"/>
                </a:solidFill>
                <a:latin typeface="Arial"/>
              </a:rPr>
              <a:t>→</a:t>
            </a:r>
          </a:p>
        </p:txBody>
      </p:sp>
      <p:sp>
        <p:nvSpPr>
          <p:cNvPr id="15" name="Rectangle 14"/>
          <p:cNvSpPr/>
          <p:nvPr/>
        </p:nvSpPr>
        <p:spPr>
          <a:xfrm>
            <a:off x="566928" y="3555346"/>
            <a:ext cx="11058144" cy="0"/>
          </a:xfrm>
          <a:prstGeom prst="rect">
            <a:avLst/>
          </a:prstGeom>
          <a:noFill/>
          <a:ln w="6350">
            <a:solidFill>
              <a:srgbClr val="DAD8CC"/>
            </a:solidFill>
          </a:ln>
          <a:effectLst/>
        </p:spPr>
        <p:txBody>
          <a:bodyPr rtlCol="0" anchor="ctr"/>
          <a:lstStyle/>
          <a:p>
            <a:pPr algn="ctr"/>
          </a:p>
        </p:txBody>
      </p:sp>
      <p:sp>
        <p:nvSpPr>
          <p:cNvPr id="16" name="TextBox 15">
            <a:hlinkClick action="ppaction://hlinksldjump" r:id="rId3"/>
          </p:cNvPr>
          <p:cNvSpPr txBox="1"/>
          <p:nvPr/>
        </p:nvSpPr>
        <p:spPr>
          <a:xfrm>
            <a:off x="566928" y="3601066"/>
            <a:ext cx="700000" cy="980746"/>
          </a:xfrm>
          <a:prstGeom prst="rect">
            <a:avLst/>
          </a:prstGeom>
          <a:noFill/>
        </p:spPr>
        <p:txBody>
          <a:bodyPr wrap="square" lIns="0" rIns="0" tIns="0" bIns="0" anchor="t">
            <a:spAutoFit/>
          </a:bodyPr>
          <a:lstStyle/>
          <a:p>
            <a:r>
              <a:rPr sz="3000" b="1" i="0">
                <a:solidFill>
                  <a:srgbClr val="B3242A"/>
                </a:solidFill>
                <a:latin typeface="Consolas"/>
              </a:rPr>
              <a:t>02</a:t>
            </a:r>
          </a:p>
        </p:txBody>
      </p:sp>
      <p:sp>
        <p:nvSpPr>
          <p:cNvPr id="17" name="TextBox 16">
            <a:hlinkClick action="ppaction://hlinksldjump" r:id="rId3"/>
          </p:cNvPr>
          <p:cNvSpPr txBox="1"/>
          <p:nvPr/>
        </p:nvSpPr>
        <p:spPr>
          <a:xfrm>
            <a:off x="1616928" y="3601066"/>
            <a:ext cx="8758144" cy="560426"/>
          </a:xfrm>
          <a:prstGeom prst="rect">
            <a:avLst/>
          </a:prstGeom>
          <a:noFill/>
        </p:spPr>
        <p:txBody>
          <a:bodyPr wrap="square" lIns="0" rIns="0" tIns="0" bIns="0" anchor="t">
            <a:spAutoFit/>
          </a:bodyPr>
          <a:lstStyle/>
          <a:p>
            <a:r>
              <a:rPr sz="1900" b="1" i="0" u="sng">
                <a:solidFill>
                  <a:srgbClr val="161614"/>
                </a:solidFill>
                <a:latin typeface="Arial"/>
              </a:rPr>
              <a:t>File Management</a:t>
            </a:r>
          </a:p>
        </p:txBody>
      </p:sp>
      <p:sp>
        <p:nvSpPr>
          <p:cNvPr id="18" name="TextBox 17">
            <a:hlinkClick action="ppaction://hlinksldjump" r:id="rId3"/>
          </p:cNvPr>
          <p:cNvSpPr txBox="1"/>
          <p:nvPr/>
        </p:nvSpPr>
        <p:spPr>
          <a:xfrm>
            <a:off x="1616928" y="4189514"/>
            <a:ext cx="8758144" cy="560426"/>
          </a:xfrm>
          <a:prstGeom prst="rect">
            <a:avLst/>
          </a:prstGeom>
          <a:noFill/>
        </p:spPr>
        <p:txBody>
          <a:bodyPr wrap="square" lIns="0" rIns="0" tIns="0" bIns="0" anchor="t">
            <a:spAutoFit/>
          </a:bodyPr>
          <a:lstStyle/>
          <a:p>
            <a:r>
              <a:rPr sz="1200" b="0" i="1">
                <a:solidFill>
                  <a:srgbClr val="5C5B53"/>
                </a:solidFill>
                <a:latin typeface="Arial"/>
              </a:rPr>
              <a:t>Folder structure, naming conventions, and how ArcGIS Pro organizes it all</a:t>
            </a:r>
          </a:p>
        </p:txBody>
      </p:sp>
      <p:sp>
        <p:nvSpPr>
          <p:cNvPr id="19" name="TextBox 18">
            <a:hlinkClick action="ppaction://hlinksldjump" r:id="rId3"/>
          </p:cNvPr>
          <p:cNvSpPr txBox="1"/>
          <p:nvPr/>
        </p:nvSpPr>
        <p:spPr>
          <a:xfrm>
            <a:off x="10925072" y="3601066"/>
            <a:ext cx="700000" cy="980746"/>
          </a:xfrm>
          <a:prstGeom prst="rect">
            <a:avLst/>
          </a:prstGeom>
          <a:noFill/>
        </p:spPr>
        <p:txBody>
          <a:bodyPr wrap="square" lIns="0" rIns="0" tIns="0" bIns="0" anchor="t">
            <a:spAutoFit/>
          </a:bodyPr>
          <a:lstStyle/>
          <a:p>
            <a:pPr algn="r"/>
            <a:r>
              <a:rPr sz="2600" b="1" i="0">
                <a:solidFill>
                  <a:srgbClr val="B3242A"/>
                </a:solidFill>
                <a:latin typeface="Arial"/>
              </a:rPr>
              <a:t>→</a:t>
            </a:r>
          </a:p>
        </p:txBody>
      </p:sp>
      <p:sp>
        <p:nvSpPr>
          <p:cNvPr id="20" name="Rectangle 19"/>
          <p:cNvSpPr/>
          <p:nvPr/>
        </p:nvSpPr>
        <p:spPr>
          <a:xfrm>
            <a:off x="566928" y="4956413"/>
            <a:ext cx="11058144" cy="0"/>
          </a:xfrm>
          <a:prstGeom prst="rect">
            <a:avLst/>
          </a:prstGeom>
          <a:noFill/>
          <a:ln w="6350">
            <a:solidFill>
              <a:srgbClr val="DAD8CC"/>
            </a:solidFill>
          </a:ln>
          <a:effectLst/>
        </p:spPr>
        <p:txBody>
          <a:bodyPr rtlCol="0" anchor="ctr"/>
          <a:lstStyle/>
          <a:p>
            <a:pPr algn="ctr"/>
          </a:p>
        </p:txBody>
      </p:sp>
      <p:sp>
        <p:nvSpPr>
          <p:cNvPr id="21" name="TextBox 20">
            <a:hlinkClick action="ppaction://hlinksldjump" r:id="rId4"/>
          </p:cNvPr>
          <p:cNvSpPr txBox="1"/>
          <p:nvPr/>
        </p:nvSpPr>
        <p:spPr>
          <a:xfrm>
            <a:off x="566928" y="5002133"/>
            <a:ext cx="700000" cy="980746"/>
          </a:xfrm>
          <a:prstGeom prst="rect">
            <a:avLst/>
          </a:prstGeom>
          <a:noFill/>
        </p:spPr>
        <p:txBody>
          <a:bodyPr wrap="square" lIns="0" rIns="0" tIns="0" bIns="0" anchor="t">
            <a:spAutoFit/>
          </a:bodyPr>
          <a:lstStyle/>
          <a:p>
            <a:r>
              <a:rPr sz="3000" b="1" i="0">
                <a:solidFill>
                  <a:srgbClr val="B87C0C"/>
                </a:solidFill>
                <a:latin typeface="Consolas"/>
              </a:rPr>
              <a:t>03</a:t>
            </a:r>
          </a:p>
        </p:txBody>
      </p:sp>
      <p:sp>
        <p:nvSpPr>
          <p:cNvPr id="22" name="TextBox 21">
            <a:hlinkClick action="ppaction://hlinksldjump" r:id="rId4"/>
          </p:cNvPr>
          <p:cNvSpPr txBox="1"/>
          <p:nvPr/>
        </p:nvSpPr>
        <p:spPr>
          <a:xfrm>
            <a:off x="1616928" y="5002133"/>
            <a:ext cx="8758144" cy="560426"/>
          </a:xfrm>
          <a:prstGeom prst="rect">
            <a:avLst/>
          </a:prstGeom>
          <a:noFill/>
        </p:spPr>
        <p:txBody>
          <a:bodyPr wrap="square" lIns="0" rIns="0" tIns="0" bIns="0" anchor="t">
            <a:spAutoFit/>
          </a:bodyPr>
          <a:lstStyle/>
          <a:p>
            <a:r>
              <a:rPr sz="1900" b="1" i="0" u="sng">
                <a:solidFill>
                  <a:srgbClr val="161614"/>
                </a:solidFill>
                <a:latin typeface="Arial"/>
              </a:rPr>
              <a:t>Troubleshooting</a:t>
            </a:r>
          </a:p>
        </p:txBody>
      </p:sp>
      <p:sp>
        <p:nvSpPr>
          <p:cNvPr id="23" name="TextBox 22">
            <a:hlinkClick action="ppaction://hlinksldjump" r:id="rId4"/>
          </p:cNvPr>
          <p:cNvSpPr txBox="1"/>
          <p:nvPr/>
        </p:nvSpPr>
        <p:spPr>
          <a:xfrm>
            <a:off x="1616928" y="5590581"/>
            <a:ext cx="8758144" cy="560426"/>
          </a:xfrm>
          <a:prstGeom prst="rect">
            <a:avLst/>
          </a:prstGeom>
          <a:noFill/>
        </p:spPr>
        <p:txBody>
          <a:bodyPr wrap="square" lIns="0" rIns="0" tIns="0" bIns="0" anchor="t">
            <a:spAutoFit/>
          </a:bodyPr>
          <a:lstStyle/>
          <a:p>
            <a:r>
              <a:rPr sz="1200" b="0" i="1">
                <a:solidFill>
                  <a:srgbClr val="5C5B53"/>
                </a:solidFill>
                <a:latin typeface="Arial"/>
              </a:rPr>
              <a:t>A method for working through problems on your own first</a:t>
            </a:r>
          </a:p>
        </p:txBody>
      </p:sp>
      <p:sp>
        <p:nvSpPr>
          <p:cNvPr id="24" name="TextBox 23">
            <a:hlinkClick action="ppaction://hlinksldjump" r:id="rId4"/>
          </p:cNvPr>
          <p:cNvSpPr txBox="1"/>
          <p:nvPr/>
        </p:nvSpPr>
        <p:spPr>
          <a:xfrm>
            <a:off x="10925072" y="5002133"/>
            <a:ext cx="700000" cy="980746"/>
          </a:xfrm>
          <a:prstGeom prst="rect">
            <a:avLst/>
          </a:prstGeom>
          <a:noFill/>
        </p:spPr>
        <p:txBody>
          <a:bodyPr wrap="square" lIns="0" rIns="0" tIns="0" bIns="0" anchor="t">
            <a:spAutoFit/>
          </a:bodyPr>
          <a:lstStyle/>
          <a:p>
            <a:pPr algn="r"/>
            <a:r>
              <a:rPr sz="2600" b="1" i="0">
                <a:solidFill>
                  <a:srgbClr val="B87C0C"/>
                </a:solidFill>
                <a:latin typeface="Aria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4200000" cy="6858000"/>
          </a:xfrm>
          <a:prstGeom prst="rect">
            <a:avLst/>
          </a:prstGeom>
          <a:solidFill>
            <a:srgbClr val="1B4B8F"/>
          </a:solidFill>
          <a:ln>
            <a:noFill/>
          </a:ln>
          <a:effectLst/>
        </p:spPr>
        <p:txBody>
          <a:bodyPr rtlCol="0" anchor="ctr"/>
          <a:lstStyle/>
          <a:p>
            <a:pPr algn="ctr"/>
          </a:p>
        </p:txBody>
      </p:sp>
      <p:sp>
        <p:nvSpPr>
          <p:cNvPr id="4" name="TextBox 3"/>
          <p:cNvSpPr txBox="1"/>
          <p:nvPr/>
        </p:nvSpPr>
        <p:spPr>
          <a:xfrm>
            <a:off x="450000" y="900000"/>
            <a:ext cx="3500000" cy="400000"/>
          </a:xfrm>
          <a:prstGeom prst="rect">
            <a:avLst/>
          </a:prstGeom>
          <a:noFill/>
        </p:spPr>
        <p:txBody>
          <a:bodyPr wrap="square" lIns="0" rIns="0" tIns="0" bIns="0">
            <a:spAutoFit/>
          </a:bodyPr>
          <a:lstStyle/>
          <a:p>
            <a:r>
              <a:rPr sz="1200" b="1" i="0" spc="180">
                <a:solidFill>
                  <a:srgbClr val="FFFFFF"/>
                </a:solidFill>
                <a:latin typeface="Consolas"/>
              </a:rPr>
              <a:t>SECTION 01 OF 03</a:t>
            </a:r>
          </a:p>
        </p:txBody>
      </p:sp>
      <p:sp>
        <p:nvSpPr>
          <p:cNvPr id="5" name="TextBox 4"/>
          <p:cNvSpPr txBox="1"/>
          <p:nvPr/>
        </p:nvSpPr>
        <p:spPr>
          <a:xfrm>
            <a:off x="450000" y="1700000"/>
            <a:ext cx="3500000" cy="3400000"/>
          </a:xfrm>
          <a:prstGeom prst="rect">
            <a:avLst/>
          </a:prstGeom>
          <a:noFill/>
        </p:spPr>
        <p:txBody>
          <a:bodyPr wrap="square" lIns="0" rIns="0" tIns="0" bIns="0" anchor="ctr">
            <a:spAutoFit/>
          </a:bodyPr>
          <a:lstStyle/>
          <a:p>
            <a:r>
              <a:rPr sz="13000" b="1" i="0">
                <a:solidFill>
                  <a:srgbClr val="FFFFFF"/>
                </a:solidFill>
                <a:latin typeface="Consolas"/>
              </a:rPr>
              <a:t>01</a:t>
            </a:r>
          </a:p>
        </p:txBody>
      </p:sp>
      <p:sp>
        <p:nvSpPr>
          <p:cNvPr id="6" name="TextBox 5"/>
          <p:cNvSpPr txBox="1"/>
          <p:nvPr/>
        </p:nvSpPr>
        <p:spPr>
          <a:xfrm>
            <a:off x="4766928" y="2350000"/>
            <a:ext cx="6858144" cy="900000"/>
          </a:xfrm>
          <a:prstGeom prst="rect">
            <a:avLst/>
          </a:prstGeom>
          <a:noFill/>
        </p:spPr>
        <p:txBody>
          <a:bodyPr wrap="square" lIns="0" rIns="0" tIns="0" bIns="0">
            <a:spAutoFit/>
          </a:bodyPr>
          <a:lstStyle/>
          <a:p>
            <a:r>
              <a:rPr sz="4200" b="1" i="0">
                <a:solidFill>
                  <a:srgbClr val="161614"/>
                </a:solidFill>
                <a:latin typeface="Arial"/>
              </a:rPr>
              <a:t>File Types</a:t>
            </a:r>
          </a:p>
        </p:txBody>
      </p:sp>
      <p:sp>
        <p:nvSpPr>
          <p:cNvPr id="7" name="Rectangle 6"/>
          <p:cNvSpPr/>
          <p:nvPr/>
        </p:nvSpPr>
        <p:spPr>
          <a:xfrm>
            <a:off x="4766928" y="3200000"/>
            <a:ext cx="900000" cy="0"/>
          </a:xfrm>
          <a:prstGeom prst="rect">
            <a:avLst/>
          </a:prstGeom>
          <a:noFill/>
          <a:ln w="28575">
            <a:solidFill>
              <a:srgbClr val="1B4B8F"/>
            </a:solidFill>
          </a:ln>
          <a:effectLst/>
        </p:spPr>
        <p:txBody>
          <a:bodyPr rtlCol="0" anchor="ctr"/>
          <a:lstStyle/>
          <a:p>
            <a:pPr algn="ctr"/>
          </a:p>
        </p:txBody>
      </p:sp>
      <p:sp>
        <p:nvSpPr>
          <p:cNvPr id="8" name="TextBox 7"/>
          <p:cNvSpPr txBox="1"/>
          <p:nvPr/>
        </p:nvSpPr>
        <p:spPr>
          <a:xfrm>
            <a:off x="4766928" y="3350000"/>
            <a:ext cx="6858144" cy="700000"/>
          </a:xfrm>
          <a:prstGeom prst="rect">
            <a:avLst/>
          </a:prstGeom>
          <a:noFill/>
        </p:spPr>
        <p:txBody>
          <a:bodyPr wrap="square" lIns="0" rIns="0" tIns="0" bIns="0">
            <a:spAutoFit/>
          </a:bodyPr>
          <a:lstStyle/>
          <a:p>
            <a:pPr>
              <a:lnSpc>
                <a:spcPct val="115000"/>
              </a:lnSpc>
            </a:pPr>
            <a:r>
              <a:rPr sz="1650" b="0" i="1">
                <a:solidFill>
                  <a:srgbClr val="5C5B53"/>
                </a:solidFill>
                <a:latin typeface="Arial"/>
              </a:rPr>
              <a:t>The formats and files every GIS project is built from</a:t>
            </a:r>
          </a:p>
        </p:txBody>
      </p:sp>
      <p:sp>
        <p:nvSpPr>
          <p:cNvPr id="9" name="Rectangle 8"/>
          <p:cNvSpPr/>
          <p:nvPr/>
        </p:nvSpPr>
        <p:spPr>
          <a:xfrm>
            <a:off x="0" y="6553200"/>
            <a:ext cx="12192000" cy="0"/>
          </a:xfrm>
          <a:prstGeom prst="rect">
            <a:avLst/>
          </a:prstGeom>
          <a:noFill/>
          <a:ln w="6350">
            <a:solidFill>
              <a:srgbClr val="DAD8CC"/>
            </a:solidFill>
          </a:ln>
          <a:effectLst/>
        </p:spPr>
        <p:txBody>
          <a:bodyPr rtlCol="0" anchor="ctr"/>
          <a:lstStyle/>
          <a:p>
            <a:pPr algn="ctr"/>
          </a:p>
        </p:txBody>
      </p:sp>
      <p:sp>
        <p:nvSpPr>
          <p:cNvPr id="10" name="TextBox 9"/>
          <p:cNvSpPr txBox="1"/>
          <p:nvPr/>
        </p:nvSpPr>
        <p:spPr>
          <a:xfrm>
            <a:off x="4766928" y="6600000"/>
            <a:ext cx="603504" cy="250000"/>
          </a:xfrm>
          <a:prstGeom prst="rect">
            <a:avLst/>
          </a:prstGeom>
          <a:noFill/>
        </p:spPr>
        <p:txBody>
          <a:bodyPr wrap="square" lIns="0" rIns="0" tIns="0" bIns="0">
            <a:spAutoFit/>
          </a:bodyPr>
          <a:lstStyle/>
          <a:p>
            <a:r>
              <a:rPr sz="1050" b="0" i="0">
                <a:solidFill>
                  <a:srgbClr val="9C9A90"/>
                </a:solidFill>
                <a:latin typeface="Consolas"/>
              </a:rPr>
              <a:t>01</a:t>
            </a:r>
          </a:p>
        </p:txBody>
      </p:sp>
      <p:sp>
        <p:nvSpPr>
          <p:cNvPr id="11" name="TextBox 10">
            <a:hlinkClick action="ppaction://hlinksldjump" r:id="rId2"/>
          </p:cNvPr>
          <p:cNvSpPr txBox="1"/>
          <p:nvPr/>
        </p:nvSpPr>
        <p:spPr>
          <a:xfrm>
            <a:off x="9225072" y="6600000"/>
            <a:ext cx="2400000" cy="250000"/>
          </a:xfrm>
          <a:prstGeom prst="rect">
            <a:avLst/>
          </a:prstGeom>
          <a:noFill/>
        </p:spPr>
        <p:txBody>
          <a:bodyPr wrap="square" lIns="0" rIns="0" tIns="0" bIns="0">
            <a:spAutoFit/>
          </a:bodyPr>
          <a:lstStyle/>
          <a:p>
            <a:pPr algn="r"/>
            <a:r>
              <a:rPr sz="1050" b="0" i="1" u="sng">
                <a:solidFill>
                  <a:srgbClr val="5C5B53"/>
                </a:solidFill>
                <a:latin typeface="Arial"/>
              </a:rPr>
              <a:t>Table of Contents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2192000" cy="50800"/>
          </a:xfrm>
          <a:prstGeom prst="rect">
            <a:avLst/>
          </a:prstGeom>
          <a:solidFill>
            <a:srgbClr val="1B4B8F"/>
          </a:solidFill>
          <a:ln>
            <a:noFill/>
          </a:ln>
          <a:effectLst/>
        </p:spPr>
        <p:txBody>
          <a:bodyPr rtlCol="0" anchor="ctr"/>
          <a:lstStyle/>
          <a:p>
            <a:pPr algn="ctr"/>
          </a:p>
        </p:txBody>
      </p:sp>
      <p:sp>
        <p:nvSpPr>
          <p:cNvPr id="4" name="Rectangle 3"/>
          <p:cNvSpPr/>
          <p:nvPr/>
        </p:nvSpPr>
        <p:spPr>
          <a:xfrm>
            <a:off x="0" y="6553200"/>
            <a:ext cx="12192000" cy="0"/>
          </a:xfrm>
          <a:prstGeom prst="rect">
            <a:avLst/>
          </a:prstGeom>
          <a:noFill/>
          <a:ln w="6350">
            <a:solidFill>
              <a:srgbClr val="DAD8CC"/>
            </a:solidFill>
          </a:ln>
          <a:effectLst/>
        </p:spPr>
        <p:txBody>
          <a:bodyPr rtlCol="0" anchor="ctr"/>
          <a:lstStyle/>
          <a:p>
            <a:pPr algn="ctr"/>
          </a:p>
        </p:txBody>
      </p:sp>
      <p:sp>
        <p:nvSpPr>
          <p:cNvPr id="5" name="Rectangle 4"/>
          <p:cNvSpPr/>
          <p:nvPr/>
        </p:nvSpPr>
        <p:spPr>
          <a:xfrm>
            <a:off x="566928" y="344424"/>
            <a:ext cx="137160" cy="137160"/>
          </a:xfrm>
          <a:prstGeom prst="rect">
            <a:avLst/>
          </a:prstGeom>
          <a:solidFill>
            <a:srgbClr val="1B4B8F"/>
          </a:solidFill>
          <a:ln>
            <a:noFill/>
          </a:ln>
          <a:effectLst/>
        </p:spPr>
        <p:txBody>
          <a:bodyPr rtlCol="0" anchor="ctr"/>
          <a:lstStyle/>
          <a:p>
            <a:pPr algn="ctr"/>
          </a:p>
        </p:txBody>
      </p:sp>
      <p:sp>
        <p:nvSpPr>
          <p:cNvPr id="6" name="TextBox 5"/>
          <p:cNvSpPr txBox="1"/>
          <p:nvPr/>
        </p:nvSpPr>
        <p:spPr>
          <a:xfrm>
            <a:off x="866648" y="310896"/>
            <a:ext cx="9000000" cy="274320"/>
          </a:xfrm>
          <a:prstGeom prst="rect">
            <a:avLst/>
          </a:prstGeom>
          <a:noFill/>
        </p:spPr>
        <p:txBody>
          <a:bodyPr wrap="square" lIns="0" rIns="0" tIns="0" bIns="0">
            <a:spAutoFit/>
          </a:bodyPr>
          <a:lstStyle/>
          <a:p>
            <a:r>
              <a:rPr sz="1100" b="1" i="0" spc="200">
                <a:solidFill>
                  <a:srgbClr val="1B4B8F"/>
                </a:solidFill>
                <a:latin typeface="Consolas"/>
              </a:rPr>
              <a:t>FILE TYPES · DATA FORMATS</a:t>
            </a:r>
          </a:p>
        </p:txBody>
      </p:sp>
      <p:sp>
        <p:nvSpPr>
          <p:cNvPr id="7" name="TextBox 6"/>
          <p:cNvSpPr txBox="1"/>
          <p:nvPr/>
        </p:nvSpPr>
        <p:spPr>
          <a:xfrm>
            <a:off x="566928" y="700000"/>
            <a:ext cx="10234879" cy="700000"/>
          </a:xfrm>
          <a:prstGeom prst="rect">
            <a:avLst/>
          </a:prstGeom>
          <a:noFill/>
        </p:spPr>
        <p:txBody>
          <a:bodyPr wrap="square" lIns="0" rIns="0" tIns="0" bIns="0">
            <a:spAutoFit/>
          </a:bodyPr>
          <a:lstStyle/>
          <a:p>
            <a:r>
              <a:rPr sz="3200" b="1" i="0">
                <a:solidFill>
                  <a:srgbClr val="161614"/>
                </a:solidFill>
                <a:latin typeface="Arial"/>
              </a:rPr>
              <a:t>Common GIS Data Formats</a:t>
            </a:r>
          </a:p>
        </p:txBody>
      </p:sp>
      <p:sp>
        <p:nvSpPr>
          <p:cNvPr id="8" name="Rectangle 7"/>
          <p:cNvSpPr/>
          <p:nvPr/>
        </p:nvSpPr>
        <p:spPr>
          <a:xfrm>
            <a:off x="566928" y="1420000"/>
            <a:ext cx="900000" cy="0"/>
          </a:xfrm>
          <a:prstGeom prst="rect">
            <a:avLst/>
          </a:prstGeom>
          <a:noFill/>
          <a:ln w="28575">
            <a:solidFill>
              <a:srgbClr val="1B4B8F"/>
            </a:solidFill>
          </a:ln>
          <a:effectLst/>
        </p:spPr>
        <p:txBody>
          <a:bodyPr rtlCol="0" anchor="ctr"/>
          <a:lstStyle/>
          <a:p>
            <a:pPr algn="ctr"/>
          </a:p>
        </p:txBody>
      </p:sp>
      <p:sp>
        <p:nvSpPr>
          <p:cNvPr id="9" name="TextBox 8"/>
          <p:cNvSpPr txBox="1"/>
          <p:nvPr/>
        </p:nvSpPr>
        <p:spPr>
          <a:xfrm>
            <a:off x="566928" y="1520000"/>
            <a:ext cx="10234879" cy="320000"/>
          </a:xfrm>
          <a:prstGeom prst="rect">
            <a:avLst/>
          </a:prstGeom>
          <a:noFill/>
        </p:spPr>
        <p:txBody>
          <a:bodyPr wrap="square" lIns="0" rIns="0" tIns="0" bIns="0">
            <a:spAutoFit/>
          </a:bodyPr>
          <a:lstStyle/>
          <a:p>
            <a:r>
              <a:rPr sz="1450" b="0" i="1">
                <a:solidFill>
                  <a:srgbClr val="5C5B53"/>
                </a:solidFill>
                <a:latin typeface="Arial"/>
              </a:rPr>
              <a:t>Five formats you will meet in almost every project</a:t>
            </a:r>
          </a:p>
        </p:txBody>
      </p:sp>
      <p:sp>
        <p:nvSpPr>
          <p:cNvPr id="10" name="Rectangle 9"/>
          <p:cNvSpPr/>
          <p:nvPr/>
        </p:nvSpPr>
        <p:spPr>
          <a:xfrm>
            <a:off x="566928" y="1920000"/>
            <a:ext cx="11057839" cy="0"/>
          </a:xfrm>
          <a:prstGeom prst="rect">
            <a:avLst/>
          </a:prstGeom>
          <a:noFill/>
          <a:ln w="6350">
            <a:solidFill>
              <a:srgbClr val="DAD8CC"/>
            </a:solidFill>
          </a:ln>
          <a:effectLst/>
        </p:spPr>
        <p:txBody>
          <a:bodyPr rtlCol="0" anchor="ctr"/>
          <a:lstStyle/>
          <a:p>
            <a:pPr algn="ctr"/>
          </a:p>
        </p:txBody>
      </p:sp>
      <p:sp>
        <p:nvSpPr>
          <p:cNvPr id="11" name="TextBox 10"/>
          <p:cNvSpPr txBox="1"/>
          <p:nvPr/>
        </p:nvSpPr>
        <p:spPr>
          <a:xfrm>
            <a:off x="11023600" y="6600000"/>
            <a:ext cx="603504" cy="250000"/>
          </a:xfrm>
          <a:prstGeom prst="rect">
            <a:avLst/>
          </a:prstGeom>
          <a:noFill/>
        </p:spPr>
        <p:txBody>
          <a:bodyPr wrap="square" lIns="0" rIns="0" tIns="0" bIns="0" anchor="ctr">
            <a:spAutoFit/>
          </a:bodyPr>
          <a:lstStyle/>
          <a:p>
            <a:pPr algn="ctr"/>
            <a:r>
              <a:rPr sz="1050" b="0" i="0">
                <a:solidFill>
                  <a:srgbClr val="9C9A90"/>
                </a:solidFill>
                <a:latin typeface="Consolas"/>
              </a:rPr>
              <a:t>02</a:t>
            </a:r>
          </a:p>
        </p:txBody>
      </p:sp>
      <p:sp>
        <p:nvSpPr>
          <p:cNvPr id="12" name="TextBox 11"/>
          <p:cNvSpPr txBox="1"/>
          <p:nvPr/>
        </p:nvSpPr>
        <p:spPr>
          <a:xfrm>
            <a:off x="566928" y="2080000"/>
            <a:ext cx="1963887" cy="340000"/>
          </a:xfrm>
          <a:prstGeom prst="rect">
            <a:avLst/>
          </a:prstGeom>
          <a:noFill/>
        </p:spPr>
        <p:txBody>
          <a:bodyPr wrap="square" lIns="0" rIns="0" tIns="0" bIns="0" anchor="b">
            <a:spAutoFit/>
          </a:bodyPr>
          <a:lstStyle/>
          <a:p>
            <a:r>
              <a:rPr sz="1100" b="1" i="0" spc="100">
                <a:solidFill>
                  <a:srgbClr val="1B4B8F"/>
                </a:solidFill>
                <a:latin typeface="Consolas"/>
              </a:rPr>
              <a:t>DATA FORMAT</a:t>
            </a:r>
          </a:p>
        </p:txBody>
      </p:sp>
      <p:sp>
        <p:nvSpPr>
          <p:cNvPr id="13" name="TextBox 12"/>
          <p:cNvSpPr txBox="1"/>
          <p:nvPr/>
        </p:nvSpPr>
        <p:spPr>
          <a:xfrm>
            <a:off x="2667975" y="2080000"/>
            <a:ext cx="1410980" cy="340000"/>
          </a:xfrm>
          <a:prstGeom prst="rect">
            <a:avLst/>
          </a:prstGeom>
          <a:noFill/>
        </p:spPr>
        <p:txBody>
          <a:bodyPr wrap="square" lIns="0" rIns="0" tIns="0" bIns="0" anchor="b">
            <a:spAutoFit/>
          </a:bodyPr>
          <a:lstStyle/>
          <a:p>
            <a:r>
              <a:rPr sz="1100" b="1" i="0" spc="100">
                <a:solidFill>
                  <a:srgbClr val="1B4B8F"/>
                </a:solidFill>
                <a:latin typeface="Consolas"/>
              </a:rPr>
              <a:t>USED IN</a:t>
            </a:r>
          </a:p>
        </p:txBody>
      </p:sp>
      <p:sp>
        <p:nvSpPr>
          <p:cNvPr id="14" name="TextBox 13"/>
          <p:cNvSpPr txBox="1"/>
          <p:nvPr/>
        </p:nvSpPr>
        <p:spPr>
          <a:xfrm>
            <a:off x="4216115" y="2080000"/>
            <a:ext cx="1963887" cy="340000"/>
          </a:xfrm>
          <a:prstGeom prst="rect">
            <a:avLst/>
          </a:prstGeom>
          <a:noFill/>
        </p:spPr>
        <p:txBody>
          <a:bodyPr wrap="square" lIns="0" rIns="0" tIns="0" bIns="0" anchor="b">
            <a:spAutoFit/>
          </a:bodyPr>
          <a:lstStyle/>
          <a:p>
            <a:r>
              <a:rPr sz="1100" b="1" i="0" spc="100">
                <a:solidFill>
                  <a:srgbClr val="1B4B8F"/>
                </a:solidFill>
                <a:latin typeface="Consolas"/>
              </a:rPr>
              <a:t>EXTENSION / STRUCTURE</a:t>
            </a:r>
          </a:p>
        </p:txBody>
      </p:sp>
      <p:sp>
        <p:nvSpPr>
          <p:cNvPr id="15" name="TextBox 14"/>
          <p:cNvSpPr txBox="1"/>
          <p:nvPr/>
        </p:nvSpPr>
        <p:spPr>
          <a:xfrm>
            <a:off x="6317162" y="2080000"/>
            <a:ext cx="5170749" cy="340000"/>
          </a:xfrm>
          <a:prstGeom prst="rect">
            <a:avLst/>
          </a:prstGeom>
          <a:noFill/>
        </p:spPr>
        <p:txBody>
          <a:bodyPr wrap="square" lIns="0" rIns="0" tIns="0" bIns="0" anchor="b">
            <a:spAutoFit/>
          </a:bodyPr>
          <a:lstStyle/>
          <a:p>
            <a:r>
              <a:rPr sz="1100" b="1" i="0" spc="100">
                <a:solidFill>
                  <a:srgbClr val="1B4B8F"/>
                </a:solidFill>
                <a:latin typeface="Consolas"/>
              </a:rPr>
              <a:t>DESCRIPTION / USE</a:t>
            </a:r>
          </a:p>
        </p:txBody>
      </p:sp>
      <p:sp>
        <p:nvSpPr>
          <p:cNvPr id="16" name="Rectangle 15"/>
          <p:cNvSpPr/>
          <p:nvPr/>
        </p:nvSpPr>
        <p:spPr>
          <a:xfrm>
            <a:off x="566928" y="2420000"/>
            <a:ext cx="11058144" cy="0"/>
          </a:xfrm>
          <a:prstGeom prst="rect">
            <a:avLst/>
          </a:prstGeom>
          <a:noFill/>
          <a:ln w="22225">
            <a:solidFill>
              <a:srgbClr val="1B4B8F"/>
            </a:solidFill>
          </a:ln>
          <a:effectLst/>
        </p:spPr>
        <p:txBody>
          <a:bodyPr rtlCol="0" anchor="ctr"/>
          <a:lstStyle/>
          <a:p>
            <a:pPr algn="ctr"/>
          </a:p>
        </p:txBody>
      </p:sp>
      <p:sp>
        <p:nvSpPr>
          <p:cNvPr id="17" name="TextBox 16"/>
          <p:cNvSpPr txBox="1"/>
          <p:nvPr/>
        </p:nvSpPr>
        <p:spPr>
          <a:xfrm>
            <a:off x="566928" y="2505720"/>
            <a:ext cx="1941047" cy="727496"/>
          </a:xfrm>
          <a:prstGeom prst="rect">
            <a:avLst/>
          </a:prstGeom>
          <a:noFill/>
        </p:spPr>
        <p:txBody>
          <a:bodyPr wrap="square" lIns="0" rIns="0" tIns="0" bIns="0" anchor="t">
            <a:spAutoFit/>
          </a:bodyPr>
          <a:lstStyle/>
          <a:p>
            <a:pPr>
              <a:lnSpc>
                <a:spcPct val="105000"/>
              </a:lnSpc>
            </a:pPr>
            <a:r>
              <a:rPr sz="1200" b="1" i="0">
                <a:solidFill>
                  <a:srgbClr val="161614"/>
                </a:solidFill>
                <a:latin typeface="Arial"/>
              </a:rPr>
              <a:t>Shapefile</a:t>
            </a:r>
          </a:p>
        </p:txBody>
      </p:sp>
      <p:sp>
        <p:nvSpPr>
          <p:cNvPr id="18" name="TextBox 17"/>
          <p:cNvSpPr txBox="1"/>
          <p:nvPr/>
        </p:nvSpPr>
        <p:spPr>
          <a:xfrm>
            <a:off x="2667975" y="2505720"/>
            <a:ext cx="1388140"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ArcGIS, QGIS</a:t>
            </a:r>
          </a:p>
        </p:txBody>
      </p:sp>
      <p:sp>
        <p:nvSpPr>
          <p:cNvPr id="19" name="TextBox 18"/>
          <p:cNvSpPr txBox="1"/>
          <p:nvPr/>
        </p:nvSpPr>
        <p:spPr>
          <a:xfrm>
            <a:off x="4216115" y="2505720"/>
            <a:ext cx="1941047"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.shp (plus .dbf, .shx)</a:t>
            </a:r>
          </a:p>
        </p:txBody>
      </p:sp>
      <p:sp>
        <p:nvSpPr>
          <p:cNvPr id="20" name="TextBox 19"/>
          <p:cNvSpPr txBox="1"/>
          <p:nvPr/>
        </p:nvSpPr>
        <p:spPr>
          <a:xfrm>
            <a:off x="6317162" y="2505720"/>
            <a:ext cx="5147909"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The classic GIS format; stores vector features and attributes. Simple but limited -- no long field names or multiple layers.</a:t>
            </a:r>
          </a:p>
        </p:txBody>
      </p:sp>
      <p:sp>
        <p:nvSpPr>
          <p:cNvPr id="21" name="Rectangle 20"/>
          <p:cNvSpPr/>
          <p:nvPr/>
        </p:nvSpPr>
        <p:spPr>
          <a:xfrm>
            <a:off x="566928" y="3253216"/>
            <a:ext cx="11058144" cy="0"/>
          </a:xfrm>
          <a:prstGeom prst="rect">
            <a:avLst/>
          </a:prstGeom>
          <a:noFill/>
          <a:ln w="6350">
            <a:solidFill>
              <a:srgbClr val="DAD8CC"/>
            </a:solidFill>
          </a:ln>
          <a:effectLst/>
        </p:spPr>
        <p:txBody>
          <a:bodyPr rtlCol="0" anchor="ctr"/>
          <a:lstStyle/>
          <a:p>
            <a:pPr algn="ctr"/>
          </a:p>
        </p:txBody>
      </p:sp>
      <p:sp>
        <p:nvSpPr>
          <p:cNvPr id="22" name="TextBox 21"/>
          <p:cNvSpPr txBox="1"/>
          <p:nvPr/>
        </p:nvSpPr>
        <p:spPr>
          <a:xfrm>
            <a:off x="566928" y="3293216"/>
            <a:ext cx="1941047" cy="727496"/>
          </a:xfrm>
          <a:prstGeom prst="rect">
            <a:avLst/>
          </a:prstGeom>
          <a:noFill/>
        </p:spPr>
        <p:txBody>
          <a:bodyPr wrap="square" lIns="0" rIns="0" tIns="0" bIns="0" anchor="t">
            <a:spAutoFit/>
          </a:bodyPr>
          <a:lstStyle/>
          <a:p>
            <a:pPr>
              <a:lnSpc>
                <a:spcPct val="105000"/>
              </a:lnSpc>
            </a:pPr>
            <a:r>
              <a:rPr sz="1200" b="1" i="0">
                <a:solidFill>
                  <a:srgbClr val="161614"/>
                </a:solidFill>
                <a:latin typeface="Arial"/>
              </a:rPr>
              <a:t>File Geodatabase (GDB)</a:t>
            </a:r>
          </a:p>
        </p:txBody>
      </p:sp>
      <p:sp>
        <p:nvSpPr>
          <p:cNvPr id="23" name="TextBox 22"/>
          <p:cNvSpPr txBox="1"/>
          <p:nvPr/>
        </p:nvSpPr>
        <p:spPr>
          <a:xfrm>
            <a:off x="2667975" y="3293216"/>
            <a:ext cx="1388140"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ArcGIS</a:t>
            </a:r>
          </a:p>
        </p:txBody>
      </p:sp>
      <p:sp>
        <p:nvSpPr>
          <p:cNvPr id="24" name="TextBox 23"/>
          <p:cNvSpPr txBox="1"/>
          <p:nvPr/>
        </p:nvSpPr>
        <p:spPr>
          <a:xfrm>
            <a:off x="4216115" y="3293216"/>
            <a:ext cx="1941047"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.gdb folder</a:t>
            </a:r>
          </a:p>
        </p:txBody>
      </p:sp>
      <p:sp>
        <p:nvSpPr>
          <p:cNvPr id="25" name="TextBox 24"/>
          <p:cNvSpPr txBox="1"/>
          <p:nvPr/>
        </p:nvSpPr>
        <p:spPr>
          <a:xfrm>
            <a:off x="6317162" y="3293216"/>
            <a:ext cx="5147909"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Esri's native format; can store multiple layers, tables, and relationships.</a:t>
            </a:r>
          </a:p>
        </p:txBody>
      </p:sp>
      <p:sp>
        <p:nvSpPr>
          <p:cNvPr id="26" name="Rectangle 25"/>
          <p:cNvSpPr/>
          <p:nvPr/>
        </p:nvSpPr>
        <p:spPr>
          <a:xfrm>
            <a:off x="566928" y="4040712"/>
            <a:ext cx="11058144" cy="0"/>
          </a:xfrm>
          <a:prstGeom prst="rect">
            <a:avLst/>
          </a:prstGeom>
          <a:noFill/>
          <a:ln w="6350">
            <a:solidFill>
              <a:srgbClr val="DAD8CC"/>
            </a:solidFill>
          </a:ln>
          <a:effectLst/>
        </p:spPr>
        <p:txBody>
          <a:bodyPr rtlCol="0" anchor="ctr"/>
          <a:lstStyle/>
          <a:p>
            <a:pPr algn="ctr"/>
          </a:p>
        </p:txBody>
      </p:sp>
      <p:sp>
        <p:nvSpPr>
          <p:cNvPr id="27" name="TextBox 26"/>
          <p:cNvSpPr txBox="1"/>
          <p:nvPr/>
        </p:nvSpPr>
        <p:spPr>
          <a:xfrm>
            <a:off x="566928" y="4080712"/>
            <a:ext cx="1941047" cy="727496"/>
          </a:xfrm>
          <a:prstGeom prst="rect">
            <a:avLst/>
          </a:prstGeom>
          <a:noFill/>
        </p:spPr>
        <p:txBody>
          <a:bodyPr wrap="square" lIns="0" rIns="0" tIns="0" bIns="0" anchor="t">
            <a:spAutoFit/>
          </a:bodyPr>
          <a:lstStyle/>
          <a:p>
            <a:pPr>
              <a:lnSpc>
                <a:spcPct val="105000"/>
              </a:lnSpc>
            </a:pPr>
            <a:r>
              <a:rPr sz="1200" b="1" i="0">
                <a:solidFill>
                  <a:srgbClr val="161614"/>
                </a:solidFill>
                <a:latin typeface="Arial"/>
              </a:rPr>
              <a:t>GeoPackage (GPKG)</a:t>
            </a:r>
          </a:p>
        </p:txBody>
      </p:sp>
      <p:sp>
        <p:nvSpPr>
          <p:cNvPr id="28" name="TextBox 27"/>
          <p:cNvSpPr txBox="1"/>
          <p:nvPr/>
        </p:nvSpPr>
        <p:spPr>
          <a:xfrm>
            <a:off x="2667975" y="4080712"/>
            <a:ext cx="1388140"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QGIS, ArcGIS Pro</a:t>
            </a:r>
          </a:p>
        </p:txBody>
      </p:sp>
      <p:sp>
        <p:nvSpPr>
          <p:cNvPr id="29" name="TextBox 28"/>
          <p:cNvSpPr txBox="1"/>
          <p:nvPr/>
        </p:nvSpPr>
        <p:spPr>
          <a:xfrm>
            <a:off x="4216115" y="4080712"/>
            <a:ext cx="1941047"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.gpkg</a:t>
            </a:r>
          </a:p>
        </p:txBody>
      </p:sp>
      <p:sp>
        <p:nvSpPr>
          <p:cNvPr id="30" name="TextBox 29"/>
          <p:cNvSpPr txBox="1"/>
          <p:nvPr/>
        </p:nvSpPr>
        <p:spPr>
          <a:xfrm>
            <a:off x="6317162" y="4080712"/>
            <a:ext cx="5147909"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Open standard; single file containing many layers (vector + raster). Great for sharing across platforms.</a:t>
            </a:r>
          </a:p>
        </p:txBody>
      </p:sp>
      <p:sp>
        <p:nvSpPr>
          <p:cNvPr id="31" name="Rectangle 30"/>
          <p:cNvSpPr/>
          <p:nvPr/>
        </p:nvSpPr>
        <p:spPr>
          <a:xfrm>
            <a:off x="566928" y="4828208"/>
            <a:ext cx="11058144" cy="0"/>
          </a:xfrm>
          <a:prstGeom prst="rect">
            <a:avLst/>
          </a:prstGeom>
          <a:noFill/>
          <a:ln w="6350">
            <a:solidFill>
              <a:srgbClr val="DAD8CC"/>
            </a:solidFill>
          </a:ln>
          <a:effectLst/>
        </p:spPr>
        <p:txBody>
          <a:bodyPr rtlCol="0" anchor="ctr"/>
          <a:lstStyle/>
          <a:p>
            <a:pPr algn="ctr"/>
          </a:p>
        </p:txBody>
      </p:sp>
      <p:sp>
        <p:nvSpPr>
          <p:cNvPr id="32" name="TextBox 31"/>
          <p:cNvSpPr txBox="1"/>
          <p:nvPr/>
        </p:nvSpPr>
        <p:spPr>
          <a:xfrm>
            <a:off x="566928" y="4868208"/>
            <a:ext cx="1941047" cy="727496"/>
          </a:xfrm>
          <a:prstGeom prst="rect">
            <a:avLst/>
          </a:prstGeom>
          <a:noFill/>
        </p:spPr>
        <p:txBody>
          <a:bodyPr wrap="square" lIns="0" rIns="0" tIns="0" bIns="0" anchor="t">
            <a:spAutoFit/>
          </a:bodyPr>
          <a:lstStyle/>
          <a:p>
            <a:pPr>
              <a:lnSpc>
                <a:spcPct val="105000"/>
              </a:lnSpc>
            </a:pPr>
            <a:r>
              <a:rPr sz="1200" b="1" i="0">
                <a:solidFill>
                  <a:srgbClr val="161614"/>
                </a:solidFill>
                <a:latin typeface="Arial"/>
              </a:rPr>
              <a:t>Raster / Imagery</a:t>
            </a:r>
          </a:p>
        </p:txBody>
      </p:sp>
      <p:sp>
        <p:nvSpPr>
          <p:cNvPr id="33" name="TextBox 32"/>
          <p:cNvSpPr txBox="1"/>
          <p:nvPr/>
        </p:nvSpPr>
        <p:spPr>
          <a:xfrm>
            <a:off x="2667975" y="4868208"/>
            <a:ext cx="1388140"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ArcGIS, QGIS</a:t>
            </a:r>
          </a:p>
        </p:txBody>
      </p:sp>
      <p:sp>
        <p:nvSpPr>
          <p:cNvPr id="34" name="TextBox 33"/>
          <p:cNvSpPr txBox="1"/>
          <p:nvPr/>
        </p:nvSpPr>
        <p:spPr>
          <a:xfrm>
            <a:off x="4216115" y="4868208"/>
            <a:ext cx="1941047"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.tif, .img, .jpg, .png</a:t>
            </a:r>
          </a:p>
        </p:txBody>
      </p:sp>
      <p:sp>
        <p:nvSpPr>
          <p:cNvPr id="35" name="TextBox 34"/>
          <p:cNvSpPr txBox="1"/>
          <p:nvPr/>
        </p:nvSpPr>
        <p:spPr>
          <a:xfrm>
            <a:off x="6317162" y="4868208"/>
            <a:ext cx="5147909"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Pixel-based data -- elevation, land cover, satellite imagery.</a:t>
            </a:r>
          </a:p>
        </p:txBody>
      </p:sp>
      <p:sp>
        <p:nvSpPr>
          <p:cNvPr id="36" name="Rectangle 35"/>
          <p:cNvSpPr/>
          <p:nvPr/>
        </p:nvSpPr>
        <p:spPr>
          <a:xfrm>
            <a:off x="566928" y="5615704"/>
            <a:ext cx="11058144" cy="0"/>
          </a:xfrm>
          <a:prstGeom prst="rect">
            <a:avLst/>
          </a:prstGeom>
          <a:noFill/>
          <a:ln w="6350">
            <a:solidFill>
              <a:srgbClr val="DAD8CC"/>
            </a:solidFill>
          </a:ln>
          <a:effectLst/>
        </p:spPr>
        <p:txBody>
          <a:bodyPr rtlCol="0" anchor="ctr"/>
          <a:lstStyle/>
          <a:p>
            <a:pPr algn="ctr"/>
          </a:p>
        </p:txBody>
      </p:sp>
      <p:sp>
        <p:nvSpPr>
          <p:cNvPr id="37" name="TextBox 36"/>
          <p:cNvSpPr txBox="1"/>
          <p:nvPr/>
        </p:nvSpPr>
        <p:spPr>
          <a:xfrm>
            <a:off x="566928" y="5655704"/>
            <a:ext cx="1941047" cy="727496"/>
          </a:xfrm>
          <a:prstGeom prst="rect">
            <a:avLst/>
          </a:prstGeom>
          <a:noFill/>
        </p:spPr>
        <p:txBody>
          <a:bodyPr wrap="square" lIns="0" rIns="0" tIns="0" bIns="0" anchor="t">
            <a:spAutoFit/>
          </a:bodyPr>
          <a:lstStyle/>
          <a:p>
            <a:pPr>
              <a:lnSpc>
                <a:spcPct val="105000"/>
              </a:lnSpc>
            </a:pPr>
            <a:r>
              <a:rPr sz="1200" b="1" i="0">
                <a:solidFill>
                  <a:srgbClr val="161614"/>
                </a:solidFill>
                <a:latin typeface="Arial"/>
              </a:rPr>
              <a:t>Tables / Spreadsheets</a:t>
            </a:r>
          </a:p>
        </p:txBody>
      </p:sp>
      <p:sp>
        <p:nvSpPr>
          <p:cNvPr id="38" name="TextBox 37"/>
          <p:cNvSpPr txBox="1"/>
          <p:nvPr/>
        </p:nvSpPr>
        <p:spPr>
          <a:xfrm>
            <a:off x="2667975" y="5655704"/>
            <a:ext cx="1388140"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All</a:t>
            </a:r>
          </a:p>
        </p:txBody>
      </p:sp>
      <p:sp>
        <p:nvSpPr>
          <p:cNvPr id="39" name="TextBox 38"/>
          <p:cNvSpPr txBox="1"/>
          <p:nvPr/>
        </p:nvSpPr>
        <p:spPr>
          <a:xfrm>
            <a:off x="4216115" y="5655704"/>
            <a:ext cx="1941047"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.csv, .xlsx</a:t>
            </a:r>
          </a:p>
        </p:txBody>
      </p:sp>
      <p:sp>
        <p:nvSpPr>
          <p:cNvPr id="40" name="TextBox 39"/>
          <p:cNvSpPr txBox="1"/>
          <p:nvPr/>
        </p:nvSpPr>
        <p:spPr>
          <a:xfrm>
            <a:off x="6317162" y="5655704"/>
            <a:ext cx="5147909"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Attribute data that can be joined to spatial layers.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2192000" cy="50800"/>
          </a:xfrm>
          <a:prstGeom prst="rect">
            <a:avLst/>
          </a:prstGeom>
          <a:solidFill>
            <a:srgbClr val="1B4B8F"/>
          </a:solidFill>
          <a:ln>
            <a:noFill/>
          </a:ln>
          <a:effectLst/>
        </p:spPr>
        <p:txBody>
          <a:bodyPr rtlCol="0" anchor="ctr"/>
          <a:lstStyle/>
          <a:p>
            <a:pPr algn="ctr"/>
          </a:p>
        </p:txBody>
      </p:sp>
      <p:sp>
        <p:nvSpPr>
          <p:cNvPr id="4" name="Rectangle 3"/>
          <p:cNvSpPr/>
          <p:nvPr/>
        </p:nvSpPr>
        <p:spPr>
          <a:xfrm>
            <a:off x="0" y="6553200"/>
            <a:ext cx="12192000" cy="0"/>
          </a:xfrm>
          <a:prstGeom prst="rect">
            <a:avLst/>
          </a:prstGeom>
          <a:noFill/>
          <a:ln w="6350">
            <a:solidFill>
              <a:srgbClr val="DAD8CC"/>
            </a:solidFill>
          </a:ln>
          <a:effectLst/>
        </p:spPr>
        <p:txBody>
          <a:bodyPr rtlCol="0" anchor="ctr"/>
          <a:lstStyle/>
          <a:p>
            <a:pPr algn="ctr"/>
          </a:p>
        </p:txBody>
      </p:sp>
      <p:sp>
        <p:nvSpPr>
          <p:cNvPr id="5" name="Rectangle 4"/>
          <p:cNvSpPr/>
          <p:nvPr/>
        </p:nvSpPr>
        <p:spPr>
          <a:xfrm>
            <a:off x="566928" y="344424"/>
            <a:ext cx="137160" cy="137160"/>
          </a:xfrm>
          <a:prstGeom prst="rect">
            <a:avLst/>
          </a:prstGeom>
          <a:solidFill>
            <a:srgbClr val="1B4B8F"/>
          </a:solidFill>
          <a:ln>
            <a:noFill/>
          </a:ln>
          <a:effectLst/>
        </p:spPr>
        <p:txBody>
          <a:bodyPr rtlCol="0" anchor="ctr"/>
          <a:lstStyle/>
          <a:p>
            <a:pPr algn="ctr"/>
          </a:p>
        </p:txBody>
      </p:sp>
      <p:sp>
        <p:nvSpPr>
          <p:cNvPr id="6" name="TextBox 5"/>
          <p:cNvSpPr txBox="1"/>
          <p:nvPr/>
        </p:nvSpPr>
        <p:spPr>
          <a:xfrm>
            <a:off x="866648" y="310896"/>
            <a:ext cx="9000000" cy="274320"/>
          </a:xfrm>
          <a:prstGeom prst="rect">
            <a:avLst/>
          </a:prstGeom>
          <a:noFill/>
        </p:spPr>
        <p:txBody>
          <a:bodyPr wrap="square" lIns="0" rIns="0" tIns="0" bIns="0">
            <a:spAutoFit/>
          </a:bodyPr>
          <a:lstStyle/>
          <a:p>
            <a:r>
              <a:rPr sz="1100" b="1" i="0" spc="200">
                <a:solidFill>
                  <a:srgbClr val="1B4B8F"/>
                </a:solidFill>
                <a:latin typeface="Consolas"/>
              </a:rPr>
              <a:t>FILE TYPES · PROJECT FILES</a:t>
            </a:r>
          </a:p>
        </p:txBody>
      </p:sp>
      <p:sp>
        <p:nvSpPr>
          <p:cNvPr id="7" name="TextBox 6"/>
          <p:cNvSpPr txBox="1"/>
          <p:nvPr/>
        </p:nvSpPr>
        <p:spPr>
          <a:xfrm>
            <a:off x="566928" y="700000"/>
            <a:ext cx="10234879" cy="700000"/>
          </a:xfrm>
          <a:prstGeom prst="rect">
            <a:avLst/>
          </a:prstGeom>
          <a:noFill/>
        </p:spPr>
        <p:txBody>
          <a:bodyPr wrap="square" lIns="0" rIns="0" tIns="0" bIns="0">
            <a:spAutoFit/>
          </a:bodyPr>
          <a:lstStyle/>
          <a:p>
            <a:r>
              <a:rPr sz="3200" b="1" i="0">
                <a:solidFill>
                  <a:srgbClr val="161614"/>
                </a:solidFill>
                <a:latin typeface="Arial"/>
              </a:rPr>
              <a:t>Project &amp; Support Files: QGIS vs. ArcGIS Pro</a:t>
            </a:r>
          </a:p>
        </p:txBody>
      </p:sp>
      <p:sp>
        <p:nvSpPr>
          <p:cNvPr id="8" name="Rectangle 7"/>
          <p:cNvSpPr/>
          <p:nvPr/>
        </p:nvSpPr>
        <p:spPr>
          <a:xfrm>
            <a:off x="566928" y="1420000"/>
            <a:ext cx="900000" cy="0"/>
          </a:xfrm>
          <a:prstGeom prst="rect">
            <a:avLst/>
          </a:prstGeom>
          <a:noFill/>
          <a:ln w="28575">
            <a:solidFill>
              <a:srgbClr val="1B4B8F"/>
            </a:solidFill>
          </a:ln>
          <a:effectLst/>
        </p:spPr>
        <p:txBody>
          <a:bodyPr rtlCol="0" anchor="ctr"/>
          <a:lstStyle/>
          <a:p>
            <a:pPr algn="ctr"/>
          </a:p>
        </p:txBody>
      </p:sp>
      <p:sp>
        <p:nvSpPr>
          <p:cNvPr id="9" name="TextBox 8"/>
          <p:cNvSpPr txBox="1"/>
          <p:nvPr/>
        </p:nvSpPr>
        <p:spPr>
          <a:xfrm>
            <a:off x="566928" y="1520000"/>
            <a:ext cx="10234879" cy="320000"/>
          </a:xfrm>
          <a:prstGeom prst="rect">
            <a:avLst/>
          </a:prstGeom>
          <a:noFill/>
        </p:spPr>
        <p:txBody>
          <a:bodyPr wrap="square" lIns="0" rIns="0" tIns="0" bIns="0">
            <a:spAutoFit/>
          </a:bodyPr>
          <a:lstStyle/>
          <a:p>
            <a:r>
              <a:rPr sz="1450" b="0" i="1">
                <a:solidFill>
                  <a:srgbClr val="5C5B53"/>
                </a:solidFill>
                <a:latin typeface="Arial"/>
              </a:rPr>
              <a:t>The files behind the map -- not the data itself, but everything around it</a:t>
            </a:r>
          </a:p>
        </p:txBody>
      </p:sp>
      <p:sp>
        <p:nvSpPr>
          <p:cNvPr id="10" name="Rectangle 9"/>
          <p:cNvSpPr/>
          <p:nvPr/>
        </p:nvSpPr>
        <p:spPr>
          <a:xfrm>
            <a:off x="566928" y="1920000"/>
            <a:ext cx="11057839" cy="0"/>
          </a:xfrm>
          <a:prstGeom prst="rect">
            <a:avLst/>
          </a:prstGeom>
          <a:noFill/>
          <a:ln w="6350">
            <a:solidFill>
              <a:srgbClr val="DAD8CC"/>
            </a:solidFill>
          </a:ln>
          <a:effectLst/>
        </p:spPr>
        <p:txBody>
          <a:bodyPr rtlCol="0" anchor="ctr"/>
          <a:lstStyle/>
          <a:p>
            <a:pPr algn="ctr"/>
          </a:p>
        </p:txBody>
      </p:sp>
      <p:sp>
        <p:nvSpPr>
          <p:cNvPr id="11" name="TextBox 10"/>
          <p:cNvSpPr txBox="1"/>
          <p:nvPr/>
        </p:nvSpPr>
        <p:spPr>
          <a:xfrm>
            <a:off x="11023600" y="6600000"/>
            <a:ext cx="603504" cy="250000"/>
          </a:xfrm>
          <a:prstGeom prst="rect">
            <a:avLst/>
          </a:prstGeom>
          <a:noFill/>
        </p:spPr>
        <p:txBody>
          <a:bodyPr wrap="square" lIns="0" rIns="0" tIns="0" bIns="0" anchor="ctr">
            <a:spAutoFit/>
          </a:bodyPr>
          <a:lstStyle/>
          <a:p>
            <a:pPr algn="ctr"/>
            <a:r>
              <a:rPr sz="1050" b="0" i="0">
                <a:solidFill>
                  <a:srgbClr val="9C9A90"/>
                </a:solidFill>
                <a:latin typeface="Consolas"/>
              </a:rPr>
              <a:t>03</a:t>
            </a:r>
          </a:p>
        </p:txBody>
      </p:sp>
      <p:sp>
        <p:nvSpPr>
          <p:cNvPr id="12" name="TextBox 11"/>
          <p:cNvSpPr txBox="1"/>
          <p:nvPr/>
        </p:nvSpPr>
        <p:spPr>
          <a:xfrm>
            <a:off x="566928" y="2080000"/>
            <a:ext cx="1742724" cy="340000"/>
          </a:xfrm>
          <a:prstGeom prst="rect">
            <a:avLst/>
          </a:prstGeom>
          <a:noFill/>
        </p:spPr>
        <p:txBody>
          <a:bodyPr wrap="square" lIns="0" rIns="0" tIns="0" bIns="0" anchor="b">
            <a:spAutoFit/>
          </a:bodyPr>
          <a:lstStyle/>
          <a:p>
            <a:r>
              <a:rPr sz="1100" b="1" i="0" spc="100">
                <a:solidFill>
                  <a:srgbClr val="1B4B8F"/>
                </a:solidFill>
                <a:latin typeface="Consolas"/>
              </a:rPr>
              <a:t>FILE</a:t>
            </a:r>
          </a:p>
        </p:txBody>
      </p:sp>
      <p:sp>
        <p:nvSpPr>
          <p:cNvPr id="13" name="TextBox 12"/>
          <p:cNvSpPr txBox="1"/>
          <p:nvPr/>
        </p:nvSpPr>
        <p:spPr>
          <a:xfrm>
            <a:off x="2446812" y="2080000"/>
            <a:ext cx="1963887" cy="340000"/>
          </a:xfrm>
          <a:prstGeom prst="rect">
            <a:avLst/>
          </a:prstGeom>
          <a:noFill/>
        </p:spPr>
        <p:txBody>
          <a:bodyPr wrap="square" lIns="0" rIns="0" tIns="0" bIns="0" anchor="b">
            <a:spAutoFit/>
          </a:bodyPr>
          <a:lstStyle/>
          <a:p>
            <a:r>
              <a:rPr sz="1100" b="1" i="0" spc="100">
                <a:solidFill>
                  <a:srgbClr val="1B4B8F"/>
                </a:solidFill>
                <a:latin typeface="Consolas"/>
              </a:rPr>
              <a:t>QGIS</a:t>
            </a:r>
          </a:p>
        </p:txBody>
      </p:sp>
      <p:sp>
        <p:nvSpPr>
          <p:cNvPr id="14" name="TextBox 13"/>
          <p:cNvSpPr txBox="1"/>
          <p:nvPr/>
        </p:nvSpPr>
        <p:spPr>
          <a:xfrm>
            <a:off x="4547859" y="2080000"/>
            <a:ext cx="1521561" cy="340000"/>
          </a:xfrm>
          <a:prstGeom prst="rect">
            <a:avLst/>
          </a:prstGeom>
          <a:noFill/>
        </p:spPr>
        <p:txBody>
          <a:bodyPr wrap="square" lIns="0" rIns="0" tIns="0" bIns="0" anchor="b">
            <a:spAutoFit/>
          </a:bodyPr>
          <a:lstStyle/>
          <a:p>
            <a:r>
              <a:rPr sz="1100" b="1" i="0" spc="100">
                <a:solidFill>
                  <a:srgbClr val="1B4B8F"/>
                </a:solidFill>
                <a:latin typeface="Consolas"/>
              </a:rPr>
              <a:t>ARCGIS PRO</a:t>
            </a:r>
          </a:p>
        </p:txBody>
      </p:sp>
      <p:sp>
        <p:nvSpPr>
          <p:cNvPr id="15" name="TextBox 14"/>
          <p:cNvSpPr txBox="1"/>
          <p:nvPr/>
        </p:nvSpPr>
        <p:spPr>
          <a:xfrm>
            <a:off x="6206581" y="2080000"/>
            <a:ext cx="5281330" cy="340000"/>
          </a:xfrm>
          <a:prstGeom prst="rect">
            <a:avLst/>
          </a:prstGeom>
          <a:noFill/>
        </p:spPr>
        <p:txBody>
          <a:bodyPr wrap="square" lIns="0" rIns="0" tIns="0" bIns="0" anchor="b">
            <a:spAutoFit/>
          </a:bodyPr>
          <a:lstStyle/>
          <a:p>
            <a:r>
              <a:rPr sz="1100" b="1" i="0" spc="100">
                <a:solidFill>
                  <a:srgbClr val="1B4B8F"/>
                </a:solidFill>
                <a:latin typeface="Consolas"/>
              </a:rPr>
              <a:t>DESCRIPTION</a:t>
            </a:r>
          </a:p>
        </p:txBody>
      </p:sp>
      <p:sp>
        <p:nvSpPr>
          <p:cNvPr id="16" name="Rectangle 15"/>
          <p:cNvSpPr/>
          <p:nvPr/>
        </p:nvSpPr>
        <p:spPr>
          <a:xfrm>
            <a:off x="566928" y="2420000"/>
            <a:ext cx="11058144" cy="0"/>
          </a:xfrm>
          <a:prstGeom prst="rect">
            <a:avLst/>
          </a:prstGeom>
          <a:noFill/>
          <a:ln w="22225">
            <a:solidFill>
              <a:srgbClr val="1B4B8F"/>
            </a:solidFill>
          </a:ln>
          <a:effectLst/>
        </p:spPr>
        <p:txBody>
          <a:bodyPr rtlCol="0" anchor="ctr"/>
          <a:lstStyle/>
          <a:p>
            <a:pPr algn="ctr"/>
          </a:p>
        </p:txBody>
      </p:sp>
      <p:sp>
        <p:nvSpPr>
          <p:cNvPr id="17" name="TextBox 16"/>
          <p:cNvSpPr txBox="1"/>
          <p:nvPr/>
        </p:nvSpPr>
        <p:spPr>
          <a:xfrm>
            <a:off x="566928" y="2505720"/>
            <a:ext cx="1719884" cy="727496"/>
          </a:xfrm>
          <a:prstGeom prst="rect">
            <a:avLst/>
          </a:prstGeom>
          <a:noFill/>
        </p:spPr>
        <p:txBody>
          <a:bodyPr wrap="square" lIns="0" rIns="0" tIns="0" bIns="0" anchor="t">
            <a:spAutoFit/>
          </a:bodyPr>
          <a:lstStyle/>
          <a:p>
            <a:pPr>
              <a:lnSpc>
                <a:spcPct val="105000"/>
              </a:lnSpc>
            </a:pPr>
            <a:r>
              <a:rPr sz="1200" b="1" i="0">
                <a:solidFill>
                  <a:srgbClr val="161614"/>
                </a:solidFill>
                <a:latin typeface="Arial"/>
              </a:rPr>
              <a:t>Project File</a:t>
            </a:r>
          </a:p>
        </p:txBody>
      </p:sp>
      <p:sp>
        <p:nvSpPr>
          <p:cNvPr id="18" name="TextBox 17"/>
          <p:cNvSpPr txBox="1"/>
          <p:nvPr/>
        </p:nvSpPr>
        <p:spPr>
          <a:xfrm>
            <a:off x="2446812" y="2505720"/>
            <a:ext cx="1941047"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.qgz / .qgs</a:t>
            </a:r>
          </a:p>
        </p:txBody>
      </p:sp>
      <p:sp>
        <p:nvSpPr>
          <p:cNvPr id="19" name="TextBox 18"/>
          <p:cNvSpPr txBox="1"/>
          <p:nvPr/>
        </p:nvSpPr>
        <p:spPr>
          <a:xfrm>
            <a:off x="4547859" y="2505720"/>
            <a:ext cx="1498721"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.aprx</a:t>
            </a:r>
          </a:p>
        </p:txBody>
      </p:sp>
      <p:sp>
        <p:nvSpPr>
          <p:cNvPr id="20" name="TextBox 19"/>
          <p:cNvSpPr txBox="1"/>
          <p:nvPr/>
        </p:nvSpPr>
        <p:spPr>
          <a:xfrm>
            <a:off x="6206581" y="2505720"/>
            <a:ext cx="5258490"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Your “workspace” -- stores map layouts, data links, and settings. Does not contain the actual data.</a:t>
            </a:r>
          </a:p>
        </p:txBody>
      </p:sp>
      <p:sp>
        <p:nvSpPr>
          <p:cNvPr id="21" name="Rectangle 20"/>
          <p:cNvSpPr/>
          <p:nvPr/>
        </p:nvSpPr>
        <p:spPr>
          <a:xfrm>
            <a:off x="566928" y="3253216"/>
            <a:ext cx="11058144" cy="0"/>
          </a:xfrm>
          <a:prstGeom prst="rect">
            <a:avLst/>
          </a:prstGeom>
          <a:noFill/>
          <a:ln w="6350">
            <a:solidFill>
              <a:srgbClr val="DAD8CC"/>
            </a:solidFill>
          </a:ln>
          <a:effectLst/>
        </p:spPr>
        <p:txBody>
          <a:bodyPr rtlCol="0" anchor="ctr"/>
          <a:lstStyle/>
          <a:p>
            <a:pPr algn="ctr"/>
          </a:p>
        </p:txBody>
      </p:sp>
      <p:sp>
        <p:nvSpPr>
          <p:cNvPr id="22" name="TextBox 21"/>
          <p:cNvSpPr txBox="1"/>
          <p:nvPr/>
        </p:nvSpPr>
        <p:spPr>
          <a:xfrm>
            <a:off x="566928" y="3293216"/>
            <a:ext cx="1719884" cy="727496"/>
          </a:xfrm>
          <a:prstGeom prst="rect">
            <a:avLst/>
          </a:prstGeom>
          <a:noFill/>
        </p:spPr>
        <p:txBody>
          <a:bodyPr wrap="square" lIns="0" rIns="0" tIns="0" bIns="0" anchor="t">
            <a:spAutoFit/>
          </a:bodyPr>
          <a:lstStyle/>
          <a:p>
            <a:pPr>
              <a:lnSpc>
                <a:spcPct val="105000"/>
              </a:lnSpc>
            </a:pPr>
            <a:r>
              <a:rPr sz="1200" b="1" i="0">
                <a:solidFill>
                  <a:srgbClr val="161614"/>
                </a:solidFill>
                <a:latin typeface="Arial"/>
              </a:rPr>
              <a:t>Layer File</a:t>
            </a:r>
          </a:p>
        </p:txBody>
      </p:sp>
      <p:sp>
        <p:nvSpPr>
          <p:cNvPr id="23" name="TextBox 22"/>
          <p:cNvSpPr txBox="1"/>
          <p:nvPr/>
        </p:nvSpPr>
        <p:spPr>
          <a:xfrm>
            <a:off x="2446812" y="3293216"/>
            <a:ext cx="1941047"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.qlr</a:t>
            </a:r>
          </a:p>
        </p:txBody>
      </p:sp>
      <p:sp>
        <p:nvSpPr>
          <p:cNvPr id="24" name="TextBox 23"/>
          <p:cNvSpPr txBox="1"/>
          <p:nvPr/>
        </p:nvSpPr>
        <p:spPr>
          <a:xfrm>
            <a:off x="4547859" y="3293216"/>
            <a:ext cx="1498721"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.lyrx</a:t>
            </a:r>
          </a:p>
        </p:txBody>
      </p:sp>
      <p:sp>
        <p:nvSpPr>
          <p:cNvPr id="25" name="TextBox 24"/>
          <p:cNvSpPr txBox="1"/>
          <p:nvPr/>
        </p:nvSpPr>
        <p:spPr>
          <a:xfrm>
            <a:off x="6206581" y="3293216"/>
            <a:ext cx="5258490"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Saves layer appearance -- symbology, labels, scale visibility. Points to your data source.</a:t>
            </a:r>
          </a:p>
        </p:txBody>
      </p:sp>
      <p:sp>
        <p:nvSpPr>
          <p:cNvPr id="26" name="Rectangle 25"/>
          <p:cNvSpPr/>
          <p:nvPr/>
        </p:nvSpPr>
        <p:spPr>
          <a:xfrm>
            <a:off x="566928" y="4040712"/>
            <a:ext cx="11058144" cy="0"/>
          </a:xfrm>
          <a:prstGeom prst="rect">
            <a:avLst/>
          </a:prstGeom>
          <a:noFill/>
          <a:ln w="6350">
            <a:solidFill>
              <a:srgbClr val="DAD8CC"/>
            </a:solidFill>
          </a:ln>
          <a:effectLst/>
        </p:spPr>
        <p:txBody>
          <a:bodyPr rtlCol="0" anchor="ctr"/>
          <a:lstStyle/>
          <a:p>
            <a:pPr algn="ctr"/>
          </a:p>
        </p:txBody>
      </p:sp>
      <p:sp>
        <p:nvSpPr>
          <p:cNvPr id="27" name="TextBox 26"/>
          <p:cNvSpPr txBox="1"/>
          <p:nvPr/>
        </p:nvSpPr>
        <p:spPr>
          <a:xfrm>
            <a:off x="566928" y="4080712"/>
            <a:ext cx="1719884" cy="727496"/>
          </a:xfrm>
          <a:prstGeom prst="rect">
            <a:avLst/>
          </a:prstGeom>
          <a:noFill/>
        </p:spPr>
        <p:txBody>
          <a:bodyPr wrap="square" lIns="0" rIns="0" tIns="0" bIns="0" anchor="t">
            <a:spAutoFit/>
          </a:bodyPr>
          <a:lstStyle/>
          <a:p>
            <a:pPr>
              <a:lnSpc>
                <a:spcPct val="105000"/>
              </a:lnSpc>
            </a:pPr>
            <a:r>
              <a:rPr sz="1200" b="1" i="0">
                <a:solidFill>
                  <a:srgbClr val="161614"/>
                </a:solidFill>
                <a:latin typeface="Arial"/>
              </a:rPr>
              <a:t>Style File</a:t>
            </a:r>
          </a:p>
        </p:txBody>
      </p:sp>
      <p:sp>
        <p:nvSpPr>
          <p:cNvPr id="28" name="TextBox 27"/>
          <p:cNvSpPr txBox="1"/>
          <p:nvPr/>
        </p:nvSpPr>
        <p:spPr>
          <a:xfrm>
            <a:off x="2446812" y="4080712"/>
            <a:ext cx="1941047"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.qml / exported styles</a:t>
            </a:r>
          </a:p>
        </p:txBody>
      </p:sp>
      <p:sp>
        <p:nvSpPr>
          <p:cNvPr id="29" name="TextBox 28"/>
          <p:cNvSpPr txBox="1"/>
          <p:nvPr/>
        </p:nvSpPr>
        <p:spPr>
          <a:xfrm>
            <a:off x="4547859" y="4080712"/>
            <a:ext cx="1498721"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.stylx</a:t>
            </a:r>
          </a:p>
        </p:txBody>
      </p:sp>
      <p:sp>
        <p:nvSpPr>
          <p:cNvPr id="30" name="TextBox 29"/>
          <p:cNvSpPr txBox="1"/>
          <p:nvPr/>
        </p:nvSpPr>
        <p:spPr>
          <a:xfrm>
            <a:off x="6206581" y="4080712"/>
            <a:ext cx="5258490"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Color ramps, symbols, and fonts for consistent cartography.</a:t>
            </a:r>
          </a:p>
        </p:txBody>
      </p:sp>
      <p:sp>
        <p:nvSpPr>
          <p:cNvPr id="31" name="Rectangle 30"/>
          <p:cNvSpPr/>
          <p:nvPr/>
        </p:nvSpPr>
        <p:spPr>
          <a:xfrm>
            <a:off x="566928" y="4828208"/>
            <a:ext cx="11058144" cy="0"/>
          </a:xfrm>
          <a:prstGeom prst="rect">
            <a:avLst/>
          </a:prstGeom>
          <a:noFill/>
          <a:ln w="6350">
            <a:solidFill>
              <a:srgbClr val="DAD8CC"/>
            </a:solidFill>
          </a:ln>
          <a:effectLst/>
        </p:spPr>
        <p:txBody>
          <a:bodyPr rtlCol="0" anchor="ctr"/>
          <a:lstStyle/>
          <a:p>
            <a:pPr algn="ctr"/>
          </a:p>
        </p:txBody>
      </p:sp>
      <p:sp>
        <p:nvSpPr>
          <p:cNvPr id="32" name="TextBox 31"/>
          <p:cNvSpPr txBox="1"/>
          <p:nvPr/>
        </p:nvSpPr>
        <p:spPr>
          <a:xfrm>
            <a:off x="566928" y="4868208"/>
            <a:ext cx="1719884" cy="727496"/>
          </a:xfrm>
          <a:prstGeom prst="rect">
            <a:avLst/>
          </a:prstGeom>
          <a:noFill/>
        </p:spPr>
        <p:txBody>
          <a:bodyPr wrap="square" lIns="0" rIns="0" tIns="0" bIns="0" anchor="t">
            <a:spAutoFit/>
          </a:bodyPr>
          <a:lstStyle/>
          <a:p>
            <a:pPr>
              <a:lnSpc>
                <a:spcPct val="105000"/>
              </a:lnSpc>
            </a:pPr>
            <a:r>
              <a:rPr sz="1200" b="1" i="0">
                <a:solidFill>
                  <a:srgbClr val="161614"/>
                </a:solidFill>
                <a:latin typeface="Arial"/>
              </a:rPr>
              <a:t>Layout Template</a:t>
            </a:r>
          </a:p>
        </p:txBody>
      </p:sp>
      <p:sp>
        <p:nvSpPr>
          <p:cNvPr id="33" name="TextBox 32"/>
          <p:cNvSpPr txBox="1"/>
          <p:nvPr/>
        </p:nvSpPr>
        <p:spPr>
          <a:xfrm>
            <a:off x="2446812" y="4868208"/>
            <a:ext cx="1941047"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.qpt</a:t>
            </a:r>
          </a:p>
        </p:txBody>
      </p:sp>
      <p:sp>
        <p:nvSpPr>
          <p:cNvPr id="34" name="TextBox 33"/>
          <p:cNvSpPr txBox="1"/>
          <p:nvPr/>
        </p:nvSpPr>
        <p:spPr>
          <a:xfrm>
            <a:off x="4547859" y="4868208"/>
            <a:ext cx="1498721"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.pagx</a:t>
            </a:r>
          </a:p>
        </p:txBody>
      </p:sp>
      <p:sp>
        <p:nvSpPr>
          <p:cNvPr id="35" name="TextBox 34"/>
          <p:cNvSpPr txBox="1"/>
          <p:nvPr/>
        </p:nvSpPr>
        <p:spPr>
          <a:xfrm>
            <a:off x="6206581" y="4868208"/>
            <a:ext cx="5258490"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Templates for printable maps -- titles, legends, north arrows, and more.</a:t>
            </a:r>
          </a:p>
        </p:txBody>
      </p:sp>
      <p:sp>
        <p:nvSpPr>
          <p:cNvPr id="36" name="Rectangle 35"/>
          <p:cNvSpPr/>
          <p:nvPr/>
        </p:nvSpPr>
        <p:spPr>
          <a:xfrm>
            <a:off x="566928" y="5615704"/>
            <a:ext cx="11058144" cy="0"/>
          </a:xfrm>
          <a:prstGeom prst="rect">
            <a:avLst/>
          </a:prstGeom>
          <a:noFill/>
          <a:ln w="6350">
            <a:solidFill>
              <a:srgbClr val="DAD8CC"/>
            </a:solidFill>
          </a:ln>
          <a:effectLst/>
        </p:spPr>
        <p:txBody>
          <a:bodyPr rtlCol="0" anchor="ctr"/>
          <a:lstStyle/>
          <a:p>
            <a:pPr algn="ctr"/>
          </a:p>
        </p:txBody>
      </p:sp>
      <p:sp>
        <p:nvSpPr>
          <p:cNvPr id="37" name="TextBox 36"/>
          <p:cNvSpPr txBox="1"/>
          <p:nvPr/>
        </p:nvSpPr>
        <p:spPr>
          <a:xfrm>
            <a:off x="566928" y="5655704"/>
            <a:ext cx="1719884" cy="727496"/>
          </a:xfrm>
          <a:prstGeom prst="rect">
            <a:avLst/>
          </a:prstGeom>
          <a:noFill/>
        </p:spPr>
        <p:txBody>
          <a:bodyPr wrap="square" lIns="0" rIns="0" tIns="0" bIns="0" anchor="t">
            <a:spAutoFit/>
          </a:bodyPr>
          <a:lstStyle/>
          <a:p>
            <a:pPr>
              <a:lnSpc>
                <a:spcPct val="105000"/>
              </a:lnSpc>
            </a:pPr>
            <a:r>
              <a:rPr sz="1200" b="1" i="0">
                <a:solidFill>
                  <a:srgbClr val="161614"/>
                </a:solidFill>
                <a:latin typeface="Arial"/>
              </a:rPr>
              <a:t>Packages / Bundles</a:t>
            </a:r>
          </a:p>
        </p:txBody>
      </p:sp>
      <p:sp>
        <p:nvSpPr>
          <p:cNvPr id="38" name="TextBox 37"/>
          <p:cNvSpPr txBox="1"/>
          <p:nvPr/>
        </p:nvSpPr>
        <p:spPr>
          <a:xfrm>
            <a:off x="2446812" y="5655704"/>
            <a:ext cx="1941047"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(use .gpkg for sharing)</a:t>
            </a:r>
          </a:p>
        </p:txBody>
      </p:sp>
      <p:sp>
        <p:nvSpPr>
          <p:cNvPr id="39" name="TextBox 38"/>
          <p:cNvSpPr txBox="1"/>
          <p:nvPr/>
        </p:nvSpPr>
        <p:spPr>
          <a:xfrm>
            <a:off x="4547859" y="5655704"/>
            <a:ext cx="1498721"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.ppkx, .mapx, .tpkx</a:t>
            </a:r>
          </a:p>
        </p:txBody>
      </p:sp>
      <p:sp>
        <p:nvSpPr>
          <p:cNvPr id="40" name="TextBox 39"/>
          <p:cNvSpPr txBox="1"/>
          <p:nvPr/>
        </p:nvSpPr>
        <p:spPr>
          <a:xfrm>
            <a:off x="6206581" y="5655704"/>
            <a:ext cx="5258490" cy="727496"/>
          </a:xfrm>
          <a:prstGeom prst="rect">
            <a:avLst/>
          </a:prstGeom>
          <a:noFill/>
        </p:spPr>
        <p:txBody>
          <a:bodyPr wrap="square" lIns="0" rIns="0" tIns="0" bIns="0" anchor="t">
            <a:spAutoFit/>
          </a:bodyPr>
          <a:lstStyle/>
          <a:p>
            <a:pPr>
              <a:lnSpc>
                <a:spcPct val="105000"/>
              </a:lnSpc>
            </a:pPr>
            <a:r>
              <a:rPr sz="1100" b="0" i="0">
                <a:solidFill>
                  <a:srgbClr val="5C5B53"/>
                </a:solidFill>
                <a:latin typeface="Arial"/>
              </a:rPr>
              <a:t>Ready-to-share versions of maps or projects with embedded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4200000" cy="6858000"/>
          </a:xfrm>
          <a:prstGeom prst="rect">
            <a:avLst/>
          </a:prstGeom>
          <a:solidFill>
            <a:srgbClr val="B3242A"/>
          </a:solidFill>
          <a:ln>
            <a:noFill/>
          </a:ln>
          <a:effectLst/>
        </p:spPr>
        <p:txBody>
          <a:bodyPr rtlCol="0" anchor="ctr"/>
          <a:lstStyle/>
          <a:p>
            <a:pPr algn="ctr"/>
          </a:p>
        </p:txBody>
      </p:sp>
      <p:sp>
        <p:nvSpPr>
          <p:cNvPr id="4" name="TextBox 3"/>
          <p:cNvSpPr txBox="1"/>
          <p:nvPr/>
        </p:nvSpPr>
        <p:spPr>
          <a:xfrm>
            <a:off x="450000" y="900000"/>
            <a:ext cx="3500000" cy="400000"/>
          </a:xfrm>
          <a:prstGeom prst="rect">
            <a:avLst/>
          </a:prstGeom>
          <a:noFill/>
        </p:spPr>
        <p:txBody>
          <a:bodyPr wrap="square" lIns="0" rIns="0" tIns="0" bIns="0">
            <a:spAutoFit/>
          </a:bodyPr>
          <a:lstStyle/>
          <a:p>
            <a:r>
              <a:rPr sz="1200" b="1" i="0" spc="180">
                <a:solidFill>
                  <a:srgbClr val="FFFFFF"/>
                </a:solidFill>
                <a:latin typeface="Consolas"/>
              </a:rPr>
              <a:t>SECTION 02 OF 03</a:t>
            </a:r>
          </a:p>
        </p:txBody>
      </p:sp>
      <p:sp>
        <p:nvSpPr>
          <p:cNvPr id="5" name="TextBox 4"/>
          <p:cNvSpPr txBox="1"/>
          <p:nvPr/>
        </p:nvSpPr>
        <p:spPr>
          <a:xfrm>
            <a:off x="450000" y="1700000"/>
            <a:ext cx="3500000" cy="3400000"/>
          </a:xfrm>
          <a:prstGeom prst="rect">
            <a:avLst/>
          </a:prstGeom>
          <a:noFill/>
        </p:spPr>
        <p:txBody>
          <a:bodyPr wrap="square" lIns="0" rIns="0" tIns="0" bIns="0" anchor="ctr">
            <a:spAutoFit/>
          </a:bodyPr>
          <a:lstStyle/>
          <a:p>
            <a:r>
              <a:rPr sz="13000" b="1" i="0">
                <a:solidFill>
                  <a:srgbClr val="FFFFFF"/>
                </a:solidFill>
                <a:latin typeface="Consolas"/>
              </a:rPr>
              <a:t>02</a:t>
            </a:r>
          </a:p>
        </p:txBody>
      </p:sp>
      <p:sp>
        <p:nvSpPr>
          <p:cNvPr id="6" name="TextBox 5"/>
          <p:cNvSpPr txBox="1"/>
          <p:nvPr/>
        </p:nvSpPr>
        <p:spPr>
          <a:xfrm>
            <a:off x="4766928" y="2350000"/>
            <a:ext cx="6858144" cy="900000"/>
          </a:xfrm>
          <a:prstGeom prst="rect">
            <a:avLst/>
          </a:prstGeom>
          <a:noFill/>
        </p:spPr>
        <p:txBody>
          <a:bodyPr wrap="square" lIns="0" rIns="0" tIns="0" bIns="0">
            <a:spAutoFit/>
          </a:bodyPr>
          <a:lstStyle/>
          <a:p>
            <a:r>
              <a:rPr sz="4200" b="1" i="0">
                <a:solidFill>
                  <a:srgbClr val="161614"/>
                </a:solidFill>
                <a:latin typeface="Arial"/>
              </a:rPr>
              <a:t>File Management</a:t>
            </a:r>
          </a:p>
        </p:txBody>
      </p:sp>
      <p:sp>
        <p:nvSpPr>
          <p:cNvPr id="7" name="Rectangle 6"/>
          <p:cNvSpPr/>
          <p:nvPr/>
        </p:nvSpPr>
        <p:spPr>
          <a:xfrm>
            <a:off x="4766928" y="3200000"/>
            <a:ext cx="900000" cy="0"/>
          </a:xfrm>
          <a:prstGeom prst="rect">
            <a:avLst/>
          </a:prstGeom>
          <a:noFill/>
          <a:ln w="28575">
            <a:solidFill>
              <a:srgbClr val="B3242A"/>
            </a:solidFill>
          </a:ln>
          <a:effectLst/>
        </p:spPr>
        <p:txBody>
          <a:bodyPr rtlCol="0" anchor="ctr"/>
          <a:lstStyle/>
          <a:p>
            <a:pPr algn="ctr"/>
          </a:p>
        </p:txBody>
      </p:sp>
      <p:sp>
        <p:nvSpPr>
          <p:cNvPr id="8" name="TextBox 7"/>
          <p:cNvSpPr txBox="1"/>
          <p:nvPr/>
        </p:nvSpPr>
        <p:spPr>
          <a:xfrm>
            <a:off x="4766928" y="3350000"/>
            <a:ext cx="6858144" cy="700000"/>
          </a:xfrm>
          <a:prstGeom prst="rect">
            <a:avLst/>
          </a:prstGeom>
          <a:noFill/>
        </p:spPr>
        <p:txBody>
          <a:bodyPr wrap="square" lIns="0" rIns="0" tIns="0" bIns="0">
            <a:spAutoFit/>
          </a:bodyPr>
          <a:lstStyle/>
          <a:p>
            <a:pPr>
              <a:lnSpc>
                <a:spcPct val="115000"/>
              </a:lnSpc>
            </a:pPr>
            <a:r>
              <a:rPr sz="1650" b="0" i="1">
                <a:solidFill>
                  <a:srgbClr val="5C5B53"/>
                </a:solidFill>
                <a:latin typeface="Arial"/>
              </a:rPr>
              <a:t>Folder structure, naming conventions, and how ArcGIS Pro organizes it all</a:t>
            </a:r>
          </a:p>
        </p:txBody>
      </p:sp>
      <p:sp>
        <p:nvSpPr>
          <p:cNvPr id="9" name="Rectangle 8"/>
          <p:cNvSpPr/>
          <p:nvPr/>
        </p:nvSpPr>
        <p:spPr>
          <a:xfrm>
            <a:off x="0" y="6553200"/>
            <a:ext cx="12192000" cy="0"/>
          </a:xfrm>
          <a:prstGeom prst="rect">
            <a:avLst/>
          </a:prstGeom>
          <a:noFill/>
          <a:ln w="6350">
            <a:solidFill>
              <a:srgbClr val="DAD8CC"/>
            </a:solidFill>
          </a:ln>
          <a:effectLst/>
        </p:spPr>
        <p:txBody>
          <a:bodyPr rtlCol="0" anchor="ctr"/>
          <a:lstStyle/>
          <a:p>
            <a:pPr algn="ctr"/>
          </a:p>
        </p:txBody>
      </p:sp>
      <p:sp>
        <p:nvSpPr>
          <p:cNvPr id="10" name="TextBox 9"/>
          <p:cNvSpPr txBox="1"/>
          <p:nvPr/>
        </p:nvSpPr>
        <p:spPr>
          <a:xfrm>
            <a:off x="4766928" y="6600000"/>
            <a:ext cx="603504" cy="250000"/>
          </a:xfrm>
          <a:prstGeom prst="rect">
            <a:avLst/>
          </a:prstGeom>
          <a:noFill/>
        </p:spPr>
        <p:txBody>
          <a:bodyPr wrap="square" lIns="0" rIns="0" tIns="0" bIns="0">
            <a:spAutoFit/>
          </a:bodyPr>
          <a:lstStyle/>
          <a:p>
            <a:r>
              <a:rPr sz="1050" b="0" i="0">
                <a:solidFill>
                  <a:srgbClr val="9C9A90"/>
                </a:solidFill>
                <a:latin typeface="Consolas"/>
              </a:rPr>
              <a:t>04</a:t>
            </a:r>
          </a:p>
        </p:txBody>
      </p:sp>
      <p:sp>
        <p:nvSpPr>
          <p:cNvPr id="11" name="TextBox 10">
            <a:hlinkClick action="ppaction://hlinksldjump" r:id="rId2"/>
          </p:cNvPr>
          <p:cNvSpPr txBox="1"/>
          <p:nvPr/>
        </p:nvSpPr>
        <p:spPr>
          <a:xfrm>
            <a:off x="9225072" y="6600000"/>
            <a:ext cx="2400000" cy="250000"/>
          </a:xfrm>
          <a:prstGeom prst="rect">
            <a:avLst/>
          </a:prstGeom>
          <a:noFill/>
        </p:spPr>
        <p:txBody>
          <a:bodyPr wrap="square" lIns="0" rIns="0" tIns="0" bIns="0">
            <a:spAutoFit/>
          </a:bodyPr>
          <a:lstStyle/>
          <a:p>
            <a:pPr algn="r"/>
            <a:r>
              <a:rPr sz="1050" b="0" i="1" u="sng">
                <a:solidFill>
                  <a:srgbClr val="5C5B53"/>
                </a:solidFill>
                <a:latin typeface="Arial"/>
              </a:rPr>
              <a:t>Table of Contents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2192000" cy="50800"/>
          </a:xfrm>
          <a:prstGeom prst="rect">
            <a:avLst/>
          </a:prstGeom>
          <a:solidFill>
            <a:srgbClr val="B3242A"/>
          </a:solidFill>
          <a:ln>
            <a:noFill/>
          </a:ln>
          <a:effectLst/>
        </p:spPr>
        <p:txBody>
          <a:bodyPr rtlCol="0" anchor="ctr"/>
          <a:lstStyle/>
          <a:p>
            <a:pPr algn="ctr"/>
          </a:p>
        </p:txBody>
      </p:sp>
      <p:sp>
        <p:nvSpPr>
          <p:cNvPr id="4" name="Rectangle 3"/>
          <p:cNvSpPr/>
          <p:nvPr/>
        </p:nvSpPr>
        <p:spPr>
          <a:xfrm>
            <a:off x="0" y="6553200"/>
            <a:ext cx="12192000" cy="0"/>
          </a:xfrm>
          <a:prstGeom prst="rect">
            <a:avLst/>
          </a:prstGeom>
          <a:noFill/>
          <a:ln w="6350">
            <a:solidFill>
              <a:srgbClr val="DAD8CC"/>
            </a:solidFill>
          </a:ln>
          <a:effectLst/>
        </p:spPr>
        <p:txBody>
          <a:bodyPr rtlCol="0" anchor="ctr"/>
          <a:lstStyle/>
          <a:p>
            <a:pPr algn="ctr"/>
          </a:p>
        </p:txBody>
      </p:sp>
      <p:sp>
        <p:nvSpPr>
          <p:cNvPr id="5" name="Rectangle 4"/>
          <p:cNvSpPr/>
          <p:nvPr/>
        </p:nvSpPr>
        <p:spPr>
          <a:xfrm>
            <a:off x="566928" y="344424"/>
            <a:ext cx="137160" cy="137160"/>
          </a:xfrm>
          <a:prstGeom prst="rect">
            <a:avLst/>
          </a:prstGeom>
          <a:solidFill>
            <a:srgbClr val="B3242A"/>
          </a:solidFill>
          <a:ln>
            <a:noFill/>
          </a:ln>
          <a:effectLst/>
        </p:spPr>
        <p:txBody>
          <a:bodyPr rtlCol="0" anchor="ctr"/>
          <a:lstStyle/>
          <a:p>
            <a:pPr algn="ctr"/>
          </a:p>
        </p:txBody>
      </p:sp>
      <p:sp>
        <p:nvSpPr>
          <p:cNvPr id="6" name="TextBox 5"/>
          <p:cNvSpPr txBox="1"/>
          <p:nvPr/>
        </p:nvSpPr>
        <p:spPr>
          <a:xfrm>
            <a:off x="866648" y="310896"/>
            <a:ext cx="9000000" cy="274320"/>
          </a:xfrm>
          <a:prstGeom prst="rect">
            <a:avLst/>
          </a:prstGeom>
          <a:noFill/>
        </p:spPr>
        <p:txBody>
          <a:bodyPr wrap="square" lIns="0" rIns="0" tIns="0" bIns="0">
            <a:spAutoFit/>
          </a:bodyPr>
          <a:lstStyle/>
          <a:p>
            <a:r>
              <a:rPr sz="1100" b="1" i="0" spc="200">
                <a:solidFill>
                  <a:srgbClr val="B3242A"/>
                </a:solidFill>
                <a:latin typeface="Consolas"/>
              </a:rPr>
              <a:t>FILE MANAGEMENT · PRACTICES</a:t>
            </a:r>
          </a:p>
        </p:txBody>
      </p:sp>
      <p:sp>
        <p:nvSpPr>
          <p:cNvPr id="7" name="TextBox 6"/>
          <p:cNvSpPr txBox="1"/>
          <p:nvPr/>
        </p:nvSpPr>
        <p:spPr>
          <a:xfrm>
            <a:off x="566928" y="700000"/>
            <a:ext cx="10234879" cy="700000"/>
          </a:xfrm>
          <a:prstGeom prst="rect">
            <a:avLst/>
          </a:prstGeom>
          <a:noFill/>
        </p:spPr>
        <p:txBody>
          <a:bodyPr wrap="square" lIns="0" rIns="0" tIns="0" bIns="0">
            <a:spAutoFit/>
          </a:bodyPr>
          <a:lstStyle/>
          <a:p>
            <a:r>
              <a:rPr sz="3200" b="1" i="0">
                <a:solidFill>
                  <a:srgbClr val="161614"/>
                </a:solidFill>
                <a:latin typeface="Arial"/>
              </a:rPr>
              <a:t>Optimum File Management Practices</a:t>
            </a:r>
          </a:p>
        </p:txBody>
      </p:sp>
      <p:sp>
        <p:nvSpPr>
          <p:cNvPr id="8" name="Rectangle 7"/>
          <p:cNvSpPr/>
          <p:nvPr/>
        </p:nvSpPr>
        <p:spPr>
          <a:xfrm>
            <a:off x="566928" y="1420000"/>
            <a:ext cx="900000" cy="0"/>
          </a:xfrm>
          <a:prstGeom prst="rect">
            <a:avLst/>
          </a:prstGeom>
          <a:noFill/>
          <a:ln w="28575">
            <a:solidFill>
              <a:srgbClr val="B3242A"/>
            </a:solidFill>
          </a:ln>
          <a:effectLst/>
        </p:spPr>
        <p:txBody>
          <a:bodyPr rtlCol="0" anchor="ctr"/>
          <a:lstStyle/>
          <a:p>
            <a:pPr algn="ctr"/>
          </a:p>
        </p:txBody>
      </p:sp>
      <p:sp>
        <p:nvSpPr>
          <p:cNvPr id="9" name="TextBox 8"/>
          <p:cNvSpPr txBox="1"/>
          <p:nvPr/>
        </p:nvSpPr>
        <p:spPr>
          <a:xfrm>
            <a:off x="566928" y="1520000"/>
            <a:ext cx="10234879" cy="320000"/>
          </a:xfrm>
          <a:prstGeom prst="rect">
            <a:avLst/>
          </a:prstGeom>
          <a:noFill/>
        </p:spPr>
        <p:txBody>
          <a:bodyPr wrap="square" lIns="0" rIns="0" tIns="0" bIns="0">
            <a:spAutoFit/>
          </a:bodyPr>
          <a:lstStyle/>
          <a:p>
            <a:r>
              <a:rPr sz="1450" b="0" i="1">
                <a:solidFill>
                  <a:srgbClr val="5C5B53"/>
                </a:solidFill>
                <a:latin typeface="Arial"/>
              </a:rPr>
              <a:t>Three habits that keep a semester of GIS work from getting lost</a:t>
            </a:r>
          </a:p>
        </p:txBody>
      </p:sp>
      <p:sp>
        <p:nvSpPr>
          <p:cNvPr id="10" name="Rectangle 9"/>
          <p:cNvSpPr/>
          <p:nvPr/>
        </p:nvSpPr>
        <p:spPr>
          <a:xfrm>
            <a:off x="566928" y="1920000"/>
            <a:ext cx="11057839" cy="0"/>
          </a:xfrm>
          <a:prstGeom prst="rect">
            <a:avLst/>
          </a:prstGeom>
          <a:noFill/>
          <a:ln w="6350">
            <a:solidFill>
              <a:srgbClr val="DAD8CC"/>
            </a:solidFill>
          </a:ln>
          <a:effectLst/>
        </p:spPr>
        <p:txBody>
          <a:bodyPr rtlCol="0" anchor="ctr"/>
          <a:lstStyle/>
          <a:p>
            <a:pPr algn="ctr"/>
          </a:p>
        </p:txBody>
      </p:sp>
      <p:sp>
        <p:nvSpPr>
          <p:cNvPr id="11" name="TextBox 10"/>
          <p:cNvSpPr txBox="1"/>
          <p:nvPr/>
        </p:nvSpPr>
        <p:spPr>
          <a:xfrm>
            <a:off x="11023600" y="6600000"/>
            <a:ext cx="603504" cy="250000"/>
          </a:xfrm>
          <a:prstGeom prst="rect">
            <a:avLst/>
          </a:prstGeom>
          <a:noFill/>
        </p:spPr>
        <p:txBody>
          <a:bodyPr wrap="square" lIns="0" rIns="0" tIns="0" bIns="0" anchor="ctr">
            <a:spAutoFit/>
          </a:bodyPr>
          <a:lstStyle/>
          <a:p>
            <a:pPr algn="ctr"/>
            <a:r>
              <a:rPr sz="1050" b="0" i="0">
                <a:solidFill>
                  <a:srgbClr val="9C9A90"/>
                </a:solidFill>
                <a:latin typeface="Consolas"/>
              </a:rPr>
              <a:t>05</a:t>
            </a:r>
          </a:p>
        </p:txBody>
      </p:sp>
      <p:sp>
        <p:nvSpPr>
          <p:cNvPr id="12" name="Rectangle 11"/>
          <p:cNvSpPr/>
          <p:nvPr/>
        </p:nvSpPr>
        <p:spPr>
          <a:xfrm>
            <a:off x="566928" y="2120000"/>
            <a:ext cx="620000" cy="620000"/>
          </a:xfrm>
          <a:prstGeom prst="rect">
            <a:avLst/>
          </a:prstGeom>
          <a:solidFill>
            <a:srgbClr val="B3242A"/>
          </a:solidFill>
          <a:ln>
            <a:noFill/>
          </a:ln>
          <a:effectLst/>
        </p:spPr>
        <p:txBody>
          <a:bodyPr rtlCol="0" anchor="ctr"/>
          <a:lstStyle/>
          <a:p>
            <a:pPr algn="ctr"/>
          </a:p>
        </p:txBody>
      </p:sp>
      <p:sp>
        <p:nvSpPr>
          <p:cNvPr id="13" name="TextBox 12"/>
          <p:cNvSpPr txBox="1"/>
          <p:nvPr/>
        </p:nvSpPr>
        <p:spPr>
          <a:xfrm>
            <a:off x="566928" y="2120000"/>
            <a:ext cx="620000" cy="620000"/>
          </a:xfrm>
          <a:prstGeom prst="rect">
            <a:avLst/>
          </a:prstGeom>
          <a:noFill/>
        </p:spPr>
        <p:txBody>
          <a:bodyPr wrap="square" lIns="0" rIns="0" tIns="0" bIns="0" anchor="ctr">
            <a:spAutoFit/>
          </a:bodyPr>
          <a:lstStyle/>
          <a:p>
            <a:pPr algn="ctr"/>
            <a:r>
              <a:rPr sz="2600" b="1" i="0">
                <a:solidFill>
                  <a:srgbClr val="FFFFFF"/>
                </a:solidFill>
                <a:latin typeface="Consolas"/>
              </a:rPr>
              <a:t>1</a:t>
            </a:r>
          </a:p>
        </p:txBody>
      </p:sp>
      <p:pic>
        <p:nvPicPr>
          <p:cNvPr id="14" name="Picture 13" descr="home_b3242a.png"/>
          <p:cNvPicPr>
            <a:picLocks noChangeAspect="1"/>
          </p:cNvPicPr>
          <p:nvPr/>
        </p:nvPicPr>
        <p:blipFill>
          <a:blip r:embed="rId2"/>
          <a:stretch>
            <a:fillRect/>
          </a:stretch>
        </p:blipFill>
        <p:spPr>
          <a:xfrm>
            <a:off x="1406928" y="2300000"/>
            <a:ext cx="260000" cy="260000"/>
          </a:xfrm>
          <a:prstGeom prst="rect">
            <a:avLst/>
          </a:prstGeom>
        </p:spPr>
      </p:pic>
      <p:sp>
        <p:nvSpPr>
          <p:cNvPr id="15" name="TextBox 14"/>
          <p:cNvSpPr txBox="1"/>
          <p:nvPr/>
        </p:nvSpPr>
        <p:spPr>
          <a:xfrm>
            <a:off x="1846928" y="2120000"/>
            <a:ext cx="9478144" cy="620000"/>
          </a:xfrm>
          <a:prstGeom prst="rect">
            <a:avLst/>
          </a:prstGeom>
          <a:noFill/>
        </p:spPr>
        <p:txBody>
          <a:bodyPr wrap="square" lIns="0" rIns="0" tIns="0" bIns="0" anchor="ctr">
            <a:spAutoFit/>
          </a:bodyPr>
          <a:lstStyle/>
          <a:p>
            <a:r>
              <a:rPr sz="1700" b="1" i="0">
                <a:solidFill>
                  <a:srgbClr val="161614"/>
                </a:solidFill>
                <a:latin typeface="Arial"/>
              </a:rPr>
              <a:t>One folder for everything</a:t>
            </a:r>
          </a:p>
        </p:txBody>
      </p:sp>
      <p:sp>
        <p:nvSpPr>
          <p:cNvPr id="16" name="TextBox 15"/>
          <p:cNvSpPr txBox="1"/>
          <p:nvPr/>
        </p:nvSpPr>
        <p:spPr>
          <a:xfrm>
            <a:off x="1406928" y="2810000"/>
            <a:ext cx="10038144" cy="671066"/>
          </a:xfrm>
          <a:prstGeom prst="rect">
            <a:avLst/>
          </a:prstGeom>
          <a:noFill/>
        </p:spPr>
        <p:txBody>
          <a:bodyPr wrap="square" lIns="0" rIns="0" tIns="0" bIns="0" anchor="t">
            <a:spAutoFit/>
          </a:bodyPr>
          <a:lstStyle/>
          <a:p>
            <a:pPr>
              <a:lnSpc>
                <a:spcPct val="115000"/>
              </a:lnSpc>
            </a:pPr>
            <a:r>
              <a:rPr sz="1200" b="0" i="0">
                <a:solidFill>
                  <a:srgbClr val="5C5B53"/>
                </a:solidFill>
                <a:latin typeface="Arial"/>
              </a:rPr>
              <a:t>Create a folder (directory) for your GIS class. Everything related to the class must live in this folder -- call it your parent folder.</a:t>
            </a:r>
          </a:p>
        </p:txBody>
      </p:sp>
      <p:sp>
        <p:nvSpPr>
          <p:cNvPr id="17" name="Rectangle 16"/>
          <p:cNvSpPr/>
          <p:nvPr/>
        </p:nvSpPr>
        <p:spPr>
          <a:xfrm>
            <a:off x="566928" y="3491066"/>
            <a:ext cx="11058144" cy="0"/>
          </a:xfrm>
          <a:prstGeom prst="rect">
            <a:avLst/>
          </a:prstGeom>
          <a:noFill/>
          <a:ln w="6350">
            <a:solidFill>
              <a:srgbClr val="DAD8CC"/>
            </a:solidFill>
          </a:ln>
          <a:effectLst/>
        </p:spPr>
        <p:txBody>
          <a:bodyPr rtlCol="0" anchor="ctr"/>
          <a:lstStyle/>
          <a:p>
            <a:pPr algn="ctr"/>
          </a:p>
        </p:txBody>
      </p:sp>
      <p:sp>
        <p:nvSpPr>
          <p:cNvPr id="18" name="Rectangle 17"/>
          <p:cNvSpPr/>
          <p:nvPr/>
        </p:nvSpPr>
        <p:spPr>
          <a:xfrm>
            <a:off x="566928" y="3561066"/>
            <a:ext cx="620000" cy="620000"/>
          </a:xfrm>
          <a:prstGeom prst="rect">
            <a:avLst/>
          </a:prstGeom>
          <a:solidFill>
            <a:srgbClr val="B3242A"/>
          </a:solidFill>
          <a:ln>
            <a:noFill/>
          </a:ln>
          <a:effectLst/>
        </p:spPr>
        <p:txBody>
          <a:bodyPr rtlCol="0" anchor="ctr"/>
          <a:lstStyle/>
          <a:p>
            <a:pPr algn="ctr"/>
          </a:p>
        </p:txBody>
      </p:sp>
      <p:sp>
        <p:nvSpPr>
          <p:cNvPr id="19" name="TextBox 18"/>
          <p:cNvSpPr txBox="1"/>
          <p:nvPr/>
        </p:nvSpPr>
        <p:spPr>
          <a:xfrm>
            <a:off x="566928" y="3561066"/>
            <a:ext cx="620000" cy="620000"/>
          </a:xfrm>
          <a:prstGeom prst="rect">
            <a:avLst/>
          </a:prstGeom>
          <a:noFill/>
        </p:spPr>
        <p:txBody>
          <a:bodyPr wrap="square" lIns="0" rIns="0" tIns="0" bIns="0" anchor="ctr">
            <a:spAutoFit/>
          </a:bodyPr>
          <a:lstStyle/>
          <a:p>
            <a:pPr algn="ctr"/>
            <a:r>
              <a:rPr sz="2600" b="1" i="0">
                <a:solidFill>
                  <a:srgbClr val="FFFFFF"/>
                </a:solidFill>
                <a:latin typeface="Consolas"/>
              </a:rPr>
              <a:t>2</a:t>
            </a:r>
          </a:p>
        </p:txBody>
      </p:sp>
      <p:pic>
        <p:nvPicPr>
          <p:cNvPr id="20" name="Picture 19" descr="cloudsun_b3242a.png"/>
          <p:cNvPicPr>
            <a:picLocks noChangeAspect="1"/>
          </p:cNvPicPr>
          <p:nvPr/>
        </p:nvPicPr>
        <p:blipFill>
          <a:blip r:embed="rId3"/>
          <a:stretch>
            <a:fillRect/>
          </a:stretch>
        </p:blipFill>
        <p:spPr>
          <a:xfrm>
            <a:off x="1406928" y="3741066"/>
            <a:ext cx="260000" cy="260000"/>
          </a:xfrm>
          <a:prstGeom prst="rect">
            <a:avLst/>
          </a:prstGeom>
        </p:spPr>
      </p:pic>
      <p:sp>
        <p:nvSpPr>
          <p:cNvPr id="21" name="TextBox 20"/>
          <p:cNvSpPr txBox="1"/>
          <p:nvPr/>
        </p:nvSpPr>
        <p:spPr>
          <a:xfrm>
            <a:off x="1846928" y="3561066"/>
            <a:ext cx="9478144" cy="620000"/>
          </a:xfrm>
          <a:prstGeom prst="rect">
            <a:avLst/>
          </a:prstGeom>
          <a:noFill/>
        </p:spPr>
        <p:txBody>
          <a:bodyPr wrap="square" lIns="0" rIns="0" tIns="0" bIns="0" anchor="ctr">
            <a:spAutoFit/>
          </a:bodyPr>
          <a:lstStyle/>
          <a:p>
            <a:r>
              <a:rPr sz="1700" b="1" i="0">
                <a:solidFill>
                  <a:srgbClr val="161614"/>
                </a:solidFill>
                <a:latin typeface="Arial"/>
              </a:rPr>
              <a:t>Sync it to the cloud</a:t>
            </a:r>
          </a:p>
        </p:txBody>
      </p:sp>
      <p:sp>
        <p:nvSpPr>
          <p:cNvPr id="22" name="TextBox 21"/>
          <p:cNvSpPr txBox="1"/>
          <p:nvPr/>
        </p:nvSpPr>
        <p:spPr>
          <a:xfrm>
            <a:off x="1406928" y="4251066"/>
            <a:ext cx="10038144" cy="671066"/>
          </a:xfrm>
          <a:prstGeom prst="rect">
            <a:avLst/>
          </a:prstGeom>
          <a:noFill/>
        </p:spPr>
        <p:txBody>
          <a:bodyPr wrap="square" lIns="0" rIns="0" tIns="0" bIns="0" anchor="t">
            <a:spAutoFit/>
          </a:bodyPr>
          <a:lstStyle/>
          <a:p>
            <a:pPr>
              <a:lnSpc>
                <a:spcPct val="115000"/>
              </a:lnSpc>
            </a:pPr>
            <a:r>
              <a:rPr sz="1200" b="0" i="0">
                <a:solidFill>
                  <a:srgbClr val="5C5B53"/>
                </a:solidFill>
                <a:latin typeface="Arial"/>
              </a:rPr>
              <a:t>Use a cloud file management system such as Dropbox or OneDrive. Always sync the entire parent folder -- this way your data won't be lost.</a:t>
            </a:r>
          </a:p>
        </p:txBody>
      </p:sp>
      <p:sp>
        <p:nvSpPr>
          <p:cNvPr id="23" name="Rectangle 22"/>
          <p:cNvSpPr/>
          <p:nvPr/>
        </p:nvSpPr>
        <p:spPr>
          <a:xfrm>
            <a:off x="566928" y="4932133"/>
            <a:ext cx="11058144" cy="0"/>
          </a:xfrm>
          <a:prstGeom prst="rect">
            <a:avLst/>
          </a:prstGeom>
          <a:noFill/>
          <a:ln w="6350">
            <a:solidFill>
              <a:srgbClr val="DAD8CC"/>
            </a:solidFill>
          </a:ln>
          <a:effectLst/>
        </p:spPr>
        <p:txBody>
          <a:bodyPr rtlCol="0" anchor="ctr"/>
          <a:lstStyle/>
          <a:p>
            <a:pPr algn="ctr"/>
          </a:p>
        </p:txBody>
      </p:sp>
      <p:sp>
        <p:nvSpPr>
          <p:cNvPr id="24" name="Rectangle 23"/>
          <p:cNvSpPr/>
          <p:nvPr/>
        </p:nvSpPr>
        <p:spPr>
          <a:xfrm>
            <a:off x="566928" y="5002133"/>
            <a:ext cx="620000" cy="620000"/>
          </a:xfrm>
          <a:prstGeom prst="rect">
            <a:avLst/>
          </a:prstGeom>
          <a:solidFill>
            <a:srgbClr val="B3242A"/>
          </a:solidFill>
          <a:ln>
            <a:noFill/>
          </a:ln>
          <a:effectLst/>
        </p:spPr>
        <p:txBody>
          <a:bodyPr rtlCol="0" anchor="ctr"/>
          <a:lstStyle/>
          <a:p>
            <a:pPr algn="ctr"/>
          </a:p>
        </p:txBody>
      </p:sp>
      <p:sp>
        <p:nvSpPr>
          <p:cNvPr id="25" name="TextBox 24"/>
          <p:cNvSpPr txBox="1"/>
          <p:nvPr/>
        </p:nvSpPr>
        <p:spPr>
          <a:xfrm>
            <a:off x="566928" y="5002133"/>
            <a:ext cx="620000" cy="620000"/>
          </a:xfrm>
          <a:prstGeom prst="rect">
            <a:avLst/>
          </a:prstGeom>
          <a:noFill/>
        </p:spPr>
        <p:txBody>
          <a:bodyPr wrap="square" lIns="0" rIns="0" tIns="0" bIns="0" anchor="ctr">
            <a:spAutoFit/>
          </a:bodyPr>
          <a:lstStyle/>
          <a:p>
            <a:pPr algn="ctr"/>
            <a:r>
              <a:rPr sz="2600" b="1" i="0">
                <a:solidFill>
                  <a:srgbClr val="FFFFFF"/>
                </a:solidFill>
                <a:latin typeface="Consolas"/>
              </a:rPr>
              <a:t>3</a:t>
            </a:r>
          </a:p>
        </p:txBody>
      </p:sp>
      <p:pic>
        <p:nvPicPr>
          <p:cNvPr id="26" name="Picture 25" descr="exchange_b3242a.png"/>
          <p:cNvPicPr>
            <a:picLocks noChangeAspect="1"/>
          </p:cNvPicPr>
          <p:nvPr/>
        </p:nvPicPr>
        <p:blipFill>
          <a:blip r:embed="rId4"/>
          <a:stretch>
            <a:fillRect/>
          </a:stretch>
        </p:blipFill>
        <p:spPr>
          <a:xfrm>
            <a:off x="1406928" y="5182133"/>
            <a:ext cx="260000" cy="260000"/>
          </a:xfrm>
          <a:prstGeom prst="rect">
            <a:avLst/>
          </a:prstGeom>
        </p:spPr>
      </p:pic>
      <p:sp>
        <p:nvSpPr>
          <p:cNvPr id="27" name="TextBox 26"/>
          <p:cNvSpPr txBox="1"/>
          <p:nvPr/>
        </p:nvSpPr>
        <p:spPr>
          <a:xfrm>
            <a:off x="1846928" y="5002133"/>
            <a:ext cx="9478144" cy="620000"/>
          </a:xfrm>
          <a:prstGeom prst="rect">
            <a:avLst/>
          </a:prstGeom>
          <a:noFill/>
        </p:spPr>
        <p:txBody>
          <a:bodyPr wrap="square" lIns="0" rIns="0" tIns="0" bIns="0" anchor="ctr">
            <a:spAutoFit/>
          </a:bodyPr>
          <a:lstStyle/>
          <a:p>
            <a:r>
              <a:rPr sz="1700" b="1" i="0">
                <a:solidFill>
                  <a:srgbClr val="161614"/>
                </a:solidFill>
                <a:latin typeface="Arial"/>
              </a:rPr>
              <a:t>Keep multiple computers in sync</a:t>
            </a:r>
          </a:p>
        </p:txBody>
      </p:sp>
      <p:sp>
        <p:nvSpPr>
          <p:cNvPr id="28" name="TextBox 27"/>
          <p:cNvSpPr txBox="1"/>
          <p:nvPr/>
        </p:nvSpPr>
        <p:spPr>
          <a:xfrm>
            <a:off x="1406928" y="5692133"/>
            <a:ext cx="10038144" cy="671066"/>
          </a:xfrm>
          <a:prstGeom prst="rect">
            <a:avLst/>
          </a:prstGeom>
          <a:noFill/>
        </p:spPr>
        <p:txBody>
          <a:bodyPr wrap="square" lIns="0" rIns="0" tIns="0" bIns="0" anchor="t">
            <a:spAutoFit/>
          </a:bodyPr>
          <a:lstStyle/>
          <a:p>
            <a:pPr>
              <a:lnSpc>
                <a:spcPct val="115000"/>
              </a:lnSpc>
            </a:pPr>
            <a:r>
              <a:rPr sz="1200" b="0" i="0">
                <a:solidFill>
                  <a:srgbClr val="5C5B53"/>
                </a:solidFill>
                <a:latin typeface="Arial"/>
              </a:rPr>
              <a:t>If you are using multiple computers, move the entire parent folder back and forth, or preferably use the cloud file management system to keep copies in sync on both.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2192000" cy="50800"/>
          </a:xfrm>
          <a:prstGeom prst="rect">
            <a:avLst/>
          </a:prstGeom>
          <a:solidFill>
            <a:srgbClr val="B3242A"/>
          </a:solidFill>
          <a:ln>
            <a:noFill/>
          </a:ln>
          <a:effectLst/>
        </p:spPr>
        <p:txBody>
          <a:bodyPr rtlCol="0" anchor="ctr"/>
          <a:lstStyle/>
          <a:p>
            <a:pPr algn="ctr"/>
          </a:p>
        </p:txBody>
      </p:sp>
      <p:sp>
        <p:nvSpPr>
          <p:cNvPr id="4" name="Rectangle 3"/>
          <p:cNvSpPr/>
          <p:nvPr/>
        </p:nvSpPr>
        <p:spPr>
          <a:xfrm>
            <a:off x="0" y="6553200"/>
            <a:ext cx="12192000" cy="0"/>
          </a:xfrm>
          <a:prstGeom prst="rect">
            <a:avLst/>
          </a:prstGeom>
          <a:noFill/>
          <a:ln w="6350">
            <a:solidFill>
              <a:srgbClr val="DAD8CC"/>
            </a:solidFill>
          </a:ln>
          <a:effectLst/>
        </p:spPr>
        <p:txBody>
          <a:bodyPr rtlCol="0" anchor="ctr"/>
          <a:lstStyle/>
          <a:p>
            <a:pPr algn="ctr"/>
          </a:p>
        </p:txBody>
      </p:sp>
      <p:sp>
        <p:nvSpPr>
          <p:cNvPr id="5" name="Rectangle 4"/>
          <p:cNvSpPr/>
          <p:nvPr/>
        </p:nvSpPr>
        <p:spPr>
          <a:xfrm>
            <a:off x="566928" y="344424"/>
            <a:ext cx="137160" cy="137160"/>
          </a:xfrm>
          <a:prstGeom prst="rect">
            <a:avLst/>
          </a:prstGeom>
          <a:solidFill>
            <a:srgbClr val="B3242A"/>
          </a:solidFill>
          <a:ln>
            <a:noFill/>
          </a:ln>
          <a:effectLst/>
        </p:spPr>
        <p:txBody>
          <a:bodyPr rtlCol="0" anchor="ctr"/>
          <a:lstStyle/>
          <a:p>
            <a:pPr algn="ctr"/>
          </a:p>
        </p:txBody>
      </p:sp>
      <p:sp>
        <p:nvSpPr>
          <p:cNvPr id="6" name="TextBox 5"/>
          <p:cNvSpPr txBox="1"/>
          <p:nvPr/>
        </p:nvSpPr>
        <p:spPr>
          <a:xfrm>
            <a:off x="866648" y="310896"/>
            <a:ext cx="9000000" cy="274320"/>
          </a:xfrm>
          <a:prstGeom prst="rect">
            <a:avLst/>
          </a:prstGeom>
          <a:noFill/>
        </p:spPr>
        <p:txBody>
          <a:bodyPr wrap="square" lIns="0" rIns="0" tIns="0" bIns="0">
            <a:spAutoFit/>
          </a:bodyPr>
          <a:lstStyle/>
          <a:p>
            <a:r>
              <a:rPr sz="1100" b="1" i="0" spc="200">
                <a:solidFill>
                  <a:srgbClr val="B3242A"/>
                </a:solidFill>
                <a:latin typeface="Consolas"/>
              </a:rPr>
              <a:t>FILE MANAGEMENT · FOLDER STRUCTURE</a:t>
            </a:r>
          </a:p>
        </p:txBody>
      </p:sp>
      <p:sp>
        <p:nvSpPr>
          <p:cNvPr id="7" name="TextBox 6"/>
          <p:cNvSpPr txBox="1"/>
          <p:nvPr/>
        </p:nvSpPr>
        <p:spPr>
          <a:xfrm>
            <a:off x="566928" y="700000"/>
            <a:ext cx="10234879" cy="700000"/>
          </a:xfrm>
          <a:prstGeom prst="rect">
            <a:avLst/>
          </a:prstGeom>
          <a:noFill/>
        </p:spPr>
        <p:txBody>
          <a:bodyPr wrap="square" lIns="0" rIns="0" tIns="0" bIns="0">
            <a:spAutoFit/>
          </a:bodyPr>
          <a:lstStyle/>
          <a:p>
            <a:r>
              <a:rPr sz="3200" b="1" i="0">
                <a:solidFill>
                  <a:srgbClr val="161614"/>
                </a:solidFill>
                <a:latin typeface="Arial"/>
              </a:rPr>
              <a:t>Create This Folder Structure on Your Computer</a:t>
            </a:r>
          </a:p>
        </p:txBody>
      </p:sp>
      <p:sp>
        <p:nvSpPr>
          <p:cNvPr id="8" name="Rectangle 7"/>
          <p:cNvSpPr/>
          <p:nvPr/>
        </p:nvSpPr>
        <p:spPr>
          <a:xfrm>
            <a:off x="566928" y="1420000"/>
            <a:ext cx="900000" cy="0"/>
          </a:xfrm>
          <a:prstGeom prst="rect">
            <a:avLst/>
          </a:prstGeom>
          <a:noFill/>
          <a:ln w="28575">
            <a:solidFill>
              <a:srgbClr val="B3242A"/>
            </a:solidFill>
          </a:ln>
          <a:effectLst/>
        </p:spPr>
        <p:txBody>
          <a:bodyPr rtlCol="0" anchor="ctr"/>
          <a:lstStyle/>
          <a:p>
            <a:pPr algn="ctr"/>
          </a:p>
        </p:txBody>
      </p:sp>
      <p:sp>
        <p:nvSpPr>
          <p:cNvPr id="9" name="TextBox 8"/>
          <p:cNvSpPr txBox="1"/>
          <p:nvPr/>
        </p:nvSpPr>
        <p:spPr>
          <a:xfrm>
            <a:off x="566928" y="1520000"/>
            <a:ext cx="10234879" cy="320000"/>
          </a:xfrm>
          <a:prstGeom prst="rect">
            <a:avLst/>
          </a:prstGeom>
          <a:noFill/>
        </p:spPr>
        <p:txBody>
          <a:bodyPr wrap="square" lIns="0" rIns="0" tIns="0" bIns="0">
            <a:spAutoFit/>
          </a:bodyPr>
          <a:lstStyle/>
          <a:p>
            <a:r>
              <a:rPr sz="1450" b="0" i="1">
                <a:solidFill>
                  <a:srgbClr val="5C5B53"/>
                </a:solidFill>
                <a:latin typeface="Arial"/>
              </a:rPr>
              <a:t>One parent folder, five subfolders, every time</a:t>
            </a:r>
          </a:p>
        </p:txBody>
      </p:sp>
      <p:sp>
        <p:nvSpPr>
          <p:cNvPr id="10" name="Rectangle 9"/>
          <p:cNvSpPr/>
          <p:nvPr/>
        </p:nvSpPr>
        <p:spPr>
          <a:xfrm>
            <a:off x="566928" y="1920000"/>
            <a:ext cx="11057839" cy="0"/>
          </a:xfrm>
          <a:prstGeom prst="rect">
            <a:avLst/>
          </a:prstGeom>
          <a:noFill/>
          <a:ln w="6350">
            <a:solidFill>
              <a:srgbClr val="DAD8CC"/>
            </a:solidFill>
          </a:ln>
          <a:effectLst/>
        </p:spPr>
        <p:txBody>
          <a:bodyPr rtlCol="0" anchor="ctr"/>
          <a:lstStyle/>
          <a:p>
            <a:pPr algn="ctr"/>
          </a:p>
        </p:txBody>
      </p:sp>
      <p:sp>
        <p:nvSpPr>
          <p:cNvPr id="11" name="TextBox 10"/>
          <p:cNvSpPr txBox="1"/>
          <p:nvPr/>
        </p:nvSpPr>
        <p:spPr>
          <a:xfrm>
            <a:off x="11023600" y="6600000"/>
            <a:ext cx="603504" cy="250000"/>
          </a:xfrm>
          <a:prstGeom prst="rect">
            <a:avLst/>
          </a:prstGeom>
          <a:noFill/>
        </p:spPr>
        <p:txBody>
          <a:bodyPr wrap="square" lIns="0" rIns="0" tIns="0" bIns="0" anchor="ctr">
            <a:spAutoFit/>
          </a:bodyPr>
          <a:lstStyle/>
          <a:p>
            <a:pPr algn="ctr"/>
            <a:r>
              <a:rPr sz="1050" b="0" i="0">
                <a:solidFill>
                  <a:srgbClr val="9C9A90"/>
                </a:solidFill>
                <a:latin typeface="Consolas"/>
              </a:rPr>
              <a:t>06</a:t>
            </a:r>
          </a:p>
        </p:txBody>
      </p:sp>
      <p:sp>
        <p:nvSpPr>
          <p:cNvPr id="12" name="Rectangle 11"/>
          <p:cNvSpPr/>
          <p:nvPr/>
        </p:nvSpPr>
        <p:spPr>
          <a:xfrm>
            <a:off x="4696000" y="2280000"/>
            <a:ext cx="2800000" cy="620000"/>
          </a:xfrm>
          <a:prstGeom prst="rect">
            <a:avLst/>
          </a:prstGeom>
          <a:solidFill>
            <a:srgbClr val="B3242A"/>
          </a:solidFill>
          <a:ln>
            <a:noFill/>
          </a:ln>
          <a:effectLst/>
        </p:spPr>
        <p:txBody>
          <a:bodyPr rtlCol="0" anchor="ctr"/>
          <a:lstStyle/>
          <a:p>
            <a:pPr algn="ctr"/>
          </a:p>
        </p:txBody>
      </p:sp>
      <p:sp>
        <p:nvSpPr>
          <p:cNvPr id="13" name="TextBox 12"/>
          <p:cNvSpPr txBox="1"/>
          <p:nvPr/>
        </p:nvSpPr>
        <p:spPr>
          <a:xfrm>
            <a:off x="4696000" y="2280000"/>
            <a:ext cx="2800000" cy="620000"/>
          </a:xfrm>
          <a:prstGeom prst="rect">
            <a:avLst/>
          </a:prstGeom>
          <a:noFill/>
        </p:spPr>
        <p:txBody>
          <a:bodyPr wrap="square" lIns="0" rIns="0" tIns="0" bIns="0" anchor="ctr">
            <a:spAutoFit/>
          </a:bodyPr>
          <a:lstStyle/>
          <a:p>
            <a:pPr algn="ctr"/>
            <a:r>
              <a:rPr sz="1800" b="1" i="0">
                <a:solidFill>
                  <a:srgbClr val="FFFFFF"/>
                </a:solidFill>
                <a:latin typeface="Arial"/>
              </a:rPr>
              <a:t>Parent Folder</a:t>
            </a:r>
          </a:p>
        </p:txBody>
      </p:sp>
      <p:sp>
        <p:nvSpPr>
          <p:cNvPr id="14" name="Rectangle 13"/>
          <p:cNvSpPr/>
          <p:nvPr/>
        </p:nvSpPr>
        <p:spPr>
          <a:xfrm>
            <a:off x="6096000" y="2900000"/>
            <a:ext cx="0" cy="420000"/>
          </a:xfrm>
          <a:prstGeom prst="rect">
            <a:avLst/>
          </a:prstGeom>
          <a:noFill/>
          <a:ln w="15875">
            <a:solidFill>
              <a:srgbClr val="161614"/>
            </a:solidFill>
          </a:ln>
          <a:effectLst/>
        </p:spPr>
        <p:txBody>
          <a:bodyPr rtlCol="0" anchor="ctr"/>
          <a:lstStyle/>
          <a:p>
            <a:pPr algn="ctr"/>
          </a:p>
        </p:txBody>
      </p:sp>
      <p:sp>
        <p:nvSpPr>
          <p:cNvPr id="15" name="Rectangle 14"/>
          <p:cNvSpPr/>
          <p:nvPr/>
        </p:nvSpPr>
        <p:spPr>
          <a:xfrm>
            <a:off x="1391928" y="3320000"/>
            <a:ext cx="9408144" cy="0"/>
          </a:xfrm>
          <a:prstGeom prst="rect">
            <a:avLst/>
          </a:prstGeom>
          <a:noFill/>
          <a:ln w="15875">
            <a:solidFill>
              <a:srgbClr val="161614"/>
            </a:solidFill>
          </a:ln>
          <a:effectLst/>
        </p:spPr>
        <p:txBody>
          <a:bodyPr rtlCol="0" anchor="ctr"/>
          <a:lstStyle/>
          <a:p>
            <a:pPr algn="ctr"/>
          </a:p>
        </p:txBody>
      </p:sp>
      <p:sp>
        <p:nvSpPr>
          <p:cNvPr id="16" name="Rectangle 15"/>
          <p:cNvSpPr/>
          <p:nvPr/>
        </p:nvSpPr>
        <p:spPr>
          <a:xfrm>
            <a:off x="1391928" y="3320000"/>
            <a:ext cx="0" cy="300000"/>
          </a:xfrm>
          <a:prstGeom prst="rect">
            <a:avLst/>
          </a:prstGeom>
          <a:noFill/>
          <a:ln w="15875">
            <a:solidFill>
              <a:srgbClr val="161614"/>
            </a:solidFill>
          </a:ln>
          <a:effectLst/>
        </p:spPr>
        <p:txBody>
          <a:bodyPr rtlCol="0" anchor="ctr"/>
          <a:lstStyle/>
          <a:p>
            <a:pPr algn="ctr"/>
          </a:p>
        </p:txBody>
      </p:sp>
      <p:sp>
        <p:nvSpPr>
          <p:cNvPr id="17" name="Rectangle 16"/>
          <p:cNvSpPr/>
          <p:nvPr/>
        </p:nvSpPr>
        <p:spPr>
          <a:xfrm>
            <a:off x="566928" y="3620000"/>
            <a:ext cx="1650000" cy="900000"/>
          </a:xfrm>
          <a:prstGeom prst="rect">
            <a:avLst/>
          </a:prstGeom>
          <a:solidFill>
            <a:srgbClr val="FFFFFF"/>
          </a:solidFill>
          <a:ln w="19050">
            <a:solidFill>
              <a:srgbClr val="B3242A"/>
            </a:solidFill>
          </a:ln>
          <a:effectLst/>
        </p:spPr>
        <p:txBody>
          <a:bodyPr rtlCol="0" anchor="ctr"/>
          <a:lstStyle/>
          <a:p>
            <a:pPr algn="ctr"/>
          </a:p>
        </p:txBody>
      </p:sp>
      <p:sp>
        <p:nvSpPr>
          <p:cNvPr id="18" name="TextBox 17"/>
          <p:cNvSpPr txBox="1"/>
          <p:nvPr/>
        </p:nvSpPr>
        <p:spPr>
          <a:xfrm>
            <a:off x="656928" y="3620000"/>
            <a:ext cx="1470000" cy="900000"/>
          </a:xfrm>
          <a:prstGeom prst="rect">
            <a:avLst/>
          </a:prstGeom>
          <a:noFill/>
        </p:spPr>
        <p:txBody>
          <a:bodyPr wrap="square" lIns="0" rIns="0" tIns="0" bIns="0" anchor="ctr">
            <a:spAutoFit/>
          </a:bodyPr>
          <a:lstStyle/>
          <a:p>
            <a:pPr algn="ctr">
              <a:lnSpc>
                <a:spcPct val="105000"/>
              </a:lnSpc>
            </a:pPr>
            <a:r>
              <a:rPr sz="1400" b="1" i="0">
                <a:solidFill>
                  <a:srgbClr val="161614"/>
                </a:solidFill>
                <a:latin typeface="Arial"/>
              </a:rPr>
              <a:t>Project Files</a:t>
            </a:r>
          </a:p>
        </p:txBody>
      </p:sp>
      <p:sp>
        <p:nvSpPr>
          <p:cNvPr id="19" name="Rectangle 18"/>
          <p:cNvSpPr/>
          <p:nvPr/>
        </p:nvSpPr>
        <p:spPr>
          <a:xfrm>
            <a:off x="3743964" y="3320000"/>
            <a:ext cx="0" cy="300000"/>
          </a:xfrm>
          <a:prstGeom prst="rect">
            <a:avLst/>
          </a:prstGeom>
          <a:noFill/>
          <a:ln w="15875">
            <a:solidFill>
              <a:srgbClr val="161614"/>
            </a:solidFill>
          </a:ln>
          <a:effectLst/>
        </p:spPr>
        <p:txBody>
          <a:bodyPr rtlCol="0" anchor="ctr"/>
          <a:lstStyle/>
          <a:p>
            <a:pPr algn="ctr"/>
          </a:p>
        </p:txBody>
      </p:sp>
      <p:sp>
        <p:nvSpPr>
          <p:cNvPr id="20" name="Rectangle 19"/>
          <p:cNvSpPr/>
          <p:nvPr/>
        </p:nvSpPr>
        <p:spPr>
          <a:xfrm>
            <a:off x="2918964" y="3620000"/>
            <a:ext cx="1650000" cy="900000"/>
          </a:xfrm>
          <a:prstGeom prst="rect">
            <a:avLst/>
          </a:prstGeom>
          <a:solidFill>
            <a:srgbClr val="FFFFFF"/>
          </a:solidFill>
          <a:ln w="19050">
            <a:solidFill>
              <a:srgbClr val="B3242A"/>
            </a:solidFill>
          </a:ln>
          <a:effectLst/>
        </p:spPr>
        <p:txBody>
          <a:bodyPr rtlCol="0" anchor="ctr"/>
          <a:lstStyle/>
          <a:p>
            <a:pPr algn="ctr"/>
          </a:p>
        </p:txBody>
      </p:sp>
      <p:sp>
        <p:nvSpPr>
          <p:cNvPr id="21" name="TextBox 20"/>
          <p:cNvSpPr txBox="1"/>
          <p:nvPr/>
        </p:nvSpPr>
        <p:spPr>
          <a:xfrm>
            <a:off x="3008964" y="3620000"/>
            <a:ext cx="1470000" cy="900000"/>
          </a:xfrm>
          <a:prstGeom prst="rect">
            <a:avLst/>
          </a:prstGeom>
          <a:noFill/>
        </p:spPr>
        <p:txBody>
          <a:bodyPr wrap="square" lIns="0" rIns="0" tIns="0" bIns="0" anchor="ctr">
            <a:spAutoFit/>
          </a:bodyPr>
          <a:lstStyle/>
          <a:p>
            <a:pPr algn="ctr">
              <a:lnSpc>
                <a:spcPct val="105000"/>
              </a:lnSpc>
            </a:pPr>
            <a:r>
              <a:rPr sz="1400" b="1" i="0">
                <a:solidFill>
                  <a:srgbClr val="161614"/>
                </a:solidFill>
                <a:latin typeface="Arial"/>
              </a:rPr>
              <a:t>Temporary</a:t>
            </a:r>
          </a:p>
        </p:txBody>
      </p:sp>
      <p:sp>
        <p:nvSpPr>
          <p:cNvPr id="22" name="Rectangle 21"/>
          <p:cNvSpPr/>
          <p:nvPr/>
        </p:nvSpPr>
        <p:spPr>
          <a:xfrm>
            <a:off x="6096000" y="3320000"/>
            <a:ext cx="0" cy="300000"/>
          </a:xfrm>
          <a:prstGeom prst="rect">
            <a:avLst/>
          </a:prstGeom>
          <a:noFill/>
          <a:ln w="15875">
            <a:solidFill>
              <a:srgbClr val="161614"/>
            </a:solidFill>
          </a:ln>
          <a:effectLst/>
        </p:spPr>
        <p:txBody>
          <a:bodyPr rtlCol="0" anchor="ctr"/>
          <a:lstStyle/>
          <a:p>
            <a:pPr algn="ctr"/>
          </a:p>
        </p:txBody>
      </p:sp>
      <p:sp>
        <p:nvSpPr>
          <p:cNvPr id="23" name="Rectangle 22"/>
          <p:cNvSpPr/>
          <p:nvPr/>
        </p:nvSpPr>
        <p:spPr>
          <a:xfrm>
            <a:off x="5271000" y="3620000"/>
            <a:ext cx="1650000" cy="900000"/>
          </a:xfrm>
          <a:prstGeom prst="rect">
            <a:avLst/>
          </a:prstGeom>
          <a:solidFill>
            <a:srgbClr val="FFFFFF"/>
          </a:solidFill>
          <a:ln w="19050">
            <a:solidFill>
              <a:srgbClr val="B3242A"/>
            </a:solidFill>
          </a:ln>
          <a:effectLst/>
        </p:spPr>
        <p:txBody>
          <a:bodyPr rtlCol="0" anchor="ctr"/>
          <a:lstStyle/>
          <a:p>
            <a:pPr algn="ctr"/>
          </a:p>
        </p:txBody>
      </p:sp>
      <p:sp>
        <p:nvSpPr>
          <p:cNvPr id="24" name="TextBox 23"/>
          <p:cNvSpPr txBox="1"/>
          <p:nvPr/>
        </p:nvSpPr>
        <p:spPr>
          <a:xfrm>
            <a:off x="5361000" y="3620000"/>
            <a:ext cx="1470000" cy="900000"/>
          </a:xfrm>
          <a:prstGeom prst="rect">
            <a:avLst/>
          </a:prstGeom>
          <a:noFill/>
        </p:spPr>
        <p:txBody>
          <a:bodyPr wrap="square" lIns="0" rIns="0" tIns="0" bIns="0" anchor="ctr">
            <a:spAutoFit/>
          </a:bodyPr>
          <a:lstStyle/>
          <a:p>
            <a:pPr algn="ctr">
              <a:lnSpc>
                <a:spcPct val="105000"/>
              </a:lnSpc>
            </a:pPr>
            <a:r>
              <a:rPr sz="1400" b="1" i="0">
                <a:solidFill>
                  <a:srgbClr val="161614"/>
                </a:solidFill>
                <a:latin typeface="Arial"/>
              </a:rPr>
              <a:t>Docs</a:t>
            </a:r>
          </a:p>
        </p:txBody>
      </p:sp>
      <p:sp>
        <p:nvSpPr>
          <p:cNvPr id="25" name="Rectangle 24"/>
          <p:cNvSpPr/>
          <p:nvPr/>
        </p:nvSpPr>
        <p:spPr>
          <a:xfrm>
            <a:off x="8448036" y="3320000"/>
            <a:ext cx="0" cy="300000"/>
          </a:xfrm>
          <a:prstGeom prst="rect">
            <a:avLst/>
          </a:prstGeom>
          <a:noFill/>
          <a:ln w="15875">
            <a:solidFill>
              <a:srgbClr val="161614"/>
            </a:solidFill>
          </a:ln>
          <a:effectLst/>
        </p:spPr>
        <p:txBody>
          <a:bodyPr rtlCol="0" anchor="ctr"/>
          <a:lstStyle/>
          <a:p>
            <a:pPr algn="ctr"/>
          </a:p>
        </p:txBody>
      </p:sp>
      <p:sp>
        <p:nvSpPr>
          <p:cNvPr id="26" name="Rectangle 25"/>
          <p:cNvSpPr/>
          <p:nvPr/>
        </p:nvSpPr>
        <p:spPr>
          <a:xfrm>
            <a:off x="7623036" y="3620000"/>
            <a:ext cx="1650000" cy="900000"/>
          </a:xfrm>
          <a:prstGeom prst="rect">
            <a:avLst/>
          </a:prstGeom>
          <a:solidFill>
            <a:srgbClr val="FFFFFF"/>
          </a:solidFill>
          <a:ln w="19050">
            <a:solidFill>
              <a:srgbClr val="B3242A"/>
            </a:solidFill>
          </a:ln>
          <a:effectLst/>
        </p:spPr>
        <p:txBody>
          <a:bodyPr rtlCol="0" anchor="ctr"/>
          <a:lstStyle/>
          <a:p>
            <a:pPr algn="ctr"/>
          </a:p>
        </p:txBody>
      </p:sp>
      <p:sp>
        <p:nvSpPr>
          <p:cNvPr id="27" name="TextBox 26"/>
          <p:cNvSpPr txBox="1"/>
          <p:nvPr/>
        </p:nvSpPr>
        <p:spPr>
          <a:xfrm>
            <a:off x="7713036" y="3620000"/>
            <a:ext cx="1470000" cy="900000"/>
          </a:xfrm>
          <a:prstGeom prst="rect">
            <a:avLst/>
          </a:prstGeom>
          <a:noFill/>
        </p:spPr>
        <p:txBody>
          <a:bodyPr wrap="square" lIns="0" rIns="0" tIns="0" bIns="0" anchor="ctr">
            <a:spAutoFit/>
          </a:bodyPr>
          <a:lstStyle/>
          <a:p>
            <a:pPr algn="ctr">
              <a:lnSpc>
                <a:spcPct val="105000"/>
              </a:lnSpc>
            </a:pPr>
            <a:r>
              <a:rPr sz="1400" b="1" i="0">
                <a:solidFill>
                  <a:srgbClr val="161614"/>
                </a:solidFill>
                <a:latin typeface="Arial"/>
              </a:rPr>
              <a:t>Images</a:t>
            </a:r>
          </a:p>
        </p:txBody>
      </p:sp>
      <p:sp>
        <p:nvSpPr>
          <p:cNvPr id="28" name="Rectangle 27"/>
          <p:cNvSpPr/>
          <p:nvPr/>
        </p:nvSpPr>
        <p:spPr>
          <a:xfrm>
            <a:off x="10800072" y="3320000"/>
            <a:ext cx="0" cy="300000"/>
          </a:xfrm>
          <a:prstGeom prst="rect">
            <a:avLst/>
          </a:prstGeom>
          <a:noFill/>
          <a:ln w="15875">
            <a:solidFill>
              <a:srgbClr val="161614"/>
            </a:solidFill>
          </a:ln>
          <a:effectLst/>
        </p:spPr>
        <p:txBody>
          <a:bodyPr rtlCol="0" anchor="ctr"/>
          <a:lstStyle/>
          <a:p>
            <a:pPr algn="ctr"/>
          </a:p>
        </p:txBody>
      </p:sp>
      <p:sp>
        <p:nvSpPr>
          <p:cNvPr id="29" name="Rectangle 28"/>
          <p:cNvSpPr/>
          <p:nvPr/>
        </p:nvSpPr>
        <p:spPr>
          <a:xfrm>
            <a:off x="9975072" y="3620000"/>
            <a:ext cx="1650000" cy="900000"/>
          </a:xfrm>
          <a:prstGeom prst="rect">
            <a:avLst/>
          </a:prstGeom>
          <a:solidFill>
            <a:srgbClr val="FFFFFF"/>
          </a:solidFill>
          <a:ln w="19050">
            <a:solidFill>
              <a:srgbClr val="B3242A"/>
            </a:solidFill>
          </a:ln>
          <a:effectLst/>
        </p:spPr>
        <p:txBody>
          <a:bodyPr rtlCol="0" anchor="ctr"/>
          <a:lstStyle/>
          <a:p>
            <a:pPr algn="ctr"/>
          </a:p>
        </p:txBody>
      </p:sp>
      <p:sp>
        <p:nvSpPr>
          <p:cNvPr id="30" name="TextBox 29"/>
          <p:cNvSpPr txBox="1"/>
          <p:nvPr/>
        </p:nvSpPr>
        <p:spPr>
          <a:xfrm>
            <a:off x="10065072" y="3620000"/>
            <a:ext cx="1470000" cy="900000"/>
          </a:xfrm>
          <a:prstGeom prst="rect">
            <a:avLst/>
          </a:prstGeom>
          <a:noFill/>
        </p:spPr>
        <p:txBody>
          <a:bodyPr wrap="square" lIns="0" rIns="0" tIns="0" bIns="0" anchor="ctr">
            <a:spAutoFit/>
          </a:bodyPr>
          <a:lstStyle/>
          <a:p>
            <a:pPr algn="ctr">
              <a:lnSpc>
                <a:spcPct val="105000"/>
              </a:lnSpc>
            </a:pPr>
            <a:r>
              <a:rPr sz="1400" b="1" i="0">
                <a:solidFill>
                  <a:srgbClr val="161614"/>
                </a:solidFill>
                <a:latin typeface="Arial"/>
              </a:rPr>
              <a:t>Tables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2192000" cy="50800"/>
          </a:xfrm>
          <a:prstGeom prst="rect">
            <a:avLst/>
          </a:prstGeom>
          <a:solidFill>
            <a:srgbClr val="B3242A"/>
          </a:solidFill>
          <a:ln>
            <a:noFill/>
          </a:ln>
          <a:effectLst/>
        </p:spPr>
        <p:txBody>
          <a:bodyPr rtlCol="0" anchor="ctr"/>
          <a:lstStyle/>
          <a:p>
            <a:pPr algn="ctr"/>
          </a:p>
        </p:txBody>
      </p:sp>
      <p:sp>
        <p:nvSpPr>
          <p:cNvPr id="4" name="Rectangle 3"/>
          <p:cNvSpPr/>
          <p:nvPr/>
        </p:nvSpPr>
        <p:spPr>
          <a:xfrm>
            <a:off x="0" y="6553200"/>
            <a:ext cx="12192000" cy="0"/>
          </a:xfrm>
          <a:prstGeom prst="rect">
            <a:avLst/>
          </a:prstGeom>
          <a:noFill/>
          <a:ln w="6350">
            <a:solidFill>
              <a:srgbClr val="DAD8CC"/>
            </a:solidFill>
          </a:ln>
          <a:effectLst/>
        </p:spPr>
        <p:txBody>
          <a:bodyPr rtlCol="0" anchor="ctr"/>
          <a:lstStyle/>
          <a:p>
            <a:pPr algn="ctr"/>
          </a:p>
        </p:txBody>
      </p:sp>
      <p:sp>
        <p:nvSpPr>
          <p:cNvPr id="5" name="Rectangle 4"/>
          <p:cNvSpPr/>
          <p:nvPr/>
        </p:nvSpPr>
        <p:spPr>
          <a:xfrm>
            <a:off x="566928" y="344424"/>
            <a:ext cx="137160" cy="137160"/>
          </a:xfrm>
          <a:prstGeom prst="rect">
            <a:avLst/>
          </a:prstGeom>
          <a:solidFill>
            <a:srgbClr val="B3242A"/>
          </a:solidFill>
          <a:ln>
            <a:noFill/>
          </a:ln>
          <a:effectLst/>
        </p:spPr>
        <p:txBody>
          <a:bodyPr rtlCol="0" anchor="ctr"/>
          <a:lstStyle/>
          <a:p>
            <a:pPr algn="ctr"/>
          </a:p>
        </p:txBody>
      </p:sp>
      <p:sp>
        <p:nvSpPr>
          <p:cNvPr id="6" name="TextBox 5"/>
          <p:cNvSpPr txBox="1"/>
          <p:nvPr/>
        </p:nvSpPr>
        <p:spPr>
          <a:xfrm>
            <a:off x="866648" y="310896"/>
            <a:ext cx="9000000" cy="274320"/>
          </a:xfrm>
          <a:prstGeom prst="rect">
            <a:avLst/>
          </a:prstGeom>
          <a:noFill/>
        </p:spPr>
        <p:txBody>
          <a:bodyPr wrap="square" lIns="0" rIns="0" tIns="0" bIns="0">
            <a:spAutoFit/>
          </a:bodyPr>
          <a:lstStyle/>
          <a:p>
            <a:r>
              <a:rPr sz="1100" b="1" i="0" spc="200">
                <a:solidFill>
                  <a:srgbClr val="B3242A"/>
                </a:solidFill>
                <a:latin typeface="Consolas"/>
              </a:rPr>
              <a:t>FILE MANAGEMENT · NAMING</a:t>
            </a:r>
          </a:p>
        </p:txBody>
      </p:sp>
      <p:sp>
        <p:nvSpPr>
          <p:cNvPr id="7" name="TextBox 6"/>
          <p:cNvSpPr txBox="1"/>
          <p:nvPr/>
        </p:nvSpPr>
        <p:spPr>
          <a:xfrm>
            <a:off x="566928" y="700000"/>
            <a:ext cx="10234879" cy="700000"/>
          </a:xfrm>
          <a:prstGeom prst="rect">
            <a:avLst/>
          </a:prstGeom>
          <a:noFill/>
        </p:spPr>
        <p:txBody>
          <a:bodyPr wrap="square" lIns="0" rIns="0" tIns="0" bIns="0">
            <a:spAutoFit/>
          </a:bodyPr>
          <a:lstStyle/>
          <a:p>
            <a:r>
              <a:rPr sz="3200" b="1" i="0">
                <a:solidFill>
                  <a:srgbClr val="161614"/>
                </a:solidFill>
                <a:latin typeface="Arial"/>
              </a:rPr>
              <a:t>Naming Convention</a:t>
            </a:r>
          </a:p>
        </p:txBody>
      </p:sp>
      <p:sp>
        <p:nvSpPr>
          <p:cNvPr id="8" name="Rectangle 7"/>
          <p:cNvSpPr/>
          <p:nvPr/>
        </p:nvSpPr>
        <p:spPr>
          <a:xfrm>
            <a:off x="566928" y="1420000"/>
            <a:ext cx="900000" cy="0"/>
          </a:xfrm>
          <a:prstGeom prst="rect">
            <a:avLst/>
          </a:prstGeom>
          <a:noFill/>
          <a:ln w="28575">
            <a:solidFill>
              <a:srgbClr val="B3242A"/>
            </a:solidFill>
          </a:ln>
          <a:effectLst/>
        </p:spPr>
        <p:txBody>
          <a:bodyPr rtlCol="0" anchor="ctr"/>
          <a:lstStyle/>
          <a:p>
            <a:pPr algn="ctr"/>
          </a:p>
        </p:txBody>
      </p:sp>
      <p:sp>
        <p:nvSpPr>
          <p:cNvPr id="9" name="TextBox 8"/>
          <p:cNvSpPr txBox="1"/>
          <p:nvPr/>
        </p:nvSpPr>
        <p:spPr>
          <a:xfrm>
            <a:off x="566928" y="1520000"/>
            <a:ext cx="10234879" cy="320000"/>
          </a:xfrm>
          <a:prstGeom prst="rect">
            <a:avLst/>
          </a:prstGeom>
          <a:noFill/>
        </p:spPr>
        <p:txBody>
          <a:bodyPr wrap="square" lIns="0" rIns="0" tIns="0" bIns="0">
            <a:spAutoFit/>
          </a:bodyPr>
          <a:lstStyle/>
          <a:p>
            <a:r>
              <a:rPr sz="1450" b="0" i="1">
                <a:solidFill>
                  <a:srgbClr val="5C5B53"/>
                </a:solidFill>
                <a:latin typeface="Arial"/>
              </a:rPr>
              <a:t>Rules that keep a file name useful six months from now</a:t>
            </a:r>
          </a:p>
        </p:txBody>
      </p:sp>
      <p:sp>
        <p:nvSpPr>
          <p:cNvPr id="10" name="Rectangle 9"/>
          <p:cNvSpPr/>
          <p:nvPr/>
        </p:nvSpPr>
        <p:spPr>
          <a:xfrm>
            <a:off x="566928" y="1920000"/>
            <a:ext cx="11057839" cy="0"/>
          </a:xfrm>
          <a:prstGeom prst="rect">
            <a:avLst/>
          </a:prstGeom>
          <a:noFill/>
          <a:ln w="6350">
            <a:solidFill>
              <a:srgbClr val="DAD8CC"/>
            </a:solidFill>
          </a:ln>
          <a:effectLst/>
        </p:spPr>
        <p:txBody>
          <a:bodyPr rtlCol="0" anchor="ctr"/>
          <a:lstStyle/>
          <a:p>
            <a:pPr algn="ctr"/>
          </a:p>
        </p:txBody>
      </p:sp>
      <p:sp>
        <p:nvSpPr>
          <p:cNvPr id="11" name="TextBox 10"/>
          <p:cNvSpPr txBox="1"/>
          <p:nvPr/>
        </p:nvSpPr>
        <p:spPr>
          <a:xfrm>
            <a:off x="11023600" y="6600000"/>
            <a:ext cx="603504" cy="250000"/>
          </a:xfrm>
          <a:prstGeom prst="rect">
            <a:avLst/>
          </a:prstGeom>
          <a:noFill/>
        </p:spPr>
        <p:txBody>
          <a:bodyPr wrap="square" lIns="0" rIns="0" tIns="0" bIns="0" anchor="ctr">
            <a:spAutoFit/>
          </a:bodyPr>
          <a:lstStyle/>
          <a:p>
            <a:pPr algn="ctr"/>
            <a:r>
              <a:rPr sz="1050" b="0" i="0">
                <a:solidFill>
                  <a:srgbClr val="9C9A90"/>
                </a:solidFill>
                <a:latin typeface="Consolas"/>
              </a:rPr>
              <a:t>07</a:t>
            </a:r>
          </a:p>
        </p:txBody>
      </p:sp>
      <p:sp>
        <p:nvSpPr>
          <p:cNvPr id="12" name="Rectangle 11"/>
          <p:cNvSpPr/>
          <p:nvPr/>
        </p:nvSpPr>
        <p:spPr>
          <a:xfrm>
            <a:off x="566928" y="2080000"/>
            <a:ext cx="38100" cy="818920"/>
          </a:xfrm>
          <a:prstGeom prst="rect">
            <a:avLst/>
          </a:prstGeom>
          <a:solidFill>
            <a:srgbClr val="B3242A"/>
          </a:solidFill>
          <a:ln>
            <a:noFill/>
          </a:ln>
          <a:effectLst/>
        </p:spPr>
        <p:txBody>
          <a:bodyPr rtlCol="0" anchor="ctr"/>
          <a:lstStyle/>
          <a:p>
            <a:pPr algn="ctr"/>
          </a:p>
        </p:txBody>
      </p:sp>
      <p:sp>
        <p:nvSpPr>
          <p:cNvPr id="13" name="TextBox 12"/>
          <p:cNvSpPr txBox="1"/>
          <p:nvPr/>
        </p:nvSpPr>
        <p:spPr>
          <a:xfrm>
            <a:off x="826928" y="2080000"/>
            <a:ext cx="10798144" cy="311270"/>
          </a:xfrm>
          <a:prstGeom prst="rect">
            <a:avLst/>
          </a:prstGeom>
          <a:noFill/>
        </p:spPr>
        <p:txBody>
          <a:bodyPr wrap="square" lIns="0" rIns="0" tIns="0" bIns="0" anchor="t">
            <a:spAutoFit/>
          </a:bodyPr>
          <a:lstStyle/>
          <a:p>
            <a:r>
              <a:rPr sz="1350" b="1" i="0">
                <a:solidFill>
                  <a:srgbClr val="161614"/>
                </a:solidFill>
                <a:latin typeface="Arial"/>
              </a:rPr>
              <a:t>No spaces, no special characters</a:t>
            </a:r>
          </a:p>
        </p:txBody>
      </p:sp>
      <p:sp>
        <p:nvSpPr>
          <p:cNvPr id="14" name="TextBox 13"/>
          <p:cNvSpPr txBox="1"/>
          <p:nvPr/>
        </p:nvSpPr>
        <p:spPr>
          <a:xfrm>
            <a:off x="826928" y="2391270"/>
            <a:ext cx="10798144" cy="518784"/>
          </a:xfrm>
          <a:prstGeom prst="rect">
            <a:avLst/>
          </a:prstGeom>
          <a:noFill/>
        </p:spPr>
        <p:txBody>
          <a:bodyPr wrap="square" lIns="0" rIns="0" tIns="0" bIns="0" anchor="t">
            <a:spAutoFit/>
          </a:bodyPr>
          <a:lstStyle/>
          <a:p>
            <a:pPr>
              <a:lnSpc>
                <a:spcPct val="110000"/>
              </a:lnSpc>
            </a:pPr>
            <a:r>
              <a:rPr sz="1050" b="0" i="0">
                <a:solidFill>
                  <a:srgbClr val="5C5B53"/>
                </a:solidFill>
                <a:latin typeface="Arial"/>
              </a:rPr>
              <a:t>Do not use spaces in the names of files or fields. Use upper case and lower case, or an underscore (_), to separate words. Do not use a hyphen (-) or other special characters such as ! or @.</a:t>
            </a:r>
          </a:p>
        </p:txBody>
      </p:sp>
      <p:sp>
        <p:nvSpPr>
          <p:cNvPr id="15" name="Rectangle 14"/>
          <p:cNvSpPr/>
          <p:nvPr/>
        </p:nvSpPr>
        <p:spPr>
          <a:xfrm>
            <a:off x="566928" y="2944640"/>
            <a:ext cx="38100" cy="818920"/>
          </a:xfrm>
          <a:prstGeom prst="rect">
            <a:avLst/>
          </a:prstGeom>
          <a:solidFill>
            <a:srgbClr val="B3242A"/>
          </a:solidFill>
          <a:ln>
            <a:noFill/>
          </a:ln>
          <a:effectLst/>
        </p:spPr>
        <p:txBody>
          <a:bodyPr rtlCol="0" anchor="ctr"/>
          <a:lstStyle/>
          <a:p>
            <a:pPr algn="ctr"/>
          </a:p>
        </p:txBody>
      </p:sp>
      <p:sp>
        <p:nvSpPr>
          <p:cNvPr id="16" name="TextBox 15"/>
          <p:cNvSpPr txBox="1"/>
          <p:nvPr/>
        </p:nvSpPr>
        <p:spPr>
          <a:xfrm>
            <a:off x="826928" y="2944640"/>
            <a:ext cx="10798144" cy="311270"/>
          </a:xfrm>
          <a:prstGeom prst="rect">
            <a:avLst/>
          </a:prstGeom>
          <a:noFill/>
        </p:spPr>
        <p:txBody>
          <a:bodyPr wrap="square" lIns="0" rIns="0" tIns="0" bIns="0" anchor="t">
            <a:spAutoFit/>
          </a:bodyPr>
          <a:lstStyle/>
          <a:p>
            <a:r>
              <a:rPr sz="1350" b="1" i="0">
                <a:solidFill>
                  <a:srgbClr val="161614"/>
                </a:solidFill>
                <a:latin typeface="Arial"/>
              </a:rPr>
              <a:t>Abbreviate for Shapefiles</a:t>
            </a:r>
          </a:p>
        </p:txBody>
      </p:sp>
      <p:sp>
        <p:nvSpPr>
          <p:cNvPr id="17" name="TextBox 16"/>
          <p:cNvSpPr txBox="1"/>
          <p:nvPr/>
        </p:nvSpPr>
        <p:spPr>
          <a:xfrm>
            <a:off x="826928" y="3255910"/>
            <a:ext cx="10798144" cy="518784"/>
          </a:xfrm>
          <a:prstGeom prst="rect">
            <a:avLst/>
          </a:prstGeom>
          <a:noFill/>
        </p:spPr>
        <p:txBody>
          <a:bodyPr wrap="square" lIns="0" rIns="0" tIns="0" bIns="0" anchor="t">
            <a:spAutoFit/>
          </a:bodyPr>
          <a:lstStyle/>
          <a:p>
            <a:pPr>
              <a:lnSpc>
                <a:spcPct val="110000"/>
              </a:lnSpc>
            </a:pPr>
            <a:r>
              <a:rPr sz="1050" b="0" i="0">
                <a:solidFill>
                  <a:srgbClr val="5C5B53"/>
                </a:solidFill>
                <a:latin typeface="Arial"/>
              </a:rPr>
              <a:t>Field names are limited in Shapefiles. Use appropriate abbreviations -- hsng for housing, pop for population, pct for percent, etc.</a:t>
            </a:r>
          </a:p>
        </p:txBody>
      </p:sp>
      <p:sp>
        <p:nvSpPr>
          <p:cNvPr id="18" name="Rectangle 17"/>
          <p:cNvSpPr/>
          <p:nvPr/>
        </p:nvSpPr>
        <p:spPr>
          <a:xfrm>
            <a:off x="566928" y="3809280"/>
            <a:ext cx="38100" cy="818920"/>
          </a:xfrm>
          <a:prstGeom prst="rect">
            <a:avLst/>
          </a:prstGeom>
          <a:solidFill>
            <a:srgbClr val="B3242A"/>
          </a:solidFill>
          <a:ln>
            <a:noFill/>
          </a:ln>
          <a:effectLst/>
        </p:spPr>
        <p:txBody>
          <a:bodyPr rtlCol="0" anchor="ctr"/>
          <a:lstStyle/>
          <a:p>
            <a:pPr algn="ctr"/>
          </a:p>
        </p:txBody>
      </p:sp>
      <p:sp>
        <p:nvSpPr>
          <p:cNvPr id="19" name="TextBox 18"/>
          <p:cNvSpPr txBox="1"/>
          <p:nvPr/>
        </p:nvSpPr>
        <p:spPr>
          <a:xfrm>
            <a:off x="826928" y="3809280"/>
            <a:ext cx="10798144" cy="311270"/>
          </a:xfrm>
          <a:prstGeom prst="rect">
            <a:avLst/>
          </a:prstGeom>
          <a:noFill/>
        </p:spPr>
        <p:txBody>
          <a:bodyPr wrap="square" lIns="0" rIns="0" tIns="0" bIns="0" anchor="t">
            <a:spAutoFit/>
          </a:bodyPr>
          <a:lstStyle/>
          <a:p>
            <a:r>
              <a:rPr sz="1350" b="1" i="0">
                <a:solidFill>
                  <a:srgbClr val="161614"/>
                </a:solidFill>
                <a:latin typeface="Arial"/>
              </a:rPr>
              <a:t>Be specific -- include the year</a:t>
            </a:r>
          </a:p>
        </p:txBody>
      </p:sp>
      <p:sp>
        <p:nvSpPr>
          <p:cNvPr id="20" name="TextBox 19"/>
          <p:cNvSpPr txBox="1"/>
          <p:nvPr/>
        </p:nvSpPr>
        <p:spPr>
          <a:xfrm>
            <a:off x="826928" y="4120550"/>
            <a:ext cx="10798144" cy="518784"/>
          </a:xfrm>
          <a:prstGeom prst="rect">
            <a:avLst/>
          </a:prstGeom>
          <a:noFill/>
        </p:spPr>
        <p:txBody>
          <a:bodyPr wrap="square" lIns="0" rIns="0" tIns="0" bIns="0" anchor="t">
            <a:spAutoFit/>
          </a:bodyPr>
          <a:lstStyle/>
          <a:p>
            <a:pPr>
              <a:lnSpc>
                <a:spcPct val="110000"/>
              </a:lnSpc>
            </a:pPr>
            <a:r>
              <a:rPr sz="1050" b="0" i="0">
                <a:solidFill>
                  <a:srgbClr val="5C5B53"/>
                </a:solidFill>
                <a:latin typeface="Arial"/>
              </a:rPr>
              <a:t>If a field stores the population for the year 2016, say pop_2016 or pop2016, not just pop.</a:t>
            </a:r>
          </a:p>
        </p:txBody>
      </p:sp>
      <p:sp>
        <p:nvSpPr>
          <p:cNvPr id="21" name="Rectangle 20"/>
          <p:cNvSpPr/>
          <p:nvPr/>
        </p:nvSpPr>
        <p:spPr>
          <a:xfrm>
            <a:off x="566928" y="4673920"/>
            <a:ext cx="38100" cy="818920"/>
          </a:xfrm>
          <a:prstGeom prst="rect">
            <a:avLst/>
          </a:prstGeom>
          <a:solidFill>
            <a:srgbClr val="B3242A"/>
          </a:solidFill>
          <a:ln>
            <a:noFill/>
          </a:ln>
          <a:effectLst/>
        </p:spPr>
        <p:txBody>
          <a:bodyPr rtlCol="0" anchor="ctr"/>
          <a:lstStyle/>
          <a:p>
            <a:pPr algn="ctr"/>
          </a:p>
        </p:txBody>
      </p:sp>
      <p:sp>
        <p:nvSpPr>
          <p:cNvPr id="22" name="TextBox 21"/>
          <p:cNvSpPr txBox="1"/>
          <p:nvPr/>
        </p:nvSpPr>
        <p:spPr>
          <a:xfrm>
            <a:off x="826928" y="4673920"/>
            <a:ext cx="10798144" cy="311270"/>
          </a:xfrm>
          <a:prstGeom prst="rect">
            <a:avLst/>
          </a:prstGeom>
          <a:noFill/>
        </p:spPr>
        <p:txBody>
          <a:bodyPr wrap="square" lIns="0" rIns="0" tIns="0" bIns="0" anchor="t">
            <a:spAutoFit/>
          </a:bodyPr>
          <a:lstStyle/>
          <a:p>
            <a:r>
              <a:rPr sz="1350" b="1" i="0">
                <a:solidFill>
                  <a:srgbClr val="161614"/>
                </a:solidFill>
                <a:latin typeface="Arial"/>
              </a:rPr>
              <a:t>Never forget the unit</a:t>
            </a:r>
          </a:p>
        </p:txBody>
      </p:sp>
      <p:sp>
        <p:nvSpPr>
          <p:cNvPr id="23" name="TextBox 22"/>
          <p:cNvSpPr txBox="1"/>
          <p:nvPr/>
        </p:nvSpPr>
        <p:spPr>
          <a:xfrm>
            <a:off x="826928" y="4985190"/>
            <a:ext cx="10798144" cy="518784"/>
          </a:xfrm>
          <a:prstGeom prst="rect">
            <a:avLst/>
          </a:prstGeom>
          <a:noFill/>
        </p:spPr>
        <p:txBody>
          <a:bodyPr wrap="square" lIns="0" rIns="0" tIns="0" bIns="0" anchor="t">
            <a:spAutoFit/>
          </a:bodyPr>
          <a:lstStyle/>
          <a:p>
            <a:pPr>
              <a:lnSpc>
                <a:spcPct val="110000"/>
              </a:lnSpc>
            </a:pPr>
            <a:r>
              <a:rPr sz="1050" b="0" i="0">
                <a:solidFill>
                  <a:srgbClr val="5C5B53"/>
                </a:solidFill>
                <a:latin typeface="Arial"/>
              </a:rPr>
              <a:t>If you are creating a field for the area of polygons, include the unit -- AreaSqFt (square feet), AreaSqMe (square meters), AreaSqMi (square miles).</a:t>
            </a:r>
          </a:p>
        </p:txBody>
      </p:sp>
      <p:sp>
        <p:nvSpPr>
          <p:cNvPr id="24" name="Rectangle 23"/>
          <p:cNvSpPr/>
          <p:nvPr/>
        </p:nvSpPr>
        <p:spPr>
          <a:xfrm>
            <a:off x="566928" y="5538560"/>
            <a:ext cx="38100" cy="818920"/>
          </a:xfrm>
          <a:prstGeom prst="rect">
            <a:avLst/>
          </a:prstGeom>
          <a:solidFill>
            <a:srgbClr val="B3242A"/>
          </a:solidFill>
          <a:ln>
            <a:noFill/>
          </a:ln>
          <a:effectLst/>
        </p:spPr>
        <p:txBody>
          <a:bodyPr rtlCol="0" anchor="ctr"/>
          <a:lstStyle/>
          <a:p>
            <a:pPr algn="ctr"/>
          </a:p>
        </p:txBody>
      </p:sp>
      <p:sp>
        <p:nvSpPr>
          <p:cNvPr id="25" name="TextBox 24"/>
          <p:cNvSpPr txBox="1"/>
          <p:nvPr/>
        </p:nvSpPr>
        <p:spPr>
          <a:xfrm>
            <a:off x="826928" y="5538560"/>
            <a:ext cx="10798144" cy="311270"/>
          </a:xfrm>
          <a:prstGeom prst="rect">
            <a:avLst/>
          </a:prstGeom>
          <a:noFill/>
        </p:spPr>
        <p:txBody>
          <a:bodyPr wrap="square" lIns="0" rIns="0" tIns="0" bIns="0" anchor="t">
            <a:spAutoFit/>
          </a:bodyPr>
          <a:lstStyle/>
          <a:p>
            <a:r>
              <a:rPr sz="1350" b="1" i="0">
                <a:solidFill>
                  <a:srgbClr val="161614"/>
                </a:solidFill>
                <a:latin typeface="Arial"/>
              </a:rPr>
              <a:t>Name outputs after what created them</a:t>
            </a:r>
          </a:p>
        </p:txBody>
      </p:sp>
      <p:sp>
        <p:nvSpPr>
          <p:cNvPr id="26" name="TextBox 25"/>
          <p:cNvSpPr txBox="1"/>
          <p:nvPr/>
        </p:nvSpPr>
        <p:spPr>
          <a:xfrm>
            <a:off x="826928" y="5849830"/>
            <a:ext cx="10798144" cy="518784"/>
          </a:xfrm>
          <a:prstGeom prst="rect">
            <a:avLst/>
          </a:prstGeom>
          <a:noFill/>
        </p:spPr>
        <p:txBody>
          <a:bodyPr wrap="square" lIns="0" rIns="0" tIns="0" bIns="0" anchor="t">
            <a:spAutoFit/>
          </a:bodyPr>
          <a:lstStyle/>
          <a:p>
            <a:pPr>
              <a:lnSpc>
                <a:spcPct val="110000"/>
              </a:lnSpc>
            </a:pPr>
            <a:r>
              <a:rPr sz="1050" b="0" i="0">
                <a:solidFill>
                  <a:srgbClr val="5C5B53"/>
                </a:solidFill>
                <a:latin typeface="Arial"/>
              </a:rPr>
              <a:t>When combining two layers -- joining, intersecting, union -- include that in the name of the output layer. For example, intLayerA_layerB for an intersection, joinLayerA_LayerB for a join.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2192000" cy="50800"/>
          </a:xfrm>
          <a:prstGeom prst="rect">
            <a:avLst/>
          </a:prstGeom>
          <a:solidFill>
            <a:srgbClr val="B3242A"/>
          </a:solidFill>
          <a:ln>
            <a:noFill/>
          </a:ln>
          <a:effectLst/>
        </p:spPr>
        <p:txBody>
          <a:bodyPr rtlCol="0" anchor="ctr"/>
          <a:lstStyle/>
          <a:p>
            <a:pPr algn="ctr"/>
          </a:p>
        </p:txBody>
      </p:sp>
      <p:sp>
        <p:nvSpPr>
          <p:cNvPr id="4" name="Rectangle 3"/>
          <p:cNvSpPr/>
          <p:nvPr/>
        </p:nvSpPr>
        <p:spPr>
          <a:xfrm>
            <a:off x="0" y="6553200"/>
            <a:ext cx="12192000" cy="0"/>
          </a:xfrm>
          <a:prstGeom prst="rect">
            <a:avLst/>
          </a:prstGeom>
          <a:noFill/>
          <a:ln w="6350">
            <a:solidFill>
              <a:srgbClr val="DAD8CC"/>
            </a:solidFill>
          </a:ln>
          <a:effectLst/>
        </p:spPr>
        <p:txBody>
          <a:bodyPr rtlCol="0" anchor="ctr"/>
          <a:lstStyle/>
          <a:p>
            <a:pPr algn="ctr"/>
          </a:p>
        </p:txBody>
      </p:sp>
      <p:sp>
        <p:nvSpPr>
          <p:cNvPr id="5" name="Rectangle 4"/>
          <p:cNvSpPr/>
          <p:nvPr/>
        </p:nvSpPr>
        <p:spPr>
          <a:xfrm>
            <a:off x="566928" y="344424"/>
            <a:ext cx="137160" cy="137160"/>
          </a:xfrm>
          <a:prstGeom prst="rect">
            <a:avLst/>
          </a:prstGeom>
          <a:solidFill>
            <a:srgbClr val="B3242A"/>
          </a:solidFill>
          <a:ln>
            <a:noFill/>
          </a:ln>
          <a:effectLst/>
        </p:spPr>
        <p:txBody>
          <a:bodyPr rtlCol="0" anchor="ctr"/>
          <a:lstStyle/>
          <a:p>
            <a:pPr algn="ctr"/>
          </a:p>
        </p:txBody>
      </p:sp>
      <p:sp>
        <p:nvSpPr>
          <p:cNvPr id="6" name="TextBox 5"/>
          <p:cNvSpPr txBox="1"/>
          <p:nvPr/>
        </p:nvSpPr>
        <p:spPr>
          <a:xfrm>
            <a:off x="866648" y="310896"/>
            <a:ext cx="9000000" cy="274320"/>
          </a:xfrm>
          <a:prstGeom prst="rect">
            <a:avLst/>
          </a:prstGeom>
          <a:noFill/>
        </p:spPr>
        <p:txBody>
          <a:bodyPr wrap="square" lIns="0" rIns="0" tIns="0" bIns="0">
            <a:spAutoFit/>
          </a:bodyPr>
          <a:lstStyle/>
          <a:p>
            <a:r>
              <a:rPr sz="1100" b="1" i="0" spc="200">
                <a:solidFill>
                  <a:srgbClr val="B3242A"/>
                </a:solidFill>
                <a:latin typeface="Consolas"/>
              </a:rPr>
              <a:t>FILE MANAGEMENT · STRUCTURE</a:t>
            </a:r>
          </a:p>
        </p:txBody>
      </p:sp>
      <p:sp>
        <p:nvSpPr>
          <p:cNvPr id="7" name="TextBox 6"/>
          <p:cNvSpPr txBox="1"/>
          <p:nvPr/>
        </p:nvSpPr>
        <p:spPr>
          <a:xfrm>
            <a:off x="566928" y="700000"/>
            <a:ext cx="10234879" cy="700000"/>
          </a:xfrm>
          <a:prstGeom prst="rect">
            <a:avLst/>
          </a:prstGeom>
          <a:noFill/>
        </p:spPr>
        <p:txBody>
          <a:bodyPr wrap="square" lIns="0" rIns="0" tIns="0" bIns="0">
            <a:spAutoFit/>
          </a:bodyPr>
          <a:lstStyle/>
          <a:p>
            <a:r>
              <a:rPr sz="3200" b="1" i="0">
                <a:solidFill>
                  <a:srgbClr val="161614"/>
                </a:solidFill>
                <a:latin typeface="Arial"/>
              </a:rPr>
              <a:t>How ArcGIS Pro Organizes It All</a:t>
            </a:r>
          </a:p>
        </p:txBody>
      </p:sp>
      <p:sp>
        <p:nvSpPr>
          <p:cNvPr id="8" name="Rectangle 7"/>
          <p:cNvSpPr/>
          <p:nvPr/>
        </p:nvSpPr>
        <p:spPr>
          <a:xfrm>
            <a:off x="566928" y="1420000"/>
            <a:ext cx="900000" cy="0"/>
          </a:xfrm>
          <a:prstGeom prst="rect">
            <a:avLst/>
          </a:prstGeom>
          <a:noFill/>
          <a:ln w="28575">
            <a:solidFill>
              <a:srgbClr val="B3242A"/>
            </a:solidFill>
          </a:ln>
          <a:effectLst/>
        </p:spPr>
        <p:txBody>
          <a:bodyPr rtlCol="0" anchor="ctr"/>
          <a:lstStyle/>
          <a:p>
            <a:pPr algn="ctr"/>
          </a:p>
        </p:txBody>
      </p:sp>
      <p:sp>
        <p:nvSpPr>
          <p:cNvPr id="9" name="TextBox 8"/>
          <p:cNvSpPr txBox="1"/>
          <p:nvPr/>
        </p:nvSpPr>
        <p:spPr>
          <a:xfrm>
            <a:off x="566928" y="1520000"/>
            <a:ext cx="10234879" cy="320000"/>
          </a:xfrm>
          <a:prstGeom prst="rect">
            <a:avLst/>
          </a:prstGeom>
          <a:noFill/>
        </p:spPr>
        <p:txBody>
          <a:bodyPr wrap="square" lIns="0" rIns="0" tIns="0" bIns="0">
            <a:spAutoFit/>
          </a:bodyPr>
          <a:lstStyle/>
          <a:p>
            <a:r>
              <a:rPr sz="1450" b="0" i="1">
                <a:solidFill>
                  <a:srgbClr val="5C5B53"/>
                </a:solidFill>
                <a:latin typeface="Arial"/>
              </a:rPr>
              <a:t>The relationship among projects, maps, and layers</a:t>
            </a:r>
          </a:p>
        </p:txBody>
      </p:sp>
      <p:sp>
        <p:nvSpPr>
          <p:cNvPr id="10" name="Rectangle 9"/>
          <p:cNvSpPr/>
          <p:nvPr/>
        </p:nvSpPr>
        <p:spPr>
          <a:xfrm>
            <a:off x="566928" y="1920000"/>
            <a:ext cx="11057839" cy="0"/>
          </a:xfrm>
          <a:prstGeom prst="rect">
            <a:avLst/>
          </a:prstGeom>
          <a:noFill/>
          <a:ln w="6350">
            <a:solidFill>
              <a:srgbClr val="DAD8CC"/>
            </a:solidFill>
          </a:ln>
          <a:effectLst/>
        </p:spPr>
        <p:txBody>
          <a:bodyPr rtlCol="0" anchor="ctr"/>
          <a:lstStyle/>
          <a:p>
            <a:pPr algn="ctr"/>
          </a:p>
        </p:txBody>
      </p:sp>
      <p:sp>
        <p:nvSpPr>
          <p:cNvPr id="11" name="TextBox 10"/>
          <p:cNvSpPr txBox="1"/>
          <p:nvPr/>
        </p:nvSpPr>
        <p:spPr>
          <a:xfrm>
            <a:off x="11023600" y="6600000"/>
            <a:ext cx="603504" cy="250000"/>
          </a:xfrm>
          <a:prstGeom prst="rect">
            <a:avLst/>
          </a:prstGeom>
          <a:noFill/>
        </p:spPr>
        <p:txBody>
          <a:bodyPr wrap="square" lIns="0" rIns="0" tIns="0" bIns="0" anchor="ctr">
            <a:spAutoFit/>
          </a:bodyPr>
          <a:lstStyle/>
          <a:p>
            <a:pPr algn="ctr"/>
            <a:r>
              <a:rPr sz="1050" b="0" i="0">
                <a:solidFill>
                  <a:srgbClr val="9C9A90"/>
                </a:solidFill>
                <a:latin typeface="Consolas"/>
              </a:rPr>
              <a:t>08</a:t>
            </a:r>
          </a:p>
        </p:txBody>
      </p:sp>
      <p:sp>
        <p:nvSpPr>
          <p:cNvPr id="12" name="Rectangle 11"/>
          <p:cNvSpPr/>
          <p:nvPr/>
        </p:nvSpPr>
        <p:spPr>
          <a:xfrm>
            <a:off x="846928" y="2360000"/>
            <a:ext cx="0" cy="3763200"/>
          </a:xfrm>
          <a:prstGeom prst="rect">
            <a:avLst/>
          </a:prstGeom>
          <a:noFill/>
          <a:ln w="12700">
            <a:solidFill>
              <a:srgbClr val="B8B5A5"/>
            </a:solidFill>
          </a:ln>
          <a:effectLst/>
        </p:spPr>
        <p:txBody>
          <a:bodyPr rtlCol="0" anchor="ctr"/>
          <a:lstStyle/>
          <a:p>
            <a:pPr algn="ctr"/>
          </a:p>
        </p:txBody>
      </p:sp>
      <p:sp>
        <p:nvSpPr>
          <p:cNvPr id="13" name="Rectangle 12"/>
          <p:cNvSpPr/>
          <p:nvPr/>
        </p:nvSpPr>
        <p:spPr>
          <a:xfrm>
            <a:off x="566928" y="2080000"/>
            <a:ext cx="560000" cy="560000"/>
          </a:xfrm>
          <a:prstGeom prst="rect">
            <a:avLst/>
          </a:prstGeom>
          <a:solidFill>
            <a:srgbClr val="B3242A"/>
          </a:solidFill>
          <a:ln>
            <a:noFill/>
          </a:ln>
          <a:effectLst/>
        </p:spPr>
        <p:txBody>
          <a:bodyPr rtlCol="0" anchor="ctr"/>
          <a:lstStyle/>
          <a:p>
            <a:pPr algn="ctr"/>
          </a:p>
        </p:txBody>
      </p:sp>
      <p:pic>
        <p:nvPicPr>
          <p:cNvPr id="14" name="Picture 13" descr="project_ffffff.png"/>
          <p:cNvPicPr>
            <a:picLocks noChangeAspect="1"/>
          </p:cNvPicPr>
          <p:nvPr/>
        </p:nvPicPr>
        <p:blipFill>
          <a:blip r:embed="rId2"/>
          <a:stretch>
            <a:fillRect/>
          </a:stretch>
        </p:blipFill>
        <p:spPr>
          <a:xfrm>
            <a:off x="696928" y="2210000"/>
            <a:ext cx="300000" cy="300000"/>
          </a:xfrm>
          <a:prstGeom prst="rect">
            <a:avLst/>
          </a:prstGeom>
        </p:spPr>
      </p:pic>
      <p:sp>
        <p:nvSpPr>
          <p:cNvPr id="15" name="TextBox 14"/>
          <p:cNvSpPr txBox="1"/>
          <p:nvPr/>
        </p:nvSpPr>
        <p:spPr>
          <a:xfrm>
            <a:off x="1406928" y="2080000"/>
            <a:ext cx="10218144" cy="420000"/>
          </a:xfrm>
          <a:prstGeom prst="rect">
            <a:avLst/>
          </a:prstGeom>
          <a:noFill/>
        </p:spPr>
        <p:txBody>
          <a:bodyPr wrap="square" lIns="0" rIns="0" tIns="0" bIns="0" anchor="ctr">
            <a:spAutoFit/>
          </a:bodyPr>
          <a:lstStyle/>
          <a:p>
            <a:r>
              <a:rPr sz="1800" b="1" i="0">
                <a:solidFill>
                  <a:srgbClr val="161614"/>
                </a:solidFill>
                <a:latin typeface="Arial"/>
              </a:rPr>
              <a:t>Projects (.aprx)</a:t>
            </a:r>
          </a:p>
        </p:txBody>
      </p:sp>
      <p:sp>
        <p:nvSpPr>
          <p:cNvPr id="16" name="TextBox 15"/>
          <p:cNvSpPr txBox="1"/>
          <p:nvPr/>
        </p:nvSpPr>
        <p:spPr>
          <a:xfrm>
            <a:off x="1406928" y="2540000"/>
            <a:ext cx="10218144" cy="961066"/>
          </a:xfrm>
          <a:prstGeom prst="rect">
            <a:avLst/>
          </a:prstGeom>
          <a:noFill/>
        </p:spPr>
        <p:txBody>
          <a:bodyPr wrap="square" lIns="0" rIns="0" tIns="0" bIns="0" anchor="t">
            <a:spAutoFit/>
          </a:bodyPr>
          <a:lstStyle/>
          <a:p>
            <a:pPr>
              <a:lnSpc>
                <a:spcPct val="120000"/>
              </a:lnSpc>
            </a:pPr>
            <a:r>
              <a:rPr sz="1150" b="0" i="0">
                <a:solidFill>
                  <a:srgbClr val="5C5B53"/>
                </a:solidFill>
                <a:latin typeface="Arial"/>
              </a:rPr>
              <a:t>•  The “container” for everything you do in ArcGIS Pro</a:t>
            </a:r>
          </a:p>
          <a:p>
            <a:pPr>
              <a:lnSpc>
                <a:spcPct val="120000"/>
              </a:lnSpc>
            </a:pPr>
            <a:r>
              <a:rPr sz="1150" b="0" i="0">
                <a:solidFill>
                  <a:srgbClr val="5C5B53"/>
                </a:solidFill>
                <a:latin typeface="Arial"/>
              </a:rPr>
              <a:t>•  Holds maps, layouts, connections, toolboxes, and settings</a:t>
            </a:r>
          </a:p>
          <a:p>
            <a:pPr>
              <a:lnSpc>
                <a:spcPct val="120000"/>
              </a:lnSpc>
            </a:pPr>
            <a:r>
              <a:rPr sz="1150" b="0" i="0">
                <a:solidFill>
                  <a:srgbClr val="5C5B53"/>
                </a:solidFill>
                <a:latin typeface="Arial"/>
              </a:rPr>
              <a:t>•  Like your “workspace” -- it keeps the entire GIS project organized</a:t>
            </a:r>
          </a:p>
        </p:txBody>
      </p:sp>
      <p:sp>
        <p:nvSpPr>
          <p:cNvPr id="17" name="Rectangle 16"/>
          <p:cNvSpPr/>
          <p:nvPr/>
        </p:nvSpPr>
        <p:spPr>
          <a:xfrm>
            <a:off x="566928" y="3521066"/>
            <a:ext cx="560000" cy="560000"/>
          </a:xfrm>
          <a:prstGeom prst="rect">
            <a:avLst/>
          </a:prstGeom>
          <a:solidFill>
            <a:srgbClr val="B3242A"/>
          </a:solidFill>
          <a:ln>
            <a:noFill/>
          </a:ln>
          <a:effectLst/>
        </p:spPr>
        <p:txBody>
          <a:bodyPr rtlCol="0" anchor="ctr"/>
          <a:lstStyle/>
          <a:p>
            <a:pPr algn="ctr"/>
          </a:p>
        </p:txBody>
      </p:sp>
      <p:pic>
        <p:nvPicPr>
          <p:cNvPr id="18" name="Picture 17" descr="mapmarked_ffffff.png"/>
          <p:cNvPicPr>
            <a:picLocks noChangeAspect="1"/>
          </p:cNvPicPr>
          <p:nvPr/>
        </p:nvPicPr>
        <p:blipFill>
          <a:blip r:embed="rId3"/>
          <a:stretch>
            <a:fillRect/>
          </a:stretch>
        </p:blipFill>
        <p:spPr>
          <a:xfrm>
            <a:off x="696928" y="3651066"/>
            <a:ext cx="300000" cy="300000"/>
          </a:xfrm>
          <a:prstGeom prst="rect">
            <a:avLst/>
          </a:prstGeom>
        </p:spPr>
      </p:pic>
      <p:sp>
        <p:nvSpPr>
          <p:cNvPr id="19" name="TextBox 18"/>
          <p:cNvSpPr txBox="1"/>
          <p:nvPr/>
        </p:nvSpPr>
        <p:spPr>
          <a:xfrm>
            <a:off x="1406928" y="3521066"/>
            <a:ext cx="10218144" cy="420000"/>
          </a:xfrm>
          <a:prstGeom prst="rect">
            <a:avLst/>
          </a:prstGeom>
          <a:noFill/>
        </p:spPr>
        <p:txBody>
          <a:bodyPr wrap="square" lIns="0" rIns="0" tIns="0" bIns="0" anchor="ctr">
            <a:spAutoFit/>
          </a:bodyPr>
          <a:lstStyle/>
          <a:p>
            <a:r>
              <a:rPr sz="1800" b="1" i="0">
                <a:solidFill>
                  <a:srgbClr val="161614"/>
                </a:solidFill>
                <a:latin typeface="Arial"/>
              </a:rPr>
              <a:t>Maps (.mapx)</a:t>
            </a:r>
          </a:p>
        </p:txBody>
      </p:sp>
      <p:sp>
        <p:nvSpPr>
          <p:cNvPr id="20" name="TextBox 19"/>
          <p:cNvSpPr txBox="1"/>
          <p:nvPr/>
        </p:nvSpPr>
        <p:spPr>
          <a:xfrm>
            <a:off x="1406928" y="3981066"/>
            <a:ext cx="10218144" cy="961066"/>
          </a:xfrm>
          <a:prstGeom prst="rect">
            <a:avLst/>
          </a:prstGeom>
          <a:noFill/>
        </p:spPr>
        <p:txBody>
          <a:bodyPr wrap="square" lIns="0" rIns="0" tIns="0" bIns="0" anchor="t">
            <a:spAutoFit/>
          </a:bodyPr>
          <a:lstStyle/>
          <a:p>
            <a:pPr>
              <a:lnSpc>
                <a:spcPct val="120000"/>
              </a:lnSpc>
            </a:pPr>
            <a:r>
              <a:rPr sz="1150" b="0" i="0">
                <a:solidFill>
                  <a:srgbClr val="5C5B53"/>
                </a:solidFill>
                <a:latin typeface="Arial"/>
              </a:rPr>
              <a:t>•  A “view” or “representation” of spatial data within your project</a:t>
            </a:r>
          </a:p>
          <a:p>
            <a:pPr>
              <a:lnSpc>
                <a:spcPct val="120000"/>
              </a:lnSpc>
            </a:pPr>
            <a:r>
              <a:rPr sz="1150" b="0" i="0">
                <a:solidFill>
                  <a:srgbClr val="5C5B53"/>
                </a:solidFill>
                <a:latin typeface="Arial"/>
              </a:rPr>
              <a:t>•  Each map has its own coordinate system, symbology, and extent</a:t>
            </a:r>
          </a:p>
        </p:txBody>
      </p:sp>
      <p:sp>
        <p:nvSpPr>
          <p:cNvPr id="21" name="Rectangle 20"/>
          <p:cNvSpPr/>
          <p:nvPr/>
        </p:nvSpPr>
        <p:spPr>
          <a:xfrm>
            <a:off x="566928" y="4962133"/>
            <a:ext cx="560000" cy="560000"/>
          </a:xfrm>
          <a:prstGeom prst="rect">
            <a:avLst/>
          </a:prstGeom>
          <a:solidFill>
            <a:srgbClr val="B3242A"/>
          </a:solidFill>
          <a:ln>
            <a:noFill/>
          </a:ln>
          <a:effectLst/>
        </p:spPr>
        <p:txBody>
          <a:bodyPr rtlCol="0" anchor="ctr"/>
          <a:lstStyle/>
          <a:p>
            <a:pPr algn="ctr"/>
          </a:p>
        </p:txBody>
      </p:sp>
      <p:pic>
        <p:nvPicPr>
          <p:cNvPr id="22" name="Picture 21" descr="layer_ffffff.png"/>
          <p:cNvPicPr>
            <a:picLocks noChangeAspect="1"/>
          </p:cNvPicPr>
          <p:nvPr/>
        </p:nvPicPr>
        <p:blipFill>
          <a:blip r:embed="rId4"/>
          <a:stretch>
            <a:fillRect/>
          </a:stretch>
        </p:blipFill>
        <p:spPr>
          <a:xfrm>
            <a:off x="696928" y="5092133"/>
            <a:ext cx="300000" cy="300000"/>
          </a:xfrm>
          <a:prstGeom prst="rect">
            <a:avLst/>
          </a:prstGeom>
        </p:spPr>
      </p:pic>
      <p:sp>
        <p:nvSpPr>
          <p:cNvPr id="23" name="TextBox 22"/>
          <p:cNvSpPr txBox="1"/>
          <p:nvPr/>
        </p:nvSpPr>
        <p:spPr>
          <a:xfrm>
            <a:off x="1406928" y="4962133"/>
            <a:ext cx="10218144" cy="420000"/>
          </a:xfrm>
          <a:prstGeom prst="rect">
            <a:avLst/>
          </a:prstGeom>
          <a:noFill/>
        </p:spPr>
        <p:txBody>
          <a:bodyPr wrap="square" lIns="0" rIns="0" tIns="0" bIns="0" anchor="ctr">
            <a:spAutoFit/>
          </a:bodyPr>
          <a:lstStyle/>
          <a:p>
            <a:r>
              <a:rPr sz="1800" b="1" i="0">
                <a:solidFill>
                  <a:srgbClr val="161614"/>
                </a:solidFill>
                <a:latin typeface="Arial"/>
              </a:rPr>
              <a:t>Layers (.lyrx)</a:t>
            </a:r>
          </a:p>
        </p:txBody>
      </p:sp>
      <p:sp>
        <p:nvSpPr>
          <p:cNvPr id="24" name="TextBox 23"/>
          <p:cNvSpPr txBox="1"/>
          <p:nvPr/>
        </p:nvSpPr>
        <p:spPr>
          <a:xfrm>
            <a:off x="1406928" y="5422133"/>
            <a:ext cx="10218144" cy="961066"/>
          </a:xfrm>
          <a:prstGeom prst="rect">
            <a:avLst/>
          </a:prstGeom>
          <a:noFill/>
        </p:spPr>
        <p:txBody>
          <a:bodyPr wrap="square" lIns="0" rIns="0" tIns="0" bIns="0" anchor="t">
            <a:spAutoFit/>
          </a:bodyPr>
          <a:lstStyle/>
          <a:p>
            <a:pPr>
              <a:lnSpc>
                <a:spcPct val="120000"/>
              </a:lnSpc>
            </a:pPr>
            <a:r>
              <a:rPr sz="1150" b="0" i="0">
                <a:solidFill>
                  <a:srgbClr val="5C5B53"/>
                </a:solidFill>
                <a:latin typeface="Arial"/>
              </a:rPr>
              <a:t>•  “Building blocks” of a map -- each layer represents one dataset</a:t>
            </a:r>
          </a:p>
          <a:p>
            <a:pPr>
              <a:lnSpc>
                <a:spcPct val="120000"/>
              </a:lnSpc>
            </a:pPr>
            <a:r>
              <a:rPr sz="1150" b="0" i="0">
                <a:solidFill>
                  <a:srgbClr val="5C5B53"/>
                </a:solidFill>
                <a:latin typeface="Arial"/>
              </a:rPr>
              <a:t>•  Defines how data looks (symbology, labeling) but not the data itself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4200000" cy="6858000"/>
          </a:xfrm>
          <a:prstGeom prst="rect">
            <a:avLst/>
          </a:prstGeom>
          <a:solidFill>
            <a:srgbClr val="B87C0C"/>
          </a:solidFill>
          <a:ln>
            <a:noFill/>
          </a:ln>
          <a:effectLst/>
        </p:spPr>
        <p:txBody>
          <a:bodyPr rtlCol="0" anchor="ctr"/>
          <a:lstStyle/>
          <a:p>
            <a:pPr algn="ctr"/>
          </a:p>
        </p:txBody>
      </p:sp>
      <p:sp>
        <p:nvSpPr>
          <p:cNvPr id="4" name="TextBox 3"/>
          <p:cNvSpPr txBox="1"/>
          <p:nvPr/>
        </p:nvSpPr>
        <p:spPr>
          <a:xfrm>
            <a:off x="450000" y="900000"/>
            <a:ext cx="3500000" cy="400000"/>
          </a:xfrm>
          <a:prstGeom prst="rect">
            <a:avLst/>
          </a:prstGeom>
          <a:noFill/>
        </p:spPr>
        <p:txBody>
          <a:bodyPr wrap="square" lIns="0" rIns="0" tIns="0" bIns="0">
            <a:spAutoFit/>
          </a:bodyPr>
          <a:lstStyle/>
          <a:p>
            <a:r>
              <a:rPr sz="1200" b="1" i="0" spc="180">
                <a:solidFill>
                  <a:srgbClr val="FFFFFF"/>
                </a:solidFill>
                <a:latin typeface="Consolas"/>
              </a:rPr>
              <a:t>SECTION 03 OF 03</a:t>
            </a:r>
          </a:p>
        </p:txBody>
      </p:sp>
      <p:sp>
        <p:nvSpPr>
          <p:cNvPr id="5" name="TextBox 4"/>
          <p:cNvSpPr txBox="1"/>
          <p:nvPr/>
        </p:nvSpPr>
        <p:spPr>
          <a:xfrm>
            <a:off x="450000" y="1700000"/>
            <a:ext cx="3500000" cy="3400000"/>
          </a:xfrm>
          <a:prstGeom prst="rect">
            <a:avLst/>
          </a:prstGeom>
          <a:noFill/>
        </p:spPr>
        <p:txBody>
          <a:bodyPr wrap="square" lIns="0" rIns="0" tIns="0" bIns="0" anchor="ctr">
            <a:spAutoFit/>
          </a:bodyPr>
          <a:lstStyle/>
          <a:p>
            <a:r>
              <a:rPr sz="13000" b="1" i="0">
                <a:solidFill>
                  <a:srgbClr val="FFFFFF"/>
                </a:solidFill>
                <a:latin typeface="Consolas"/>
              </a:rPr>
              <a:t>03</a:t>
            </a:r>
          </a:p>
        </p:txBody>
      </p:sp>
      <p:sp>
        <p:nvSpPr>
          <p:cNvPr id="6" name="TextBox 5"/>
          <p:cNvSpPr txBox="1"/>
          <p:nvPr/>
        </p:nvSpPr>
        <p:spPr>
          <a:xfrm>
            <a:off x="4766928" y="2350000"/>
            <a:ext cx="6858144" cy="900000"/>
          </a:xfrm>
          <a:prstGeom prst="rect">
            <a:avLst/>
          </a:prstGeom>
          <a:noFill/>
        </p:spPr>
        <p:txBody>
          <a:bodyPr wrap="square" lIns="0" rIns="0" tIns="0" bIns="0">
            <a:spAutoFit/>
          </a:bodyPr>
          <a:lstStyle/>
          <a:p>
            <a:r>
              <a:rPr sz="4200" b="1" i="0">
                <a:solidFill>
                  <a:srgbClr val="161614"/>
                </a:solidFill>
                <a:latin typeface="Arial"/>
              </a:rPr>
              <a:t>Troubleshooting</a:t>
            </a:r>
          </a:p>
        </p:txBody>
      </p:sp>
      <p:sp>
        <p:nvSpPr>
          <p:cNvPr id="7" name="Rectangle 6"/>
          <p:cNvSpPr/>
          <p:nvPr/>
        </p:nvSpPr>
        <p:spPr>
          <a:xfrm>
            <a:off x="4766928" y="3200000"/>
            <a:ext cx="900000" cy="0"/>
          </a:xfrm>
          <a:prstGeom prst="rect">
            <a:avLst/>
          </a:prstGeom>
          <a:noFill/>
          <a:ln w="28575">
            <a:solidFill>
              <a:srgbClr val="B87C0C"/>
            </a:solidFill>
          </a:ln>
          <a:effectLst/>
        </p:spPr>
        <p:txBody>
          <a:bodyPr rtlCol="0" anchor="ctr"/>
          <a:lstStyle/>
          <a:p>
            <a:pPr algn="ctr"/>
          </a:p>
        </p:txBody>
      </p:sp>
      <p:sp>
        <p:nvSpPr>
          <p:cNvPr id="8" name="TextBox 7"/>
          <p:cNvSpPr txBox="1"/>
          <p:nvPr/>
        </p:nvSpPr>
        <p:spPr>
          <a:xfrm>
            <a:off x="4766928" y="3350000"/>
            <a:ext cx="6858144" cy="700000"/>
          </a:xfrm>
          <a:prstGeom prst="rect">
            <a:avLst/>
          </a:prstGeom>
          <a:noFill/>
        </p:spPr>
        <p:txBody>
          <a:bodyPr wrap="square" lIns="0" rIns="0" tIns="0" bIns="0">
            <a:spAutoFit/>
          </a:bodyPr>
          <a:lstStyle/>
          <a:p>
            <a:pPr>
              <a:lnSpc>
                <a:spcPct val="115000"/>
              </a:lnSpc>
            </a:pPr>
            <a:r>
              <a:rPr sz="1650" b="0" i="1">
                <a:solidFill>
                  <a:srgbClr val="5C5B53"/>
                </a:solidFill>
                <a:latin typeface="Arial"/>
              </a:rPr>
              <a:t>A method for working through problems on your own first</a:t>
            </a:r>
          </a:p>
        </p:txBody>
      </p:sp>
      <p:sp>
        <p:nvSpPr>
          <p:cNvPr id="9" name="Rectangle 8"/>
          <p:cNvSpPr/>
          <p:nvPr/>
        </p:nvSpPr>
        <p:spPr>
          <a:xfrm>
            <a:off x="0" y="6553200"/>
            <a:ext cx="12192000" cy="0"/>
          </a:xfrm>
          <a:prstGeom prst="rect">
            <a:avLst/>
          </a:prstGeom>
          <a:noFill/>
          <a:ln w="6350">
            <a:solidFill>
              <a:srgbClr val="DAD8CC"/>
            </a:solidFill>
          </a:ln>
          <a:effectLst/>
        </p:spPr>
        <p:txBody>
          <a:bodyPr rtlCol="0" anchor="ctr"/>
          <a:lstStyle/>
          <a:p>
            <a:pPr algn="ctr"/>
          </a:p>
        </p:txBody>
      </p:sp>
      <p:sp>
        <p:nvSpPr>
          <p:cNvPr id="10" name="TextBox 9"/>
          <p:cNvSpPr txBox="1"/>
          <p:nvPr/>
        </p:nvSpPr>
        <p:spPr>
          <a:xfrm>
            <a:off x="4766928" y="6600000"/>
            <a:ext cx="603504" cy="250000"/>
          </a:xfrm>
          <a:prstGeom prst="rect">
            <a:avLst/>
          </a:prstGeom>
          <a:noFill/>
        </p:spPr>
        <p:txBody>
          <a:bodyPr wrap="square" lIns="0" rIns="0" tIns="0" bIns="0">
            <a:spAutoFit/>
          </a:bodyPr>
          <a:lstStyle/>
          <a:p>
            <a:r>
              <a:rPr sz="1050" b="0" i="0">
                <a:solidFill>
                  <a:srgbClr val="9C9A90"/>
                </a:solidFill>
                <a:latin typeface="Consolas"/>
              </a:rPr>
              <a:t>09</a:t>
            </a:r>
          </a:p>
        </p:txBody>
      </p:sp>
      <p:sp>
        <p:nvSpPr>
          <p:cNvPr id="11" name="TextBox 10">
            <a:hlinkClick action="ppaction://hlinksldjump" r:id="rId2"/>
          </p:cNvPr>
          <p:cNvSpPr txBox="1"/>
          <p:nvPr/>
        </p:nvSpPr>
        <p:spPr>
          <a:xfrm>
            <a:off x="9225072" y="6600000"/>
            <a:ext cx="2400000" cy="250000"/>
          </a:xfrm>
          <a:prstGeom prst="rect">
            <a:avLst/>
          </a:prstGeom>
          <a:noFill/>
        </p:spPr>
        <p:txBody>
          <a:bodyPr wrap="square" lIns="0" rIns="0" tIns="0" bIns="0">
            <a:spAutoFit/>
          </a:bodyPr>
          <a:lstStyle/>
          <a:p>
            <a:pPr algn="r"/>
            <a:r>
              <a:rPr sz="1050" b="0" i="1" u="sng">
                <a:solidFill>
                  <a:srgbClr val="5C5B53"/>
                </a:solidFill>
                <a:latin typeface="Arial"/>
              </a:rPr>
              <a:t>Table of Contents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2192000" cy="50800"/>
          </a:xfrm>
          <a:prstGeom prst="rect">
            <a:avLst/>
          </a:prstGeom>
          <a:solidFill>
            <a:srgbClr val="B87C0C"/>
          </a:solidFill>
          <a:ln>
            <a:noFill/>
          </a:ln>
          <a:effectLst/>
        </p:spPr>
        <p:txBody>
          <a:bodyPr rtlCol="0" anchor="ctr"/>
          <a:lstStyle/>
          <a:p>
            <a:pPr algn="ctr"/>
          </a:p>
        </p:txBody>
      </p:sp>
      <p:sp>
        <p:nvSpPr>
          <p:cNvPr id="4" name="Rectangle 3"/>
          <p:cNvSpPr/>
          <p:nvPr/>
        </p:nvSpPr>
        <p:spPr>
          <a:xfrm>
            <a:off x="0" y="6553200"/>
            <a:ext cx="12192000" cy="0"/>
          </a:xfrm>
          <a:prstGeom prst="rect">
            <a:avLst/>
          </a:prstGeom>
          <a:noFill/>
          <a:ln w="6350">
            <a:solidFill>
              <a:srgbClr val="DAD8CC"/>
            </a:solidFill>
          </a:ln>
          <a:effectLst/>
        </p:spPr>
        <p:txBody>
          <a:bodyPr rtlCol="0" anchor="ctr"/>
          <a:lstStyle/>
          <a:p>
            <a:pPr algn="ctr"/>
          </a:p>
        </p:txBody>
      </p:sp>
      <p:sp>
        <p:nvSpPr>
          <p:cNvPr id="5" name="Rectangle 4"/>
          <p:cNvSpPr/>
          <p:nvPr/>
        </p:nvSpPr>
        <p:spPr>
          <a:xfrm>
            <a:off x="566928" y="344424"/>
            <a:ext cx="137160" cy="137160"/>
          </a:xfrm>
          <a:prstGeom prst="rect">
            <a:avLst/>
          </a:prstGeom>
          <a:solidFill>
            <a:srgbClr val="B87C0C"/>
          </a:solidFill>
          <a:ln>
            <a:noFill/>
          </a:ln>
          <a:effectLst/>
        </p:spPr>
        <p:txBody>
          <a:bodyPr rtlCol="0" anchor="ctr"/>
          <a:lstStyle/>
          <a:p>
            <a:pPr algn="ctr"/>
          </a:p>
        </p:txBody>
      </p:sp>
      <p:sp>
        <p:nvSpPr>
          <p:cNvPr id="6" name="TextBox 5"/>
          <p:cNvSpPr txBox="1"/>
          <p:nvPr/>
        </p:nvSpPr>
        <p:spPr>
          <a:xfrm>
            <a:off x="866648" y="310896"/>
            <a:ext cx="9000000" cy="274320"/>
          </a:xfrm>
          <a:prstGeom prst="rect">
            <a:avLst/>
          </a:prstGeom>
          <a:noFill/>
        </p:spPr>
        <p:txBody>
          <a:bodyPr wrap="square" lIns="0" rIns="0" tIns="0" bIns="0">
            <a:spAutoFit/>
          </a:bodyPr>
          <a:lstStyle/>
          <a:p>
            <a:r>
              <a:rPr sz="1100" b="1" i="0" spc="200">
                <a:solidFill>
                  <a:srgbClr val="B87C0C"/>
                </a:solidFill>
                <a:latin typeface="Consolas"/>
              </a:rPr>
              <a:t>TROUBLESHOOTING · MINDSET</a:t>
            </a:r>
          </a:p>
        </p:txBody>
      </p:sp>
      <p:sp>
        <p:nvSpPr>
          <p:cNvPr id="7" name="TextBox 6"/>
          <p:cNvSpPr txBox="1"/>
          <p:nvPr/>
        </p:nvSpPr>
        <p:spPr>
          <a:xfrm>
            <a:off x="566928" y="700000"/>
            <a:ext cx="10234879" cy="700000"/>
          </a:xfrm>
          <a:prstGeom prst="rect">
            <a:avLst/>
          </a:prstGeom>
          <a:noFill/>
        </p:spPr>
        <p:txBody>
          <a:bodyPr wrap="square" lIns="0" rIns="0" tIns="0" bIns="0">
            <a:spAutoFit/>
          </a:bodyPr>
          <a:lstStyle/>
          <a:p>
            <a:r>
              <a:rPr sz="3200" b="1" i="0">
                <a:solidFill>
                  <a:srgbClr val="161614"/>
                </a:solidFill>
                <a:latin typeface="Arial"/>
              </a:rPr>
              <a:t>Troubleshooting Is Normal</a:t>
            </a:r>
          </a:p>
        </p:txBody>
      </p:sp>
      <p:sp>
        <p:nvSpPr>
          <p:cNvPr id="8" name="Rectangle 7"/>
          <p:cNvSpPr/>
          <p:nvPr/>
        </p:nvSpPr>
        <p:spPr>
          <a:xfrm>
            <a:off x="566928" y="1420000"/>
            <a:ext cx="900000" cy="0"/>
          </a:xfrm>
          <a:prstGeom prst="rect">
            <a:avLst/>
          </a:prstGeom>
          <a:noFill/>
          <a:ln w="28575">
            <a:solidFill>
              <a:srgbClr val="B87C0C"/>
            </a:solidFill>
          </a:ln>
          <a:effectLst/>
        </p:spPr>
        <p:txBody>
          <a:bodyPr rtlCol="0" anchor="ctr"/>
          <a:lstStyle/>
          <a:p>
            <a:pPr algn="ctr"/>
          </a:p>
        </p:txBody>
      </p:sp>
      <p:sp>
        <p:nvSpPr>
          <p:cNvPr id="9" name="TextBox 8"/>
          <p:cNvSpPr txBox="1"/>
          <p:nvPr/>
        </p:nvSpPr>
        <p:spPr>
          <a:xfrm>
            <a:off x="566928" y="1520000"/>
            <a:ext cx="10234879" cy="320000"/>
          </a:xfrm>
          <a:prstGeom prst="rect">
            <a:avLst/>
          </a:prstGeom>
          <a:noFill/>
        </p:spPr>
        <p:txBody>
          <a:bodyPr wrap="square" lIns="0" rIns="0" tIns="0" bIns="0">
            <a:spAutoFit/>
          </a:bodyPr>
          <a:lstStyle/>
          <a:p>
            <a:r>
              <a:rPr sz="1450" b="0" i="1">
                <a:solidFill>
                  <a:srgbClr val="5C5B53"/>
                </a:solidFill>
                <a:latin typeface="Arial"/>
              </a:rPr>
              <a:t>Part of the learning process, not a sign something is wrong</a:t>
            </a:r>
          </a:p>
        </p:txBody>
      </p:sp>
      <p:sp>
        <p:nvSpPr>
          <p:cNvPr id="10" name="Rectangle 9"/>
          <p:cNvSpPr/>
          <p:nvPr/>
        </p:nvSpPr>
        <p:spPr>
          <a:xfrm>
            <a:off x="566928" y="1920000"/>
            <a:ext cx="11057839" cy="0"/>
          </a:xfrm>
          <a:prstGeom prst="rect">
            <a:avLst/>
          </a:prstGeom>
          <a:noFill/>
          <a:ln w="6350">
            <a:solidFill>
              <a:srgbClr val="DAD8CC"/>
            </a:solidFill>
          </a:ln>
          <a:effectLst/>
        </p:spPr>
        <p:txBody>
          <a:bodyPr rtlCol="0" anchor="ctr"/>
          <a:lstStyle/>
          <a:p>
            <a:pPr algn="ctr"/>
          </a:p>
        </p:txBody>
      </p:sp>
      <p:sp>
        <p:nvSpPr>
          <p:cNvPr id="11" name="TextBox 10"/>
          <p:cNvSpPr txBox="1"/>
          <p:nvPr/>
        </p:nvSpPr>
        <p:spPr>
          <a:xfrm>
            <a:off x="11023600" y="6600000"/>
            <a:ext cx="603504" cy="250000"/>
          </a:xfrm>
          <a:prstGeom prst="rect">
            <a:avLst/>
          </a:prstGeom>
          <a:noFill/>
        </p:spPr>
        <p:txBody>
          <a:bodyPr wrap="square" lIns="0" rIns="0" tIns="0" bIns="0" anchor="ctr">
            <a:spAutoFit/>
          </a:bodyPr>
          <a:lstStyle/>
          <a:p>
            <a:pPr algn="ctr"/>
            <a:r>
              <a:rPr sz="1050" b="0" i="0">
                <a:solidFill>
                  <a:srgbClr val="9C9A90"/>
                </a:solidFill>
                <a:latin typeface="Consolas"/>
              </a:rPr>
              <a:t>10</a:t>
            </a:r>
          </a:p>
        </p:txBody>
      </p:sp>
      <p:sp>
        <p:nvSpPr>
          <p:cNvPr id="12" name="Rectangle 11"/>
          <p:cNvSpPr/>
          <p:nvPr/>
        </p:nvSpPr>
        <p:spPr>
          <a:xfrm>
            <a:off x="566928" y="2080000"/>
            <a:ext cx="38100" cy="990800"/>
          </a:xfrm>
          <a:prstGeom prst="rect">
            <a:avLst/>
          </a:prstGeom>
          <a:solidFill>
            <a:srgbClr val="B87C0C"/>
          </a:solidFill>
          <a:ln>
            <a:noFill/>
          </a:ln>
          <a:effectLst/>
        </p:spPr>
        <p:txBody>
          <a:bodyPr rtlCol="0" anchor="ctr"/>
          <a:lstStyle/>
          <a:p>
            <a:pPr algn="ctr"/>
          </a:p>
        </p:txBody>
      </p:sp>
      <p:sp>
        <p:nvSpPr>
          <p:cNvPr id="13" name="TextBox 12"/>
          <p:cNvSpPr txBox="1"/>
          <p:nvPr/>
        </p:nvSpPr>
        <p:spPr>
          <a:xfrm>
            <a:off x="826928" y="2080000"/>
            <a:ext cx="10798144" cy="1050800"/>
          </a:xfrm>
          <a:prstGeom prst="rect">
            <a:avLst/>
          </a:prstGeom>
          <a:noFill/>
        </p:spPr>
        <p:txBody>
          <a:bodyPr wrap="square" lIns="0" rIns="0" tIns="0" bIns="0" anchor="ctr">
            <a:spAutoFit/>
          </a:bodyPr>
          <a:lstStyle/>
          <a:p>
            <a:pPr>
              <a:lnSpc>
                <a:spcPct val="120000"/>
              </a:lnSpc>
            </a:pPr>
            <a:r>
              <a:rPr sz="1350" b="1" i="1">
                <a:solidFill>
                  <a:srgbClr val="161614"/>
                </a:solidFill>
                <a:latin typeface="Arial"/>
              </a:rPr>
              <a:t>It is very common to encounter problems when working with software or data analysis tools. Troubleshooting is a normal and expected part of the learning process.</a:t>
            </a:r>
          </a:p>
        </p:txBody>
      </p:sp>
      <p:sp>
        <p:nvSpPr>
          <p:cNvPr id="14" name="Rectangle 13"/>
          <p:cNvSpPr/>
          <p:nvPr/>
        </p:nvSpPr>
        <p:spPr>
          <a:xfrm>
            <a:off x="566928" y="3170800"/>
            <a:ext cx="38100" cy="990800"/>
          </a:xfrm>
          <a:prstGeom prst="rect">
            <a:avLst/>
          </a:prstGeom>
          <a:solidFill>
            <a:srgbClr val="DAD8CC"/>
          </a:solidFill>
          <a:ln>
            <a:noFill/>
          </a:ln>
          <a:effectLst/>
        </p:spPr>
        <p:txBody>
          <a:bodyPr rtlCol="0" anchor="ctr"/>
          <a:lstStyle/>
          <a:p>
            <a:pPr algn="ctr"/>
          </a:p>
        </p:txBody>
      </p:sp>
      <p:sp>
        <p:nvSpPr>
          <p:cNvPr id="15" name="TextBox 14"/>
          <p:cNvSpPr txBox="1"/>
          <p:nvPr/>
        </p:nvSpPr>
        <p:spPr>
          <a:xfrm>
            <a:off x="826928" y="3170800"/>
            <a:ext cx="10798144" cy="1050800"/>
          </a:xfrm>
          <a:prstGeom prst="rect">
            <a:avLst/>
          </a:prstGeom>
          <a:noFill/>
        </p:spPr>
        <p:txBody>
          <a:bodyPr wrap="square" lIns="0" rIns="0" tIns="0" bIns="0" anchor="ctr">
            <a:spAutoFit/>
          </a:bodyPr>
          <a:lstStyle/>
          <a:p>
            <a:pPr>
              <a:lnSpc>
                <a:spcPct val="120000"/>
              </a:lnSpc>
            </a:pPr>
            <a:r>
              <a:rPr sz="1350" b="0" i="0">
                <a:solidFill>
                  <a:srgbClr val="5C5B53"/>
                </a:solidFill>
                <a:latin typeface="Arial"/>
              </a:rPr>
              <a:t>A frequent question students ask is whether they should immediately contact the instructor when an issue arises. My guidance is the following.</a:t>
            </a:r>
          </a:p>
        </p:txBody>
      </p:sp>
      <p:sp>
        <p:nvSpPr>
          <p:cNvPr id="16" name="Rectangle 15"/>
          <p:cNvSpPr/>
          <p:nvPr/>
        </p:nvSpPr>
        <p:spPr>
          <a:xfrm>
            <a:off x="566928" y="4261600"/>
            <a:ext cx="38100" cy="990800"/>
          </a:xfrm>
          <a:prstGeom prst="rect">
            <a:avLst/>
          </a:prstGeom>
          <a:solidFill>
            <a:srgbClr val="DAD8CC"/>
          </a:solidFill>
          <a:ln>
            <a:noFill/>
          </a:ln>
          <a:effectLst/>
        </p:spPr>
        <p:txBody>
          <a:bodyPr rtlCol="0" anchor="ctr"/>
          <a:lstStyle/>
          <a:p>
            <a:pPr algn="ctr"/>
          </a:p>
        </p:txBody>
      </p:sp>
      <p:sp>
        <p:nvSpPr>
          <p:cNvPr id="17" name="TextBox 16"/>
          <p:cNvSpPr txBox="1"/>
          <p:nvPr/>
        </p:nvSpPr>
        <p:spPr>
          <a:xfrm>
            <a:off x="826928" y="4261600"/>
            <a:ext cx="10798144" cy="1050800"/>
          </a:xfrm>
          <a:prstGeom prst="rect">
            <a:avLst/>
          </a:prstGeom>
          <a:noFill/>
        </p:spPr>
        <p:txBody>
          <a:bodyPr wrap="square" lIns="0" rIns="0" tIns="0" bIns="0" anchor="ctr">
            <a:spAutoFit/>
          </a:bodyPr>
          <a:lstStyle/>
          <a:p>
            <a:pPr>
              <a:lnSpc>
                <a:spcPct val="120000"/>
              </a:lnSpc>
            </a:pPr>
            <a:r>
              <a:rPr sz="1350" b="0" i="0">
                <a:solidFill>
                  <a:srgbClr val="5C5B53"/>
                </a:solidFill>
                <a:latin typeface="Arial"/>
              </a:rPr>
              <a:t>Working through a problem independently is one of the most effective ways to learn. When solutions are provided too quickly, opportunities to develop critical problem-solving skills are lost -- skills that are essential for programming and data analysis.</a:t>
            </a:r>
          </a:p>
        </p:txBody>
      </p:sp>
      <p:sp>
        <p:nvSpPr>
          <p:cNvPr id="18" name="Rectangle 17"/>
          <p:cNvSpPr/>
          <p:nvPr/>
        </p:nvSpPr>
        <p:spPr>
          <a:xfrm>
            <a:off x="566928" y="5352400"/>
            <a:ext cx="38100" cy="990800"/>
          </a:xfrm>
          <a:prstGeom prst="rect">
            <a:avLst/>
          </a:prstGeom>
          <a:solidFill>
            <a:srgbClr val="DAD8CC"/>
          </a:solidFill>
          <a:ln>
            <a:noFill/>
          </a:ln>
          <a:effectLst/>
        </p:spPr>
        <p:txBody>
          <a:bodyPr rtlCol="0" anchor="ctr"/>
          <a:lstStyle/>
          <a:p>
            <a:pPr algn="ctr"/>
          </a:p>
        </p:txBody>
      </p:sp>
      <p:sp>
        <p:nvSpPr>
          <p:cNvPr id="19" name="TextBox 18"/>
          <p:cNvSpPr txBox="1"/>
          <p:nvPr/>
        </p:nvSpPr>
        <p:spPr>
          <a:xfrm>
            <a:off x="826928" y="5352400"/>
            <a:ext cx="10798144" cy="1050800"/>
          </a:xfrm>
          <a:prstGeom prst="rect">
            <a:avLst/>
          </a:prstGeom>
          <a:noFill/>
        </p:spPr>
        <p:txBody>
          <a:bodyPr wrap="square" lIns="0" rIns="0" tIns="0" bIns="0" anchor="ctr">
            <a:spAutoFit/>
          </a:bodyPr>
          <a:lstStyle/>
          <a:p>
            <a:pPr>
              <a:lnSpc>
                <a:spcPct val="120000"/>
              </a:lnSpc>
            </a:pPr>
            <a:r>
              <a:rPr sz="1350" b="0" i="0">
                <a:solidFill>
                  <a:srgbClr val="5C5B53"/>
                </a:solidFill>
                <a:latin typeface="Arial"/>
              </a:rPr>
              <a:t>For this reason, I often allow students time to explore and attempt troubleshooting on their own before stepping 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2192000" cy="50800"/>
          </a:xfrm>
          <a:prstGeom prst="rect">
            <a:avLst/>
          </a:prstGeom>
          <a:solidFill>
            <a:srgbClr val="B87C0C"/>
          </a:solidFill>
          <a:ln>
            <a:noFill/>
          </a:ln>
          <a:effectLst/>
        </p:spPr>
        <p:txBody>
          <a:bodyPr rtlCol="0" anchor="ctr"/>
          <a:lstStyle/>
          <a:p>
            <a:pPr algn="ctr"/>
          </a:p>
        </p:txBody>
      </p:sp>
      <p:sp>
        <p:nvSpPr>
          <p:cNvPr id="4" name="Rectangle 3"/>
          <p:cNvSpPr/>
          <p:nvPr/>
        </p:nvSpPr>
        <p:spPr>
          <a:xfrm>
            <a:off x="0" y="6553200"/>
            <a:ext cx="12192000" cy="0"/>
          </a:xfrm>
          <a:prstGeom prst="rect">
            <a:avLst/>
          </a:prstGeom>
          <a:noFill/>
          <a:ln w="6350">
            <a:solidFill>
              <a:srgbClr val="DAD8CC"/>
            </a:solidFill>
          </a:ln>
          <a:effectLst/>
        </p:spPr>
        <p:txBody>
          <a:bodyPr rtlCol="0" anchor="ctr"/>
          <a:lstStyle/>
          <a:p>
            <a:pPr algn="ctr"/>
          </a:p>
        </p:txBody>
      </p:sp>
      <p:sp>
        <p:nvSpPr>
          <p:cNvPr id="5" name="Rectangle 4"/>
          <p:cNvSpPr/>
          <p:nvPr/>
        </p:nvSpPr>
        <p:spPr>
          <a:xfrm>
            <a:off x="566928" y="344424"/>
            <a:ext cx="137160" cy="137160"/>
          </a:xfrm>
          <a:prstGeom prst="rect">
            <a:avLst/>
          </a:prstGeom>
          <a:solidFill>
            <a:srgbClr val="B87C0C"/>
          </a:solidFill>
          <a:ln>
            <a:noFill/>
          </a:ln>
          <a:effectLst/>
        </p:spPr>
        <p:txBody>
          <a:bodyPr rtlCol="0" anchor="ctr"/>
          <a:lstStyle/>
          <a:p>
            <a:pPr algn="ctr"/>
          </a:p>
        </p:txBody>
      </p:sp>
      <p:sp>
        <p:nvSpPr>
          <p:cNvPr id="6" name="TextBox 5"/>
          <p:cNvSpPr txBox="1"/>
          <p:nvPr/>
        </p:nvSpPr>
        <p:spPr>
          <a:xfrm>
            <a:off x="866648" y="310896"/>
            <a:ext cx="9000000" cy="274320"/>
          </a:xfrm>
          <a:prstGeom prst="rect">
            <a:avLst/>
          </a:prstGeom>
          <a:noFill/>
        </p:spPr>
        <p:txBody>
          <a:bodyPr wrap="square" lIns="0" rIns="0" tIns="0" bIns="0">
            <a:spAutoFit/>
          </a:bodyPr>
          <a:lstStyle/>
          <a:p>
            <a:r>
              <a:rPr sz="1100" b="1" i="0" spc="200">
                <a:solidFill>
                  <a:srgbClr val="B87C0C"/>
                </a:solidFill>
                <a:latin typeface="Consolas"/>
              </a:rPr>
              <a:t>TROUBLESHOOTING · METHOD</a:t>
            </a:r>
          </a:p>
        </p:txBody>
      </p:sp>
      <p:sp>
        <p:nvSpPr>
          <p:cNvPr id="7" name="TextBox 6"/>
          <p:cNvSpPr txBox="1"/>
          <p:nvPr/>
        </p:nvSpPr>
        <p:spPr>
          <a:xfrm>
            <a:off x="566928" y="700000"/>
            <a:ext cx="10234879" cy="700000"/>
          </a:xfrm>
          <a:prstGeom prst="rect">
            <a:avLst/>
          </a:prstGeom>
          <a:noFill/>
        </p:spPr>
        <p:txBody>
          <a:bodyPr wrap="square" lIns="0" rIns="0" tIns="0" bIns="0">
            <a:spAutoFit/>
          </a:bodyPr>
          <a:lstStyle/>
          <a:p>
            <a:r>
              <a:rPr sz="3200" b="1" i="0">
                <a:solidFill>
                  <a:srgbClr val="161614"/>
                </a:solidFill>
                <a:latin typeface="Arial"/>
              </a:rPr>
              <a:t>The Practical Method</a:t>
            </a:r>
          </a:p>
        </p:txBody>
      </p:sp>
      <p:sp>
        <p:nvSpPr>
          <p:cNvPr id="8" name="Rectangle 7"/>
          <p:cNvSpPr/>
          <p:nvPr/>
        </p:nvSpPr>
        <p:spPr>
          <a:xfrm>
            <a:off x="566928" y="1420000"/>
            <a:ext cx="900000" cy="0"/>
          </a:xfrm>
          <a:prstGeom prst="rect">
            <a:avLst/>
          </a:prstGeom>
          <a:noFill/>
          <a:ln w="28575">
            <a:solidFill>
              <a:srgbClr val="B87C0C"/>
            </a:solidFill>
          </a:ln>
          <a:effectLst/>
        </p:spPr>
        <p:txBody>
          <a:bodyPr rtlCol="0" anchor="ctr"/>
          <a:lstStyle/>
          <a:p>
            <a:pPr algn="ctr"/>
          </a:p>
        </p:txBody>
      </p:sp>
      <p:sp>
        <p:nvSpPr>
          <p:cNvPr id="9" name="TextBox 8"/>
          <p:cNvSpPr txBox="1"/>
          <p:nvPr/>
        </p:nvSpPr>
        <p:spPr>
          <a:xfrm>
            <a:off x="566928" y="1520000"/>
            <a:ext cx="10234879" cy="320000"/>
          </a:xfrm>
          <a:prstGeom prst="rect">
            <a:avLst/>
          </a:prstGeom>
          <a:noFill/>
        </p:spPr>
        <p:txBody>
          <a:bodyPr wrap="square" lIns="0" rIns="0" tIns="0" bIns="0">
            <a:spAutoFit/>
          </a:bodyPr>
          <a:lstStyle/>
          <a:p>
            <a:r>
              <a:rPr sz="1450" b="0" i="1">
                <a:solidFill>
                  <a:srgbClr val="5C5B53"/>
                </a:solidFill>
                <a:latin typeface="Arial"/>
              </a:rPr>
              <a:t>When you encounter a problem, follow these steps in order</a:t>
            </a:r>
          </a:p>
        </p:txBody>
      </p:sp>
      <p:sp>
        <p:nvSpPr>
          <p:cNvPr id="10" name="Rectangle 9"/>
          <p:cNvSpPr/>
          <p:nvPr/>
        </p:nvSpPr>
        <p:spPr>
          <a:xfrm>
            <a:off x="566928" y="1920000"/>
            <a:ext cx="11057839" cy="0"/>
          </a:xfrm>
          <a:prstGeom prst="rect">
            <a:avLst/>
          </a:prstGeom>
          <a:noFill/>
          <a:ln w="6350">
            <a:solidFill>
              <a:srgbClr val="DAD8CC"/>
            </a:solidFill>
          </a:ln>
          <a:effectLst/>
        </p:spPr>
        <p:txBody>
          <a:bodyPr rtlCol="0" anchor="ctr"/>
          <a:lstStyle/>
          <a:p>
            <a:pPr algn="ctr"/>
          </a:p>
        </p:txBody>
      </p:sp>
      <p:sp>
        <p:nvSpPr>
          <p:cNvPr id="11" name="TextBox 10"/>
          <p:cNvSpPr txBox="1"/>
          <p:nvPr/>
        </p:nvSpPr>
        <p:spPr>
          <a:xfrm>
            <a:off x="11023600" y="6600000"/>
            <a:ext cx="603504" cy="250000"/>
          </a:xfrm>
          <a:prstGeom prst="rect">
            <a:avLst/>
          </a:prstGeom>
          <a:noFill/>
        </p:spPr>
        <p:txBody>
          <a:bodyPr wrap="square" lIns="0" rIns="0" tIns="0" bIns="0" anchor="ctr">
            <a:spAutoFit/>
          </a:bodyPr>
          <a:lstStyle/>
          <a:p>
            <a:pPr algn="ctr"/>
            <a:r>
              <a:rPr sz="1050" b="0" i="0">
                <a:solidFill>
                  <a:srgbClr val="9C9A90"/>
                </a:solidFill>
                <a:latin typeface="Consolas"/>
              </a:rPr>
              <a:t>11</a:t>
            </a:r>
          </a:p>
        </p:txBody>
      </p:sp>
      <p:sp>
        <p:nvSpPr>
          <p:cNvPr id="12" name="Rectangle 11"/>
          <p:cNvSpPr/>
          <p:nvPr/>
        </p:nvSpPr>
        <p:spPr>
          <a:xfrm>
            <a:off x="566928" y="2120000"/>
            <a:ext cx="620000" cy="620000"/>
          </a:xfrm>
          <a:prstGeom prst="rect">
            <a:avLst/>
          </a:prstGeom>
          <a:solidFill>
            <a:srgbClr val="B87C0C"/>
          </a:solidFill>
          <a:ln>
            <a:noFill/>
          </a:ln>
          <a:effectLst/>
        </p:spPr>
        <p:txBody>
          <a:bodyPr rtlCol="0" anchor="ctr"/>
          <a:lstStyle/>
          <a:p>
            <a:pPr algn="ctr"/>
          </a:p>
        </p:txBody>
      </p:sp>
      <p:sp>
        <p:nvSpPr>
          <p:cNvPr id="13" name="TextBox 12"/>
          <p:cNvSpPr txBox="1"/>
          <p:nvPr/>
        </p:nvSpPr>
        <p:spPr>
          <a:xfrm>
            <a:off x="566928" y="2120000"/>
            <a:ext cx="620000" cy="620000"/>
          </a:xfrm>
          <a:prstGeom prst="rect">
            <a:avLst/>
          </a:prstGeom>
          <a:noFill/>
        </p:spPr>
        <p:txBody>
          <a:bodyPr wrap="square" lIns="0" rIns="0" tIns="0" bIns="0" anchor="ctr">
            <a:spAutoFit/>
          </a:bodyPr>
          <a:lstStyle/>
          <a:p>
            <a:pPr algn="ctr"/>
            <a:r>
              <a:rPr sz="2600" b="1" i="0">
                <a:solidFill>
                  <a:srgbClr val="FFFFFF"/>
                </a:solidFill>
                <a:latin typeface="Consolas"/>
              </a:rPr>
              <a:t>1</a:t>
            </a:r>
          </a:p>
        </p:txBody>
      </p:sp>
      <p:pic>
        <p:nvPicPr>
          <p:cNvPr id="14" name="Picture 13" descr="search_b87c0c.png"/>
          <p:cNvPicPr>
            <a:picLocks noChangeAspect="1"/>
          </p:cNvPicPr>
          <p:nvPr/>
        </p:nvPicPr>
        <p:blipFill>
          <a:blip r:embed="rId2"/>
          <a:stretch>
            <a:fillRect/>
          </a:stretch>
        </p:blipFill>
        <p:spPr>
          <a:xfrm>
            <a:off x="1406928" y="2300000"/>
            <a:ext cx="260000" cy="260000"/>
          </a:xfrm>
          <a:prstGeom prst="rect">
            <a:avLst/>
          </a:prstGeom>
        </p:spPr>
      </p:pic>
      <p:sp>
        <p:nvSpPr>
          <p:cNvPr id="15" name="TextBox 14"/>
          <p:cNvSpPr txBox="1"/>
          <p:nvPr/>
        </p:nvSpPr>
        <p:spPr>
          <a:xfrm>
            <a:off x="1846928" y="2120000"/>
            <a:ext cx="9478144" cy="620000"/>
          </a:xfrm>
          <a:prstGeom prst="rect">
            <a:avLst/>
          </a:prstGeom>
          <a:noFill/>
        </p:spPr>
        <p:txBody>
          <a:bodyPr wrap="square" lIns="0" rIns="0" tIns="0" bIns="0" anchor="ctr">
            <a:spAutoFit/>
          </a:bodyPr>
          <a:lstStyle/>
          <a:p>
            <a:r>
              <a:rPr sz="1700" b="1" i="0">
                <a:solidFill>
                  <a:srgbClr val="161614"/>
                </a:solidFill>
                <a:latin typeface="Arial"/>
              </a:rPr>
              <a:t>Search online</a:t>
            </a:r>
          </a:p>
        </p:txBody>
      </p:sp>
      <p:sp>
        <p:nvSpPr>
          <p:cNvPr id="16" name="TextBox 15"/>
          <p:cNvSpPr txBox="1"/>
          <p:nvPr/>
        </p:nvSpPr>
        <p:spPr>
          <a:xfrm>
            <a:off x="1406928" y="2810000"/>
            <a:ext cx="10038144" cy="671066"/>
          </a:xfrm>
          <a:prstGeom prst="rect">
            <a:avLst/>
          </a:prstGeom>
          <a:noFill/>
        </p:spPr>
        <p:txBody>
          <a:bodyPr wrap="square" lIns="0" rIns="0" tIns="0" bIns="0" anchor="t">
            <a:spAutoFit/>
          </a:bodyPr>
          <a:lstStyle/>
          <a:p>
            <a:pPr>
              <a:lnSpc>
                <a:spcPct val="115000"/>
              </a:lnSpc>
            </a:pPr>
            <a:r>
              <a:rPr sz="1200" b="0" i="0">
                <a:solidFill>
                  <a:srgbClr val="5C5B53"/>
                </a:solidFill>
                <a:latin typeface="Arial"/>
              </a:rPr>
              <a:t>Copy and paste the key part of the error message into a search engine, and review the results from documentation, blogs, or discussion forums.</a:t>
            </a:r>
          </a:p>
        </p:txBody>
      </p:sp>
      <p:sp>
        <p:nvSpPr>
          <p:cNvPr id="17" name="Rectangle 16"/>
          <p:cNvSpPr/>
          <p:nvPr/>
        </p:nvSpPr>
        <p:spPr>
          <a:xfrm>
            <a:off x="566928" y="3491066"/>
            <a:ext cx="11058144" cy="0"/>
          </a:xfrm>
          <a:prstGeom prst="rect">
            <a:avLst/>
          </a:prstGeom>
          <a:noFill/>
          <a:ln w="6350">
            <a:solidFill>
              <a:srgbClr val="DAD8CC"/>
            </a:solidFill>
          </a:ln>
          <a:effectLst/>
        </p:spPr>
        <p:txBody>
          <a:bodyPr rtlCol="0" anchor="ctr"/>
          <a:lstStyle/>
          <a:p>
            <a:pPr algn="ctr"/>
          </a:p>
        </p:txBody>
      </p:sp>
      <p:sp>
        <p:nvSpPr>
          <p:cNvPr id="18" name="Rectangle 17"/>
          <p:cNvSpPr/>
          <p:nvPr/>
        </p:nvSpPr>
        <p:spPr>
          <a:xfrm>
            <a:off x="566928" y="3561066"/>
            <a:ext cx="620000" cy="620000"/>
          </a:xfrm>
          <a:prstGeom prst="rect">
            <a:avLst/>
          </a:prstGeom>
          <a:solidFill>
            <a:srgbClr val="B87C0C"/>
          </a:solidFill>
          <a:ln>
            <a:noFill/>
          </a:ln>
          <a:effectLst/>
        </p:spPr>
        <p:txBody>
          <a:bodyPr rtlCol="0" anchor="ctr"/>
          <a:lstStyle/>
          <a:p>
            <a:pPr algn="ctr"/>
          </a:p>
        </p:txBody>
      </p:sp>
      <p:sp>
        <p:nvSpPr>
          <p:cNvPr id="19" name="TextBox 18"/>
          <p:cNvSpPr txBox="1"/>
          <p:nvPr/>
        </p:nvSpPr>
        <p:spPr>
          <a:xfrm>
            <a:off x="566928" y="3561066"/>
            <a:ext cx="620000" cy="620000"/>
          </a:xfrm>
          <a:prstGeom prst="rect">
            <a:avLst/>
          </a:prstGeom>
          <a:noFill/>
        </p:spPr>
        <p:txBody>
          <a:bodyPr wrap="square" lIns="0" rIns="0" tIns="0" bIns="0" anchor="ctr">
            <a:spAutoFit/>
          </a:bodyPr>
          <a:lstStyle/>
          <a:p>
            <a:pPr algn="ctr"/>
            <a:r>
              <a:rPr sz="2600" b="1" i="0">
                <a:solidFill>
                  <a:srgbClr val="FFFFFF"/>
                </a:solidFill>
                <a:latin typeface="Consolas"/>
              </a:rPr>
              <a:t>2</a:t>
            </a:r>
          </a:p>
        </p:txBody>
      </p:sp>
      <p:pic>
        <p:nvPicPr>
          <p:cNvPr id="20" name="Picture 19" descr="users_b87c0c.png"/>
          <p:cNvPicPr>
            <a:picLocks noChangeAspect="1"/>
          </p:cNvPicPr>
          <p:nvPr/>
        </p:nvPicPr>
        <p:blipFill>
          <a:blip r:embed="rId3"/>
          <a:stretch>
            <a:fillRect/>
          </a:stretch>
        </p:blipFill>
        <p:spPr>
          <a:xfrm>
            <a:off x="1406928" y="3741066"/>
            <a:ext cx="260000" cy="260000"/>
          </a:xfrm>
          <a:prstGeom prst="rect">
            <a:avLst/>
          </a:prstGeom>
        </p:spPr>
      </p:pic>
      <p:sp>
        <p:nvSpPr>
          <p:cNvPr id="21" name="TextBox 20"/>
          <p:cNvSpPr txBox="1"/>
          <p:nvPr/>
        </p:nvSpPr>
        <p:spPr>
          <a:xfrm>
            <a:off x="1846928" y="3561066"/>
            <a:ext cx="9478144" cy="620000"/>
          </a:xfrm>
          <a:prstGeom prst="rect">
            <a:avLst/>
          </a:prstGeom>
          <a:noFill/>
        </p:spPr>
        <p:txBody>
          <a:bodyPr wrap="square" lIns="0" rIns="0" tIns="0" bIns="0" anchor="ctr">
            <a:spAutoFit/>
          </a:bodyPr>
          <a:lstStyle/>
          <a:p>
            <a:r>
              <a:rPr sz="1700" b="1" i="0">
                <a:solidFill>
                  <a:srgbClr val="161614"/>
                </a:solidFill>
                <a:latin typeface="Arial"/>
              </a:rPr>
              <a:t>Consult your peers</a:t>
            </a:r>
          </a:p>
        </p:txBody>
      </p:sp>
      <p:sp>
        <p:nvSpPr>
          <p:cNvPr id="22" name="TextBox 21"/>
          <p:cNvSpPr txBox="1"/>
          <p:nvPr/>
        </p:nvSpPr>
        <p:spPr>
          <a:xfrm>
            <a:off x="1406928" y="4251066"/>
            <a:ext cx="10038144" cy="671066"/>
          </a:xfrm>
          <a:prstGeom prst="rect">
            <a:avLst/>
          </a:prstGeom>
          <a:noFill/>
        </p:spPr>
        <p:txBody>
          <a:bodyPr wrap="square" lIns="0" rIns="0" tIns="0" bIns="0" anchor="t">
            <a:spAutoFit/>
          </a:bodyPr>
          <a:lstStyle/>
          <a:p>
            <a:pPr>
              <a:lnSpc>
                <a:spcPct val="115000"/>
              </a:lnSpc>
            </a:pPr>
            <a:r>
              <a:rPr sz="1200" b="0" i="0">
                <a:solidFill>
                  <a:srgbClr val="5C5B53"/>
                </a:solidFill>
                <a:latin typeface="Arial"/>
              </a:rPr>
              <a:t>If you are unable to find a solution through online resources, use the MS Teams platform to ask your question and share details about the issue you are experiencing.</a:t>
            </a:r>
          </a:p>
        </p:txBody>
      </p:sp>
      <p:sp>
        <p:nvSpPr>
          <p:cNvPr id="23" name="Rectangle 22"/>
          <p:cNvSpPr/>
          <p:nvPr/>
        </p:nvSpPr>
        <p:spPr>
          <a:xfrm>
            <a:off x="566928" y="4932133"/>
            <a:ext cx="11058144" cy="0"/>
          </a:xfrm>
          <a:prstGeom prst="rect">
            <a:avLst/>
          </a:prstGeom>
          <a:noFill/>
          <a:ln w="6350">
            <a:solidFill>
              <a:srgbClr val="DAD8CC"/>
            </a:solidFill>
          </a:ln>
          <a:effectLst/>
        </p:spPr>
        <p:txBody>
          <a:bodyPr rtlCol="0" anchor="ctr"/>
          <a:lstStyle/>
          <a:p>
            <a:pPr algn="ctr"/>
          </a:p>
        </p:txBody>
      </p:sp>
      <p:sp>
        <p:nvSpPr>
          <p:cNvPr id="24" name="Rectangle 23"/>
          <p:cNvSpPr/>
          <p:nvPr/>
        </p:nvSpPr>
        <p:spPr>
          <a:xfrm>
            <a:off x="566928" y="5002133"/>
            <a:ext cx="620000" cy="620000"/>
          </a:xfrm>
          <a:prstGeom prst="rect">
            <a:avLst/>
          </a:prstGeom>
          <a:solidFill>
            <a:srgbClr val="B87C0C"/>
          </a:solidFill>
          <a:ln>
            <a:noFill/>
          </a:ln>
          <a:effectLst/>
        </p:spPr>
        <p:txBody>
          <a:bodyPr rtlCol="0" anchor="ctr"/>
          <a:lstStyle/>
          <a:p>
            <a:pPr algn="ctr"/>
          </a:p>
        </p:txBody>
      </p:sp>
      <p:sp>
        <p:nvSpPr>
          <p:cNvPr id="25" name="TextBox 24"/>
          <p:cNvSpPr txBox="1"/>
          <p:nvPr/>
        </p:nvSpPr>
        <p:spPr>
          <a:xfrm>
            <a:off x="566928" y="5002133"/>
            <a:ext cx="620000" cy="620000"/>
          </a:xfrm>
          <a:prstGeom prst="rect">
            <a:avLst/>
          </a:prstGeom>
          <a:noFill/>
        </p:spPr>
        <p:txBody>
          <a:bodyPr wrap="square" lIns="0" rIns="0" tIns="0" bIns="0" anchor="ctr">
            <a:spAutoFit/>
          </a:bodyPr>
          <a:lstStyle/>
          <a:p>
            <a:pPr algn="ctr"/>
            <a:r>
              <a:rPr sz="2600" b="1" i="0">
                <a:solidFill>
                  <a:srgbClr val="FFFFFF"/>
                </a:solidFill>
                <a:latin typeface="Consolas"/>
              </a:rPr>
              <a:t>3</a:t>
            </a:r>
          </a:p>
        </p:txBody>
      </p:sp>
      <p:pic>
        <p:nvPicPr>
          <p:cNvPr id="26" name="Picture 25" descr="clipboard_b87c0c.png"/>
          <p:cNvPicPr>
            <a:picLocks noChangeAspect="1"/>
          </p:cNvPicPr>
          <p:nvPr/>
        </p:nvPicPr>
        <p:blipFill>
          <a:blip r:embed="rId4"/>
          <a:stretch>
            <a:fillRect/>
          </a:stretch>
        </p:blipFill>
        <p:spPr>
          <a:xfrm>
            <a:off x="1406928" y="5182133"/>
            <a:ext cx="260000" cy="260000"/>
          </a:xfrm>
          <a:prstGeom prst="rect">
            <a:avLst/>
          </a:prstGeom>
        </p:spPr>
      </p:pic>
      <p:sp>
        <p:nvSpPr>
          <p:cNvPr id="27" name="TextBox 26"/>
          <p:cNvSpPr txBox="1"/>
          <p:nvPr/>
        </p:nvSpPr>
        <p:spPr>
          <a:xfrm>
            <a:off x="1846928" y="5002133"/>
            <a:ext cx="9478144" cy="620000"/>
          </a:xfrm>
          <a:prstGeom prst="rect">
            <a:avLst/>
          </a:prstGeom>
          <a:noFill/>
        </p:spPr>
        <p:txBody>
          <a:bodyPr wrap="square" lIns="0" rIns="0" tIns="0" bIns="0" anchor="ctr">
            <a:spAutoFit/>
          </a:bodyPr>
          <a:lstStyle/>
          <a:p>
            <a:r>
              <a:rPr sz="1700" b="1" i="0">
                <a:solidFill>
                  <a:srgbClr val="161614"/>
                </a:solidFill>
                <a:latin typeface="Arial"/>
              </a:rPr>
              <a:t>Bring it to class</a:t>
            </a:r>
          </a:p>
        </p:txBody>
      </p:sp>
      <p:sp>
        <p:nvSpPr>
          <p:cNvPr id="28" name="TextBox 27"/>
          <p:cNvSpPr txBox="1"/>
          <p:nvPr/>
        </p:nvSpPr>
        <p:spPr>
          <a:xfrm>
            <a:off x="1406928" y="5692133"/>
            <a:ext cx="10038144" cy="671066"/>
          </a:xfrm>
          <a:prstGeom prst="rect">
            <a:avLst/>
          </a:prstGeom>
          <a:noFill/>
        </p:spPr>
        <p:txBody>
          <a:bodyPr wrap="square" lIns="0" rIns="0" tIns="0" bIns="0" anchor="t">
            <a:spAutoFit/>
          </a:bodyPr>
          <a:lstStyle/>
          <a:p>
            <a:pPr>
              <a:lnSpc>
                <a:spcPct val="115000"/>
              </a:lnSpc>
            </a:pPr>
            <a:r>
              <a:rPr sz="1200" b="0" i="0">
                <a:solidFill>
                  <a:srgbClr val="5C5B53"/>
                </a:solidFill>
                <a:latin typeface="Arial"/>
              </a:rPr>
              <a:t>We have dedicated class sessions for review, practice, and troubleshooting. Write down the problem you encountered, note the steps you took to try to resolve it, and take screenshots of the issue -- then bring this material to class, and we will work through it together.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2192000" cy="50800"/>
          </a:xfrm>
          <a:prstGeom prst="rect">
            <a:avLst/>
          </a:prstGeom>
          <a:solidFill>
            <a:srgbClr val="1F6F5C"/>
          </a:solidFill>
          <a:ln>
            <a:noFill/>
          </a:ln>
          <a:effectLst/>
        </p:spPr>
        <p:txBody>
          <a:bodyPr rtlCol="0" anchor="ctr"/>
          <a:lstStyle/>
          <a:p>
            <a:pPr algn="ctr"/>
          </a:p>
        </p:txBody>
      </p:sp>
      <p:sp>
        <p:nvSpPr>
          <p:cNvPr id="4" name="Rectangle 3"/>
          <p:cNvSpPr/>
          <p:nvPr/>
        </p:nvSpPr>
        <p:spPr>
          <a:xfrm>
            <a:off x="0" y="6553200"/>
            <a:ext cx="12192000" cy="0"/>
          </a:xfrm>
          <a:prstGeom prst="rect">
            <a:avLst/>
          </a:prstGeom>
          <a:noFill/>
          <a:ln w="6350">
            <a:solidFill>
              <a:srgbClr val="DAD8CC"/>
            </a:solidFill>
          </a:ln>
          <a:effectLst/>
        </p:spPr>
        <p:txBody>
          <a:bodyPr rtlCol="0" anchor="ctr"/>
          <a:lstStyle/>
          <a:p>
            <a:pPr algn="ctr"/>
          </a:p>
        </p:txBody>
      </p:sp>
      <p:sp>
        <p:nvSpPr>
          <p:cNvPr id="5" name="Rectangle 4"/>
          <p:cNvSpPr/>
          <p:nvPr/>
        </p:nvSpPr>
        <p:spPr>
          <a:xfrm>
            <a:off x="566928" y="344424"/>
            <a:ext cx="137160" cy="137160"/>
          </a:xfrm>
          <a:prstGeom prst="rect">
            <a:avLst/>
          </a:prstGeom>
          <a:solidFill>
            <a:srgbClr val="1F6F5C"/>
          </a:solidFill>
          <a:ln>
            <a:noFill/>
          </a:ln>
          <a:effectLst/>
        </p:spPr>
        <p:txBody>
          <a:bodyPr rtlCol="0" anchor="ctr"/>
          <a:lstStyle/>
          <a:p>
            <a:pPr algn="ctr"/>
          </a:p>
        </p:txBody>
      </p:sp>
      <p:sp>
        <p:nvSpPr>
          <p:cNvPr id="6" name="TextBox 5"/>
          <p:cNvSpPr txBox="1"/>
          <p:nvPr/>
        </p:nvSpPr>
        <p:spPr>
          <a:xfrm>
            <a:off x="866648" y="310896"/>
            <a:ext cx="9000000" cy="274320"/>
          </a:xfrm>
          <a:prstGeom prst="rect">
            <a:avLst/>
          </a:prstGeom>
          <a:noFill/>
        </p:spPr>
        <p:txBody>
          <a:bodyPr wrap="square" lIns="0" rIns="0" tIns="0" bIns="0">
            <a:spAutoFit/>
          </a:bodyPr>
          <a:lstStyle/>
          <a:p>
            <a:r>
              <a:rPr sz="1100" b="1" i="0" spc="200">
                <a:solidFill>
                  <a:srgbClr val="1F6F5C"/>
                </a:solidFill>
                <a:latin typeface="Consolas"/>
              </a:rPr>
              <a:t>GIS WORKING PRACTICES · KNOWLEDGE CHECK</a:t>
            </a:r>
          </a:p>
        </p:txBody>
      </p:sp>
      <p:sp>
        <p:nvSpPr>
          <p:cNvPr id="7" name="TextBox 6"/>
          <p:cNvSpPr txBox="1"/>
          <p:nvPr/>
        </p:nvSpPr>
        <p:spPr>
          <a:xfrm>
            <a:off x="566928" y="700000"/>
            <a:ext cx="10234879" cy="700000"/>
          </a:xfrm>
          <a:prstGeom prst="rect">
            <a:avLst/>
          </a:prstGeom>
          <a:noFill/>
        </p:spPr>
        <p:txBody>
          <a:bodyPr wrap="square" lIns="0" rIns="0" tIns="0" bIns="0">
            <a:spAutoFit/>
          </a:bodyPr>
          <a:lstStyle/>
          <a:p>
            <a:r>
              <a:rPr sz="3200" b="1" i="0">
                <a:solidFill>
                  <a:srgbClr val="161614"/>
                </a:solidFill>
                <a:latin typeface="Arial"/>
              </a:rPr>
              <a:t>Quick Check: All Three Sections</a:t>
            </a:r>
          </a:p>
        </p:txBody>
      </p:sp>
      <p:sp>
        <p:nvSpPr>
          <p:cNvPr id="8" name="Rectangle 7"/>
          <p:cNvSpPr/>
          <p:nvPr/>
        </p:nvSpPr>
        <p:spPr>
          <a:xfrm>
            <a:off x="566928" y="1420000"/>
            <a:ext cx="900000" cy="0"/>
          </a:xfrm>
          <a:prstGeom prst="rect">
            <a:avLst/>
          </a:prstGeom>
          <a:noFill/>
          <a:ln w="28575">
            <a:solidFill>
              <a:srgbClr val="1F6F5C"/>
            </a:solidFill>
          </a:ln>
          <a:effectLst/>
        </p:spPr>
        <p:txBody>
          <a:bodyPr rtlCol="0" anchor="ctr"/>
          <a:lstStyle/>
          <a:p>
            <a:pPr algn="ctr"/>
          </a:p>
        </p:txBody>
      </p:sp>
      <p:sp>
        <p:nvSpPr>
          <p:cNvPr id="9" name="TextBox 8"/>
          <p:cNvSpPr txBox="1"/>
          <p:nvPr/>
        </p:nvSpPr>
        <p:spPr>
          <a:xfrm>
            <a:off x="566928" y="1520000"/>
            <a:ext cx="10234879" cy="320000"/>
          </a:xfrm>
          <a:prstGeom prst="rect">
            <a:avLst/>
          </a:prstGeom>
          <a:noFill/>
        </p:spPr>
        <p:txBody>
          <a:bodyPr wrap="square" lIns="0" rIns="0" tIns="0" bIns="0">
            <a:spAutoFit/>
          </a:bodyPr>
          <a:lstStyle/>
          <a:p>
            <a:r>
              <a:rPr sz="1450" b="0" i="1">
                <a:solidFill>
                  <a:srgbClr val="5C5B53"/>
                </a:solidFill>
                <a:latin typeface="Arial"/>
              </a:rPr>
              <a:t>Click each card's “Click to reveal” box to see the answer</a:t>
            </a:r>
          </a:p>
        </p:txBody>
      </p:sp>
      <p:sp>
        <p:nvSpPr>
          <p:cNvPr id="10" name="Rectangle 9"/>
          <p:cNvSpPr/>
          <p:nvPr/>
        </p:nvSpPr>
        <p:spPr>
          <a:xfrm>
            <a:off x="566928" y="1920000"/>
            <a:ext cx="11057839" cy="0"/>
          </a:xfrm>
          <a:prstGeom prst="rect">
            <a:avLst/>
          </a:prstGeom>
          <a:noFill/>
          <a:ln w="6350">
            <a:solidFill>
              <a:srgbClr val="DAD8CC"/>
            </a:solidFill>
          </a:ln>
          <a:effectLst/>
        </p:spPr>
        <p:txBody>
          <a:bodyPr rtlCol="0" anchor="ctr"/>
          <a:lstStyle/>
          <a:p>
            <a:pPr algn="ctr"/>
          </a:p>
        </p:txBody>
      </p:sp>
      <p:sp>
        <p:nvSpPr>
          <p:cNvPr id="11" name="TextBox 10"/>
          <p:cNvSpPr txBox="1"/>
          <p:nvPr/>
        </p:nvSpPr>
        <p:spPr>
          <a:xfrm>
            <a:off x="11023600" y="6600000"/>
            <a:ext cx="603504" cy="250000"/>
          </a:xfrm>
          <a:prstGeom prst="rect">
            <a:avLst/>
          </a:prstGeom>
          <a:noFill/>
        </p:spPr>
        <p:txBody>
          <a:bodyPr wrap="square" lIns="0" rIns="0" tIns="0" bIns="0" anchor="ctr">
            <a:spAutoFit/>
          </a:bodyPr>
          <a:lstStyle/>
          <a:p>
            <a:pPr algn="ctr"/>
            <a:r>
              <a:rPr sz="1050" b="0" i="0">
                <a:solidFill>
                  <a:srgbClr val="9C9A90"/>
                </a:solidFill>
                <a:latin typeface="Consolas"/>
              </a:rPr>
              <a:t>12</a:t>
            </a:r>
          </a:p>
        </p:txBody>
      </p:sp>
      <p:sp>
        <p:nvSpPr>
          <p:cNvPr id="12" name="Rectangle 11"/>
          <p:cNvSpPr/>
          <p:nvPr/>
        </p:nvSpPr>
        <p:spPr>
          <a:xfrm>
            <a:off x="4207256" y="2080000"/>
            <a:ext cx="0" cy="4323200"/>
          </a:xfrm>
          <a:prstGeom prst="rect">
            <a:avLst/>
          </a:prstGeom>
          <a:noFill/>
          <a:ln w="6350">
            <a:solidFill>
              <a:srgbClr val="DAD8CC"/>
            </a:solidFill>
          </a:ln>
          <a:effectLst/>
        </p:spPr>
        <p:txBody>
          <a:bodyPr rtlCol="0" anchor="ctr"/>
          <a:lstStyle/>
          <a:p>
            <a:pPr algn="ctr"/>
          </a:p>
        </p:txBody>
      </p:sp>
      <p:sp>
        <p:nvSpPr>
          <p:cNvPr id="13" name="Rectangle 12"/>
          <p:cNvSpPr/>
          <p:nvPr/>
        </p:nvSpPr>
        <p:spPr>
          <a:xfrm>
            <a:off x="7984744" y="2080000"/>
            <a:ext cx="0" cy="4323200"/>
          </a:xfrm>
          <a:prstGeom prst="rect">
            <a:avLst/>
          </a:prstGeom>
          <a:noFill/>
          <a:ln w="6350">
            <a:solidFill>
              <a:srgbClr val="DAD8CC"/>
            </a:solidFill>
          </a:ln>
          <a:effectLst/>
        </p:spPr>
        <p:txBody>
          <a:bodyPr rtlCol="0" anchor="ctr"/>
          <a:lstStyle/>
          <a:p>
            <a:pPr algn="ctr"/>
          </a:p>
        </p:txBody>
      </p:sp>
      <p:sp>
        <p:nvSpPr>
          <p:cNvPr id="14" name="Rectangle 13"/>
          <p:cNvSpPr/>
          <p:nvPr/>
        </p:nvSpPr>
        <p:spPr>
          <a:xfrm>
            <a:off x="566928" y="4241600"/>
            <a:ext cx="11058144" cy="0"/>
          </a:xfrm>
          <a:prstGeom prst="rect">
            <a:avLst/>
          </a:prstGeom>
          <a:noFill/>
          <a:ln w="6350">
            <a:solidFill>
              <a:srgbClr val="DAD8CC"/>
            </a:solidFill>
          </a:ln>
          <a:effectLst/>
        </p:spPr>
        <p:txBody>
          <a:bodyPr rtlCol="0" anchor="ctr"/>
          <a:lstStyle/>
          <a:p>
            <a:pPr algn="ctr"/>
          </a:p>
        </p:txBody>
      </p:sp>
      <p:sp>
        <p:nvSpPr>
          <p:cNvPr id="15" name="Rectangle 14"/>
          <p:cNvSpPr/>
          <p:nvPr/>
        </p:nvSpPr>
        <p:spPr>
          <a:xfrm>
            <a:off x="566928" y="2080000"/>
            <a:ext cx="3503168" cy="2047300"/>
          </a:xfrm>
          <a:prstGeom prst="rect">
            <a:avLst/>
          </a:prstGeom>
          <a:noFill/>
          <a:ln>
            <a:noFill/>
          </a:ln>
          <a:effectLst/>
        </p:spPr>
        <p:txBody>
          <a:bodyPr rtlCol="0" anchor="ctr"/>
          <a:lstStyle/>
          <a:p>
            <a:pPr algn="ctr"/>
          </a:p>
        </p:txBody>
      </p:sp>
      <p:sp>
        <p:nvSpPr>
          <p:cNvPr id="16" name="TextBox 15"/>
          <p:cNvSpPr txBox="1"/>
          <p:nvPr/>
        </p:nvSpPr>
        <p:spPr>
          <a:xfrm>
            <a:off x="566928" y="2080000"/>
            <a:ext cx="3403168" cy="1023650"/>
          </a:xfrm>
          <a:prstGeom prst="rect">
            <a:avLst/>
          </a:prstGeom>
          <a:noFill/>
        </p:spPr>
        <p:txBody>
          <a:bodyPr wrap="square" lIns="0" rIns="0" tIns="0" bIns="0">
            <a:spAutoFit/>
          </a:bodyPr>
          <a:lstStyle/>
          <a:p>
            <a:pPr>
              <a:lnSpc>
                <a:spcPct val="112000"/>
              </a:lnSpc>
            </a:pPr>
            <a:r>
              <a:rPr sz="1150" b="1" i="0">
                <a:solidFill>
                  <a:srgbClr val="161614"/>
                </a:solidFill>
                <a:latin typeface="Arial"/>
              </a:rPr>
              <a:t>You need to share one file containing several vector and raster layers, and it has to open cleanly in both QGIS and ArcGIS Pro. Which format do you choose?</a:t>
            </a:r>
          </a:p>
        </p:txBody>
      </p:sp>
      <p:sp>
        <p:nvSpPr>
          <p:cNvPr id="17" name="TextBox 16"/>
          <p:cNvSpPr txBox="1"/>
          <p:nvPr/>
        </p:nvSpPr>
        <p:spPr>
          <a:xfrm>
            <a:off x="566928" y="3226488"/>
            <a:ext cx="3403168" cy="818920"/>
          </a:xfrm>
          <a:prstGeom prst="rect">
            <a:avLst/>
          </a:prstGeom>
          <a:noFill/>
        </p:spPr>
        <p:txBody>
          <a:bodyPr wrap="square" lIns="0" rIns="0" tIns="0" bIns="0" anchor="ctr">
            <a:spAutoFit/>
          </a:bodyPr>
          <a:lstStyle/>
          <a:p>
            <a:pPr>
              <a:lnSpc>
                <a:spcPct val="105000"/>
              </a:lnSpc>
            </a:pPr>
            <a:r>
              <a:rPr sz="1000" b="1" i="0">
                <a:solidFill>
                  <a:srgbClr val="1F6F5C"/>
                </a:solidFill>
                <a:latin typeface="Arial"/>
              </a:rPr>
              <a:t>A GeoPackage (.gpkg) -- an open standard, single file, multiple layers, and it opens natively in both.</a:t>
            </a:r>
          </a:p>
        </p:txBody>
      </p:sp>
      <p:sp>
        <p:nvSpPr>
          <p:cNvPr id="18" name="Rectangle 17"/>
          <p:cNvSpPr/>
          <p:nvPr/>
        </p:nvSpPr>
        <p:spPr>
          <a:xfrm>
            <a:off x="566928" y="3226488"/>
            <a:ext cx="3403168" cy="818920"/>
          </a:xfrm>
          <a:prstGeom prst="rect">
            <a:avLst/>
          </a:prstGeom>
          <a:solidFill>
            <a:srgbClr val="1F6F5C"/>
          </a:solidFill>
          <a:ln>
            <a:noFill/>
          </a:ln>
          <a:effectLst/>
        </p:spPr>
        <p:txBody>
          <a:bodyPr rtlCol="0" anchor="ctr"/>
          <a:lstStyle/>
          <a:p>
            <a:pPr algn="ctr"/>
          </a:p>
        </p:txBody>
      </p:sp>
      <p:sp>
        <p:nvSpPr>
          <p:cNvPr id="19" name="TextBox 18"/>
          <p:cNvSpPr txBox="1"/>
          <p:nvPr/>
        </p:nvSpPr>
        <p:spPr>
          <a:xfrm>
            <a:off x="566928" y="3226488"/>
            <a:ext cx="3403168" cy="818920"/>
          </a:xfrm>
          <a:prstGeom prst="rect">
            <a:avLst/>
          </a:prstGeom>
          <a:noFill/>
        </p:spPr>
        <p:txBody>
          <a:bodyPr wrap="square" lIns="0" rIns="0" tIns="0" bIns="0" anchor="ctr">
            <a:spAutoFit/>
          </a:bodyPr>
          <a:lstStyle/>
          <a:p>
            <a:pPr algn="ctr"/>
            <a:r>
              <a:rPr sz="1050" b="1" i="1">
                <a:solidFill>
                  <a:srgbClr val="FFFFFF"/>
                </a:solidFill>
                <a:latin typeface="Arial"/>
              </a:rPr>
              <a:t>Click to reveal answer</a:t>
            </a:r>
          </a:p>
        </p:txBody>
      </p:sp>
      <p:sp>
        <p:nvSpPr>
          <p:cNvPr id="20" name="Rectangle 19"/>
          <p:cNvSpPr/>
          <p:nvPr/>
        </p:nvSpPr>
        <p:spPr>
          <a:xfrm>
            <a:off x="4344416" y="2080000"/>
            <a:ext cx="3503168" cy="2047300"/>
          </a:xfrm>
          <a:prstGeom prst="rect">
            <a:avLst/>
          </a:prstGeom>
          <a:noFill/>
          <a:ln>
            <a:noFill/>
          </a:ln>
          <a:effectLst/>
        </p:spPr>
        <p:txBody>
          <a:bodyPr rtlCol="0" anchor="ctr"/>
          <a:lstStyle/>
          <a:p>
            <a:pPr algn="ctr"/>
          </a:p>
        </p:txBody>
      </p:sp>
      <p:sp>
        <p:nvSpPr>
          <p:cNvPr id="21" name="TextBox 20"/>
          <p:cNvSpPr txBox="1"/>
          <p:nvPr/>
        </p:nvSpPr>
        <p:spPr>
          <a:xfrm>
            <a:off x="4344416" y="2080000"/>
            <a:ext cx="3403168" cy="1023650"/>
          </a:xfrm>
          <a:prstGeom prst="rect">
            <a:avLst/>
          </a:prstGeom>
          <a:noFill/>
        </p:spPr>
        <p:txBody>
          <a:bodyPr wrap="square" lIns="0" rIns="0" tIns="0" bIns="0">
            <a:spAutoFit/>
          </a:bodyPr>
          <a:lstStyle/>
          <a:p>
            <a:pPr>
              <a:lnSpc>
                <a:spcPct val="112000"/>
              </a:lnSpc>
            </a:pPr>
            <a:r>
              <a:rPr sz="1150" b="1" i="0">
                <a:solidFill>
                  <a:srgbClr val="161614"/>
                </a:solidFill>
                <a:latin typeface="Arial"/>
              </a:rPr>
              <a:t>You move your project folder to a new drive and your .aprx suddenly can't find any of your layers. What actually happened?</a:t>
            </a:r>
          </a:p>
        </p:txBody>
      </p:sp>
      <p:sp>
        <p:nvSpPr>
          <p:cNvPr id="22" name="TextBox 21"/>
          <p:cNvSpPr txBox="1"/>
          <p:nvPr/>
        </p:nvSpPr>
        <p:spPr>
          <a:xfrm>
            <a:off x="4344416" y="3226488"/>
            <a:ext cx="3403168" cy="818920"/>
          </a:xfrm>
          <a:prstGeom prst="rect">
            <a:avLst/>
          </a:prstGeom>
          <a:noFill/>
        </p:spPr>
        <p:txBody>
          <a:bodyPr wrap="square" lIns="0" rIns="0" tIns="0" bIns="0" anchor="ctr">
            <a:spAutoFit/>
          </a:bodyPr>
          <a:lstStyle/>
          <a:p>
            <a:pPr>
              <a:lnSpc>
                <a:spcPct val="105000"/>
              </a:lnSpc>
            </a:pPr>
            <a:r>
              <a:rPr sz="1000" b="1" i="0">
                <a:solidFill>
                  <a:srgbClr val="1F6F5C"/>
                </a:solidFill>
                <a:latin typeface="Arial"/>
              </a:rPr>
              <a:t>A project file is a pointer, not a container -- it stores links to your data and layouts, never the data itself. Move the data without updating the links, and everything breaks.</a:t>
            </a:r>
          </a:p>
        </p:txBody>
      </p:sp>
      <p:sp>
        <p:nvSpPr>
          <p:cNvPr id="23" name="Rectangle 22"/>
          <p:cNvSpPr/>
          <p:nvPr/>
        </p:nvSpPr>
        <p:spPr>
          <a:xfrm>
            <a:off x="4344416" y="3226488"/>
            <a:ext cx="3403168" cy="818920"/>
          </a:xfrm>
          <a:prstGeom prst="rect">
            <a:avLst/>
          </a:prstGeom>
          <a:solidFill>
            <a:srgbClr val="1F6F5C"/>
          </a:solidFill>
          <a:ln>
            <a:noFill/>
          </a:ln>
          <a:effectLst/>
        </p:spPr>
        <p:txBody>
          <a:bodyPr rtlCol="0" anchor="ctr"/>
          <a:lstStyle/>
          <a:p>
            <a:pPr algn="ctr"/>
          </a:p>
        </p:txBody>
      </p:sp>
      <p:sp>
        <p:nvSpPr>
          <p:cNvPr id="24" name="TextBox 23"/>
          <p:cNvSpPr txBox="1"/>
          <p:nvPr/>
        </p:nvSpPr>
        <p:spPr>
          <a:xfrm>
            <a:off x="4344416" y="3226488"/>
            <a:ext cx="3403168" cy="818920"/>
          </a:xfrm>
          <a:prstGeom prst="rect">
            <a:avLst/>
          </a:prstGeom>
          <a:noFill/>
        </p:spPr>
        <p:txBody>
          <a:bodyPr wrap="square" lIns="0" rIns="0" tIns="0" bIns="0" anchor="ctr">
            <a:spAutoFit/>
          </a:bodyPr>
          <a:lstStyle/>
          <a:p>
            <a:pPr algn="ctr"/>
            <a:r>
              <a:rPr sz="1050" b="1" i="1">
                <a:solidFill>
                  <a:srgbClr val="FFFFFF"/>
                </a:solidFill>
                <a:latin typeface="Arial"/>
              </a:rPr>
              <a:t>Click to reveal answer</a:t>
            </a:r>
          </a:p>
        </p:txBody>
      </p:sp>
      <p:sp>
        <p:nvSpPr>
          <p:cNvPr id="25" name="Rectangle 24"/>
          <p:cNvSpPr/>
          <p:nvPr/>
        </p:nvSpPr>
        <p:spPr>
          <a:xfrm>
            <a:off x="8121904" y="2080000"/>
            <a:ext cx="3503168" cy="2047300"/>
          </a:xfrm>
          <a:prstGeom prst="rect">
            <a:avLst/>
          </a:prstGeom>
          <a:noFill/>
          <a:ln>
            <a:noFill/>
          </a:ln>
          <a:effectLst/>
        </p:spPr>
        <p:txBody>
          <a:bodyPr rtlCol="0" anchor="ctr"/>
          <a:lstStyle/>
          <a:p>
            <a:pPr algn="ctr"/>
          </a:p>
        </p:txBody>
      </p:sp>
      <p:sp>
        <p:nvSpPr>
          <p:cNvPr id="26" name="TextBox 25"/>
          <p:cNvSpPr txBox="1"/>
          <p:nvPr/>
        </p:nvSpPr>
        <p:spPr>
          <a:xfrm>
            <a:off x="8121904" y="2080000"/>
            <a:ext cx="3403168" cy="1023650"/>
          </a:xfrm>
          <a:prstGeom prst="rect">
            <a:avLst/>
          </a:prstGeom>
          <a:noFill/>
        </p:spPr>
        <p:txBody>
          <a:bodyPr wrap="square" lIns="0" rIns="0" tIns="0" bIns="0">
            <a:spAutoFit/>
          </a:bodyPr>
          <a:lstStyle/>
          <a:p>
            <a:pPr>
              <a:lnSpc>
                <a:spcPct val="112000"/>
              </a:lnSpc>
            </a:pPr>
            <a:r>
              <a:rPr sz="1150" b="1" i="0">
                <a:solidFill>
                  <a:srgbClr val="161614"/>
                </a:solidFill>
                <a:latin typeface="Arial"/>
              </a:rPr>
              <a:t>You're working across two computers all semester. What's the safest way to keep every file in sync?</a:t>
            </a:r>
          </a:p>
        </p:txBody>
      </p:sp>
      <p:sp>
        <p:nvSpPr>
          <p:cNvPr id="27" name="TextBox 26"/>
          <p:cNvSpPr txBox="1"/>
          <p:nvPr/>
        </p:nvSpPr>
        <p:spPr>
          <a:xfrm>
            <a:off x="8121904" y="3226488"/>
            <a:ext cx="3403168" cy="818920"/>
          </a:xfrm>
          <a:prstGeom prst="rect">
            <a:avLst/>
          </a:prstGeom>
          <a:noFill/>
        </p:spPr>
        <p:txBody>
          <a:bodyPr wrap="square" lIns="0" rIns="0" tIns="0" bIns="0" anchor="ctr">
            <a:spAutoFit/>
          </a:bodyPr>
          <a:lstStyle/>
          <a:p>
            <a:pPr>
              <a:lnSpc>
                <a:spcPct val="105000"/>
              </a:lnSpc>
            </a:pPr>
            <a:r>
              <a:rPr sz="1000" b="1" i="0">
                <a:solidFill>
                  <a:srgbClr val="1F6F5C"/>
                </a:solidFill>
                <a:latin typeface="Arial"/>
              </a:rPr>
              <a:t>One parent folder for the whole class, synced through a cloud service like Dropbox or OneDrive -- never emailing files back and forth.</a:t>
            </a:r>
          </a:p>
        </p:txBody>
      </p:sp>
      <p:sp>
        <p:nvSpPr>
          <p:cNvPr id="28" name="Rectangle 27"/>
          <p:cNvSpPr/>
          <p:nvPr/>
        </p:nvSpPr>
        <p:spPr>
          <a:xfrm>
            <a:off x="8121904" y="3226488"/>
            <a:ext cx="3403168" cy="818920"/>
          </a:xfrm>
          <a:prstGeom prst="rect">
            <a:avLst/>
          </a:prstGeom>
          <a:solidFill>
            <a:srgbClr val="1F6F5C"/>
          </a:solidFill>
          <a:ln>
            <a:noFill/>
          </a:ln>
          <a:effectLst/>
        </p:spPr>
        <p:txBody>
          <a:bodyPr rtlCol="0" anchor="ctr"/>
          <a:lstStyle/>
          <a:p>
            <a:pPr algn="ctr"/>
          </a:p>
        </p:txBody>
      </p:sp>
      <p:sp>
        <p:nvSpPr>
          <p:cNvPr id="29" name="TextBox 28"/>
          <p:cNvSpPr txBox="1"/>
          <p:nvPr/>
        </p:nvSpPr>
        <p:spPr>
          <a:xfrm>
            <a:off x="8121904" y="3226488"/>
            <a:ext cx="3403168" cy="818920"/>
          </a:xfrm>
          <a:prstGeom prst="rect">
            <a:avLst/>
          </a:prstGeom>
          <a:noFill/>
        </p:spPr>
        <p:txBody>
          <a:bodyPr wrap="square" lIns="0" rIns="0" tIns="0" bIns="0" anchor="ctr">
            <a:spAutoFit/>
          </a:bodyPr>
          <a:lstStyle/>
          <a:p>
            <a:pPr algn="ctr"/>
            <a:r>
              <a:rPr sz="1050" b="1" i="1">
                <a:solidFill>
                  <a:srgbClr val="FFFFFF"/>
                </a:solidFill>
                <a:latin typeface="Arial"/>
              </a:rPr>
              <a:t>Click to reveal answer</a:t>
            </a:r>
          </a:p>
        </p:txBody>
      </p:sp>
      <p:sp>
        <p:nvSpPr>
          <p:cNvPr id="30" name="Rectangle 29"/>
          <p:cNvSpPr/>
          <p:nvPr/>
        </p:nvSpPr>
        <p:spPr>
          <a:xfrm>
            <a:off x="566928" y="4355900"/>
            <a:ext cx="3503168" cy="2047300"/>
          </a:xfrm>
          <a:prstGeom prst="rect">
            <a:avLst/>
          </a:prstGeom>
          <a:noFill/>
          <a:ln>
            <a:noFill/>
          </a:ln>
          <a:effectLst/>
        </p:spPr>
        <p:txBody>
          <a:bodyPr rtlCol="0" anchor="ctr"/>
          <a:lstStyle/>
          <a:p>
            <a:pPr algn="ctr"/>
          </a:p>
        </p:txBody>
      </p:sp>
      <p:sp>
        <p:nvSpPr>
          <p:cNvPr id="31" name="TextBox 30"/>
          <p:cNvSpPr txBox="1"/>
          <p:nvPr/>
        </p:nvSpPr>
        <p:spPr>
          <a:xfrm>
            <a:off x="566928" y="4355900"/>
            <a:ext cx="3403168" cy="1023650"/>
          </a:xfrm>
          <a:prstGeom prst="rect">
            <a:avLst/>
          </a:prstGeom>
          <a:noFill/>
        </p:spPr>
        <p:txBody>
          <a:bodyPr wrap="square" lIns="0" rIns="0" tIns="0" bIns="0">
            <a:spAutoFit/>
          </a:bodyPr>
          <a:lstStyle/>
          <a:p>
            <a:pPr>
              <a:lnSpc>
                <a:spcPct val="112000"/>
              </a:lnSpc>
            </a:pPr>
            <a:r>
              <a:rPr sz="1150" b="1" i="0">
                <a:solidFill>
                  <a:srgbClr val="161614"/>
                </a:solidFill>
                <a:latin typeface="Arial"/>
              </a:rPr>
              <a:t>You need to name a field storing a parcel's area in square feet, from a layer built by joining two others. Which naming habits apply?</a:t>
            </a:r>
          </a:p>
        </p:txBody>
      </p:sp>
      <p:sp>
        <p:nvSpPr>
          <p:cNvPr id="32" name="TextBox 31"/>
          <p:cNvSpPr txBox="1"/>
          <p:nvPr/>
        </p:nvSpPr>
        <p:spPr>
          <a:xfrm>
            <a:off x="566928" y="5502388"/>
            <a:ext cx="3403168" cy="818920"/>
          </a:xfrm>
          <a:prstGeom prst="rect">
            <a:avLst/>
          </a:prstGeom>
          <a:noFill/>
        </p:spPr>
        <p:txBody>
          <a:bodyPr wrap="square" lIns="0" rIns="0" tIns="0" bIns="0" anchor="ctr">
            <a:spAutoFit/>
          </a:bodyPr>
          <a:lstStyle/>
          <a:p>
            <a:pPr>
              <a:lnSpc>
                <a:spcPct val="105000"/>
              </a:lnSpc>
            </a:pPr>
            <a:r>
              <a:rPr sz="1000" b="1" i="0">
                <a:solidFill>
                  <a:srgbClr val="1F6F5C"/>
                </a:solidFill>
                <a:latin typeface="Arial"/>
              </a:rPr>
              <a:t>Two at once: include the unit in the name (AreaSqFt), and name the output after what created it -- e.g. joinParcels_Zoning.</a:t>
            </a:r>
          </a:p>
        </p:txBody>
      </p:sp>
      <p:sp>
        <p:nvSpPr>
          <p:cNvPr id="33" name="Rectangle 32"/>
          <p:cNvSpPr/>
          <p:nvPr/>
        </p:nvSpPr>
        <p:spPr>
          <a:xfrm>
            <a:off x="566928" y="5502388"/>
            <a:ext cx="3403168" cy="818920"/>
          </a:xfrm>
          <a:prstGeom prst="rect">
            <a:avLst/>
          </a:prstGeom>
          <a:solidFill>
            <a:srgbClr val="1F6F5C"/>
          </a:solidFill>
          <a:ln>
            <a:noFill/>
          </a:ln>
          <a:effectLst/>
        </p:spPr>
        <p:txBody>
          <a:bodyPr rtlCol="0" anchor="ctr"/>
          <a:lstStyle/>
          <a:p>
            <a:pPr algn="ctr"/>
          </a:p>
        </p:txBody>
      </p:sp>
      <p:sp>
        <p:nvSpPr>
          <p:cNvPr id="34" name="TextBox 33"/>
          <p:cNvSpPr txBox="1"/>
          <p:nvPr/>
        </p:nvSpPr>
        <p:spPr>
          <a:xfrm>
            <a:off x="566928" y="5502388"/>
            <a:ext cx="3403168" cy="818920"/>
          </a:xfrm>
          <a:prstGeom prst="rect">
            <a:avLst/>
          </a:prstGeom>
          <a:noFill/>
        </p:spPr>
        <p:txBody>
          <a:bodyPr wrap="square" lIns="0" rIns="0" tIns="0" bIns="0" anchor="ctr">
            <a:spAutoFit/>
          </a:bodyPr>
          <a:lstStyle/>
          <a:p>
            <a:pPr algn="ctr"/>
            <a:r>
              <a:rPr sz="1050" b="1" i="1">
                <a:solidFill>
                  <a:srgbClr val="FFFFFF"/>
                </a:solidFill>
                <a:latin typeface="Arial"/>
              </a:rPr>
              <a:t>Click to reveal answer</a:t>
            </a:r>
          </a:p>
        </p:txBody>
      </p:sp>
      <p:sp>
        <p:nvSpPr>
          <p:cNvPr id="35" name="Rectangle 34"/>
          <p:cNvSpPr/>
          <p:nvPr/>
        </p:nvSpPr>
        <p:spPr>
          <a:xfrm>
            <a:off x="4344416" y="4355900"/>
            <a:ext cx="3503168" cy="2047300"/>
          </a:xfrm>
          <a:prstGeom prst="rect">
            <a:avLst/>
          </a:prstGeom>
          <a:noFill/>
          <a:ln>
            <a:noFill/>
          </a:ln>
          <a:effectLst/>
        </p:spPr>
        <p:txBody>
          <a:bodyPr rtlCol="0" anchor="ctr"/>
          <a:lstStyle/>
          <a:p>
            <a:pPr algn="ctr"/>
          </a:p>
        </p:txBody>
      </p:sp>
      <p:sp>
        <p:nvSpPr>
          <p:cNvPr id="36" name="TextBox 35"/>
          <p:cNvSpPr txBox="1"/>
          <p:nvPr/>
        </p:nvSpPr>
        <p:spPr>
          <a:xfrm>
            <a:off x="4344416" y="4355900"/>
            <a:ext cx="3403168" cy="1023650"/>
          </a:xfrm>
          <a:prstGeom prst="rect">
            <a:avLst/>
          </a:prstGeom>
          <a:noFill/>
        </p:spPr>
        <p:txBody>
          <a:bodyPr wrap="square" lIns="0" rIns="0" tIns="0" bIns="0">
            <a:spAutoFit/>
          </a:bodyPr>
          <a:lstStyle/>
          <a:p>
            <a:pPr>
              <a:lnSpc>
                <a:spcPct val="112000"/>
              </a:lnSpc>
            </a:pPr>
            <a:r>
              <a:rPr sz="1150" b="1" i="0">
                <a:solidFill>
                  <a:srgbClr val="161614"/>
                </a:solidFill>
                <a:latin typeface="Arial"/>
              </a:rPr>
              <a:t>You hit an error message you don't recognize. What's the very first thing you should do?</a:t>
            </a:r>
          </a:p>
        </p:txBody>
      </p:sp>
      <p:sp>
        <p:nvSpPr>
          <p:cNvPr id="37" name="TextBox 36"/>
          <p:cNvSpPr txBox="1"/>
          <p:nvPr/>
        </p:nvSpPr>
        <p:spPr>
          <a:xfrm>
            <a:off x="4344416" y="5502388"/>
            <a:ext cx="3403168" cy="818920"/>
          </a:xfrm>
          <a:prstGeom prst="rect">
            <a:avLst/>
          </a:prstGeom>
          <a:noFill/>
        </p:spPr>
        <p:txBody>
          <a:bodyPr wrap="square" lIns="0" rIns="0" tIns="0" bIns="0" anchor="ctr">
            <a:spAutoFit/>
          </a:bodyPr>
          <a:lstStyle/>
          <a:p>
            <a:pPr>
              <a:lnSpc>
                <a:spcPct val="105000"/>
              </a:lnSpc>
            </a:pPr>
            <a:r>
              <a:rPr sz="1000" b="1" i="0">
                <a:solidFill>
                  <a:srgbClr val="1F6F5C"/>
                </a:solidFill>
                <a:latin typeface="Arial"/>
              </a:rPr>
              <a:t>Copy the key part of the error message and search it online -- documentation, blogs, and forums solve most problems before anyone else needs to get involved.</a:t>
            </a:r>
          </a:p>
        </p:txBody>
      </p:sp>
      <p:sp>
        <p:nvSpPr>
          <p:cNvPr id="38" name="Rectangle 37"/>
          <p:cNvSpPr/>
          <p:nvPr/>
        </p:nvSpPr>
        <p:spPr>
          <a:xfrm>
            <a:off x="4344416" y="5502388"/>
            <a:ext cx="3403168" cy="818920"/>
          </a:xfrm>
          <a:prstGeom prst="rect">
            <a:avLst/>
          </a:prstGeom>
          <a:solidFill>
            <a:srgbClr val="1F6F5C"/>
          </a:solidFill>
          <a:ln>
            <a:noFill/>
          </a:ln>
          <a:effectLst/>
        </p:spPr>
        <p:txBody>
          <a:bodyPr rtlCol="0" anchor="ctr"/>
          <a:lstStyle/>
          <a:p>
            <a:pPr algn="ctr"/>
          </a:p>
        </p:txBody>
      </p:sp>
      <p:sp>
        <p:nvSpPr>
          <p:cNvPr id="39" name="TextBox 38"/>
          <p:cNvSpPr txBox="1"/>
          <p:nvPr/>
        </p:nvSpPr>
        <p:spPr>
          <a:xfrm>
            <a:off x="4344416" y="5502388"/>
            <a:ext cx="3403168" cy="818920"/>
          </a:xfrm>
          <a:prstGeom prst="rect">
            <a:avLst/>
          </a:prstGeom>
          <a:noFill/>
        </p:spPr>
        <p:txBody>
          <a:bodyPr wrap="square" lIns="0" rIns="0" tIns="0" bIns="0" anchor="ctr">
            <a:spAutoFit/>
          </a:bodyPr>
          <a:lstStyle/>
          <a:p>
            <a:pPr algn="ctr"/>
            <a:r>
              <a:rPr sz="1050" b="1" i="1">
                <a:solidFill>
                  <a:srgbClr val="FFFFFF"/>
                </a:solidFill>
                <a:latin typeface="Arial"/>
              </a:rPr>
              <a:t>Click to reveal answer</a:t>
            </a:r>
          </a:p>
        </p:txBody>
      </p:sp>
      <p:sp>
        <p:nvSpPr>
          <p:cNvPr id="40" name="Rectangle 39"/>
          <p:cNvSpPr/>
          <p:nvPr/>
        </p:nvSpPr>
        <p:spPr>
          <a:xfrm>
            <a:off x="8121904" y="4355900"/>
            <a:ext cx="3503168" cy="2047300"/>
          </a:xfrm>
          <a:prstGeom prst="rect">
            <a:avLst/>
          </a:prstGeom>
          <a:noFill/>
          <a:ln>
            <a:noFill/>
          </a:ln>
          <a:effectLst/>
        </p:spPr>
        <p:txBody>
          <a:bodyPr rtlCol="0" anchor="ctr"/>
          <a:lstStyle/>
          <a:p>
            <a:pPr algn="ctr"/>
          </a:p>
        </p:txBody>
      </p:sp>
      <p:sp>
        <p:nvSpPr>
          <p:cNvPr id="41" name="TextBox 40"/>
          <p:cNvSpPr txBox="1"/>
          <p:nvPr/>
        </p:nvSpPr>
        <p:spPr>
          <a:xfrm>
            <a:off x="8121904" y="4355900"/>
            <a:ext cx="3403168" cy="1023650"/>
          </a:xfrm>
          <a:prstGeom prst="rect">
            <a:avLst/>
          </a:prstGeom>
          <a:noFill/>
        </p:spPr>
        <p:txBody>
          <a:bodyPr wrap="square" lIns="0" rIns="0" tIns="0" bIns="0">
            <a:spAutoFit/>
          </a:bodyPr>
          <a:lstStyle/>
          <a:p>
            <a:pPr>
              <a:lnSpc>
                <a:spcPct val="112000"/>
              </a:lnSpc>
            </a:pPr>
            <a:r>
              <a:rPr sz="1150" b="1" i="0">
                <a:solidFill>
                  <a:srgbClr val="161614"/>
                </a:solidFill>
                <a:latin typeface="Arial"/>
              </a:rPr>
              <a:t>You've searched online with no luck and you're still stuck. What's the next step, before bringing it to class?</a:t>
            </a:r>
          </a:p>
        </p:txBody>
      </p:sp>
      <p:sp>
        <p:nvSpPr>
          <p:cNvPr id="42" name="TextBox 41"/>
          <p:cNvSpPr txBox="1"/>
          <p:nvPr/>
        </p:nvSpPr>
        <p:spPr>
          <a:xfrm>
            <a:off x="8121904" y="5502388"/>
            <a:ext cx="3403168" cy="818920"/>
          </a:xfrm>
          <a:prstGeom prst="rect">
            <a:avLst/>
          </a:prstGeom>
          <a:noFill/>
        </p:spPr>
        <p:txBody>
          <a:bodyPr wrap="square" lIns="0" rIns="0" tIns="0" bIns="0" anchor="ctr">
            <a:spAutoFit/>
          </a:bodyPr>
          <a:lstStyle/>
          <a:p>
            <a:pPr>
              <a:lnSpc>
                <a:spcPct val="105000"/>
              </a:lnSpc>
            </a:pPr>
            <a:r>
              <a:rPr sz="1000" b="1" i="0">
                <a:solidFill>
                  <a:srgbClr val="1F6F5C"/>
                </a:solidFill>
                <a:latin typeface="Arial"/>
              </a:rPr>
              <a:t>Ask your peers on MS Teams, sharing the details of the issue you're experiencing.</a:t>
            </a:r>
          </a:p>
        </p:txBody>
      </p:sp>
      <p:sp>
        <p:nvSpPr>
          <p:cNvPr id="43" name="Rectangle 42"/>
          <p:cNvSpPr/>
          <p:nvPr/>
        </p:nvSpPr>
        <p:spPr>
          <a:xfrm>
            <a:off x="8121904" y="5502388"/>
            <a:ext cx="3403168" cy="818920"/>
          </a:xfrm>
          <a:prstGeom prst="rect">
            <a:avLst/>
          </a:prstGeom>
          <a:solidFill>
            <a:srgbClr val="1F6F5C"/>
          </a:solidFill>
          <a:ln>
            <a:noFill/>
          </a:ln>
          <a:effectLst/>
        </p:spPr>
        <p:txBody>
          <a:bodyPr rtlCol="0" anchor="ctr"/>
          <a:lstStyle/>
          <a:p>
            <a:pPr algn="ctr"/>
          </a:p>
        </p:txBody>
      </p:sp>
      <p:sp>
        <p:nvSpPr>
          <p:cNvPr id="44" name="TextBox 43"/>
          <p:cNvSpPr txBox="1"/>
          <p:nvPr/>
        </p:nvSpPr>
        <p:spPr>
          <a:xfrm>
            <a:off x="8121904" y="5502388"/>
            <a:ext cx="3403168" cy="818920"/>
          </a:xfrm>
          <a:prstGeom prst="rect">
            <a:avLst/>
          </a:prstGeom>
          <a:noFill/>
        </p:spPr>
        <p:txBody>
          <a:bodyPr wrap="square" lIns="0" rIns="0" tIns="0" bIns="0" anchor="ctr">
            <a:spAutoFit/>
          </a:bodyPr>
          <a:lstStyle/>
          <a:p>
            <a:pPr algn="ctr"/>
            <a:r>
              <a:rPr sz="1050" b="1" i="1">
                <a:solidFill>
                  <a:srgbClr val="FFFFFF"/>
                </a:solidFill>
                <a:latin typeface="Arial"/>
              </a:rPr>
              <a:t>Click to reveal answer</a:t>
            </a:r>
          </a:p>
        </p:txBody>
      </p:sp>
    </p:spTree>
  </p:cSld>
  <p:clrMapOvr>
    <a:masterClrMapping/>
  </p:clrMapOvr>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seq concurrent="1" nextAc="seek">
              <p:cTn id="1000" restart="whenNotActive" fill="hold" nodeType="interactiveSeq">
                <p:stCondLst>
                  <p:cond evt="onClick" delay="0">
                    <p:tgtEl>
                      <p:spTgt spid="15"/>
                    </p:tgtEl>
                  </p:cond>
                  <p:cond evt="onClick" delay="0">
                    <p:tgtEl>
                      <p:spTgt spid="18"/>
                    </p:tgtEl>
                  </p:cond>
                  <p:cond evt="onClick" delay="0">
                    <p:tgtEl>
                      <p:spTgt spid="19"/>
                    </p:tgtEl>
                  </p:cond>
                </p:stCondLst>
                <p:childTnLst>
                  <p:par>
                    <p:cTn id="1001" fill="hold">
                      <p:stCondLst>
                        <p:cond delay="0"/>
                      </p:stCondLst>
                      <p:childTnLst>
                        <p:par>
                          <p:cTn id="1002" presetID="1" presetClass="exit" presetSubtype="0" fill="hold" nodeType="clickEffect">
                            <p:stCondLst>
                              <p:cond delay="0"/>
                            </p:stCondLst>
                            <p:childTnLst>
                              <p:set>
                                <p:cBhvr>
                                  <p:cTn id="1100" dur="1" fill="hold">
                                    <p:stCondLst>
                                      <p:cond delay="0"/>
                                    </p:stCondLst>
                                  </p:cTn>
                                  <p:tgtEl>
                                    <p:spTgt spid="18"/>
                                  </p:tgtEl>
                                  <p:attrNameLst>
                                    <p:attrName>style.visibility</p:attrName>
                                  </p:attrNameLst>
                                </p:cBhvr>
                                <p:to>
                                  <p:strVal val="hidden"/>
                                </p:to>
                              </p:set>
                            </p:childTnLst>
                          </p:cTn>
                        </p:par>
                        <p:par>
                          <p:cTn id="1003" presetID="1" presetClass="exit" presetSubtype="0" fill="hold" nodeType="clickEffect">
                            <p:stCondLst>
                              <p:cond delay="0"/>
                            </p:stCondLst>
                            <p:childTnLst>
                              <p:set>
                                <p:cBhvr>
                                  <p:cTn id="1101" dur="1" fill="hold">
                                    <p:stCondLst>
                                      <p:cond delay="0"/>
                                    </p:stCondLst>
                                  </p:cTn>
                                  <p:tgtEl>
                                    <p:spTgt spid="19"/>
                                  </p:tgtEl>
                                  <p:attrNameLst>
                                    <p:attrName>style.visibility</p:attrName>
                                  </p:attrNameLst>
                                </p:cBhvr>
                                <p:to>
                                  <p:strVal val="hidden"/>
                                </p:to>
                              </p:set>
                            </p:childTnLst>
                          </p:cTn>
                        </p:par>
                        <p:par>
                          <p:cTn id="1200" presetID="1" presetClass="entr" presetSubtype="0" fill="hold" nodeType="withEffect">
                            <p:stCondLst>
                              <p:cond delay="0"/>
                            </p:stCondLst>
                            <p:childTnLst>
                              <p:set>
                                <p:cBhvr>
                                  <p:cTn id="1201" dur="1" fill="hold">
                                    <p:stCondLst>
                                      <p:cond delay="0"/>
                                    </p:stCondLst>
                                  </p:cTn>
                                  <p:tgtEl>
                                    <p:spTgt spid="17"/>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seq concurrent="1" nextAc="seek">
              <p:cTn id="1300" restart="whenNotActive" fill="hold" nodeType="interactiveSeq">
                <p:stCondLst>
                  <p:cond evt="onClick" delay="0">
                    <p:tgtEl>
                      <p:spTgt spid="20"/>
                    </p:tgtEl>
                  </p:cond>
                  <p:cond evt="onClick" delay="0">
                    <p:tgtEl>
                      <p:spTgt spid="23"/>
                    </p:tgtEl>
                  </p:cond>
                  <p:cond evt="onClick" delay="0">
                    <p:tgtEl>
                      <p:spTgt spid="24"/>
                    </p:tgtEl>
                  </p:cond>
                </p:stCondLst>
                <p:childTnLst>
                  <p:par>
                    <p:cTn id="1301" fill="hold">
                      <p:stCondLst>
                        <p:cond delay="0"/>
                      </p:stCondLst>
                      <p:childTnLst>
                        <p:par>
                          <p:cTn id="1302" presetID="1" presetClass="exit" presetSubtype="0" fill="hold" nodeType="clickEffect">
                            <p:stCondLst>
                              <p:cond delay="0"/>
                            </p:stCondLst>
                            <p:childTnLst>
                              <p:set>
                                <p:cBhvr>
                                  <p:cTn id="1400" dur="1" fill="hold">
                                    <p:stCondLst>
                                      <p:cond delay="0"/>
                                    </p:stCondLst>
                                  </p:cTn>
                                  <p:tgtEl>
                                    <p:spTgt spid="23"/>
                                  </p:tgtEl>
                                  <p:attrNameLst>
                                    <p:attrName>style.visibility</p:attrName>
                                  </p:attrNameLst>
                                </p:cBhvr>
                                <p:to>
                                  <p:strVal val="hidden"/>
                                </p:to>
                              </p:set>
                            </p:childTnLst>
                          </p:cTn>
                        </p:par>
                        <p:par>
                          <p:cTn id="1303" presetID="1" presetClass="exit" presetSubtype="0" fill="hold" nodeType="clickEffect">
                            <p:stCondLst>
                              <p:cond delay="0"/>
                            </p:stCondLst>
                            <p:childTnLst>
                              <p:set>
                                <p:cBhvr>
                                  <p:cTn id="1401" dur="1" fill="hold">
                                    <p:stCondLst>
                                      <p:cond delay="0"/>
                                    </p:stCondLst>
                                  </p:cTn>
                                  <p:tgtEl>
                                    <p:spTgt spid="24"/>
                                  </p:tgtEl>
                                  <p:attrNameLst>
                                    <p:attrName>style.visibility</p:attrName>
                                  </p:attrNameLst>
                                </p:cBhvr>
                                <p:to>
                                  <p:strVal val="hidden"/>
                                </p:to>
                              </p:set>
                            </p:childTnLst>
                          </p:cTn>
                        </p:par>
                        <p:par>
                          <p:cTn id="1500" presetID="1" presetClass="entr" presetSubtype="0" fill="hold" nodeType="withEffect">
                            <p:stCondLst>
                              <p:cond delay="0"/>
                            </p:stCondLst>
                            <p:childTnLst>
                              <p:set>
                                <p:cBhvr>
                                  <p:cTn id="1501" dur="1" fill="hold">
                                    <p:stCondLst>
                                      <p:cond delay="0"/>
                                    </p:stCondLst>
                                  </p:cTn>
                                  <p:tgtEl>
                                    <p:spTgt spid="2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seq concurrent="1" nextAc="seek">
              <p:cTn id="1600" restart="whenNotActive" fill="hold" nodeType="interactiveSeq">
                <p:stCondLst>
                  <p:cond evt="onClick" delay="0">
                    <p:tgtEl>
                      <p:spTgt spid="25"/>
                    </p:tgtEl>
                  </p:cond>
                  <p:cond evt="onClick" delay="0">
                    <p:tgtEl>
                      <p:spTgt spid="28"/>
                    </p:tgtEl>
                  </p:cond>
                  <p:cond evt="onClick" delay="0">
                    <p:tgtEl>
                      <p:spTgt spid="29"/>
                    </p:tgtEl>
                  </p:cond>
                </p:stCondLst>
                <p:childTnLst>
                  <p:par>
                    <p:cTn id="1601" fill="hold">
                      <p:stCondLst>
                        <p:cond delay="0"/>
                      </p:stCondLst>
                      <p:childTnLst>
                        <p:par>
                          <p:cTn id="1602" presetID="1" presetClass="exit" presetSubtype="0" fill="hold" nodeType="clickEffect">
                            <p:stCondLst>
                              <p:cond delay="0"/>
                            </p:stCondLst>
                            <p:childTnLst>
                              <p:set>
                                <p:cBhvr>
                                  <p:cTn id="1700" dur="1" fill="hold">
                                    <p:stCondLst>
                                      <p:cond delay="0"/>
                                    </p:stCondLst>
                                  </p:cTn>
                                  <p:tgtEl>
                                    <p:spTgt spid="28"/>
                                  </p:tgtEl>
                                  <p:attrNameLst>
                                    <p:attrName>style.visibility</p:attrName>
                                  </p:attrNameLst>
                                </p:cBhvr>
                                <p:to>
                                  <p:strVal val="hidden"/>
                                </p:to>
                              </p:set>
                            </p:childTnLst>
                          </p:cTn>
                        </p:par>
                        <p:par>
                          <p:cTn id="1603" presetID="1" presetClass="exit" presetSubtype="0" fill="hold" nodeType="clickEffect">
                            <p:stCondLst>
                              <p:cond delay="0"/>
                            </p:stCondLst>
                            <p:childTnLst>
                              <p:set>
                                <p:cBhvr>
                                  <p:cTn id="1701" dur="1" fill="hold">
                                    <p:stCondLst>
                                      <p:cond delay="0"/>
                                    </p:stCondLst>
                                  </p:cTn>
                                  <p:tgtEl>
                                    <p:spTgt spid="29"/>
                                  </p:tgtEl>
                                  <p:attrNameLst>
                                    <p:attrName>style.visibility</p:attrName>
                                  </p:attrNameLst>
                                </p:cBhvr>
                                <p:to>
                                  <p:strVal val="hidden"/>
                                </p:to>
                              </p:set>
                            </p:childTnLst>
                          </p:cTn>
                        </p:par>
                        <p:par>
                          <p:cTn id="1800" presetID="1" presetClass="entr" presetSubtype="0" fill="hold" nodeType="withEffect">
                            <p:stCondLst>
                              <p:cond delay="0"/>
                            </p:stCondLst>
                            <p:childTnLst>
                              <p:set>
                                <p:cBhvr>
                                  <p:cTn id="1801" dur="1" fill="hold">
                                    <p:stCondLst>
                                      <p:cond delay="0"/>
                                    </p:stCondLst>
                                  </p:cTn>
                                  <p:tgtEl>
                                    <p:spTgt spid="27"/>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seq concurrent="1" nextAc="seek">
              <p:cTn id="1900" restart="whenNotActive" fill="hold" nodeType="interactiveSeq">
                <p:stCondLst>
                  <p:cond evt="onClick" delay="0">
                    <p:tgtEl>
                      <p:spTgt spid="30"/>
                    </p:tgtEl>
                  </p:cond>
                  <p:cond evt="onClick" delay="0">
                    <p:tgtEl>
                      <p:spTgt spid="33"/>
                    </p:tgtEl>
                  </p:cond>
                  <p:cond evt="onClick" delay="0">
                    <p:tgtEl>
                      <p:spTgt spid="34"/>
                    </p:tgtEl>
                  </p:cond>
                </p:stCondLst>
                <p:childTnLst>
                  <p:par>
                    <p:cTn id="1901" fill="hold">
                      <p:stCondLst>
                        <p:cond delay="0"/>
                      </p:stCondLst>
                      <p:childTnLst>
                        <p:par>
                          <p:cTn id="1902" presetID="1" presetClass="exit" presetSubtype="0" fill="hold" nodeType="clickEffect">
                            <p:stCondLst>
                              <p:cond delay="0"/>
                            </p:stCondLst>
                            <p:childTnLst>
                              <p:set>
                                <p:cBhvr>
                                  <p:cTn id="2000" dur="1" fill="hold">
                                    <p:stCondLst>
                                      <p:cond delay="0"/>
                                    </p:stCondLst>
                                  </p:cTn>
                                  <p:tgtEl>
                                    <p:spTgt spid="33"/>
                                  </p:tgtEl>
                                  <p:attrNameLst>
                                    <p:attrName>style.visibility</p:attrName>
                                  </p:attrNameLst>
                                </p:cBhvr>
                                <p:to>
                                  <p:strVal val="hidden"/>
                                </p:to>
                              </p:set>
                            </p:childTnLst>
                          </p:cTn>
                        </p:par>
                        <p:par>
                          <p:cTn id="1903" presetID="1" presetClass="exit" presetSubtype="0" fill="hold" nodeType="clickEffect">
                            <p:stCondLst>
                              <p:cond delay="0"/>
                            </p:stCondLst>
                            <p:childTnLst>
                              <p:set>
                                <p:cBhvr>
                                  <p:cTn id="2001" dur="1" fill="hold">
                                    <p:stCondLst>
                                      <p:cond delay="0"/>
                                    </p:stCondLst>
                                  </p:cTn>
                                  <p:tgtEl>
                                    <p:spTgt spid="34"/>
                                  </p:tgtEl>
                                  <p:attrNameLst>
                                    <p:attrName>style.visibility</p:attrName>
                                  </p:attrNameLst>
                                </p:cBhvr>
                                <p:to>
                                  <p:strVal val="hidden"/>
                                </p:to>
                              </p:set>
                            </p:childTnLst>
                          </p:cTn>
                        </p:par>
                        <p:par>
                          <p:cTn id="2100" presetID="1" presetClass="entr" presetSubtype="0" fill="hold" nodeType="withEffect">
                            <p:stCondLst>
                              <p:cond delay="0"/>
                            </p:stCondLst>
                            <p:childTnLst>
                              <p:set>
                                <p:cBhvr>
                                  <p:cTn id="2101" dur="1" fill="hold">
                                    <p:stCondLst>
                                      <p:cond delay="0"/>
                                    </p:stCondLst>
                                  </p:cTn>
                                  <p:tgtEl>
                                    <p:spTgt spid="3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seq concurrent="1" nextAc="seek">
              <p:cTn id="2200" restart="whenNotActive" fill="hold" nodeType="interactiveSeq">
                <p:stCondLst>
                  <p:cond evt="onClick" delay="0">
                    <p:tgtEl>
                      <p:spTgt spid="35"/>
                    </p:tgtEl>
                  </p:cond>
                  <p:cond evt="onClick" delay="0">
                    <p:tgtEl>
                      <p:spTgt spid="38"/>
                    </p:tgtEl>
                  </p:cond>
                  <p:cond evt="onClick" delay="0">
                    <p:tgtEl>
                      <p:spTgt spid="39"/>
                    </p:tgtEl>
                  </p:cond>
                </p:stCondLst>
                <p:childTnLst>
                  <p:par>
                    <p:cTn id="2201" fill="hold">
                      <p:stCondLst>
                        <p:cond delay="0"/>
                      </p:stCondLst>
                      <p:childTnLst>
                        <p:par>
                          <p:cTn id="2202" presetID="1" presetClass="exit" presetSubtype="0" fill="hold" nodeType="clickEffect">
                            <p:stCondLst>
                              <p:cond delay="0"/>
                            </p:stCondLst>
                            <p:childTnLst>
                              <p:set>
                                <p:cBhvr>
                                  <p:cTn id="2300" dur="1" fill="hold">
                                    <p:stCondLst>
                                      <p:cond delay="0"/>
                                    </p:stCondLst>
                                  </p:cTn>
                                  <p:tgtEl>
                                    <p:spTgt spid="38"/>
                                  </p:tgtEl>
                                  <p:attrNameLst>
                                    <p:attrName>style.visibility</p:attrName>
                                  </p:attrNameLst>
                                </p:cBhvr>
                                <p:to>
                                  <p:strVal val="hidden"/>
                                </p:to>
                              </p:set>
                            </p:childTnLst>
                          </p:cTn>
                        </p:par>
                        <p:par>
                          <p:cTn id="2203" presetID="1" presetClass="exit" presetSubtype="0" fill="hold" nodeType="clickEffect">
                            <p:stCondLst>
                              <p:cond delay="0"/>
                            </p:stCondLst>
                            <p:childTnLst>
                              <p:set>
                                <p:cBhvr>
                                  <p:cTn id="2301" dur="1" fill="hold">
                                    <p:stCondLst>
                                      <p:cond delay="0"/>
                                    </p:stCondLst>
                                  </p:cTn>
                                  <p:tgtEl>
                                    <p:spTgt spid="39"/>
                                  </p:tgtEl>
                                  <p:attrNameLst>
                                    <p:attrName>style.visibility</p:attrName>
                                  </p:attrNameLst>
                                </p:cBhvr>
                                <p:to>
                                  <p:strVal val="hidden"/>
                                </p:to>
                              </p:set>
                            </p:childTnLst>
                          </p:cTn>
                        </p:par>
                        <p:par>
                          <p:cTn id="2400" presetID="1" presetClass="entr" presetSubtype="0" fill="hold" nodeType="withEffect">
                            <p:stCondLst>
                              <p:cond delay="0"/>
                            </p:stCondLst>
                            <p:childTnLst>
                              <p:set>
                                <p:cBhvr>
                                  <p:cTn id="2401" dur="1" fill="hold">
                                    <p:stCondLst>
                                      <p:cond delay="0"/>
                                    </p:stCondLst>
                                  </p:cTn>
                                  <p:tgtEl>
                                    <p:spTgt spid="37"/>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seq concurrent="1" nextAc="seek">
              <p:cTn id="2500" restart="whenNotActive" fill="hold" nodeType="interactiveSeq">
                <p:stCondLst>
                  <p:cond evt="onClick" delay="0">
                    <p:tgtEl>
                      <p:spTgt spid="40"/>
                    </p:tgtEl>
                  </p:cond>
                  <p:cond evt="onClick" delay="0">
                    <p:tgtEl>
                      <p:spTgt spid="43"/>
                    </p:tgtEl>
                  </p:cond>
                  <p:cond evt="onClick" delay="0">
                    <p:tgtEl>
                      <p:spTgt spid="44"/>
                    </p:tgtEl>
                  </p:cond>
                </p:stCondLst>
                <p:childTnLst>
                  <p:par>
                    <p:cTn id="2501" fill="hold">
                      <p:stCondLst>
                        <p:cond delay="0"/>
                      </p:stCondLst>
                      <p:childTnLst>
                        <p:par>
                          <p:cTn id="2502" presetID="1" presetClass="exit" presetSubtype="0" fill="hold" nodeType="clickEffect">
                            <p:stCondLst>
                              <p:cond delay="0"/>
                            </p:stCondLst>
                            <p:childTnLst>
                              <p:set>
                                <p:cBhvr>
                                  <p:cTn id="2600" dur="1" fill="hold">
                                    <p:stCondLst>
                                      <p:cond delay="0"/>
                                    </p:stCondLst>
                                  </p:cTn>
                                  <p:tgtEl>
                                    <p:spTgt spid="43"/>
                                  </p:tgtEl>
                                  <p:attrNameLst>
                                    <p:attrName>style.visibility</p:attrName>
                                  </p:attrNameLst>
                                </p:cBhvr>
                                <p:to>
                                  <p:strVal val="hidden"/>
                                </p:to>
                              </p:set>
                            </p:childTnLst>
                          </p:cTn>
                        </p:par>
                        <p:par>
                          <p:cTn id="2503" presetID="1" presetClass="exit" presetSubtype="0" fill="hold" nodeType="clickEffect">
                            <p:stCondLst>
                              <p:cond delay="0"/>
                            </p:stCondLst>
                            <p:childTnLst>
                              <p:set>
                                <p:cBhvr>
                                  <p:cTn id="2601" dur="1" fill="hold">
                                    <p:stCondLst>
                                      <p:cond delay="0"/>
                                    </p:stCondLst>
                                  </p:cTn>
                                  <p:tgtEl>
                                    <p:spTgt spid="44"/>
                                  </p:tgtEl>
                                  <p:attrNameLst>
                                    <p:attrName>style.visibility</p:attrName>
                                  </p:attrNameLst>
                                </p:cBhvr>
                                <p:to>
                                  <p:strVal val="hidden"/>
                                </p:to>
                              </p:set>
                            </p:childTnLst>
                          </p:cTn>
                        </p:par>
                        <p:par>
                          <p:cTn id="2700" presetID="1" presetClass="entr" presetSubtype="0" fill="hold" nodeType="withEffect">
                            <p:stCondLst>
                              <p:cond delay="0"/>
                            </p:stCondLst>
                            <p:childTnLst>
                              <p:set>
                                <p:cBhvr>
                                  <p:cTn id="2701" dur="1" fill="hold">
                                    <p:stCondLst>
                                      <p:cond delay="0"/>
                                    </p:stCondLst>
                                  </p:cTn>
                                  <p:tgtEl>
                                    <p:spTgt spid="4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2192000" cy="50800"/>
          </a:xfrm>
          <a:prstGeom prst="rect">
            <a:avLst/>
          </a:prstGeom>
          <a:solidFill>
            <a:srgbClr val="161614"/>
          </a:solidFill>
          <a:ln>
            <a:noFill/>
          </a:ln>
          <a:effectLst/>
        </p:spPr>
        <p:txBody>
          <a:bodyPr rtlCol="0" anchor="ctr"/>
          <a:lstStyle/>
          <a:p>
            <a:pPr algn="ctr"/>
          </a:p>
        </p:txBody>
      </p:sp>
      <p:sp>
        <p:nvSpPr>
          <p:cNvPr id="4" name="Rectangle 3"/>
          <p:cNvSpPr/>
          <p:nvPr/>
        </p:nvSpPr>
        <p:spPr>
          <a:xfrm>
            <a:off x="0" y="6553200"/>
            <a:ext cx="12192000" cy="0"/>
          </a:xfrm>
          <a:prstGeom prst="rect">
            <a:avLst/>
          </a:prstGeom>
          <a:noFill/>
          <a:ln w="6350">
            <a:solidFill>
              <a:srgbClr val="DAD8CC"/>
            </a:solidFill>
          </a:ln>
          <a:effectLst/>
        </p:spPr>
        <p:txBody>
          <a:bodyPr rtlCol="0" anchor="ctr"/>
          <a:lstStyle/>
          <a:p>
            <a:pPr algn="ctr"/>
          </a:p>
        </p:txBody>
      </p:sp>
      <p:sp>
        <p:nvSpPr>
          <p:cNvPr id="5" name="Rectangle 4"/>
          <p:cNvSpPr/>
          <p:nvPr/>
        </p:nvSpPr>
        <p:spPr>
          <a:xfrm>
            <a:off x="566928" y="344424"/>
            <a:ext cx="137160" cy="137160"/>
          </a:xfrm>
          <a:prstGeom prst="rect">
            <a:avLst/>
          </a:prstGeom>
          <a:solidFill>
            <a:srgbClr val="161614"/>
          </a:solidFill>
          <a:ln>
            <a:noFill/>
          </a:ln>
          <a:effectLst/>
        </p:spPr>
        <p:txBody>
          <a:bodyPr rtlCol="0" anchor="ctr"/>
          <a:lstStyle/>
          <a:p>
            <a:pPr algn="ctr"/>
          </a:p>
        </p:txBody>
      </p:sp>
      <p:sp>
        <p:nvSpPr>
          <p:cNvPr id="6" name="TextBox 5"/>
          <p:cNvSpPr txBox="1"/>
          <p:nvPr/>
        </p:nvSpPr>
        <p:spPr>
          <a:xfrm>
            <a:off x="866648" y="310896"/>
            <a:ext cx="9000000" cy="274320"/>
          </a:xfrm>
          <a:prstGeom prst="rect">
            <a:avLst/>
          </a:prstGeom>
          <a:noFill/>
        </p:spPr>
        <p:txBody>
          <a:bodyPr wrap="square" lIns="0" rIns="0" tIns="0" bIns="0">
            <a:spAutoFit/>
          </a:bodyPr>
          <a:lstStyle/>
          <a:p>
            <a:r>
              <a:rPr sz="1100" b="1" i="0" spc="200">
                <a:solidFill>
                  <a:srgbClr val="161614"/>
                </a:solidFill>
                <a:latin typeface="Consolas"/>
              </a:rPr>
              <a:t>GIS WORKING PRACTICES · RECAP</a:t>
            </a:r>
          </a:p>
        </p:txBody>
      </p:sp>
      <p:sp>
        <p:nvSpPr>
          <p:cNvPr id="7" name="TextBox 6"/>
          <p:cNvSpPr txBox="1"/>
          <p:nvPr/>
        </p:nvSpPr>
        <p:spPr>
          <a:xfrm>
            <a:off x="566928" y="700000"/>
            <a:ext cx="10234879" cy="700000"/>
          </a:xfrm>
          <a:prstGeom prst="rect">
            <a:avLst/>
          </a:prstGeom>
          <a:noFill/>
        </p:spPr>
        <p:txBody>
          <a:bodyPr wrap="square" lIns="0" rIns="0" tIns="0" bIns="0">
            <a:spAutoFit/>
          </a:bodyPr>
          <a:lstStyle/>
          <a:p>
            <a:r>
              <a:rPr sz="3200" b="1" i="0">
                <a:solidFill>
                  <a:srgbClr val="161614"/>
                </a:solidFill>
                <a:latin typeface="Arial"/>
              </a:rPr>
              <a:t>Three Habits, One Workflow</a:t>
            </a:r>
          </a:p>
        </p:txBody>
      </p:sp>
      <p:sp>
        <p:nvSpPr>
          <p:cNvPr id="8" name="Rectangle 7"/>
          <p:cNvSpPr/>
          <p:nvPr/>
        </p:nvSpPr>
        <p:spPr>
          <a:xfrm>
            <a:off x="566928" y="1420000"/>
            <a:ext cx="900000" cy="0"/>
          </a:xfrm>
          <a:prstGeom prst="rect">
            <a:avLst/>
          </a:prstGeom>
          <a:noFill/>
          <a:ln w="28575">
            <a:solidFill>
              <a:srgbClr val="161614"/>
            </a:solidFill>
          </a:ln>
          <a:effectLst/>
        </p:spPr>
        <p:txBody>
          <a:bodyPr rtlCol="0" anchor="ctr"/>
          <a:lstStyle/>
          <a:p>
            <a:pPr algn="ctr"/>
          </a:p>
        </p:txBody>
      </p:sp>
      <p:sp>
        <p:nvSpPr>
          <p:cNvPr id="9" name="TextBox 8"/>
          <p:cNvSpPr txBox="1"/>
          <p:nvPr/>
        </p:nvSpPr>
        <p:spPr>
          <a:xfrm>
            <a:off x="566928" y="1520000"/>
            <a:ext cx="10234879" cy="320000"/>
          </a:xfrm>
          <a:prstGeom prst="rect">
            <a:avLst/>
          </a:prstGeom>
          <a:noFill/>
        </p:spPr>
        <p:txBody>
          <a:bodyPr wrap="square" lIns="0" rIns="0" tIns="0" bIns="0">
            <a:spAutoFit/>
          </a:bodyPr>
          <a:lstStyle/>
          <a:p>
            <a:r>
              <a:rPr sz="1450" b="0" i="1">
                <a:solidFill>
                  <a:srgbClr val="5C5B53"/>
                </a:solidFill>
                <a:latin typeface="Arial"/>
              </a:rPr>
              <a:t>Know your files, manage them well, and know how to get unstuck</a:t>
            </a:r>
          </a:p>
        </p:txBody>
      </p:sp>
      <p:sp>
        <p:nvSpPr>
          <p:cNvPr id="10" name="Rectangle 9"/>
          <p:cNvSpPr/>
          <p:nvPr/>
        </p:nvSpPr>
        <p:spPr>
          <a:xfrm>
            <a:off x="566928" y="1920000"/>
            <a:ext cx="11057839" cy="0"/>
          </a:xfrm>
          <a:prstGeom prst="rect">
            <a:avLst/>
          </a:prstGeom>
          <a:noFill/>
          <a:ln w="6350">
            <a:solidFill>
              <a:srgbClr val="DAD8CC"/>
            </a:solidFill>
          </a:ln>
          <a:effectLst/>
        </p:spPr>
        <p:txBody>
          <a:bodyPr rtlCol="0" anchor="ctr"/>
          <a:lstStyle/>
          <a:p>
            <a:pPr algn="ctr"/>
          </a:p>
        </p:txBody>
      </p:sp>
      <p:sp>
        <p:nvSpPr>
          <p:cNvPr id="11" name="TextBox 10"/>
          <p:cNvSpPr txBox="1"/>
          <p:nvPr/>
        </p:nvSpPr>
        <p:spPr>
          <a:xfrm>
            <a:off x="11023600" y="6600000"/>
            <a:ext cx="603504" cy="250000"/>
          </a:xfrm>
          <a:prstGeom prst="rect">
            <a:avLst/>
          </a:prstGeom>
          <a:noFill/>
        </p:spPr>
        <p:txBody>
          <a:bodyPr wrap="square" lIns="0" rIns="0" tIns="0" bIns="0" anchor="ctr">
            <a:spAutoFit/>
          </a:bodyPr>
          <a:lstStyle/>
          <a:p>
            <a:pPr algn="ctr"/>
            <a:r>
              <a:rPr sz="1050" b="0" i="0">
                <a:solidFill>
                  <a:srgbClr val="9C9A90"/>
                </a:solidFill>
                <a:latin typeface="Consolas"/>
              </a:rPr>
              <a:t>13</a:t>
            </a:r>
          </a:p>
        </p:txBody>
      </p:sp>
      <p:sp>
        <p:nvSpPr>
          <p:cNvPr id="12" name="Rectangle 11"/>
          <p:cNvSpPr/>
          <p:nvPr/>
        </p:nvSpPr>
        <p:spPr>
          <a:xfrm>
            <a:off x="566928" y="2080000"/>
            <a:ext cx="38100" cy="661866"/>
          </a:xfrm>
          <a:prstGeom prst="rect">
            <a:avLst/>
          </a:prstGeom>
          <a:solidFill>
            <a:srgbClr val="1B4B8F"/>
          </a:solidFill>
          <a:ln>
            <a:noFill/>
          </a:ln>
          <a:effectLst/>
        </p:spPr>
        <p:txBody>
          <a:bodyPr rtlCol="0" anchor="ctr"/>
          <a:lstStyle/>
          <a:p>
            <a:pPr algn="ctr"/>
          </a:p>
        </p:txBody>
      </p:sp>
      <p:sp>
        <p:nvSpPr>
          <p:cNvPr id="13" name="TextBox 12"/>
          <p:cNvSpPr txBox="1"/>
          <p:nvPr/>
        </p:nvSpPr>
        <p:spPr>
          <a:xfrm>
            <a:off x="826928" y="2080000"/>
            <a:ext cx="5711397" cy="291424"/>
          </a:xfrm>
          <a:prstGeom prst="rect">
            <a:avLst/>
          </a:prstGeom>
          <a:noFill/>
        </p:spPr>
        <p:txBody>
          <a:bodyPr wrap="square" lIns="0" rIns="0" tIns="0" bIns="0">
            <a:spAutoFit/>
          </a:bodyPr>
          <a:lstStyle/>
          <a:p>
            <a:r>
              <a:rPr sz="1300" b="1" i="0">
                <a:solidFill>
                  <a:srgbClr val="161614"/>
                </a:solidFill>
                <a:latin typeface="Arial"/>
              </a:rPr>
              <a:t>Pick the format that matches the job</a:t>
            </a:r>
          </a:p>
        </p:txBody>
      </p:sp>
      <p:sp>
        <p:nvSpPr>
          <p:cNvPr id="14" name="TextBox 13"/>
          <p:cNvSpPr txBox="1"/>
          <p:nvPr/>
        </p:nvSpPr>
        <p:spPr>
          <a:xfrm>
            <a:off x="826928" y="2371424"/>
            <a:ext cx="5711397" cy="388565"/>
          </a:xfrm>
          <a:prstGeom prst="rect">
            <a:avLst/>
          </a:prstGeom>
          <a:noFill/>
        </p:spPr>
        <p:txBody>
          <a:bodyPr wrap="square" lIns="0" rIns="0" tIns="0" bIns="0">
            <a:spAutoFit/>
          </a:bodyPr>
          <a:lstStyle/>
          <a:p>
            <a:pPr>
              <a:lnSpc>
                <a:spcPct val="105000"/>
              </a:lnSpc>
            </a:pPr>
            <a:r>
              <a:rPr sz="1000" b="0" i="0">
                <a:solidFill>
                  <a:srgbClr val="5C5B53"/>
                </a:solidFill>
                <a:latin typeface="Arial"/>
              </a:rPr>
              <a:t>A shapefile is not a geodatabase, and a style file is not your data -- five formats, five different jobs.</a:t>
            </a:r>
          </a:p>
        </p:txBody>
      </p:sp>
      <p:sp>
        <p:nvSpPr>
          <p:cNvPr id="15" name="Rectangle 14"/>
          <p:cNvSpPr/>
          <p:nvPr/>
        </p:nvSpPr>
        <p:spPr>
          <a:xfrm>
            <a:off x="566928" y="2805866"/>
            <a:ext cx="38100" cy="661866"/>
          </a:xfrm>
          <a:prstGeom prst="rect">
            <a:avLst/>
          </a:prstGeom>
          <a:solidFill>
            <a:srgbClr val="1B4B8F"/>
          </a:solidFill>
          <a:ln>
            <a:noFill/>
          </a:ln>
          <a:effectLst/>
        </p:spPr>
        <p:txBody>
          <a:bodyPr rtlCol="0" anchor="ctr"/>
          <a:lstStyle/>
          <a:p>
            <a:pPr algn="ctr"/>
          </a:p>
        </p:txBody>
      </p:sp>
      <p:sp>
        <p:nvSpPr>
          <p:cNvPr id="16" name="TextBox 15"/>
          <p:cNvSpPr txBox="1"/>
          <p:nvPr/>
        </p:nvSpPr>
        <p:spPr>
          <a:xfrm>
            <a:off x="826928" y="2805866"/>
            <a:ext cx="5711397" cy="291424"/>
          </a:xfrm>
          <a:prstGeom prst="rect">
            <a:avLst/>
          </a:prstGeom>
          <a:noFill/>
        </p:spPr>
        <p:txBody>
          <a:bodyPr wrap="square" lIns="0" rIns="0" tIns="0" bIns="0">
            <a:spAutoFit/>
          </a:bodyPr>
          <a:lstStyle/>
          <a:p>
            <a:r>
              <a:rPr sz="1300" b="1" i="0">
                <a:solidFill>
                  <a:srgbClr val="161614"/>
                </a:solidFill>
                <a:latin typeface="Arial"/>
              </a:rPr>
              <a:t>Project files are pointers, not containers</a:t>
            </a:r>
          </a:p>
        </p:txBody>
      </p:sp>
      <p:sp>
        <p:nvSpPr>
          <p:cNvPr id="17" name="TextBox 16"/>
          <p:cNvSpPr txBox="1"/>
          <p:nvPr/>
        </p:nvSpPr>
        <p:spPr>
          <a:xfrm>
            <a:off x="826928" y="3097290"/>
            <a:ext cx="5711397" cy="388565"/>
          </a:xfrm>
          <a:prstGeom prst="rect">
            <a:avLst/>
          </a:prstGeom>
          <a:noFill/>
        </p:spPr>
        <p:txBody>
          <a:bodyPr wrap="square" lIns="0" rIns="0" tIns="0" bIns="0">
            <a:spAutoFit/>
          </a:bodyPr>
          <a:lstStyle/>
          <a:p>
            <a:pPr>
              <a:lnSpc>
                <a:spcPct val="105000"/>
              </a:lnSpc>
            </a:pPr>
            <a:r>
              <a:rPr sz="1000" b="0" i="0">
                <a:solidFill>
                  <a:srgbClr val="5C5B53"/>
                </a:solidFill>
                <a:latin typeface="Arial"/>
              </a:rPr>
              <a:t>.aprx and .qgz store links, layouts, and settings -- never the data itself. Move the pointer without the data, and it breaks.</a:t>
            </a:r>
          </a:p>
        </p:txBody>
      </p:sp>
      <p:sp>
        <p:nvSpPr>
          <p:cNvPr id="18" name="Rectangle 17"/>
          <p:cNvSpPr/>
          <p:nvPr/>
        </p:nvSpPr>
        <p:spPr>
          <a:xfrm>
            <a:off x="566928" y="3531733"/>
            <a:ext cx="38100" cy="661866"/>
          </a:xfrm>
          <a:prstGeom prst="rect">
            <a:avLst/>
          </a:prstGeom>
          <a:solidFill>
            <a:srgbClr val="B3242A"/>
          </a:solidFill>
          <a:ln>
            <a:noFill/>
          </a:ln>
          <a:effectLst/>
        </p:spPr>
        <p:txBody>
          <a:bodyPr rtlCol="0" anchor="ctr"/>
          <a:lstStyle/>
          <a:p>
            <a:pPr algn="ctr"/>
          </a:p>
        </p:txBody>
      </p:sp>
      <p:sp>
        <p:nvSpPr>
          <p:cNvPr id="19" name="TextBox 18"/>
          <p:cNvSpPr txBox="1"/>
          <p:nvPr/>
        </p:nvSpPr>
        <p:spPr>
          <a:xfrm>
            <a:off x="826928" y="3531733"/>
            <a:ext cx="5711397" cy="291424"/>
          </a:xfrm>
          <a:prstGeom prst="rect">
            <a:avLst/>
          </a:prstGeom>
          <a:noFill/>
        </p:spPr>
        <p:txBody>
          <a:bodyPr wrap="square" lIns="0" rIns="0" tIns="0" bIns="0">
            <a:spAutoFit/>
          </a:bodyPr>
          <a:lstStyle/>
          <a:p>
            <a:r>
              <a:rPr sz="1300" b="1" i="0">
                <a:solidFill>
                  <a:srgbClr val="161614"/>
                </a:solidFill>
                <a:latin typeface="Arial"/>
              </a:rPr>
              <a:t>One parent folder, synced to the cloud</a:t>
            </a:r>
          </a:p>
        </p:txBody>
      </p:sp>
      <p:sp>
        <p:nvSpPr>
          <p:cNvPr id="20" name="TextBox 19"/>
          <p:cNvSpPr txBox="1"/>
          <p:nvPr/>
        </p:nvSpPr>
        <p:spPr>
          <a:xfrm>
            <a:off x="826928" y="3823157"/>
            <a:ext cx="5711397" cy="388565"/>
          </a:xfrm>
          <a:prstGeom prst="rect">
            <a:avLst/>
          </a:prstGeom>
          <a:noFill/>
        </p:spPr>
        <p:txBody>
          <a:bodyPr wrap="square" lIns="0" rIns="0" tIns="0" bIns="0">
            <a:spAutoFit/>
          </a:bodyPr>
          <a:lstStyle/>
          <a:p>
            <a:pPr>
              <a:lnSpc>
                <a:spcPct val="105000"/>
              </a:lnSpc>
            </a:pPr>
            <a:r>
              <a:rPr sz="1000" b="0" i="0">
                <a:solidFill>
                  <a:srgbClr val="5C5B53"/>
                </a:solidFill>
                <a:latin typeface="Arial"/>
              </a:rPr>
              <a:t>Every class file lives in one folder, mirrored through Dropbox or OneDrive -- so nothing is ever lost to one machine.</a:t>
            </a:r>
          </a:p>
        </p:txBody>
      </p:sp>
      <p:sp>
        <p:nvSpPr>
          <p:cNvPr id="21" name="Rectangle 20"/>
          <p:cNvSpPr/>
          <p:nvPr/>
        </p:nvSpPr>
        <p:spPr>
          <a:xfrm>
            <a:off x="566928" y="4257600"/>
            <a:ext cx="38100" cy="661866"/>
          </a:xfrm>
          <a:prstGeom prst="rect">
            <a:avLst/>
          </a:prstGeom>
          <a:solidFill>
            <a:srgbClr val="B3242A"/>
          </a:solidFill>
          <a:ln>
            <a:noFill/>
          </a:ln>
          <a:effectLst/>
        </p:spPr>
        <p:txBody>
          <a:bodyPr rtlCol="0" anchor="ctr"/>
          <a:lstStyle/>
          <a:p>
            <a:pPr algn="ctr"/>
          </a:p>
        </p:txBody>
      </p:sp>
      <p:sp>
        <p:nvSpPr>
          <p:cNvPr id="22" name="TextBox 21"/>
          <p:cNvSpPr txBox="1"/>
          <p:nvPr/>
        </p:nvSpPr>
        <p:spPr>
          <a:xfrm>
            <a:off x="826928" y="4257600"/>
            <a:ext cx="5711397" cy="291424"/>
          </a:xfrm>
          <a:prstGeom prst="rect">
            <a:avLst/>
          </a:prstGeom>
          <a:noFill/>
        </p:spPr>
        <p:txBody>
          <a:bodyPr wrap="square" lIns="0" rIns="0" tIns="0" bIns="0">
            <a:spAutoFit/>
          </a:bodyPr>
          <a:lstStyle/>
          <a:p>
            <a:r>
              <a:rPr sz="1300" b="1" i="0">
                <a:solidFill>
                  <a:srgbClr val="161614"/>
                </a:solidFill>
                <a:latin typeface="Arial"/>
              </a:rPr>
              <a:t>Name things so your future self understands them</a:t>
            </a:r>
          </a:p>
        </p:txBody>
      </p:sp>
      <p:sp>
        <p:nvSpPr>
          <p:cNvPr id="23" name="TextBox 22"/>
          <p:cNvSpPr txBox="1"/>
          <p:nvPr/>
        </p:nvSpPr>
        <p:spPr>
          <a:xfrm>
            <a:off x="826928" y="4549024"/>
            <a:ext cx="5711397" cy="388565"/>
          </a:xfrm>
          <a:prstGeom prst="rect">
            <a:avLst/>
          </a:prstGeom>
          <a:noFill/>
        </p:spPr>
        <p:txBody>
          <a:bodyPr wrap="square" lIns="0" rIns="0" tIns="0" bIns="0">
            <a:spAutoFit/>
          </a:bodyPr>
          <a:lstStyle/>
          <a:p>
            <a:pPr>
              <a:lnSpc>
                <a:spcPct val="105000"/>
              </a:lnSpc>
            </a:pPr>
            <a:r>
              <a:rPr sz="1000" b="0" i="0">
                <a:solidFill>
                  <a:srgbClr val="5C5B53"/>
                </a:solidFill>
                <a:latin typeface="Arial"/>
              </a:rPr>
              <a:t>No spaces or special characters, the year and the unit included, and outputs named after what created them.</a:t>
            </a:r>
          </a:p>
        </p:txBody>
      </p:sp>
      <p:sp>
        <p:nvSpPr>
          <p:cNvPr id="24" name="Rectangle 23"/>
          <p:cNvSpPr/>
          <p:nvPr/>
        </p:nvSpPr>
        <p:spPr>
          <a:xfrm>
            <a:off x="566928" y="4983466"/>
            <a:ext cx="38100" cy="661866"/>
          </a:xfrm>
          <a:prstGeom prst="rect">
            <a:avLst/>
          </a:prstGeom>
          <a:solidFill>
            <a:srgbClr val="B87C0C"/>
          </a:solidFill>
          <a:ln>
            <a:noFill/>
          </a:ln>
          <a:effectLst/>
        </p:spPr>
        <p:txBody>
          <a:bodyPr rtlCol="0" anchor="ctr"/>
          <a:lstStyle/>
          <a:p>
            <a:pPr algn="ctr"/>
          </a:p>
        </p:txBody>
      </p:sp>
      <p:sp>
        <p:nvSpPr>
          <p:cNvPr id="25" name="TextBox 24"/>
          <p:cNvSpPr txBox="1"/>
          <p:nvPr/>
        </p:nvSpPr>
        <p:spPr>
          <a:xfrm>
            <a:off x="826928" y="4983466"/>
            <a:ext cx="5711397" cy="291424"/>
          </a:xfrm>
          <a:prstGeom prst="rect">
            <a:avLst/>
          </a:prstGeom>
          <a:noFill/>
        </p:spPr>
        <p:txBody>
          <a:bodyPr wrap="square" lIns="0" rIns="0" tIns="0" bIns="0">
            <a:spAutoFit/>
          </a:bodyPr>
          <a:lstStyle/>
          <a:p>
            <a:r>
              <a:rPr sz="1300" b="1" i="0">
                <a:solidFill>
                  <a:srgbClr val="161614"/>
                </a:solidFill>
                <a:latin typeface="Arial"/>
              </a:rPr>
              <a:t>Search before you ask</a:t>
            </a:r>
          </a:p>
        </p:txBody>
      </p:sp>
      <p:sp>
        <p:nvSpPr>
          <p:cNvPr id="26" name="TextBox 25"/>
          <p:cNvSpPr txBox="1"/>
          <p:nvPr/>
        </p:nvSpPr>
        <p:spPr>
          <a:xfrm>
            <a:off x="826928" y="5274890"/>
            <a:ext cx="5711397" cy="388565"/>
          </a:xfrm>
          <a:prstGeom prst="rect">
            <a:avLst/>
          </a:prstGeom>
          <a:noFill/>
        </p:spPr>
        <p:txBody>
          <a:bodyPr wrap="square" lIns="0" rIns="0" tIns="0" bIns="0">
            <a:spAutoFit/>
          </a:bodyPr>
          <a:lstStyle/>
          <a:p>
            <a:pPr>
              <a:lnSpc>
                <a:spcPct val="105000"/>
              </a:lnSpc>
            </a:pPr>
            <a:r>
              <a:rPr sz="1000" b="0" i="0">
                <a:solidFill>
                  <a:srgbClr val="5C5B53"/>
                </a:solidFill>
                <a:latin typeface="Arial"/>
              </a:rPr>
              <a:t>Copy the exact error message into a search engine first -- most problems are solved before anyone else gets involved.</a:t>
            </a:r>
          </a:p>
        </p:txBody>
      </p:sp>
      <p:sp>
        <p:nvSpPr>
          <p:cNvPr id="27" name="Rectangle 26"/>
          <p:cNvSpPr/>
          <p:nvPr/>
        </p:nvSpPr>
        <p:spPr>
          <a:xfrm>
            <a:off x="566928" y="5709333"/>
            <a:ext cx="38100" cy="661866"/>
          </a:xfrm>
          <a:prstGeom prst="rect">
            <a:avLst/>
          </a:prstGeom>
          <a:solidFill>
            <a:srgbClr val="B87C0C"/>
          </a:solidFill>
          <a:ln>
            <a:noFill/>
          </a:ln>
          <a:effectLst/>
        </p:spPr>
        <p:txBody>
          <a:bodyPr rtlCol="0" anchor="ctr"/>
          <a:lstStyle/>
          <a:p>
            <a:pPr algn="ctr"/>
          </a:p>
        </p:txBody>
      </p:sp>
      <p:sp>
        <p:nvSpPr>
          <p:cNvPr id="28" name="TextBox 27"/>
          <p:cNvSpPr txBox="1"/>
          <p:nvPr/>
        </p:nvSpPr>
        <p:spPr>
          <a:xfrm>
            <a:off x="826928" y="5709333"/>
            <a:ext cx="5711397" cy="291424"/>
          </a:xfrm>
          <a:prstGeom prst="rect">
            <a:avLst/>
          </a:prstGeom>
          <a:noFill/>
        </p:spPr>
        <p:txBody>
          <a:bodyPr wrap="square" lIns="0" rIns="0" tIns="0" bIns="0">
            <a:spAutoFit/>
          </a:bodyPr>
          <a:lstStyle/>
          <a:p>
            <a:r>
              <a:rPr sz="1300" b="1" i="0">
                <a:solidFill>
                  <a:srgbClr val="161614"/>
                </a:solidFill>
                <a:latin typeface="Arial"/>
              </a:rPr>
              <a:t>Ask peers, then bring it to class</a:t>
            </a:r>
          </a:p>
        </p:txBody>
      </p:sp>
      <p:sp>
        <p:nvSpPr>
          <p:cNvPr id="29" name="TextBox 28"/>
          <p:cNvSpPr txBox="1"/>
          <p:nvPr/>
        </p:nvSpPr>
        <p:spPr>
          <a:xfrm>
            <a:off x="826928" y="6000757"/>
            <a:ext cx="5711397" cy="388565"/>
          </a:xfrm>
          <a:prstGeom prst="rect">
            <a:avLst/>
          </a:prstGeom>
          <a:noFill/>
        </p:spPr>
        <p:txBody>
          <a:bodyPr wrap="square" lIns="0" rIns="0" tIns="0" bIns="0">
            <a:spAutoFit/>
          </a:bodyPr>
          <a:lstStyle/>
          <a:p>
            <a:pPr>
              <a:lnSpc>
                <a:spcPct val="105000"/>
              </a:lnSpc>
            </a:pPr>
            <a:r>
              <a:rPr sz="1000" b="0" i="0">
                <a:solidFill>
                  <a:srgbClr val="5C5B53"/>
                </a:solidFill>
                <a:latin typeface="Arial"/>
              </a:rPr>
              <a:t>MS Teams for a quick second opinion; dedicated class time -- with your steps and screenshots -- for what's still stuck.</a:t>
            </a:r>
          </a:p>
        </p:txBody>
      </p:sp>
      <p:sp>
        <p:nvSpPr>
          <p:cNvPr id="30" name="Rectangle 29"/>
          <p:cNvSpPr/>
          <p:nvPr/>
        </p:nvSpPr>
        <p:spPr>
          <a:xfrm>
            <a:off x="6888325" y="2080000"/>
            <a:ext cx="4736746" cy="4323200"/>
          </a:xfrm>
          <a:prstGeom prst="rect">
            <a:avLst/>
          </a:prstGeom>
          <a:solidFill>
            <a:srgbClr val="161614"/>
          </a:solidFill>
          <a:ln>
            <a:noFill/>
          </a:ln>
          <a:effectLst/>
        </p:spPr>
        <p:txBody>
          <a:bodyPr rtlCol="0" anchor="ctr"/>
          <a:lstStyle/>
          <a:p>
            <a:pPr algn="ctr"/>
          </a:p>
        </p:txBody>
      </p:sp>
      <p:sp>
        <p:nvSpPr>
          <p:cNvPr id="31" name="TextBox 30"/>
          <p:cNvSpPr txBox="1"/>
          <p:nvPr/>
        </p:nvSpPr>
        <p:spPr>
          <a:xfrm>
            <a:off x="7148325" y="2300000"/>
            <a:ext cx="4216746" cy="500000"/>
          </a:xfrm>
          <a:prstGeom prst="rect">
            <a:avLst/>
          </a:prstGeom>
          <a:noFill/>
        </p:spPr>
        <p:txBody>
          <a:bodyPr wrap="square" lIns="0" rIns="0" tIns="0" bIns="0">
            <a:spAutoFit/>
          </a:bodyPr>
          <a:lstStyle/>
          <a:p>
            <a:r>
              <a:rPr sz="1600" b="1" i="0">
                <a:solidFill>
                  <a:srgbClr val="FFFFFF"/>
                </a:solidFill>
                <a:latin typeface="Arial"/>
              </a:rPr>
              <a:t>Up next: Data Management</a:t>
            </a:r>
          </a:p>
        </p:txBody>
      </p:sp>
      <p:sp>
        <p:nvSpPr>
          <p:cNvPr id="32" name="TextBox 31"/>
          <p:cNvSpPr txBox="1"/>
          <p:nvPr/>
        </p:nvSpPr>
        <p:spPr>
          <a:xfrm>
            <a:off x="7148325" y="2980000"/>
            <a:ext cx="400000" cy="805800"/>
          </a:xfrm>
          <a:prstGeom prst="rect">
            <a:avLst/>
          </a:prstGeom>
          <a:noFill/>
        </p:spPr>
        <p:txBody>
          <a:bodyPr wrap="square" lIns="0" rIns="0" tIns="0" bIns="0" anchor="t">
            <a:spAutoFit/>
          </a:bodyPr>
          <a:lstStyle/>
          <a:p>
            <a:r>
              <a:rPr sz="1400" b="1">
                <a:solidFill>
                  <a:srgbClr val="B3242A"/>
                </a:solidFill>
                <a:latin typeface="Arial"/>
              </a:rPr>
              <a:t>A</a:t>
            </a:r>
          </a:p>
        </p:txBody>
      </p:sp>
      <p:sp>
        <p:nvSpPr>
          <p:cNvPr id="33" name="TextBox 32"/>
          <p:cNvSpPr txBox="1"/>
          <p:nvPr/>
        </p:nvSpPr>
        <p:spPr>
          <a:xfrm>
            <a:off x="7508325" y="2980000"/>
            <a:ext cx="3836746" cy="402900"/>
          </a:xfrm>
          <a:prstGeom prst="rect">
            <a:avLst/>
          </a:prstGeom>
          <a:noFill/>
        </p:spPr>
        <p:txBody>
          <a:bodyPr wrap="square" lIns="0" rIns="0" tIns="0" bIns="0">
            <a:spAutoFit/>
          </a:bodyPr>
          <a:lstStyle/>
          <a:p>
            <a:r>
              <a:rPr sz="1250" b="1" i="0">
                <a:solidFill>
                  <a:srgbClr val="FFFFFF"/>
                </a:solidFill>
                <a:latin typeface="Arial"/>
              </a:rPr>
              <a:t>Where data comes from</a:t>
            </a:r>
          </a:p>
        </p:txBody>
      </p:sp>
      <p:sp>
        <p:nvSpPr>
          <p:cNvPr id="34" name="TextBox 33"/>
          <p:cNvSpPr txBox="1"/>
          <p:nvPr/>
        </p:nvSpPr>
        <p:spPr>
          <a:xfrm>
            <a:off x="7508325" y="3350668"/>
            <a:ext cx="3836746" cy="435132"/>
          </a:xfrm>
          <a:prstGeom prst="rect">
            <a:avLst/>
          </a:prstGeom>
          <a:noFill/>
        </p:spPr>
        <p:txBody>
          <a:bodyPr wrap="square" lIns="0" rIns="0" tIns="0" bIns="0">
            <a:spAutoFit/>
          </a:bodyPr>
          <a:lstStyle/>
          <a:p>
            <a:pPr>
              <a:lnSpc>
                <a:spcPct val="105000"/>
              </a:lnSpc>
            </a:pPr>
            <a:r>
              <a:rPr sz="1050" b="0" i="0">
                <a:solidFill>
                  <a:srgbClr val="E3E0D3"/>
                </a:solidFill>
                <a:latin typeface="Arial"/>
              </a:rPr>
              <a:t>Evaluating and choosing real GIS data sources before you bring anything into a project.</a:t>
            </a:r>
          </a:p>
        </p:txBody>
      </p:sp>
      <p:sp>
        <p:nvSpPr>
          <p:cNvPr id="35" name="TextBox 34"/>
          <p:cNvSpPr txBox="1"/>
          <p:nvPr/>
        </p:nvSpPr>
        <p:spPr>
          <a:xfrm>
            <a:off x="7148325" y="3785800"/>
            <a:ext cx="400000" cy="805800"/>
          </a:xfrm>
          <a:prstGeom prst="rect">
            <a:avLst/>
          </a:prstGeom>
          <a:noFill/>
        </p:spPr>
        <p:txBody>
          <a:bodyPr wrap="square" lIns="0" rIns="0" tIns="0" bIns="0" anchor="t">
            <a:spAutoFit/>
          </a:bodyPr>
          <a:lstStyle/>
          <a:p>
            <a:r>
              <a:rPr sz="1400" b="1">
                <a:solidFill>
                  <a:srgbClr val="B3242A"/>
                </a:solidFill>
                <a:latin typeface="Arial"/>
              </a:rPr>
              <a:t>B</a:t>
            </a:r>
          </a:p>
        </p:txBody>
      </p:sp>
      <p:sp>
        <p:nvSpPr>
          <p:cNvPr id="36" name="TextBox 35"/>
          <p:cNvSpPr txBox="1"/>
          <p:nvPr/>
        </p:nvSpPr>
        <p:spPr>
          <a:xfrm>
            <a:off x="7508325" y="3785800"/>
            <a:ext cx="3836746" cy="402900"/>
          </a:xfrm>
          <a:prstGeom prst="rect">
            <a:avLst/>
          </a:prstGeom>
          <a:noFill/>
        </p:spPr>
        <p:txBody>
          <a:bodyPr wrap="square" lIns="0" rIns="0" tIns="0" bIns="0">
            <a:spAutoFit/>
          </a:bodyPr>
          <a:lstStyle/>
          <a:p>
            <a:r>
              <a:rPr sz="1250" b="1" i="0">
                <a:solidFill>
                  <a:srgbClr val="FFFFFF"/>
                </a:solidFill>
                <a:latin typeface="Arial"/>
              </a:rPr>
              <a:t>Acquiring new data</a:t>
            </a:r>
          </a:p>
        </p:txBody>
      </p:sp>
      <p:sp>
        <p:nvSpPr>
          <p:cNvPr id="37" name="TextBox 36"/>
          <p:cNvSpPr txBox="1"/>
          <p:nvPr/>
        </p:nvSpPr>
        <p:spPr>
          <a:xfrm>
            <a:off x="7508325" y="4156468"/>
            <a:ext cx="3836746" cy="435132"/>
          </a:xfrm>
          <a:prstGeom prst="rect">
            <a:avLst/>
          </a:prstGeom>
          <a:noFill/>
        </p:spPr>
        <p:txBody>
          <a:bodyPr wrap="square" lIns="0" rIns="0" tIns="0" bIns="0">
            <a:spAutoFit/>
          </a:bodyPr>
          <a:lstStyle/>
          <a:p>
            <a:pPr>
              <a:lnSpc>
                <a:spcPct val="105000"/>
              </a:lnSpc>
            </a:pPr>
            <a:r>
              <a:rPr sz="1050" b="0" i="0">
                <a:solidFill>
                  <a:srgbClr val="E3E0D3"/>
                </a:solidFill>
                <a:latin typeface="Arial"/>
              </a:rPr>
              <a:t>Bringing outside data in without losing track of where it came from.</a:t>
            </a:r>
          </a:p>
        </p:txBody>
      </p:sp>
      <p:sp>
        <p:nvSpPr>
          <p:cNvPr id="38" name="TextBox 37"/>
          <p:cNvSpPr txBox="1"/>
          <p:nvPr/>
        </p:nvSpPr>
        <p:spPr>
          <a:xfrm>
            <a:off x="7148325" y="4591600"/>
            <a:ext cx="400000" cy="805800"/>
          </a:xfrm>
          <a:prstGeom prst="rect">
            <a:avLst/>
          </a:prstGeom>
          <a:noFill/>
        </p:spPr>
        <p:txBody>
          <a:bodyPr wrap="square" lIns="0" rIns="0" tIns="0" bIns="0" anchor="t">
            <a:spAutoFit/>
          </a:bodyPr>
          <a:lstStyle/>
          <a:p>
            <a:r>
              <a:rPr sz="1400" b="1">
                <a:solidFill>
                  <a:srgbClr val="B3242A"/>
                </a:solidFill>
                <a:latin typeface="Arial"/>
              </a:rPr>
              <a:t>C</a:t>
            </a:r>
          </a:p>
        </p:txBody>
      </p:sp>
      <p:sp>
        <p:nvSpPr>
          <p:cNvPr id="39" name="TextBox 38"/>
          <p:cNvSpPr txBox="1"/>
          <p:nvPr/>
        </p:nvSpPr>
        <p:spPr>
          <a:xfrm>
            <a:off x="7508325" y="4591600"/>
            <a:ext cx="3836746" cy="402900"/>
          </a:xfrm>
          <a:prstGeom prst="rect">
            <a:avLst/>
          </a:prstGeom>
          <a:noFill/>
        </p:spPr>
        <p:txBody>
          <a:bodyPr wrap="square" lIns="0" rIns="0" tIns="0" bIns="0">
            <a:spAutoFit/>
          </a:bodyPr>
          <a:lstStyle/>
          <a:p>
            <a:r>
              <a:rPr sz="1250" b="1" i="0">
                <a:solidFill>
                  <a:srgbClr val="FFFFFF"/>
                </a:solidFill>
                <a:latin typeface="Arial"/>
              </a:rPr>
              <a:t>Adding data the right way</a:t>
            </a:r>
          </a:p>
        </p:txBody>
      </p:sp>
      <p:sp>
        <p:nvSpPr>
          <p:cNvPr id="40" name="TextBox 39"/>
          <p:cNvSpPr txBox="1"/>
          <p:nvPr/>
        </p:nvSpPr>
        <p:spPr>
          <a:xfrm>
            <a:off x="7508325" y="4962268"/>
            <a:ext cx="3836746" cy="435132"/>
          </a:xfrm>
          <a:prstGeom prst="rect">
            <a:avLst/>
          </a:prstGeom>
          <a:noFill/>
        </p:spPr>
        <p:txBody>
          <a:bodyPr wrap="square" lIns="0" rIns="0" tIns="0" bIns="0">
            <a:spAutoFit/>
          </a:bodyPr>
          <a:lstStyle/>
          <a:p>
            <a:pPr>
              <a:lnSpc>
                <a:spcPct val="105000"/>
              </a:lnSpc>
            </a:pPr>
            <a:r>
              <a:rPr sz="1050" b="0" i="0">
                <a:solidFill>
                  <a:srgbClr val="E3E0D3"/>
                </a:solidFill>
                <a:latin typeface="Arial"/>
              </a:rPr>
              <a:t>Connecting layers to a project without breaking the file paths you just learned to respect.</a:t>
            </a:r>
          </a:p>
        </p:txBody>
      </p:sp>
      <p:sp>
        <p:nvSpPr>
          <p:cNvPr id="41" name="TextBox 40"/>
          <p:cNvSpPr txBox="1"/>
          <p:nvPr/>
        </p:nvSpPr>
        <p:spPr>
          <a:xfrm>
            <a:off x="7148325" y="5397400"/>
            <a:ext cx="400000" cy="805800"/>
          </a:xfrm>
          <a:prstGeom prst="rect">
            <a:avLst/>
          </a:prstGeom>
          <a:noFill/>
        </p:spPr>
        <p:txBody>
          <a:bodyPr wrap="square" lIns="0" rIns="0" tIns="0" bIns="0" anchor="t">
            <a:spAutoFit/>
          </a:bodyPr>
          <a:lstStyle/>
          <a:p>
            <a:r>
              <a:rPr sz="1400" b="1">
                <a:solidFill>
                  <a:srgbClr val="B3242A"/>
                </a:solidFill>
                <a:latin typeface="Arial"/>
              </a:rPr>
              <a:t>D</a:t>
            </a:r>
          </a:p>
        </p:txBody>
      </p:sp>
      <p:sp>
        <p:nvSpPr>
          <p:cNvPr id="42" name="TextBox 41"/>
          <p:cNvSpPr txBox="1"/>
          <p:nvPr/>
        </p:nvSpPr>
        <p:spPr>
          <a:xfrm>
            <a:off x="7508325" y="5397400"/>
            <a:ext cx="3836746" cy="402900"/>
          </a:xfrm>
          <a:prstGeom prst="rect">
            <a:avLst/>
          </a:prstGeom>
          <a:noFill/>
        </p:spPr>
        <p:txBody>
          <a:bodyPr wrap="square" lIns="0" rIns="0" tIns="0" bIns="0">
            <a:spAutoFit/>
          </a:bodyPr>
          <a:lstStyle/>
          <a:p>
            <a:r>
              <a:rPr sz="1250" b="1" i="0">
                <a:solidFill>
                  <a:srgbClr val="FFFFFF"/>
                </a:solidFill>
                <a:latin typeface="Arial"/>
              </a:rPr>
              <a:t>The habits, put to work</a:t>
            </a:r>
          </a:p>
        </p:txBody>
      </p:sp>
      <p:sp>
        <p:nvSpPr>
          <p:cNvPr id="43" name="TextBox 42"/>
          <p:cNvSpPr txBox="1"/>
          <p:nvPr/>
        </p:nvSpPr>
        <p:spPr>
          <a:xfrm>
            <a:off x="7508325" y="5768068"/>
            <a:ext cx="3836746" cy="435132"/>
          </a:xfrm>
          <a:prstGeom prst="rect">
            <a:avLst/>
          </a:prstGeom>
          <a:noFill/>
        </p:spPr>
        <p:txBody>
          <a:bodyPr wrap="square" lIns="0" rIns="0" tIns="0" bIns="0">
            <a:spAutoFit/>
          </a:bodyPr>
          <a:lstStyle/>
          <a:p>
            <a:pPr>
              <a:lnSpc>
                <a:spcPct val="105000"/>
              </a:lnSpc>
            </a:pPr>
            <a:r>
              <a:rPr sz="1050" b="0" i="0">
                <a:solidFill>
                  <a:srgbClr val="E3E0D3"/>
                </a:solidFill>
                <a:latin typeface="Arial"/>
              </a:rPr>
              <a:t>Every file-type, file-management, and troubleshooting habit from this deck, applied to real datasets.</a:t>
            </a:r>
          </a:p>
        </p:txBody>
      </p:sp>
      <p:sp>
        <p:nvSpPr>
          <p:cNvPr id="44" name="TextBox 43"/>
          <p:cNvSpPr txBox="1"/>
          <p:nvPr/>
        </p:nvSpPr>
        <p:spPr>
          <a:xfrm>
            <a:off x="566928" y="6400000"/>
            <a:ext cx="11058144" cy="300000"/>
          </a:xfrm>
          <a:prstGeom prst="rect">
            <a:avLst/>
          </a:prstGeom>
          <a:noFill/>
        </p:spPr>
        <p:txBody>
          <a:bodyPr wrap="square" lIns="0" rIns="0" tIns="0" bIns="0">
            <a:spAutoFit/>
          </a:bodyPr>
          <a:lstStyle/>
          <a:p>
            <a:pPr algn="ctr"/>
            <a:r>
              <a:rPr sz="1250" b="0" i="1">
                <a:solidFill>
                  <a:srgbClr val="5C5B53"/>
                </a:solidFill>
                <a:latin typeface="Arial"/>
              </a:rPr>
              <a:t>File types, file management, and troubleshooting are the habits -- Data Management is where you put them to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