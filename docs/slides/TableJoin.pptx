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91" r:id="rId2"/>
    <p:sldId id="311" r:id="rId3"/>
    <p:sldId id="312" r:id="rId4"/>
    <p:sldId id="313" r:id="rId5"/>
    <p:sldId id="314" r:id="rId6"/>
    <p:sldId id="337" r:id="rId7"/>
    <p:sldId id="316" r:id="rId8"/>
    <p:sldId id="317" r:id="rId9"/>
    <p:sldId id="318" r:id="rId10"/>
    <p:sldId id="368" r:id="rId11"/>
    <p:sldId id="366" r:id="rId12"/>
    <p:sldId id="32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2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title slide contains only original explanatory framing;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https://pro.arcgis.com/en/pro-app/3.4/tool-reference/data-management/add-join.htm
- https://pro.arcgis.com/en/pro-app/latest/help/data/tables/joins-and-relates.htm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https://pro.arcgis.com/en/pro-app/3.4/tool-reference/data-management/add-relate.htm
- https://pro.arcgis.com/en/pro-app/latest/help/data/relationships/data-relationship-options.htm
- https://pro.arcgis.com/en/pro-app/3.4/help/data/relationships/data-relationship-comparison.htm
- https://pro.arcgis.com/en/pro-app/latest/help/data/tables/view-related-data.htm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F3A34"/>
          </a:solidFill>
          <a:ln w="12700">
            <a:solidFill>
              <a:srgbClr val="1F3A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75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Joins and Relates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8096" y="2487168"/>
            <a:ext cx="1234440" cy="0"/>
          </a:xfrm>
          <a:prstGeom prst="line">
            <a:avLst/>
          </a:prstGeom>
          <a:noFill/>
          <a:ln w="12700">
            <a:solidFill>
              <a:srgbClr val="B0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889000" y="2616200"/>
            <a:ext cx="1524000" cy="381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ubtitle"/>
          <p:cNvSpPr/>
          <p:nvPr/>
        </p:nvSpPr>
        <p:spPr>
          <a:xfrm>
            <a:off x="889000" y="27432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800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Connecting attribute tables in ArcGIS Pro — a practical guide to joins and relates.</a:t>
            </a:r>
          </a:p>
        </p:txBody>
      </p:sp>
      <p:sp>
        <p:nvSpPr>
          <p:cNvPr id="110" name="Card0"/>
          <p:cNvSpPr/>
          <p:nvPr/>
        </p:nvSpPr>
        <p:spPr>
          <a:xfrm>
            <a:off x="6858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Join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Links a related table to your layer for as long as you need it — nothing is written to disk.</a:t>
            </a:r>
          </a:p>
        </p:txBody>
      </p:sp>
      <p:sp>
        <p:nvSpPr>
          <p:cNvPr id="111" name="Bar0"/>
          <p:cNvSpPr/>
          <p:nvPr/>
        </p:nvSpPr>
        <p:spPr>
          <a:xfrm>
            <a:off x="9144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1"/>
          <p:cNvSpPr/>
          <p:nvPr/>
        </p:nvSpPr>
        <p:spPr>
          <a:xfrm>
            <a:off x="43942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Join Field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Copies the matched fields permanently into the table itself.</a:t>
            </a:r>
          </a:p>
        </p:txBody>
      </p:sp>
      <p:sp>
        <p:nvSpPr>
          <p:cNvPr id="113" name="Bar1"/>
          <p:cNvSpPr/>
          <p:nvPr/>
        </p:nvSpPr>
        <p:spPr>
          <a:xfrm>
            <a:off x="46228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2"/>
          <p:cNvSpPr/>
          <p:nvPr/>
        </p:nvSpPr>
        <p:spPr>
          <a:xfrm>
            <a:off x="81026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Relate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Keeps a one-to-many link between tables without flattening them into one row.</a:t>
            </a:r>
          </a:p>
        </p:txBody>
      </p:sp>
      <p:sp>
        <p:nvSpPr>
          <p:cNvPr id="115" name="Bar2"/>
          <p:cNvSpPr/>
          <p:nvPr/>
        </p:nvSpPr>
        <p:spPr>
          <a:xfrm>
            <a:off x="83312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1" name="HdrDivider"/>
          <p:cNvSpPr/>
          <p:nvPr/>
        </p:nvSpPr>
        <p:spPr>
          <a:xfrm>
            <a:off x="685800" y="558800"/>
            <a:ext cx="10820400" cy="1778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1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Why Join Tables?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Your data is split across tables — joins and relates bring it back together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10" name="LPanel"/>
          <p:cNvSpPr/>
          <p:nvPr/>
        </p:nvSpPr>
        <p:spPr>
          <a:xfrm>
            <a:off x="685800" y="1574800"/>
            <a:ext cx="53086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Lcirc"/>
          <p:cNvSpPr/>
          <p:nvPr/>
        </p:nvSpPr>
        <p:spPr>
          <a:xfrm>
            <a:off x="939800" y="18542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Lhead"/>
          <p:cNvSpPr/>
          <p:nvPr/>
        </p:nvSpPr>
        <p:spPr>
          <a:xfrm>
            <a:off x="1625600" y="1905000"/>
            <a:ext cx="408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Your data lives in separate tables</a:t>
            </a:r>
          </a:p>
        </p:txBody>
      </p:sp>
      <p:sp>
        <p:nvSpPr>
          <p:cNvPr id="322" name="Lbody"/>
          <p:cNvSpPr/>
          <p:nvPr/>
        </p:nvSpPr>
        <p:spPr>
          <a:xfrm>
            <a:off x="939800" y="2540000"/>
            <a:ext cx="477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map layer carries geometry and a few attributes. The details — counts, sales, ownership — sit in separate tables.</a:t>
            </a:r>
          </a:p>
        </p:txBody>
      </p:sp>
      <p:sp>
        <p:nvSpPr>
          <p:cNvPr id="323" name="boxA"/>
          <p:cNvSpPr/>
          <p:nvPr/>
        </p:nvSpPr>
        <p:spPr>
          <a:xfrm>
            <a:off x="9398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States layer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State · geometry</a:t>
            </a:r>
          </a:p>
        </p:txBody>
      </p:sp>
      <p:sp>
        <p:nvSpPr>
          <p:cNvPr id="324" name="keyB"/>
          <p:cNvSpPr/>
          <p:nvPr/>
        </p:nvSpPr>
        <p:spPr>
          <a:xfrm>
            <a:off x="3022600" y="3467100"/>
            <a:ext cx="660400" cy="3810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F3A34"/>
                </a:solidFill>
                <a:latin typeface="Times New Roman"/>
                <a:cs typeface="Times New Roman"/>
              </a:rPr>
              <a:t>State</a:t>
            </a:r>
          </a:p>
        </p:txBody>
      </p:sp>
      <p:sp>
        <p:nvSpPr>
          <p:cNvPr id="325" name="boxB"/>
          <p:cNvSpPr/>
          <p:nvPr/>
        </p:nvSpPr>
        <p:spPr>
          <a:xfrm>
            <a:off x="37846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population.csv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State · Pop</a:t>
            </a:r>
          </a:p>
        </p:txBody>
      </p:sp>
      <p:sp>
        <p:nvSpPr>
          <p:cNvPr id="326" name="Ltake"/>
          <p:cNvSpPr/>
          <p:nvPr/>
        </p:nvSpPr>
        <p:spPr>
          <a:xfrm>
            <a:off x="939800" y="429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The shared key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(here, State) is what lets you combine them into one view.</a:t>
            </a:r>
          </a:p>
        </p:txBody>
      </p:sp>
      <p:sp>
        <p:nvSpPr>
          <p:cNvPr id="330" name="RPanel"/>
          <p:cNvSpPr/>
          <p:nvPr/>
        </p:nvSpPr>
        <p:spPr>
          <a:xfrm>
            <a:off x="6223000" y="1574800"/>
            <a:ext cx="52832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Rhead"/>
          <p:cNvSpPr/>
          <p:nvPr/>
        </p:nvSpPr>
        <p:spPr>
          <a:xfrm>
            <a:off x="6477000" y="18034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Three ways to combine</a:t>
            </a:r>
          </a:p>
        </p:txBody>
      </p:sp>
      <p:sp>
        <p:nvSpPr>
          <p:cNvPr id="332" name="g1"/>
          <p:cNvSpPr/>
          <p:nvPr/>
        </p:nvSpPr>
        <p:spPr>
          <a:xfrm>
            <a:off x="6477000" y="23622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50" b="1" spc="100" dirty="0">
                <a:solidFill>
                  <a:srgbClr val="8A6A2F"/>
                </a:solidFill>
                <a:latin typeface="Times New Roman"/>
                <a:cs typeface="Times New Roman"/>
              </a:rPr>
              <a:t>JOIN — MERGE INTO ONE TABLE</a:t>
            </a:r>
          </a:p>
        </p:txBody>
      </p:sp>
      <p:sp>
        <p:nvSpPr>
          <p:cNvPr id="333" name="iAJ"/>
          <p:cNvSpPr/>
          <p:nvPr/>
        </p:nvSpPr>
        <p:spPr>
          <a:xfrm>
            <a:off x="6477000" y="2667000"/>
            <a:ext cx="490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Add Join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links the table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temporarily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fields appear but aren't saved.</a:t>
            </a:r>
          </a:p>
        </p:txBody>
      </p:sp>
      <p:sp>
        <p:nvSpPr>
          <p:cNvPr id="334" name="iJF"/>
          <p:cNvSpPr/>
          <p:nvPr/>
        </p:nvSpPr>
        <p:spPr>
          <a:xfrm>
            <a:off x="6477000" y="3352800"/>
            <a:ext cx="49022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Join Field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writes the fields in </a:t>
            </a:r>
            <a:r>
              <a:rPr lang="en-US" sz="1400" b="1" dirty="0">
                <a:solidFill>
                  <a:srgbClr val="1F3A34"/>
                </a:solidFill>
                <a:latin typeface="Times New Roman"/>
                <a:cs typeface="Times New Roman"/>
              </a:rPr>
              <a:t>permanently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35" name="rdiv"/>
          <p:cNvSpPr/>
          <p:nvPr/>
        </p:nvSpPr>
        <p:spPr>
          <a:xfrm>
            <a:off x="6477000" y="4089400"/>
            <a:ext cx="48768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336" name="g2"/>
          <p:cNvSpPr/>
          <p:nvPr/>
        </p:nvSpPr>
        <p:spPr>
          <a:xfrm>
            <a:off x="6477000" y="42418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50" b="1" spc="100" dirty="0">
                <a:solidFill>
                  <a:srgbClr val="8A6A2F"/>
                </a:solidFill>
                <a:latin typeface="Times New Roman"/>
                <a:cs typeface="Times New Roman"/>
              </a:rPr>
              <a:t>RELATE — KEEP SEPARATE, STAY LINKED</a:t>
            </a:r>
          </a:p>
        </p:txBody>
      </p:sp>
      <p:sp>
        <p:nvSpPr>
          <p:cNvPr id="337" name="iAR"/>
          <p:cNvSpPr/>
          <p:nvPr/>
        </p:nvSpPr>
        <p:spPr>
          <a:xfrm>
            <a:off x="6477000" y="4546600"/>
            <a:ext cx="4902200" cy="711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Add Relate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keeps the tables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separate but linked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for one-to-many.</a:t>
            </a:r>
          </a:p>
        </p:txBody>
      </p:sp>
      <p:pic>
        <p:nvPicPr>
          <p:cNvPr id="338" name="Graphic 338" descr="Separate data tab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9685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Field — What Every Join Needs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join only works when both tables share a field whose values line up exactly.</a:t>
            </a:r>
            <a:endParaRPr lang="en-US" sz="1600" dirty="0"/>
          </a:p>
        </p:txBody>
      </p:sp>
      <p:sp>
        <p:nvSpPr>
          <p:cNvPr id="120" name="SecLabel"/>
          <p:cNvSpPr/>
          <p:nvPr/>
        </p:nvSpPr>
        <p:spPr>
          <a:xfrm>
            <a:off x="685800" y="32258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What the key field must satisfy</a:t>
            </a:r>
          </a:p>
        </p:txBody>
      </p:sp>
      <p:sp>
        <p:nvSpPr>
          <p:cNvPr id="130" name="KCard0"/>
          <p:cNvSpPr/>
          <p:nvPr/>
        </p:nvSpPr>
        <p:spPr>
          <a:xfrm>
            <a:off x="6858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1.  Exists in both tables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The same attribute must be present in the layer and in the table you are joining to it.</a:t>
            </a:r>
          </a:p>
        </p:txBody>
      </p:sp>
      <p:sp>
        <p:nvSpPr>
          <p:cNvPr id="131" name="KBar0"/>
          <p:cNvSpPr/>
          <p:nvPr/>
        </p:nvSpPr>
        <p:spPr>
          <a:xfrm>
            <a:off x="8890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KCard1"/>
          <p:cNvSpPr/>
          <p:nvPr/>
        </p:nvSpPr>
        <p:spPr>
          <a:xfrm>
            <a:off x="43942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2.  Same field type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Text joins to text, number to number. The text “01” will not match the number 1.</a:t>
            </a:r>
          </a:p>
        </p:txBody>
      </p:sp>
      <p:sp>
        <p:nvSpPr>
          <p:cNvPr id="133" name="KBar1"/>
          <p:cNvSpPr/>
          <p:nvPr/>
        </p:nvSpPr>
        <p:spPr>
          <a:xfrm>
            <a:off x="45974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KCard2"/>
          <p:cNvSpPr/>
          <p:nvPr/>
        </p:nvSpPr>
        <p:spPr>
          <a:xfrm>
            <a:off x="81026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3.  Values match exactly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Watch for leading zeros, trailing spaces, and upper- versus lower-case differences.</a:t>
            </a:r>
          </a:p>
        </p:txBody>
      </p:sp>
      <p:sp>
        <p:nvSpPr>
          <p:cNvPr id="135" name="KBar2"/>
          <p:cNvSpPr/>
          <p:nvPr/>
        </p:nvSpPr>
        <p:spPr>
          <a:xfrm>
            <a:off x="83058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Pitfall"/>
          <p:cNvSpPr/>
          <p:nvPr/>
        </p:nvSpPr>
        <p:spPr>
          <a:xfrm>
            <a:off x="685800" y="5588000"/>
            <a:ext cx="10820400" cy="711200"/>
          </a:xfrm>
          <a:prstGeom prst="roundRect">
            <a:avLst/>
          </a:prstGeom>
          <a:solidFill>
            <a:srgbClr val="EDE5D7"/>
          </a:solidFill>
          <a:ln w="12700">
            <a:solidFill>
              <a:srgbClr val="B08B57"/>
            </a:solidFill>
          </a:ln>
        </p:spPr>
        <p:txBody>
          <a:bodyPr wrap="square" lIns="203200" tIns="101600" rIns="203200" bIns="101600" anchor="ctr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Check the key first.  </a:t>
            </a: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When a join comes back empty, the field type or the exact values almost always explain it — before you touch anything else.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087E97-842F-4EE7-BA5A-9E331C8DE545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1905000" cy="13208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372083562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6776744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Pop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6014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TX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29M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4991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FL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22M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1392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39M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4540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867E42-7723-4DA7-986B-11337EC1D962}"/>
              </a:ext>
            </a:extLst>
          </p:cNvPr>
          <p:cNvGraphicFramePr>
            <a:graphicFrameLocks noGrp="1"/>
          </p:cNvGraphicFramePr>
          <p:nvPr/>
        </p:nvGraphicFramePr>
        <p:xfrm>
          <a:off x="7620000" y="1752600"/>
          <a:ext cx="2159000" cy="13208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421157280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47109503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Income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4879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TX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$63k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0544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FL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$61k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66857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$75k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823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05F25F-B0AC-4437-A730-2D1C96E2F26F}"/>
              </a:ext>
            </a:extLst>
          </p:cNvPr>
          <p:cNvSpPr txBox="1"/>
          <p:nvPr/>
        </p:nvSpPr>
        <p:spPr>
          <a:xfrm>
            <a:off x="1219200" y="14986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A6258"/>
                </a:solidFill>
                <a:latin typeface="Times New Roman"/>
                <a:cs typeface="Times New Roman"/>
              </a:rPr>
              <a:t>States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D3349-BB74-4EA1-8D6D-5BB7A912E5E9}"/>
              </a:ext>
            </a:extLst>
          </p:cNvPr>
          <p:cNvSpPr txBox="1"/>
          <p:nvPr/>
        </p:nvSpPr>
        <p:spPr>
          <a:xfrm>
            <a:off x="7620000" y="1498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A6258"/>
                </a:solidFill>
                <a:latin typeface="Times New Roman"/>
                <a:cs typeface="Times New Roman"/>
              </a:rPr>
              <a:t>income.csv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262C38-F4E8-4381-A825-C2A0DCFADF93}"/>
              </a:ext>
            </a:extLst>
          </p:cNvPr>
          <p:cNvSpPr/>
          <p:nvPr/>
        </p:nvSpPr>
        <p:spPr>
          <a:xfrm>
            <a:off x="3810000" y="2108200"/>
            <a:ext cx="2540000" cy="431800"/>
          </a:xfrm>
          <a:prstGeom prst="roundRect">
            <a:avLst/>
          </a:prstGeom>
          <a:solidFill>
            <a:srgbClr val="EDE5D7"/>
          </a:solidFill>
          <a:ln w="12700" cap="flat" cmpd="sng" algn="ctr">
            <a:solidFill>
              <a:srgbClr val="B0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F3A34"/>
                </a:solidFill>
                <a:latin typeface="Times New Roman"/>
                <a:cs typeface="Times New Roman"/>
              </a:rPr>
              <a:t>matched on  State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257497E-765C-4A4D-9B16-E7648A3ED09B}"/>
              </a:ext>
            </a:extLst>
          </p:cNvPr>
          <p:cNvSpPr/>
          <p:nvPr/>
        </p:nvSpPr>
        <p:spPr>
          <a:xfrm>
            <a:off x="3175000" y="2235200"/>
            <a:ext cx="584200" cy="177800"/>
          </a:xfrm>
          <a:prstGeom prst="rightArrow">
            <a:avLst/>
          </a:prstGeom>
          <a:solidFill>
            <a:srgbClr val="B0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5164EC3-B550-4D2D-8554-A58E26726807}"/>
              </a:ext>
            </a:extLst>
          </p:cNvPr>
          <p:cNvSpPr/>
          <p:nvPr/>
        </p:nvSpPr>
        <p:spPr>
          <a:xfrm>
            <a:off x="6400800" y="2235200"/>
            <a:ext cx="584200" cy="177800"/>
          </a:xfrm>
          <a:prstGeom prst="rightArrow">
            <a:avLst/>
          </a:prstGeom>
          <a:solidFill>
            <a:srgbClr val="B0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7183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Where to Find These Commands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Add Join, Add Relate, and Join Field all live in a few predictable places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520" name="Card1"/>
          <p:cNvSpPr/>
          <p:nvPr/>
        </p:nvSpPr>
        <p:spPr>
          <a:xfrm>
            <a:off x="6858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Circ1"/>
          <p:cNvSpPr/>
          <p:nvPr/>
        </p:nvSpPr>
        <p:spPr>
          <a:xfrm>
            <a:off x="9398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2" name="S522"/>
          <p:cNvSpPr/>
          <p:nvPr/>
        </p:nvSpPr>
        <p:spPr>
          <a:xfrm>
            <a:off x="16256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Contents pane</a:t>
            </a:r>
          </a:p>
        </p:txBody>
      </p:sp>
      <p:sp>
        <p:nvSpPr>
          <p:cNvPr id="523" name="S523"/>
          <p:cNvSpPr/>
          <p:nvPr/>
        </p:nvSpPr>
        <p:spPr>
          <a:xfrm>
            <a:off x="9398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4" name="S524"/>
          <p:cNvSpPr/>
          <p:nvPr/>
        </p:nvSpPr>
        <p:spPr>
          <a:xfrm>
            <a:off x="9398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Right-click a layer or standalone table  →  Joins and Relates</a:t>
            </a:r>
          </a:p>
        </p:txBody>
      </p:sp>
      <p:sp>
        <p:nvSpPr>
          <p:cNvPr id="525" name="S525"/>
          <p:cNvSpPr/>
          <p:nvPr/>
        </p:nvSpPr>
        <p:spPr>
          <a:xfrm>
            <a:off x="9398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26" name="S526"/>
          <p:cNvSpPr/>
          <p:nvPr/>
        </p:nvSpPr>
        <p:spPr>
          <a:xfrm>
            <a:off x="9652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Remove Join</a:t>
            </a:r>
          </a:p>
        </p:txBody>
      </p:sp>
      <p:sp>
        <p:nvSpPr>
          <p:cNvPr id="540" name="Card2"/>
          <p:cNvSpPr/>
          <p:nvPr/>
        </p:nvSpPr>
        <p:spPr>
          <a:xfrm>
            <a:off x="43815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41" name="Circ2"/>
          <p:cNvSpPr/>
          <p:nvPr/>
        </p:nvSpPr>
        <p:spPr>
          <a:xfrm>
            <a:off x="4635500" y="1854200"/>
            <a:ext cx="533400" cy="5334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42" name="S542"/>
          <p:cNvSpPr/>
          <p:nvPr/>
        </p:nvSpPr>
        <p:spPr>
          <a:xfrm>
            <a:off x="53213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Data tab (ribbon)</a:t>
            </a:r>
          </a:p>
        </p:txBody>
      </p:sp>
      <p:sp>
        <p:nvSpPr>
          <p:cNvPr id="543" name="S543"/>
          <p:cNvSpPr/>
          <p:nvPr/>
        </p:nvSpPr>
        <p:spPr>
          <a:xfrm>
            <a:off x="46355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44" name="S544"/>
          <p:cNvSpPr/>
          <p:nvPr/>
        </p:nvSpPr>
        <p:spPr>
          <a:xfrm>
            <a:off x="46355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Select the layer, then  Data tab  →  Relationship group</a:t>
            </a:r>
          </a:p>
        </p:txBody>
      </p:sp>
      <p:sp>
        <p:nvSpPr>
          <p:cNvPr id="545" name="S545"/>
          <p:cNvSpPr/>
          <p:nvPr/>
        </p:nvSpPr>
        <p:spPr>
          <a:xfrm>
            <a:off x="46355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46" name="S546"/>
          <p:cNvSpPr/>
          <p:nvPr/>
        </p:nvSpPr>
        <p:spPr>
          <a:xfrm>
            <a:off x="46609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Remove / Remove All Joins</a:t>
            </a:r>
          </a:p>
        </p:txBody>
      </p:sp>
      <p:sp>
        <p:nvSpPr>
          <p:cNvPr id="560" name="Card3"/>
          <p:cNvSpPr/>
          <p:nvPr/>
        </p:nvSpPr>
        <p:spPr>
          <a:xfrm>
            <a:off x="80772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61" name="Circ3"/>
          <p:cNvSpPr/>
          <p:nvPr/>
        </p:nvSpPr>
        <p:spPr>
          <a:xfrm>
            <a:off x="83312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62" name="S562"/>
          <p:cNvSpPr/>
          <p:nvPr/>
        </p:nvSpPr>
        <p:spPr>
          <a:xfrm>
            <a:off x="90170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Geoprocessing tools</a:t>
            </a:r>
          </a:p>
        </p:txBody>
      </p:sp>
      <p:sp>
        <p:nvSpPr>
          <p:cNvPr id="563" name="S563"/>
          <p:cNvSpPr/>
          <p:nvPr/>
        </p:nvSpPr>
        <p:spPr>
          <a:xfrm>
            <a:off x="83312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64" name="S564"/>
          <p:cNvSpPr/>
          <p:nvPr/>
        </p:nvSpPr>
        <p:spPr>
          <a:xfrm>
            <a:off x="83312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Analysis tab  →  Tools,  then search by name</a:t>
            </a:r>
          </a:p>
        </p:txBody>
      </p:sp>
      <p:sp>
        <p:nvSpPr>
          <p:cNvPr id="565" name="S565"/>
          <p:cNvSpPr/>
          <p:nvPr/>
        </p:nvSpPr>
        <p:spPr>
          <a:xfrm>
            <a:off x="83312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66" name="S566"/>
          <p:cNvSpPr/>
          <p:nvPr/>
        </p:nvSpPr>
        <p:spPr>
          <a:xfrm>
            <a:off x="83566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Join Field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Spatial Join</a:t>
            </a:r>
          </a:p>
        </p:txBody>
      </p:sp>
      <p:sp>
        <p:nvSpPr>
          <p:cNvPr id="6" name="TipStrip"/>
          <p:cNvSpPr/>
          <p:nvPr/>
        </p:nvSpPr>
        <p:spPr>
          <a:xfrm>
            <a:off x="685800" y="5537200"/>
            <a:ext cx="108204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Tip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Join Field and Spatial Join are geoprocessing tools only — not on the right-click menu. To review or remove an existing join, open </a:t>
            </a:r>
            <a:r>
              <a:rPr lang="en-US" sz="1400" b="1" dirty="0">
                <a:solidFill>
                  <a:srgbClr val="1F3A34"/>
                </a:solidFill>
                <a:latin typeface="Times New Roman"/>
                <a:cs typeface="Times New Roman"/>
              </a:rPr>
              <a:t>Layer Properties → Joins / Relates tab.</a:t>
            </a:r>
          </a:p>
        </p:txBody>
      </p:sp>
      <p:pic>
        <p:nvPicPr>
          <p:cNvPr id="567" name="Graphic 567" descr="Right-click cur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81200"/>
            <a:ext cx="279400" cy="279400"/>
          </a:xfrm>
          <a:prstGeom prst="rect">
            <a:avLst/>
          </a:prstGeom>
        </p:spPr>
      </p:pic>
      <p:pic>
        <p:nvPicPr>
          <p:cNvPr id="568" name="Graphic 568" descr="Ribbon Data ta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81200"/>
            <a:ext cx="279400" cy="279400"/>
          </a:xfrm>
          <a:prstGeom prst="rect">
            <a:avLst/>
          </a:prstGeom>
        </p:spPr>
      </p:pic>
      <p:pic>
        <p:nvPicPr>
          <p:cNvPr id="569" name="Graphic 569" descr="Geoprocessing 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1981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Ways to Do a Table Join in ArcGIS Pro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are attribute joins; the practical difference is whether the result stays temporary or becomes part of the dataset.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85800" y="1498600"/>
          <a:ext cx="10744200" cy="336499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Where you use it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Right-click a layer or table view → Joins and Relates → 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Analysis tab → Tools → 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happens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Joined fields are added dynamically to the current layer or table view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Chosen fields are written directly into the input table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long it lasts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A6A2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Temporary unless you save the layer or export a new output</a:t>
                      </a:r>
                      <a:endParaRPr lang="en-US" sz="1350" b="1" dirty="0">
                        <a:solidFill>
                          <a:srgbClr val="8A6A2F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Permanent change to the dataset</a:t>
                      </a:r>
                      <a:endParaRPr lang="en-US" sz="1350" b="1" dirty="0">
                        <a:solidFill>
                          <a:srgbClr val="1F3A34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use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Exploration, symbology, quick analysis, and testing whether keys match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preparation, exporting, and building a reusable teaching dataset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Plain-language description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“Link the table for now.”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“Copy the fields into the table.”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3578" y="5613400"/>
            <a:ext cx="10856422" cy="731520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takeaway: both commands are table joins in ArcGIS Pro. Use Add Join when you want a live, temporary link; use Join Field when you want the fields stored in the table itself.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10410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Join Works Cleanly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of thumb for students: the target row should be able to find one clear match in the joined table.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36700"/>
            <a:ext cx="13258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ONE-TO-ONE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18475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table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794760" y="18475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table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537960" y="17195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Joined view</a:t>
            </a:r>
            <a:endParaRPr lang="en-US" sz="11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85800" y="2057908"/>
          <a:ext cx="1938528" cy="1202436"/>
        </p:xfrm>
        <a:graphic>
          <a:graphicData uri="http://schemas.openxmlformats.org/drawingml/2006/table">
            <a:tbl>
              <a:tblPr/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24912" y="2359660"/>
            <a:ext cx="914400" cy="310896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by State</a:t>
            </a:r>
            <a:endParaRPr lang="en-US" sz="125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/>
        </p:nvGraphicFramePr>
        <p:xfrm>
          <a:off x="3767328" y="2057908"/>
          <a:ext cx="1938528" cy="139446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income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$63k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$61k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/>
        </p:nvGraphicFramePr>
        <p:xfrm>
          <a:off x="6510528" y="1939036"/>
          <a:ext cx="4754880" cy="12801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income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$63k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$61k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510528" y="3328924"/>
            <a:ext cx="4754880" cy="438912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state row finds exactly one matching record, so the joined table stays easy to read.</a:t>
            </a:r>
            <a:endParaRPr lang="en-US" sz="1430" dirty="0"/>
          </a:p>
        </p:txBody>
      </p:sp>
      <p:sp>
        <p:nvSpPr>
          <p:cNvPr id="15" name="Shape 10"/>
          <p:cNvSpPr/>
          <p:nvPr/>
        </p:nvSpPr>
        <p:spPr>
          <a:xfrm>
            <a:off x="685800" y="3950716"/>
            <a:ext cx="1056132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85800" y="4097020"/>
            <a:ext cx="15544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MANY-TO-ONE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04088" y="44079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table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3794760" y="44079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table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6537960" y="42799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Joined view</a:t>
            </a:r>
            <a:endParaRPr lang="en-US" sz="112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/>
        </p:nvGraphicFramePr>
        <p:xfrm>
          <a:off x="685800" y="4618228"/>
          <a:ext cx="1938528" cy="1202436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Travis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Orange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2724912" y="4919980"/>
            <a:ext cx="914400" cy="310896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by State</a:t>
            </a:r>
            <a:endParaRPr lang="en-US" sz="1250" dirty="0"/>
          </a:p>
        </p:txBody>
      </p:sp>
      <p:graphicFrame>
        <p:nvGraphicFramePr>
          <p:cNvPr id="22" name="Table 4"/>
          <p:cNvGraphicFramePr>
            <a:graphicFrameLocks noGrp="1"/>
          </p:cNvGraphicFramePr>
          <p:nvPr/>
        </p:nvGraphicFramePr>
        <p:xfrm>
          <a:off x="3767328" y="4709668"/>
          <a:ext cx="1938528" cy="969264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West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le 5"/>
          <p:cNvGraphicFramePr>
            <a:graphicFrameLocks noGrp="1"/>
          </p:cNvGraphicFramePr>
          <p:nvPr/>
        </p:nvGraphicFramePr>
        <p:xfrm>
          <a:off x="6510528" y="4526788"/>
          <a:ext cx="475488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Travis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Orange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West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6"/>
          <p:cNvSpPr/>
          <p:nvPr/>
        </p:nvSpPr>
        <p:spPr>
          <a:xfrm>
            <a:off x="6510528" y="5852668"/>
            <a:ext cx="4754880" cy="438912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county rows point to one state record, so the state attribute simply repeats in the joined view.</a:t>
            </a:r>
            <a:endParaRPr lang="en-US" sz="143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418110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You Need Add Relate Instead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relate when one record should stay connected to several matching records without forcing them into one flattened row.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47583"/>
            <a:ext cx="20116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ONE-TO-MANY EXAMPLE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995055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States table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493008" y="199505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Cities table</a:t>
            </a:r>
            <a:endParaRPr lang="en-US" sz="112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85800" y="2196223"/>
          <a:ext cx="1783080" cy="107899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578608" y="2653423"/>
            <a:ext cx="713232" cy="292608"/>
          </a:xfrm>
          <a:prstGeom prst="rect">
            <a:avLst/>
          </a:prstGeom>
          <a:solidFill>
            <a:srgbClr val="EDE5D7"/>
          </a:solidFill>
          <a:ln w="12700">
            <a:solidFill>
              <a:srgbClr val="B08B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→ many</a:t>
            </a:r>
            <a:endParaRPr lang="en-US" sz="1160" b="1" dirty="0">
              <a:solidFill>
                <a:srgbClr val="1F3A34"/>
              </a:solidFill>
            </a:endParaRPr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3456432" y="2196223"/>
          <a:ext cx="3127248" cy="1499616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Houston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Austin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 Angeles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13232" y="4438166"/>
            <a:ext cx="4015047" cy="1271847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endParaRPr lang="en-US" sz="1500" dirty="0">
              <a:solidFill>
                <a:srgbClr val="1F1F1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Relate keeps the tables separate and lets you open all related city records when Texas is selected.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1647583"/>
            <a:ext cx="192024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DECISION RULE</a:t>
            </a:r>
            <a:endParaRPr lang="en-US" sz="1150" dirty="0"/>
          </a:p>
        </p:txBody>
      </p:sp>
      <p:graphicFrame>
        <p:nvGraphicFramePr>
          <p:cNvPr id="14" name="Table 2"/>
          <p:cNvGraphicFramePr>
            <a:graphicFrameLocks noGrp="1"/>
          </p:cNvGraphicFramePr>
          <p:nvPr/>
        </p:nvGraphicFramePr>
        <p:xfrm>
          <a:off x="7360920" y="2196223"/>
          <a:ext cx="4160520" cy="217627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tool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Preview joined fields temporarily in a layer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Write the joined fields into the dataset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 tables separate and open multiple related records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Relate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395449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Joins Fail — and How to Fix Each 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join returns blanks or wrong values, it is almost always one of these four things.</a:t>
            </a: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0B30AD-F1FF-4EF3-8775-D020AC3FD5C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498600"/>
          <a:ext cx="108204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23087796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729807047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374598114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Symptom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Likely cause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Fix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89031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Every joined field shows &lt;Null&gt;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Key fields are different types (text vs. number)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Make both keys the same type — add a text field and Calculate Field to copy the key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4822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Some rows match, others stay blank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Values don't line up exactly: leading zeros, trailing spaces, or case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Trim and pad the key so “1” and “01” agree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14237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Row count suddenly multiplies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The join table has several matches per record (many-to-many)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Use Add Relate, or summarize the table to one row per key first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7727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Joined fields disappear on reopen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Add Join is only temporary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Export Features to save, or use Join Field to write the fields in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3185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AEF9D4-DB61-42C0-A3BB-7D95DFEC763B}"/>
              </a:ext>
            </a:extLst>
          </p:cNvPr>
          <p:cNvSpPr/>
          <p:nvPr/>
        </p:nvSpPr>
        <p:spPr>
          <a:xfrm>
            <a:off x="685800" y="5029200"/>
            <a:ext cx="10820400" cy="711200"/>
          </a:xfrm>
          <a:prstGeom prst="roundRect">
            <a:avLst/>
          </a:prstGeom>
          <a:solidFill>
            <a:srgbClr val="EDE5D7"/>
          </a:solidFill>
          <a:ln w="12700" cap="flat" cmpd="sng" algn="ctr">
            <a:solidFill>
              <a:srgbClr val="B0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500">
                <a:solidFill>
                  <a:srgbClr val="1F3A34"/>
                </a:solidFill>
                <a:latin typeface="Times New Roman"/>
                <a:cs typeface="Times New Roman"/>
              </a:rPr>
              <a:t>Validate before you commit:  click Validate Join in the Add Join dialog to see how many records will actually match.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326825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Tool Should You Use?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questions decide it — follow the path from each question to its outcome.</a:t>
            </a:r>
            <a:endParaRPr lang="en-US" sz="1600" dirty="0"/>
          </a:p>
        </p:txBody>
      </p:sp>
      <p:sp>
        <p:nvSpPr>
          <p:cNvPr id="200" name="Q0"/>
          <p:cNvSpPr/>
          <p:nvPr/>
        </p:nvSpPr>
        <p:spPr>
          <a:xfrm>
            <a:off x="685800" y="14986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1.  Do you need the joined fields written into the dataset permanently?</a:t>
            </a:r>
          </a:p>
        </p:txBody>
      </p:sp>
      <p:sp>
        <p:nvSpPr>
          <p:cNvPr id="210" name="YArrow0"/>
          <p:cNvSpPr/>
          <p:nvPr/>
        </p:nvSpPr>
        <p:spPr>
          <a:xfrm>
            <a:off x="5308600" y="18796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Yes0"/>
          <p:cNvSpPr/>
          <p:nvPr/>
        </p:nvSpPr>
        <p:spPr>
          <a:xfrm>
            <a:off x="5308600" y="16002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0" name="Out0"/>
          <p:cNvSpPr/>
          <p:nvPr/>
        </p:nvSpPr>
        <p:spPr>
          <a:xfrm>
            <a:off x="6604000" y="1498600"/>
            <a:ext cx="4902200" cy="11684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03200" tIns="152400" rIns="203200" bIns="1270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0"/>
              </a:rPr>
              <a:t>Join Field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F3EFE7"/>
                </a:solidFill>
                <a:latin typeface="Times New Roman" pitchFamily="34" charset="0"/>
                <a:cs typeface="Times New Roman" pitchFamily="34" charset="0"/>
              </a:rPr>
              <a:t>Writes the matched fields into the table. Permanent.</a:t>
            </a:r>
          </a:p>
        </p:txBody>
      </p:sp>
      <p:sp>
        <p:nvSpPr>
          <p:cNvPr id="201" name="Q1"/>
          <p:cNvSpPr/>
          <p:nvPr/>
        </p:nvSpPr>
        <p:spPr>
          <a:xfrm>
            <a:off x="685800" y="31750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2.  Should one record stay linked to many matching rows?</a:t>
            </a:r>
          </a:p>
        </p:txBody>
      </p:sp>
      <p:sp>
        <p:nvSpPr>
          <p:cNvPr id="211" name="YArrow1"/>
          <p:cNvSpPr/>
          <p:nvPr/>
        </p:nvSpPr>
        <p:spPr>
          <a:xfrm>
            <a:off x="5308600" y="35560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Yes1"/>
          <p:cNvSpPr/>
          <p:nvPr/>
        </p:nvSpPr>
        <p:spPr>
          <a:xfrm>
            <a:off x="5308600" y="327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1" name="Out1"/>
          <p:cNvSpPr/>
          <p:nvPr/>
        </p:nvSpPr>
        <p:spPr>
          <a:xfrm>
            <a:off x="6604000" y="31750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1F3A34"/>
            </a:solidFill>
          </a:ln>
        </p:spPr>
        <p:txBody>
          <a:bodyPr wrap="square" lIns="203200" tIns="152400" rIns="203200" bIns="127000" anchor="t">
            <a:normAutofit lnSpcReduction="10000"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Relate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Keeps the tables separate; open many related records for one feature.</a:t>
            </a:r>
          </a:p>
        </p:txBody>
      </p:sp>
      <p:sp>
        <p:nvSpPr>
          <p:cNvPr id="202" name="Q2"/>
          <p:cNvSpPr/>
          <p:nvPr/>
        </p:nvSpPr>
        <p:spPr>
          <a:xfrm>
            <a:off x="685800" y="48514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3.  Exploring, testing keys, or setting symbology?</a:t>
            </a:r>
          </a:p>
        </p:txBody>
      </p:sp>
      <p:sp>
        <p:nvSpPr>
          <p:cNvPr id="212" name="YArrow2"/>
          <p:cNvSpPr/>
          <p:nvPr/>
        </p:nvSpPr>
        <p:spPr>
          <a:xfrm>
            <a:off x="5308600" y="52324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Yes2"/>
          <p:cNvSpPr/>
          <p:nvPr/>
        </p:nvSpPr>
        <p:spPr>
          <a:xfrm>
            <a:off x="5308600" y="49530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2" name="Out2"/>
          <p:cNvSpPr/>
          <p:nvPr/>
        </p:nvSpPr>
        <p:spPr>
          <a:xfrm>
            <a:off x="6604000" y="48514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203200" tIns="152400" rIns="203200" bIns="1270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Join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Temporary link for exploration, testing, and symbology.</a:t>
            </a:r>
          </a:p>
        </p:txBody>
      </p:sp>
      <p:sp>
        <p:nvSpPr>
          <p:cNvPr id="240" name="DArrow0"/>
          <p:cNvSpPr/>
          <p:nvPr/>
        </p:nvSpPr>
        <p:spPr>
          <a:xfrm>
            <a:off x="1524000" y="2667000"/>
            <a:ext cx="228600" cy="508000"/>
          </a:xfrm>
          <a:prstGeom prst="downArrow">
            <a:avLst/>
          </a:prstGeom>
          <a:solidFill>
            <a:srgbClr val="6A6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2" name="No0"/>
          <p:cNvSpPr/>
          <p:nvPr/>
        </p:nvSpPr>
        <p:spPr>
          <a:xfrm>
            <a:off x="1854200" y="27686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No</a:t>
            </a:r>
          </a:p>
        </p:txBody>
      </p:sp>
      <p:sp>
        <p:nvSpPr>
          <p:cNvPr id="241" name="DArrow1"/>
          <p:cNvSpPr/>
          <p:nvPr/>
        </p:nvSpPr>
        <p:spPr>
          <a:xfrm>
            <a:off x="1524000" y="4343400"/>
            <a:ext cx="228600" cy="508000"/>
          </a:xfrm>
          <a:prstGeom prst="downArrow">
            <a:avLst/>
          </a:prstGeom>
          <a:solidFill>
            <a:srgbClr val="6A6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No1"/>
          <p:cNvSpPr/>
          <p:nvPr/>
        </p:nvSpPr>
        <p:spPr>
          <a:xfrm>
            <a:off x="1854200" y="444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No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140288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Your turn — hands-on lab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Practice joining a table to the states layer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1" name="TaskPanel"/>
          <p:cNvSpPr/>
          <p:nvPr/>
        </p:nvSpPr>
        <p:spPr>
          <a:xfrm>
            <a:off x="685800" y="1524000"/>
            <a:ext cx="53086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02" name="TaskHdr"/>
          <p:cNvSpPr/>
          <p:nvPr/>
        </p:nvSpPr>
        <p:spPr>
          <a:xfrm>
            <a:off x="1219200" y="1752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F3A34"/>
                </a:solidFill>
                <a:latin typeface="Times New Roman"/>
                <a:cs typeface="Times New Roman"/>
              </a:rPr>
              <a:t>Task</a:t>
            </a:r>
          </a:p>
        </p:txBody>
      </p:sp>
      <p:sp>
        <p:nvSpPr>
          <p:cNvPr id="303" name="Steps"/>
          <p:cNvSpPr/>
          <p:nvPr/>
        </p:nvSpPr>
        <p:spPr>
          <a:xfrm>
            <a:off x="990600" y="2286000"/>
            <a:ext cx="4851400" cy="3860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635" rIns="76200" bIns="635" anchor="t">
            <a:normAutofit/>
          </a:bodyPr>
          <a:lstStyle/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Add the states layer and population.csv to your map; confirm both appear in the Contents pane.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Use Add Join to link population.csv to the states layer on the State field.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Open the attribute table and check the joined fields — watch for any &lt;Null&gt; rows where the keys did not match.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Use Join Field, or Export Features, to write the population fields permanently into a new layer named states_pop.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Open the new layer's table and confirm the fields are stored, not just linked.</a:t>
            </a:r>
          </a:p>
        </p:txBody>
      </p:sp>
      <p:sp>
        <p:nvSpPr>
          <p:cNvPr id="310" name="Ans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11" name="Pill"/>
          <p:cNvSpPr/>
          <p:nvPr/>
        </p:nvSpPr>
        <p:spPr>
          <a:xfrm>
            <a:off x="6502400" y="1752600"/>
            <a:ext cx="1981200" cy="3810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76200" tIns="635" rIns="76200" bIns="635" anchor="ctr">
            <a:normAutofit/>
          </a:bodyPr>
          <a:lstStyle/>
          <a:p>
            <a:pPr algn="ctr">
              <a:buNone/>
            </a:pPr>
            <a:r>
              <a:rPr lang="en-US" sz="13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ANSWER KEY</a:t>
            </a:r>
          </a:p>
        </p:txBody>
      </p:sp>
      <p:sp>
        <p:nvSpPr>
          <p:cNvPr id="312" name="S2"/>
          <p:cNvSpPr/>
          <p:nvPr/>
        </p:nvSpPr>
        <p:spPr>
          <a:xfrm>
            <a:off x="6502400" y="2311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2</a:t>
            </a:r>
          </a:p>
        </p:txBody>
      </p:sp>
      <p:sp>
        <p:nvSpPr>
          <p:cNvPr id="313" name="Code2"/>
          <p:cNvSpPr/>
          <p:nvPr/>
        </p:nvSpPr>
        <p:spPr>
          <a:xfrm>
            <a:off x="6502400" y="2641600"/>
            <a:ext cx="4724400" cy="533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Add Join · Input field: State · Join field: State</a:t>
            </a:r>
          </a:p>
        </p:txBody>
      </p:sp>
      <p:sp>
        <p:nvSpPr>
          <p:cNvPr id="314" name="S4"/>
          <p:cNvSpPr/>
          <p:nvPr/>
        </p:nvSpPr>
        <p:spPr>
          <a:xfrm>
            <a:off x="6502400" y="3327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4</a:t>
            </a:r>
          </a:p>
        </p:txBody>
      </p:sp>
      <p:sp>
        <p:nvSpPr>
          <p:cNvPr id="315" name="Code4"/>
          <p:cNvSpPr/>
          <p:nvPr/>
        </p:nvSpPr>
        <p:spPr>
          <a:xfrm>
            <a:off x="6502400" y="3657600"/>
            <a:ext cx="4724400" cy="711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Join Field  →  writes fields into the table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or  Export Features  →  states_pop</a:t>
            </a:r>
          </a:p>
        </p:txBody>
      </p:sp>
      <p:sp>
        <p:nvSpPr>
          <p:cNvPr id="316" name="Expected"/>
          <p:cNvSpPr/>
          <p:nvPr/>
        </p:nvSpPr>
        <p:spPr>
          <a:xfrm>
            <a:off x="6502400" y="4572000"/>
            <a:ext cx="4724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Expected result 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 standalone states_pop layer whose table stores the joined fields permanently.</a:t>
            </a:r>
          </a:p>
        </p:txBody>
      </p:sp>
      <p:pic>
        <p:nvPicPr>
          <p:cNvPr id="317" name="Graphic 317" descr="Task penci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1778000"/>
            <a:ext cx="330200" cy="330200"/>
          </a:xfrm>
          <a:prstGeom prst="rect">
            <a:avLst/>
          </a:prstGeom>
        </p:spPr>
      </p:pic>
      <p:sp>
        <p:nvSpPr>
          <p:cNvPr id="701" name="Prompt701"/>
          <p:cNvSpPr/>
          <p:nvPr/>
        </p:nvSpPr>
        <p:spPr>
          <a:xfrm>
            <a:off x="8585200" y="17780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 ▸</a:t>
            </a:r>
          </a:p>
        </p:txBody>
      </p:sp>
    </p:spTree>
    <p:extLst>
      <p:ext uri="{BB962C8B-B14F-4D97-AF65-F5344CB8AC3E}">
        <p14:creationId xmlns:p14="http://schemas.microsoft.com/office/powerpoint/2010/main" val="95617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Knowledge check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Check your understanding of joins and relates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410" name="KC1"/>
          <p:cNvSpPr/>
          <p:nvPr/>
        </p:nvSpPr>
        <p:spPr>
          <a:xfrm>
            <a:off x="685800" y="15240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S411"/>
          <p:cNvSpPr/>
          <p:nvPr/>
        </p:nvSpPr>
        <p:spPr>
          <a:xfrm>
            <a:off x="9398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12" name="S412"/>
          <p:cNvSpPr/>
          <p:nvPr/>
        </p:nvSpPr>
        <p:spPr>
          <a:xfrm>
            <a:off x="1422400" y="1778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must two tables share for a join to work?</a:t>
            </a:r>
          </a:p>
        </p:txBody>
      </p:sp>
      <p:sp>
        <p:nvSpPr>
          <p:cNvPr id="413" name="S413"/>
          <p:cNvSpPr/>
          <p:nvPr/>
        </p:nvSpPr>
        <p:spPr>
          <a:xfrm>
            <a:off x="939800" y="27432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14" name="S414"/>
          <p:cNvSpPr/>
          <p:nvPr/>
        </p:nvSpPr>
        <p:spPr>
          <a:xfrm>
            <a:off x="939800" y="31750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common key field — the same values and the same data type in both tables.</a:t>
            </a:r>
          </a:p>
        </p:txBody>
      </p:sp>
      <p:sp>
        <p:nvSpPr>
          <p:cNvPr id="420" name="KC2"/>
          <p:cNvSpPr/>
          <p:nvPr/>
        </p:nvSpPr>
        <p:spPr>
          <a:xfrm>
            <a:off x="6223000" y="15240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64770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22" name="S422"/>
          <p:cNvSpPr/>
          <p:nvPr/>
        </p:nvSpPr>
        <p:spPr>
          <a:xfrm>
            <a:off x="6959600" y="1778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How does Add Join differ from Join Field?</a:t>
            </a:r>
          </a:p>
        </p:txBody>
      </p:sp>
      <p:sp>
        <p:nvSpPr>
          <p:cNvPr id="423" name="S423"/>
          <p:cNvSpPr/>
          <p:nvPr/>
        </p:nvSpPr>
        <p:spPr>
          <a:xfrm>
            <a:off x="6477000" y="27432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24" name="S424"/>
          <p:cNvSpPr/>
          <p:nvPr/>
        </p:nvSpPr>
        <p:spPr>
          <a:xfrm>
            <a:off x="6477000" y="31750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Add Join links the fields temporarily; Join Field writes them into the table permanently.</a:t>
            </a:r>
          </a:p>
        </p:txBody>
      </p:sp>
      <p:sp>
        <p:nvSpPr>
          <p:cNvPr id="430" name="KC3"/>
          <p:cNvSpPr/>
          <p:nvPr/>
        </p:nvSpPr>
        <p:spPr>
          <a:xfrm>
            <a:off x="685800" y="39624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9398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32" name="S432"/>
          <p:cNvSpPr/>
          <p:nvPr/>
        </p:nvSpPr>
        <p:spPr>
          <a:xfrm>
            <a:off x="1422400" y="4216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When do you use a relate instead of a join?</a:t>
            </a:r>
          </a:p>
        </p:txBody>
      </p:sp>
      <p:sp>
        <p:nvSpPr>
          <p:cNvPr id="433" name="S433"/>
          <p:cNvSpPr/>
          <p:nvPr/>
        </p:nvSpPr>
        <p:spPr>
          <a:xfrm>
            <a:off x="939800" y="51816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34" name="S434"/>
          <p:cNvSpPr/>
          <p:nvPr/>
        </p:nvSpPr>
        <p:spPr>
          <a:xfrm>
            <a:off x="939800" y="56134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when one record links to many matching rows — a one-to-many relationship.</a:t>
            </a:r>
          </a:p>
        </p:txBody>
      </p:sp>
      <p:sp>
        <p:nvSpPr>
          <p:cNvPr id="440" name="KC4"/>
          <p:cNvSpPr/>
          <p:nvPr/>
        </p:nvSpPr>
        <p:spPr>
          <a:xfrm>
            <a:off x="6223000" y="39624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41" name="S441"/>
          <p:cNvSpPr/>
          <p:nvPr/>
        </p:nvSpPr>
        <p:spPr>
          <a:xfrm>
            <a:off x="64770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442" name="S442"/>
          <p:cNvSpPr/>
          <p:nvPr/>
        </p:nvSpPr>
        <p:spPr>
          <a:xfrm>
            <a:off x="6959600" y="42164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might a join return all &lt;Null&gt; values?</a:t>
            </a:r>
          </a:p>
        </p:txBody>
      </p:sp>
      <p:sp>
        <p:nvSpPr>
          <p:cNvPr id="443" name="S443"/>
          <p:cNvSpPr/>
          <p:nvPr/>
        </p:nvSpPr>
        <p:spPr>
          <a:xfrm>
            <a:off x="6477000" y="51816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4" name="S444"/>
          <p:cNvSpPr/>
          <p:nvPr/>
        </p:nvSpPr>
        <p:spPr>
          <a:xfrm>
            <a:off x="6477000" y="56134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key fields are different types — text "01" cannot match the number 1.</a:t>
            </a:r>
          </a:p>
        </p:txBody>
      </p:sp>
      <p:sp>
        <p:nvSpPr>
          <p:cNvPr id="701" name="Prompt701"/>
          <p:cNvSpPr/>
          <p:nvPr/>
        </p:nvSpPr>
        <p:spPr>
          <a:xfrm>
            <a:off x="939800" y="28448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2" name="Prompt702"/>
          <p:cNvSpPr/>
          <p:nvPr/>
        </p:nvSpPr>
        <p:spPr>
          <a:xfrm>
            <a:off x="6477000" y="28448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3" name="Prompt703"/>
          <p:cNvSpPr/>
          <p:nvPr/>
        </p:nvSpPr>
        <p:spPr>
          <a:xfrm>
            <a:off x="939800" y="52832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4" name="Prompt704"/>
          <p:cNvSpPr/>
          <p:nvPr/>
        </p:nvSpPr>
        <p:spPr>
          <a:xfrm>
            <a:off x="6477000" y="52832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368320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410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420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430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440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Recap and what's next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 can join by attribute — next, join by location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5" name="KTLabel"/>
          <p:cNvSpPr/>
          <p:nvPr/>
        </p:nvSpPr>
        <p:spPr>
          <a:xfrm>
            <a:off x="685800" y="1549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330" name="TC1"/>
          <p:cNvSpPr/>
          <p:nvPr/>
        </p:nvSpPr>
        <p:spPr>
          <a:xfrm>
            <a:off x="685800" y="19050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TCcirc1"/>
          <p:cNvSpPr/>
          <p:nvPr/>
        </p:nvSpPr>
        <p:spPr>
          <a:xfrm>
            <a:off x="914400" y="21209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2" name="S332"/>
          <p:cNvSpPr/>
          <p:nvPr/>
        </p:nvSpPr>
        <p:spPr>
          <a:xfrm>
            <a:off x="1625600" y="20701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A join needs a key field</a:t>
            </a:r>
          </a:p>
        </p:txBody>
      </p:sp>
      <p:sp>
        <p:nvSpPr>
          <p:cNvPr id="333" name="S333"/>
          <p:cNvSpPr/>
          <p:nvPr/>
        </p:nvSpPr>
        <p:spPr>
          <a:xfrm>
            <a:off x="1625600" y="24003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Shared attribute, same type, matching values in both tables.</a:t>
            </a:r>
          </a:p>
        </p:txBody>
      </p:sp>
      <p:sp>
        <p:nvSpPr>
          <p:cNvPr id="340" name="TC2"/>
          <p:cNvSpPr/>
          <p:nvPr/>
        </p:nvSpPr>
        <p:spPr>
          <a:xfrm>
            <a:off x="685800" y="29464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41" name="TCcirc2"/>
          <p:cNvSpPr/>
          <p:nvPr/>
        </p:nvSpPr>
        <p:spPr>
          <a:xfrm>
            <a:off x="914400" y="31623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42" name="S342"/>
          <p:cNvSpPr/>
          <p:nvPr/>
        </p:nvSpPr>
        <p:spPr>
          <a:xfrm>
            <a:off x="1625600" y="31115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Add Join vs Join Field</a:t>
            </a:r>
          </a:p>
        </p:txBody>
      </p:sp>
      <p:sp>
        <p:nvSpPr>
          <p:cNvPr id="343" name="S343"/>
          <p:cNvSpPr/>
          <p:nvPr/>
        </p:nvSpPr>
        <p:spPr>
          <a:xfrm>
            <a:off x="1625600" y="34417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links temporarily; the other writes fields in permanently.</a:t>
            </a:r>
          </a:p>
        </p:txBody>
      </p:sp>
      <p:sp>
        <p:nvSpPr>
          <p:cNvPr id="350" name="TC3"/>
          <p:cNvSpPr/>
          <p:nvPr/>
        </p:nvSpPr>
        <p:spPr>
          <a:xfrm>
            <a:off x="685800" y="39878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51" name="TCcirc3"/>
          <p:cNvSpPr/>
          <p:nvPr/>
        </p:nvSpPr>
        <p:spPr>
          <a:xfrm>
            <a:off x="914400" y="42037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52" name="S352"/>
          <p:cNvSpPr/>
          <p:nvPr/>
        </p:nvSpPr>
        <p:spPr>
          <a:xfrm>
            <a:off x="1625600" y="41529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Cardinality decides</a:t>
            </a:r>
          </a:p>
        </p:txBody>
      </p:sp>
      <p:sp>
        <p:nvSpPr>
          <p:cNvPr id="353" name="S353"/>
          <p:cNvSpPr/>
          <p:nvPr/>
        </p:nvSpPr>
        <p:spPr>
          <a:xfrm>
            <a:off x="1625600" y="44831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1:1 and many:1 join cleanly; 1:many needs a relate.</a:t>
            </a:r>
          </a:p>
        </p:txBody>
      </p:sp>
      <p:sp>
        <p:nvSpPr>
          <p:cNvPr id="360" name="TC4"/>
          <p:cNvSpPr/>
          <p:nvPr/>
        </p:nvSpPr>
        <p:spPr>
          <a:xfrm>
            <a:off x="685800" y="50292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TCcirc4"/>
          <p:cNvSpPr/>
          <p:nvPr/>
        </p:nvSpPr>
        <p:spPr>
          <a:xfrm>
            <a:off x="914400" y="52451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2" name="S362"/>
          <p:cNvSpPr/>
          <p:nvPr/>
        </p:nvSpPr>
        <p:spPr>
          <a:xfrm>
            <a:off x="1625600" y="51943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Check the key first</a:t>
            </a:r>
          </a:p>
        </p:txBody>
      </p:sp>
      <p:sp>
        <p:nvSpPr>
          <p:cNvPr id="363" name="S363"/>
          <p:cNvSpPr/>
          <p:nvPr/>
        </p:nvSpPr>
        <p:spPr>
          <a:xfrm>
            <a:off x="1625600" y="55245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Most failed joins trace back to a mismatched key field.</a:t>
            </a:r>
          </a:p>
        </p:txBody>
      </p:sp>
      <p:sp>
        <p:nvSpPr>
          <p:cNvPr id="6" name="Next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7" name="NextHdr"/>
          <p:cNvSpPr/>
          <p:nvPr/>
        </p:nvSpPr>
        <p:spPr>
          <a:xfrm>
            <a:off x="6477000" y="1701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Up next: Spatial Join</a:t>
            </a:r>
          </a:p>
        </p:txBody>
      </p:sp>
      <p:sp>
        <p:nvSpPr>
          <p:cNvPr id="370" name="Badge1"/>
          <p:cNvSpPr/>
          <p:nvPr/>
        </p:nvSpPr>
        <p:spPr>
          <a:xfrm>
            <a:off x="6477000" y="21590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371" name="S371"/>
          <p:cNvSpPr/>
          <p:nvPr/>
        </p:nvSpPr>
        <p:spPr>
          <a:xfrm>
            <a:off x="6959600" y="21971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New question</a:t>
            </a:r>
          </a:p>
        </p:txBody>
      </p:sp>
      <p:sp>
        <p:nvSpPr>
          <p:cNvPr id="372" name="Code1"/>
          <p:cNvSpPr/>
          <p:nvPr/>
        </p:nvSpPr>
        <p:spPr>
          <a:xfrm>
            <a:off x="6477000" y="25400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which features share a location, not a key?</a:t>
            </a:r>
          </a:p>
        </p:txBody>
      </p:sp>
      <p:sp>
        <p:nvSpPr>
          <p:cNvPr id="380" name="Badge2"/>
          <p:cNvSpPr/>
          <p:nvPr/>
        </p:nvSpPr>
        <p:spPr>
          <a:xfrm>
            <a:off x="6477000" y="29464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381" name="S381"/>
          <p:cNvSpPr/>
          <p:nvPr/>
        </p:nvSpPr>
        <p:spPr>
          <a:xfrm>
            <a:off x="6959600" y="29845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New driver</a:t>
            </a:r>
          </a:p>
        </p:txBody>
      </p:sp>
      <p:sp>
        <p:nvSpPr>
          <p:cNvPr id="382" name="Code2"/>
          <p:cNvSpPr/>
          <p:nvPr/>
        </p:nvSpPr>
        <p:spPr>
          <a:xfrm>
            <a:off x="6477000" y="33274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a spatial relationship: intersect, within, closest</a:t>
            </a:r>
          </a:p>
        </p:txBody>
      </p:sp>
      <p:sp>
        <p:nvSpPr>
          <p:cNvPr id="390" name="Badge3"/>
          <p:cNvSpPr/>
          <p:nvPr/>
        </p:nvSpPr>
        <p:spPr>
          <a:xfrm>
            <a:off x="6477000" y="37338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391" name="S391"/>
          <p:cNvSpPr/>
          <p:nvPr/>
        </p:nvSpPr>
        <p:spPr>
          <a:xfrm>
            <a:off x="69596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Same idea</a:t>
            </a:r>
          </a:p>
        </p:txBody>
      </p:sp>
      <p:sp>
        <p:nvSpPr>
          <p:cNvPr id="392" name="Code3"/>
          <p:cNvSpPr/>
          <p:nvPr/>
        </p:nvSpPr>
        <p:spPr>
          <a:xfrm>
            <a:off x="6477000" y="41148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attributes from one layer attach to another</a:t>
            </a:r>
          </a:p>
        </p:txBody>
      </p:sp>
      <p:sp>
        <p:nvSpPr>
          <p:cNvPr id="400" name="Badge4"/>
          <p:cNvSpPr/>
          <p:nvPr/>
        </p:nvSpPr>
        <p:spPr>
          <a:xfrm>
            <a:off x="6477000" y="45212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01" name="S401"/>
          <p:cNvSpPr/>
          <p:nvPr/>
        </p:nvSpPr>
        <p:spPr>
          <a:xfrm>
            <a:off x="6959600" y="45593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No key needed</a:t>
            </a:r>
          </a:p>
        </p:txBody>
      </p:sp>
      <p:sp>
        <p:nvSpPr>
          <p:cNvPr id="402" name="Code4"/>
          <p:cNvSpPr/>
          <p:nvPr/>
        </p:nvSpPr>
        <p:spPr>
          <a:xfrm>
            <a:off x="6477000" y="49022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geometry does the matching, not a field</a:t>
            </a:r>
          </a:p>
        </p:txBody>
      </p:sp>
      <p:sp>
        <p:nvSpPr>
          <p:cNvPr id="8" name="Closing"/>
          <p:cNvSpPr/>
          <p:nvPr/>
        </p:nvSpPr>
        <p:spPr>
          <a:xfrm>
            <a:off x="6477000" y="5384800"/>
            <a:ext cx="49276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177800" tIns="635" rIns="177800" bIns="635" anchor="ctr">
            <a:norm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US" sz="1400" b="1" i="1" dirty="0">
                <a:solidFill>
                  <a:srgbClr val="1F3A34"/>
                </a:solidFill>
                <a:latin typeface="Times New Roman"/>
                <a:cs typeface="Times New Roman"/>
              </a:rPr>
              <a:t>You've joined tables by attribute — next, join them by where they are.</a:t>
            </a:r>
          </a:p>
        </p:txBody>
      </p:sp>
      <p:pic>
        <p:nvPicPr>
          <p:cNvPr id="403" name="Graphic 403" descr="Key f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2235200"/>
            <a:ext cx="279400" cy="279400"/>
          </a:xfrm>
          <a:prstGeom prst="rect">
            <a:avLst/>
          </a:prstGeom>
        </p:spPr>
      </p:pic>
      <p:pic>
        <p:nvPicPr>
          <p:cNvPr id="404" name="Graphic 404" descr="Join lin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" y="3276600"/>
            <a:ext cx="279400" cy="279400"/>
          </a:xfrm>
          <a:prstGeom prst="rect">
            <a:avLst/>
          </a:prstGeom>
        </p:spPr>
      </p:pic>
      <p:pic>
        <p:nvPicPr>
          <p:cNvPr id="405" name="Graphic 405" descr="Cardina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" y="4318000"/>
            <a:ext cx="279400" cy="279400"/>
          </a:xfrm>
          <a:prstGeom prst="rect">
            <a:avLst/>
          </a:prstGeom>
        </p:spPr>
      </p:pic>
      <p:pic>
        <p:nvPicPr>
          <p:cNvPr id="406" name="Graphic 406" descr="Check the k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" y="53594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1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D52E94-C73C-473C-99B1-A424D4DC44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544b410-5520-4670-a105-09a24c7e55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6366</TotalTime>
  <Words>5367</Words>
  <Application>Microsoft Office PowerPoint</Application>
  <PresentationFormat>Widescreen</PresentationFormat>
  <Paragraphs>570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ArcGIS Pro table joins and relates</dc:title>
  <dc:subject>ArcGIS Pro table joins and relates</dc:subject>
  <dc:creator>OpenAI</dc:creator>
  <cp:lastModifiedBy>Shokran Rahiminezhad</cp:lastModifiedBy>
  <cp:revision>9</cp:revision>
  <dcterms:created xsi:type="dcterms:W3CDTF">2026-03-11T00:41:06Z</dcterms:created>
  <dcterms:modified xsi:type="dcterms:W3CDTF">2026-07-08T21:25:18Z</dcterms:modified>
</cp:coreProperties>
</file>