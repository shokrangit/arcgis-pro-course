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svg" ContentType="image/svg+xml"/>
  <Override PartName="/ppt/media/image10.svg" ContentType="image/svg+xml"/>
  <Override PartName="/ppt/media/image11.svg" ContentType="image/svg+xml"/>
  <Override PartName="/ppt/media/image12.svg" ContentType="image/svg+xml"/>
  <Override PartName="/ppt/media/image13.svg" ContentType="image/svg+xml"/>
  <Override PartName="/ppt/media/image14.svg" ContentType="image/svg+xml"/>
  <Override PartName="/ppt/media/image15.svg" ContentType="image/svg+xml"/>
  <Override PartName="/ppt/media/image16.svg" ContentType="image/svg+xml"/>
  <Override PartName="/ppt/media/image17.svg" ContentType="image/svg+xml"/>
  <Override PartName="/ppt/media/image18.svg" ContentType="image/svg+xml"/>
  <Override PartName="/ppt/media/image19.svg" ContentType="image/svg+xml"/>
  <Override PartName="/ppt/media/image2.svg" ContentType="image/svg+xml"/>
  <Override PartName="/ppt/media/image20.svg" ContentType="image/svg+xml"/>
  <Override PartName="/ppt/media/image21.svg" ContentType="image/svg+xml"/>
  <Override PartName="/ppt/media/image22.svg" ContentType="image/svg+xml"/>
  <Override PartName="/ppt/media/image23.svg" ContentType="image/svg+xml"/>
  <Override PartName="/ppt/media/image24.svg" ContentType="image/svg+xml"/>
  <Override PartName="/ppt/media/image25.svg" ContentType="image/svg+xml"/>
  <Override PartName="/ppt/media/image26.svg" ContentType="image/svg+xml"/>
  <Override PartName="/ppt/media/image27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361" r:id="rId2"/>
    <p:sldId id="362" r:id="rId3"/>
    <p:sldId id="363" r:id="rId4"/>
    <p:sldId id="364" r:id="rId5"/>
    <p:sldId id="365" r:id="rId6"/>
    <p:sldId id="366" r:id="rId7"/>
    <p:sldId id="367" r:id="rId8"/>
    <p:sldId id="382" r:id="rId9"/>
    <p:sldId id="369" r:id="rId10"/>
    <p:sldId id="370" r:id="rId11"/>
    <p:sldId id="387" r:id="rId12"/>
    <p:sldId id="383" r:id="rId13"/>
    <p:sldId id="373" r:id="rId14"/>
    <p:sldId id="374" r:id="rId15"/>
    <p:sldId id="375" r:id="rId16"/>
    <p:sldId id="384" r:id="rId17"/>
    <p:sldId id="381" r:id="rId18"/>
    <p:sldId id="385" r:id="rId19"/>
    <p:sldId id="386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74" d="100"/>
          <a:sy n="74" d="100"/>
        </p:scale>
        <p:origin x="77" y="4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bg>
      <p:bgPr>
        <a:gradFill>
          <a:gsLst>
            <a:gs pos="0">
              <a:srgbClr val="0E3325"/>
            </a:gs>
            <a:gs pos="100000">
              <a:srgbClr val="071C16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B9741-2C4E-9125-7F50-8954230BE5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EFF948-A6CD-0EF1-121A-6C2B3D9F13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26A4A-FEC0-677B-C700-87556C029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58A5E-760B-4EA3-AB5D-0682F31A2993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3A165-517E-E270-C7FB-8E9022807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E28031-47D4-5B1B-D352-A90D3B750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4A9D5-906F-40CE-A7C8-1748D63EF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913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bg>
      <p:bgPr>
        <a:gradFill>
          <a:gsLst>
            <a:gs pos="0">
              <a:srgbClr val="0E3325"/>
            </a:gs>
            <a:gs pos="100000">
              <a:srgbClr val="071C16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1427D-D9D9-3043-EAF4-E5C1F78EE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9BE686-736A-9D23-B539-7E9EA3C6E4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7F787A-77F5-5661-BA59-D8D9F800D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58A5E-760B-4EA3-AB5D-0682F31A2993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771D6C-7F1C-203B-D3E4-D2C1B82D9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F79468-01D7-C03F-CF98-3BFAA1584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4A9D5-906F-40CE-A7C8-1748D63EF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875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bg>
      <p:bgPr>
        <a:gradFill>
          <a:gsLst>
            <a:gs pos="0">
              <a:srgbClr val="0E3325"/>
            </a:gs>
            <a:gs pos="100000">
              <a:srgbClr val="071C16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0D9F4-649A-F862-380D-D56E67205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A75F77-AA18-FDD3-EF4B-389EC880D2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CF2015-BF49-4219-6401-9A8376969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58A5E-760B-4EA3-AB5D-0682F31A2993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FAF209-CFDD-27E3-B535-E505D7204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B8C919-9DD7-05BA-83BB-4F17AA65F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4A9D5-906F-40CE-A7C8-1748D63EF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0127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bg>
      <p:bgPr>
        <a:gradFill>
          <a:gsLst>
            <a:gs pos="0">
              <a:srgbClr val="0E3325"/>
            </a:gs>
            <a:gs pos="100000">
              <a:srgbClr val="071C16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6353B-ACEF-6111-B18A-A1441C40F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7F79D-2E9E-5465-968F-38CDF3879B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AE618E-77B6-4FA3-F14F-C2BFD9BAB2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D63C5C-0102-E7A7-E76E-21CF1BA33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58A5E-760B-4EA3-AB5D-0682F31A2993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355BA1-D445-FA1E-0BA0-CABF188DA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51ABA8-1E25-5819-19B2-C24122248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4A9D5-906F-40CE-A7C8-1748D63EF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3374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bg>
      <p:bgPr>
        <a:gradFill>
          <a:gsLst>
            <a:gs pos="0">
              <a:srgbClr val="0E3325"/>
            </a:gs>
            <a:gs pos="100000">
              <a:srgbClr val="071C16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0A60A-77E3-94AC-829D-9B5EF3EDD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55A847-E4F2-D91B-A680-0BDCECFBC6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8EC341-196C-9B7A-9681-7D850E99B8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BB1F1C-8075-DD74-03A6-CD76E75851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AB494C-ED68-006F-D881-90CE06706B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752F26-4B73-6ACE-F64D-3D93E588F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58A5E-760B-4EA3-AB5D-0682F31A2993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9CA2DB-9ACD-6410-44A9-E23C11E04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6095F1-7F0D-5E8D-9D72-CFEC92DAD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4A9D5-906F-40CE-A7C8-1748D63EF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264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bg>
      <p:bgPr>
        <a:gradFill>
          <a:gsLst>
            <a:gs pos="0">
              <a:srgbClr val="0E3325"/>
            </a:gs>
            <a:gs pos="100000">
              <a:srgbClr val="071C16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784B3-9E87-BEF9-19FE-C861E6E2C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91C3D7-F615-8B3F-5AE1-EB8B277E9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58A5E-760B-4EA3-AB5D-0682F31A2993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D1787B-5370-E94E-88C7-8EB4B1DC8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2C9869-2C62-B7C6-0A62-2A88474C1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4A9D5-906F-40CE-A7C8-1748D63EF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574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bg>
      <p:bgPr>
        <a:gradFill>
          <a:gsLst>
            <a:gs pos="0">
              <a:srgbClr val="0E3325"/>
            </a:gs>
            <a:gs pos="100000">
              <a:srgbClr val="071C16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D17901-B5F6-F9A1-1289-17EC6C6C2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58A5E-760B-4EA3-AB5D-0682F31A2993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265635-B680-2EE3-4E70-0F67125B8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E81D1-03B0-7F4D-B201-97D641236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4A9D5-906F-40CE-A7C8-1748D63EF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147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bg>
      <p:bgPr>
        <a:gradFill>
          <a:gsLst>
            <a:gs pos="0">
              <a:srgbClr val="0E3325"/>
            </a:gs>
            <a:gs pos="100000">
              <a:srgbClr val="071C16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C3121-9962-077B-160F-D2D549706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4BBD48-CF1E-7B5B-4CD7-F44255978F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C6652C-BF27-8EDD-1089-73B089E9A4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E478B3-4628-520E-FF66-872AB036C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58A5E-760B-4EA3-AB5D-0682F31A2993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90A639-157C-14B5-4102-6FD2388C1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3F5E8B-84BE-442B-52DC-1BCD2CDBF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4A9D5-906F-40CE-A7C8-1748D63EF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227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bg>
      <p:bgPr>
        <a:gradFill>
          <a:gsLst>
            <a:gs pos="0">
              <a:srgbClr val="0E3325"/>
            </a:gs>
            <a:gs pos="100000">
              <a:srgbClr val="071C16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35D97-1F2D-5818-7224-C7DC47C5E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D94CA4-AAB3-3167-6F0C-0D37D97E8E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A05D7C-FD8E-6AF0-56E4-CFE120B421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B9DEF9-136A-3225-496B-351E425B8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58A5E-760B-4EA3-AB5D-0682F31A2993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25448C-30B0-1089-52B6-AB24E776C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CD4B92-82DD-F0C2-FFE6-764F4AA8C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4A9D5-906F-40CE-A7C8-1748D63EF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788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bg>
      <p:bgPr>
        <a:gradFill>
          <a:gsLst>
            <a:gs pos="0">
              <a:srgbClr val="0E3325"/>
            </a:gs>
            <a:gs pos="100000">
              <a:srgbClr val="071C16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5C9EC-DFEA-B1D4-E00D-7C555F476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B5B4F-05B9-594A-D065-F8E3EC66BB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E5B310-BC6C-FDEC-2169-44DFEA434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58A5E-760B-4EA3-AB5D-0682F31A2993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121A89-B58F-4C19-01DE-55203F101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2B290E-00A8-6C4A-9365-D9F585484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4A9D5-906F-40CE-A7C8-1748D63EF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535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bg>
      <p:bgPr>
        <a:gradFill>
          <a:gsLst>
            <a:gs pos="0">
              <a:srgbClr val="0E3325"/>
            </a:gs>
            <a:gs pos="100000">
              <a:srgbClr val="071C16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76A3D5-FB83-85DE-B69D-DAEF23E8D6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F2EF9D-5673-A0AD-1F2F-B5CC4F6FF9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8AE926-92A9-1157-72A2-6C94588BC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58A5E-760B-4EA3-AB5D-0682F31A2993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80EA9F-2876-CC0E-DA35-D138A4012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964563-EE7D-CCE5-5A9B-7846A353C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4A9D5-906F-40CE-A7C8-1748D63EF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22857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E3325"/>
            </a:gs>
            <a:gs pos="100000">
              <a:srgbClr val="071C16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AF1319-D150-0BAB-C29E-65D04B91B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9355A-A374-74DA-31D8-6D33D1C4CC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26906A-E9F8-FE83-8187-81D00D553D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958A5E-760B-4EA3-AB5D-0682F31A2993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59107-45F2-CDA4-DFEF-34D265BBAF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BAC976-005E-DBC9-0464-5FF393B274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44A9D5-906F-40CE-A7C8-1748D63EFD50}" type="slidenum">
              <a:rPr lang="en-US" smtClean="0"/>
              <a:t>‹#›</a:t>
            </a:fld>
            <a:endParaRPr lang="en-US"/>
          </a:p>
        </p:txBody>
      </p:sp>
      <p:sp>
        <p:nvSpPr>
          <p:cNvPr id="900" name="px0_0"/>
          <p:cNvSpPr/>
          <p:nvPr/>
        </p:nvSpPr>
        <p:spPr>
          <a:xfrm>
            <a:off x="11709400" y="6553200"/>
            <a:ext cx="228600" cy="228600"/>
          </a:xfrm>
          <a:prstGeom prst="rect">
            <a:avLst/>
          </a:prstGeom>
          <a:solidFill>
            <a:srgbClr val="DE843C">
              <a:alpha val="60000"/>
            </a:srgbClr>
          </a:solidFill>
          <a:ln w="12700">
            <a:solidFill>
              <a:srgbClr val="DE843C">
                <a:alpha val="5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01" name="px0_1"/>
          <p:cNvSpPr/>
          <p:nvPr/>
        </p:nvSpPr>
        <p:spPr>
          <a:xfrm>
            <a:off x="11430000" y="6553200"/>
            <a:ext cx="228600" cy="228600"/>
          </a:xfrm>
          <a:prstGeom prst="rect">
            <a:avLst/>
          </a:prstGeom>
          <a:noFill/>
          <a:ln w="12700">
            <a:solidFill>
              <a:srgbClr val="2FB8B0">
                <a:alpha val="41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02" name="px0_2"/>
          <p:cNvSpPr/>
          <p:nvPr/>
        </p:nvSpPr>
        <p:spPr>
          <a:xfrm>
            <a:off x="11150600" y="6553200"/>
            <a:ext cx="228600" cy="228600"/>
          </a:xfrm>
          <a:prstGeom prst="rect">
            <a:avLst/>
          </a:prstGeom>
          <a:solidFill>
            <a:srgbClr val="B58AE0">
              <a:alpha val="42000"/>
            </a:srgbClr>
          </a:solidFill>
          <a:ln w="12700">
            <a:solidFill>
              <a:srgbClr val="B58AE0">
                <a:alpha val="32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03" name="px0_3"/>
          <p:cNvSpPr/>
          <p:nvPr/>
        </p:nvSpPr>
        <p:spPr>
          <a:xfrm>
            <a:off x="10871200" y="6553200"/>
            <a:ext cx="228600" cy="228600"/>
          </a:xfrm>
          <a:prstGeom prst="rect">
            <a:avLst/>
          </a:prstGeom>
          <a:noFill/>
          <a:ln w="12700">
            <a:solidFill>
              <a:srgbClr val="E3B24A">
                <a:alpha val="23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04" name="px0_4"/>
          <p:cNvSpPr/>
          <p:nvPr/>
        </p:nvSpPr>
        <p:spPr>
          <a:xfrm>
            <a:off x="10591800" y="6553200"/>
            <a:ext cx="228600" cy="228600"/>
          </a:xfrm>
          <a:prstGeom prst="rect">
            <a:avLst/>
          </a:prstGeom>
          <a:noFill/>
          <a:ln w="12700">
            <a:solidFill>
              <a:srgbClr val="DE843C">
                <a:alpha val="14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05" name="px0_5"/>
          <p:cNvSpPr/>
          <p:nvPr/>
        </p:nvSpPr>
        <p:spPr>
          <a:xfrm>
            <a:off x="10312400" y="6553200"/>
            <a:ext cx="228600" cy="228600"/>
          </a:xfrm>
          <a:prstGeom prst="rect">
            <a:avLst/>
          </a:prstGeom>
          <a:noFill/>
          <a:ln w="12700">
            <a:solidFill>
              <a:srgbClr val="2FB8B0">
                <a:alpha val="1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06" name="px1_0"/>
          <p:cNvSpPr/>
          <p:nvPr/>
        </p:nvSpPr>
        <p:spPr>
          <a:xfrm>
            <a:off x="11709400" y="6273800"/>
            <a:ext cx="228600" cy="228600"/>
          </a:xfrm>
          <a:prstGeom prst="rect">
            <a:avLst/>
          </a:prstGeom>
          <a:noFill/>
          <a:ln w="12700">
            <a:solidFill>
              <a:srgbClr val="2FB8B0">
                <a:alpha val="41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07" name="px1_1"/>
          <p:cNvSpPr/>
          <p:nvPr/>
        </p:nvSpPr>
        <p:spPr>
          <a:xfrm>
            <a:off x="11430000" y="6273800"/>
            <a:ext cx="228600" cy="228600"/>
          </a:xfrm>
          <a:prstGeom prst="rect">
            <a:avLst/>
          </a:prstGeom>
          <a:solidFill>
            <a:srgbClr val="B58AE0">
              <a:alpha val="42000"/>
            </a:srgbClr>
          </a:solidFill>
          <a:ln w="12700">
            <a:solidFill>
              <a:srgbClr val="B58AE0">
                <a:alpha val="32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08" name="px1_2"/>
          <p:cNvSpPr/>
          <p:nvPr/>
        </p:nvSpPr>
        <p:spPr>
          <a:xfrm>
            <a:off x="11150600" y="6273800"/>
            <a:ext cx="228600" cy="228600"/>
          </a:xfrm>
          <a:prstGeom prst="rect">
            <a:avLst/>
          </a:prstGeom>
          <a:noFill/>
          <a:ln w="12700">
            <a:solidFill>
              <a:srgbClr val="E3B24A">
                <a:alpha val="23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09" name="px1_3"/>
          <p:cNvSpPr/>
          <p:nvPr/>
        </p:nvSpPr>
        <p:spPr>
          <a:xfrm>
            <a:off x="10871200" y="6273800"/>
            <a:ext cx="228600" cy="228600"/>
          </a:xfrm>
          <a:prstGeom prst="rect">
            <a:avLst/>
          </a:prstGeom>
          <a:noFill/>
          <a:ln w="12700">
            <a:solidFill>
              <a:srgbClr val="DE843C">
                <a:alpha val="14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10" name="px1_4"/>
          <p:cNvSpPr/>
          <p:nvPr/>
        </p:nvSpPr>
        <p:spPr>
          <a:xfrm>
            <a:off x="10591800" y="6273800"/>
            <a:ext cx="228600" cy="228600"/>
          </a:xfrm>
          <a:prstGeom prst="rect">
            <a:avLst/>
          </a:prstGeom>
          <a:noFill/>
          <a:ln w="12700">
            <a:solidFill>
              <a:srgbClr val="2FB8B0">
                <a:alpha val="1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11" name="px1_5"/>
          <p:cNvSpPr/>
          <p:nvPr/>
        </p:nvSpPr>
        <p:spPr>
          <a:xfrm>
            <a:off x="10312400" y="6273800"/>
            <a:ext cx="228600" cy="228600"/>
          </a:xfrm>
          <a:prstGeom prst="rect">
            <a:avLst/>
          </a:prstGeom>
          <a:noFill/>
          <a:ln w="12700">
            <a:solidFill>
              <a:srgbClr val="B58AE0">
                <a:alpha val="1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12" name="px2_0"/>
          <p:cNvSpPr/>
          <p:nvPr/>
        </p:nvSpPr>
        <p:spPr>
          <a:xfrm>
            <a:off x="11709400" y="5994400"/>
            <a:ext cx="228600" cy="228600"/>
          </a:xfrm>
          <a:prstGeom prst="rect">
            <a:avLst/>
          </a:prstGeom>
          <a:solidFill>
            <a:srgbClr val="B58AE0">
              <a:alpha val="42000"/>
            </a:srgbClr>
          </a:solidFill>
          <a:ln w="12700">
            <a:solidFill>
              <a:srgbClr val="B58AE0">
                <a:alpha val="32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13" name="px2_1"/>
          <p:cNvSpPr/>
          <p:nvPr/>
        </p:nvSpPr>
        <p:spPr>
          <a:xfrm>
            <a:off x="11430000" y="5994400"/>
            <a:ext cx="228600" cy="228600"/>
          </a:xfrm>
          <a:prstGeom prst="rect">
            <a:avLst/>
          </a:prstGeom>
          <a:noFill/>
          <a:ln w="12700">
            <a:solidFill>
              <a:srgbClr val="E3B24A">
                <a:alpha val="23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14" name="px2_2"/>
          <p:cNvSpPr/>
          <p:nvPr/>
        </p:nvSpPr>
        <p:spPr>
          <a:xfrm>
            <a:off x="11150600" y="5994400"/>
            <a:ext cx="228600" cy="228600"/>
          </a:xfrm>
          <a:prstGeom prst="rect">
            <a:avLst/>
          </a:prstGeom>
          <a:noFill/>
          <a:ln w="12700">
            <a:solidFill>
              <a:srgbClr val="DE843C">
                <a:alpha val="14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15" name="px2_3"/>
          <p:cNvSpPr/>
          <p:nvPr/>
        </p:nvSpPr>
        <p:spPr>
          <a:xfrm>
            <a:off x="10871200" y="5994400"/>
            <a:ext cx="228600" cy="228600"/>
          </a:xfrm>
          <a:prstGeom prst="rect">
            <a:avLst/>
          </a:prstGeom>
          <a:noFill/>
          <a:ln w="12700">
            <a:solidFill>
              <a:srgbClr val="2FB8B0">
                <a:alpha val="1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16" name="px2_4"/>
          <p:cNvSpPr/>
          <p:nvPr/>
        </p:nvSpPr>
        <p:spPr>
          <a:xfrm>
            <a:off x="10591800" y="5994400"/>
            <a:ext cx="228600" cy="228600"/>
          </a:xfrm>
          <a:prstGeom prst="rect">
            <a:avLst/>
          </a:prstGeom>
          <a:noFill/>
          <a:ln w="12700">
            <a:solidFill>
              <a:srgbClr val="B58AE0">
                <a:alpha val="1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17" name="px3_0"/>
          <p:cNvSpPr/>
          <p:nvPr/>
        </p:nvSpPr>
        <p:spPr>
          <a:xfrm>
            <a:off x="11709400" y="5715000"/>
            <a:ext cx="228600" cy="228600"/>
          </a:xfrm>
          <a:prstGeom prst="rect">
            <a:avLst/>
          </a:prstGeom>
          <a:noFill/>
          <a:ln w="12700">
            <a:solidFill>
              <a:srgbClr val="E3B24A">
                <a:alpha val="23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18" name="px3_1"/>
          <p:cNvSpPr/>
          <p:nvPr/>
        </p:nvSpPr>
        <p:spPr>
          <a:xfrm>
            <a:off x="11430000" y="5715000"/>
            <a:ext cx="228600" cy="228600"/>
          </a:xfrm>
          <a:prstGeom prst="rect">
            <a:avLst/>
          </a:prstGeom>
          <a:noFill/>
          <a:ln w="12700">
            <a:solidFill>
              <a:srgbClr val="DE843C">
                <a:alpha val="14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19" name="px3_2"/>
          <p:cNvSpPr/>
          <p:nvPr/>
        </p:nvSpPr>
        <p:spPr>
          <a:xfrm>
            <a:off x="11150600" y="5715000"/>
            <a:ext cx="228600" cy="228600"/>
          </a:xfrm>
          <a:prstGeom prst="rect">
            <a:avLst/>
          </a:prstGeom>
          <a:noFill/>
          <a:ln w="12700">
            <a:solidFill>
              <a:srgbClr val="2FB8B0">
                <a:alpha val="1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20" name="px3_3"/>
          <p:cNvSpPr/>
          <p:nvPr/>
        </p:nvSpPr>
        <p:spPr>
          <a:xfrm>
            <a:off x="10871200" y="5715000"/>
            <a:ext cx="228600" cy="228600"/>
          </a:xfrm>
          <a:prstGeom prst="rect">
            <a:avLst/>
          </a:prstGeom>
          <a:noFill/>
          <a:ln w="12700">
            <a:solidFill>
              <a:srgbClr val="B58AE0">
                <a:alpha val="10000"/>
              </a:srgbClr>
            </a:solidFill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449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EEF3E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C2D2CA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C2D2CA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C2D2CA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C2D2CA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C2D2CA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C2D2CA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C2D2CA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C2D2CA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C2D2CA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svg"/><Relationship Id="rId3" Type="http://schemas.openxmlformats.org/officeDocument/2006/relationships/image" Target="../media/image2.svg"/><Relationship Id="rId4" Type="http://schemas.openxmlformats.org/officeDocument/2006/relationships/image" Target="../media/image3.svg"/><Relationship Id="rId5" Type="http://schemas.openxmlformats.org/officeDocument/2006/relationships/slide" Target="slide5.xml"/><Relationship Id="rId6" Type="http://schemas.openxmlformats.org/officeDocument/2006/relationships/image" Target="../media/image28.png"/><Relationship Id="rId7" Type="http://schemas.openxmlformats.org/officeDocument/2006/relationships/slide" Target="slide9.xml"/><Relationship Id="rId8" Type="http://schemas.openxmlformats.org/officeDocument/2006/relationships/slide" Target="slide1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svg"/><Relationship Id="rId3" Type="http://schemas.openxmlformats.org/officeDocument/2006/relationships/image" Target="../media/image5.svg"/><Relationship Id="rId4" Type="http://schemas.openxmlformats.org/officeDocument/2006/relationships/image" Target="../media/image6.svg"/><Relationship Id="rId5" Type="http://schemas.openxmlformats.org/officeDocument/2006/relationships/image" Target="../media/image7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svg"/><Relationship Id="rId3" Type="http://schemas.openxmlformats.org/officeDocument/2006/relationships/image" Target="../media/image2.svg"/><Relationship Id="rId4" Type="http://schemas.openxmlformats.org/officeDocument/2006/relationships/image" Target="../media/image3.svg"/><Relationship Id="rId5" Type="http://schemas.openxmlformats.org/officeDocument/2006/relationships/image" Target="../media/image8.svg"/><Relationship Id="rId6" Type="http://schemas.openxmlformats.org/officeDocument/2006/relationships/image" Target="../media/image9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svg"/><Relationship Id="rId3" Type="http://schemas.openxmlformats.org/officeDocument/2006/relationships/image" Target="../media/image2.svg"/><Relationship Id="rId4" Type="http://schemas.openxmlformats.org/officeDocument/2006/relationships/image" Target="../media/image3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svg"/><Relationship Id="rId3" Type="http://schemas.openxmlformats.org/officeDocument/2006/relationships/image" Target="../media/image11.svg"/><Relationship Id="rId4" Type="http://schemas.openxmlformats.org/officeDocument/2006/relationships/image" Target="../media/image12.svg"/><Relationship Id="rId5" Type="http://schemas.openxmlformats.org/officeDocument/2006/relationships/image" Target="../media/image1.svg"/><Relationship Id="rId6" Type="http://schemas.openxmlformats.org/officeDocument/2006/relationships/image" Target="../media/image13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svg"/><Relationship Id="rId3" Type="http://schemas.openxmlformats.org/officeDocument/2006/relationships/image" Target="../media/image14.svg"/><Relationship Id="rId4" Type="http://schemas.openxmlformats.org/officeDocument/2006/relationships/image" Target="../media/image9.svg"/><Relationship Id="rId5" Type="http://schemas.openxmlformats.org/officeDocument/2006/relationships/image" Target="../media/image15.svg"/><Relationship Id="rId6" Type="http://schemas.openxmlformats.org/officeDocument/2006/relationships/image" Target="../media/image8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svg"/><Relationship Id="rId3" Type="http://schemas.openxmlformats.org/officeDocument/2006/relationships/image" Target="../media/image16.svg"/><Relationship Id="rId4" Type="http://schemas.openxmlformats.org/officeDocument/2006/relationships/image" Target="../media/image17.svg"/><Relationship Id="rId5" Type="http://schemas.openxmlformats.org/officeDocument/2006/relationships/image" Target="../media/image18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svg"/><Relationship Id="rId3" Type="http://schemas.openxmlformats.org/officeDocument/2006/relationships/image" Target="../media/image2.svg"/><Relationship Id="rId4" Type="http://schemas.openxmlformats.org/officeDocument/2006/relationships/image" Target="../media/image20.svg"/><Relationship Id="rId5" Type="http://schemas.openxmlformats.org/officeDocument/2006/relationships/image" Target="../media/image8.svg"/><Relationship Id="rId6" Type="http://schemas.openxmlformats.org/officeDocument/2006/relationships/image" Target="../media/image21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sv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svg"/><Relationship Id="rId3" Type="http://schemas.openxmlformats.org/officeDocument/2006/relationships/image" Target="../media/image23.svg"/><Relationship Id="rId4" Type="http://schemas.openxmlformats.org/officeDocument/2006/relationships/image" Target="../media/image24.svg"/><Relationship Id="rId5" Type="http://schemas.openxmlformats.org/officeDocument/2006/relationships/image" Target="../media/image3.sv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svg"/><Relationship Id="rId3" Type="http://schemas.openxmlformats.org/officeDocument/2006/relationships/image" Target="../media/image26.svg"/><Relationship Id="rId4" Type="http://schemas.openxmlformats.org/officeDocument/2006/relationships/image" Target="../media/image24.svg"/><Relationship Id="rId5" Type="http://schemas.openxmlformats.org/officeDocument/2006/relationships/image" Target="../media/image3.svg"/><Relationship Id="rId6" Type="http://schemas.openxmlformats.org/officeDocument/2006/relationships/image" Target="../media/image8.sv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svg"/><Relationship Id="rId3" Type="http://schemas.openxmlformats.org/officeDocument/2006/relationships/image" Target="../media/image16.svg"/><Relationship Id="rId4" Type="http://schemas.openxmlformats.org/officeDocument/2006/relationships/image" Target="../media/image26.svg"/><Relationship Id="rId5" Type="http://schemas.openxmlformats.org/officeDocument/2006/relationships/image" Target="../media/image2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host"/>
          <p:cNvSpPr txBox="1"/>
          <p:nvPr/>
        </p:nvSpPr>
        <p:spPr>
          <a:xfrm>
            <a:off x="9652000" y="330200"/>
            <a:ext cx="2082800" cy="939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</a:pPr>
            <a:r>
              <a:rPr lang="en-US" sz="4600" b="1" dirty="0">
                <a:solidFill>
                  <a:srgbClr val="1C4835"/>
                </a:solidFill>
              </a:rPr>
              <a:t>01</a:t>
            </a:r>
          </a:p>
        </p:txBody>
      </p:sp>
      <p:sp>
        <p:nvSpPr>
          <p:cNvPr id="21" name="eyebrow"/>
          <p:cNvSpPr txBox="1"/>
          <p:nvPr/>
        </p:nvSpPr>
        <p:spPr>
          <a:xfrm>
            <a:off x="812800" y="1168400"/>
            <a:ext cx="5207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00" b="1" spc="200" dirty="0">
                <a:solidFill>
                  <a:srgbClr val="E3B24A"/>
                </a:solidFill>
              </a:rPr>
              <a:t>ARCGIS PRO  ·  RASTER ANALYSIS</a:t>
            </a:r>
          </a:p>
        </p:txBody>
      </p:sp>
      <p:sp>
        <p:nvSpPr>
          <p:cNvPr id="22" name="title"/>
          <p:cNvSpPr txBox="1"/>
          <p:nvPr/>
        </p:nvSpPr>
        <p:spPr>
          <a:xfrm>
            <a:off x="762000" y="1498600"/>
            <a:ext cx="5207000" cy="2159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6000"/>
              </a:lnSpc>
              <a:buNone/>
            </a:pPr>
            <a:r>
              <a:rPr lang="en-US" sz="5200" b="1" dirty="0">
                <a:solidFill>
                  <a:srgbClr val="EEF3EF"/>
                </a:solidFill>
              </a:rPr>
              <a:t>Raster Data</a:t>
            </a:r>
          </a:p>
          <a:p>
            <a:pPr algn="l">
              <a:lnSpc>
                <a:spcPct val="96000"/>
              </a:lnSpc>
              <a:buNone/>
            </a:pPr>
            <a:r>
              <a:rPr lang="en-US" sz="5200" b="1" dirty="0">
                <a:solidFill>
                  <a:srgbClr val="EEF3EF"/>
                </a:solidFill>
              </a:rPr>
              <a:t>Analysis</a:t>
            </a:r>
          </a:p>
        </p:txBody>
      </p:sp>
      <p:sp>
        <p:nvSpPr>
          <p:cNvPr id="23" name="u1"/>
          <p:cNvSpPr/>
          <p:nvPr/>
        </p:nvSpPr>
        <p:spPr>
          <a:xfrm>
            <a:off x="812800" y="3810000"/>
            <a:ext cx="558800" cy="76200"/>
          </a:xfrm>
          <a:prstGeom prst="rect">
            <a:avLst/>
          </a:prstGeom>
          <a:solidFill>
            <a:srgbClr val="DE843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u2"/>
          <p:cNvSpPr/>
          <p:nvPr/>
        </p:nvSpPr>
        <p:spPr>
          <a:xfrm>
            <a:off x="1447800" y="3810000"/>
            <a:ext cx="558800" cy="76200"/>
          </a:xfrm>
          <a:prstGeom prst="rect">
            <a:avLst/>
          </a:prstGeom>
          <a:solidFill>
            <a:srgbClr val="2FB8B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u3"/>
          <p:cNvSpPr/>
          <p:nvPr/>
        </p:nvSpPr>
        <p:spPr>
          <a:xfrm>
            <a:off x="2082800" y="3810000"/>
            <a:ext cx="558800" cy="76200"/>
          </a:xfrm>
          <a:prstGeom prst="rect">
            <a:avLst/>
          </a:prstGeom>
          <a:solidFill>
            <a:srgbClr val="B58AE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subtitle"/>
          <p:cNvSpPr txBox="1"/>
          <p:nvPr/>
        </p:nvSpPr>
        <p:spPr>
          <a:xfrm>
            <a:off x="812800" y="4140200"/>
            <a:ext cx="5080000" cy="1905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6000"/>
              </a:lnSpc>
              <a:buNone/>
            </a:pPr>
            <a:r>
              <a:rPr lang="en-US" sz="1500" dirty="0">
                <a:solidFill>
                  <a:srgbClr val="C2D2CA"/>
                </a:solidFill>
              </a:rPr>
              <a:t>Turn a grid of cell values into terrain, vegetation and decision surfaces — three core techniques, taught with free U.S. data and ArcGIS Pro tools.</a:t>
            </a:r>
          </a:p>
        </p:txBody>
      </p:sp>
      <p:sp>
        <p:nvSpPr>
          <p:cNvPr id="27" name="band">
            <a:hlinkClick action="ppaction://hlinksldjump" r:id="rId5"/>
          </p:cNvPr>
          <p:cNvSpPr/>
          <p:nvPr/>
        </p:nvSpPr>
        <p:spPr>
          <a:xfrm>
            <a:off x="6172200" y="1270000"/>
            <a:ext cx="5562600" cy="1320800"/>
          </a:xfrm>
          <a:prstGeom prst="roundRect">
            <a:avLst>
              <a:gd name="adj" fmla="val 8000"/>
            </a:avLst>
          </a:prstGeom>
          <a:solidFill>
            <a:srgbClr val="173D2E"/>
          </a:solidFill>
          <a:ln w="15875">
            <a:solidFill>
              <a:srgbClr val="DE843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8" name="chip">
            <a:hlinkClick action="ppaction://hlinksldjump" r:id="rId5"/>
          </p:cNvPr>
          <p:cNvSpPr/>
          <p:nvPr/>
        </p:nvSpPr>
        <p:spPr>
          <a:xfrm>
            <a:off x="6426200" y="1638300"/>
            <a:ext cx="584200" cy="584200"/>
          </a:xfrm>
          <a:prstGeom prst="roundRect">
            <a:avLst>
              <a:gd name="adj" fmla="val 22000"/>
            </a:avLst>
          </a:prstGeom>
          <a:solidFill>
            <a:srgbClr val="143A2C"/>
          </a:solidFill>
          <a:ln w="15875">
            <a:solidFill>
              <a:srgbClr val="DE843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9" name="blabel">
            <a:hlinkClick action="ppaction://hlinksldjump" r:id="rId5"/>
          </p:cNvPr>
          <p:cNvSpPr txBox="1"/>
          <p:nvPr/>
        </p:nvSpPr>
        <p:spPr>
          <a:xfrm>
            <a:off x="7264400" y="1549400"/>
            <a:ext cx="42926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500" b="1" spc="60" dirty="0" u="sng">
                <a:solidFill>
                  <a:srgbClr val="DE843C"/>
                </a:solidFill>
              </a:rPr>
              <a:t>SURFACE ANALYSIS</a:t>
            </a:r>
          </a:p>
        </p:txBody>
      </p:sp>
      <p:sp>
        <p:nvSpPr>
          <p:cNvPr id="30" name="bsub">
            <a:hlinkClick action="ppaction://hlinksldjump" r:id="rId5"/>
          </p:cNvPr>
          <p:cNvSpPr txBox="1"/>
          <p:nvPr/>
        </p:nvSpPr>
        <p:spPr>
          <a:xfrm>
            <a:off x="7264400" y="1905000"/>
            <a:ext cx="43180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C2D2CA"/>
                </a:solidFill>
              </a:rPr>
              <a:t>Slope, aspect &amp; hillshade from an elevation grid (DEM).</a:t>
            </a:r>
          </a:p>
        </p:txBody>
      </p:sp>
      <p:sp>
        <p:nvSpPr>
          <p:cNvPr id="31" name="band">
            <a:hlinkClick action="ppaction://hlinksldjump" r:id="rId7"/>
          </p:cNvPr>
          <p:cNvSpPr/>
          <p:nvPr/>
        </p:nvSpPr>
        <p:spPr>
          <a:xfrm>
            <a:off x="6172200" y="2819400"/>
            <a:ext cx="5562600" cy="1320800"/>
          </a:xfrm>
          <a:prstGeom prst="roundRect">
            <a:avLst>
              <a:gd name="adj" fmla="val 8000"/>
            </a:avLst>
          </a:prstGeom>
          <a:solidFill>
            <a:srgbClr val="173D2E"/>
          </a:solidFill>
          <a:ln w="15875">
            <a:solidFill>
              <a:srgbClr val="2FB8B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2" name="chip">
            <a:hlinkClick action="ppaction://hlinksldjump" r:id="rId7"/>
          </p:cNvPr>
          <p:cNvSpPr/>
          <p:nvPr/>
        </p:nvSpPr>
        <p:spPr>
          <a:xfrm>
            <a:off x="6426200" y="3187700"/>
            <a:ext cx="584200" cy="584200"/>
          </a:xfrm>
          <a:prstGeom prst="roundRect">
            <a:avLst>
              <a:gd name="adj" fmla="val 22000"/>
            </a:avLst>
          </a:prstGeom>
          <a:solidFill>
            <a:srgbClr val="143A2C"/>
          </a:solidFill>
          <a:ln w="15875">
            <a:solidFill>
              <a:srgbClr val="2FB8B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3" name="blabel">
            <a:hlinkClick action="ppaction://hlinksldjump" r:id="rId7"/>
          </p:cNvPr>
          <p:cNvSpPr txBox="1"/>
          <p:nvPr/>
        </p:nvSpPr>
        <p:spPr>
          <a:xfrm>
            <a:off x="7264400" y="3098800"/>
            <a:ext cx="42926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500" b="1" spc="60" dirty="0" u="sng">
                <a:solidFill>
                  <a:srgbClr val="2FB8B0"/>
                </a:solidFill>
              </a:rPr>
              <a:t>MAP ALGEBRA</a:t>
            </a:r>
          </a:p>
        </p:txBody>
      </p:sp>
      <p:sp>
        <p:nvSpPr>
          <p:cNvPr id="34" name="bsub">
            <a:hlinkClick action="ppaction://hlinksldjump" r:id="rId7"/>
          </p:cNvPr>
          <p:cNvSpPr txBox="1"/>
          <p:nvPr/>
        </p:nvSpPr>
        <p:spPr>
          <a:xfrm>
            <a:off x="7264400" y="3454400"/>
            <a:ext cx="43180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C2D2CA"/>
                </a:solidFill>
              </a:rPr>
              <a:t>Cell-by-cell math to combine and transform raster values.</a:t>
            </a:r>
          </a:p>
        </p:txBody>
      </p:sp>
      <p:sp>
        <p:nvSpPr>
          <p:cNvPr id="35" name="band">
            <a:hlinkClick action="ppaction://hlinksldjump" r:id="rId8"/>
          </p:cNvPr>
          <p:cNvSpPr/>
          <p:nvPr/>
        </p:nvSpPr>
        <p:spPr>
          <a:xfrm>
            <a:off x="6172200" y="4368800"/>
            <a:ext cx="5562600" cy="1320800"/>
          </a:xfrm>
          <a:prstGeom prst="roundRect">
            <a:avLst>
              <a:gd name="adj" fmla="val 8000"/>
            </a:avLst>
          </a:prstGeom>
          <a:solidFill>
            <a:srgbClr val="173D2E"/>
          </a:solidFill>
          <a:ln w="15875">
            <a:solidFill>
              <a:srgbClr val="B58AE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6" name="chip">
            <a:hlinkClick action="ppaction://hlinksldjump" r:id="rId8"/>
          </p:cNvPr>
          <p:cNvSpPr/>
          <p:nvPr/>
        </p:nvSpPr>
        <p:spPr>
          <a:xfrm>
            <a:off x="6426200" y="4737100"/>
            <a:ext cx="584200" cy="584200"/>
          </a:xfrm>
          <a:prstGeom prst="roundRect">
            <a:avLst>
              <a:gd name="adj" fmla="val 22000"/>
            </a:avLst>
          </a:prstGeom>
          <a:solidFill>
            <a:srgbClr val="143A2C"/>
          </a:solidFill>
          <a:ln w="15875">
            <a:solidFill>
              <a:srgbClr val="B58AE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7" name="blabel">
            <a:hlinkClick action="ppaction://hlinksldjump" r:id="rId8"/>
          </p:cNvPr>
          <p:cNvSpPr txBox="1"/>
          <p:nvPr/>
        </p:nvSpPr>
        <p:spPr>
          <a:xfrm>
            <a:off x="7264400" y="4648200"/>
            <a:ext cx="42926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500" b="1" spc="60" dirty="0" u="sng">
                <a:solidFill>
                  <a:srgbClr val="B58AE0"/>
                </a:solidFill>
              </a:rPr>
              <a:t>SUITABILITY MODELING</a:t>
            </a:r>
          </a:p>
        </p:txBody>
      </p:sp>
      <p:sp>
        <p:nvSpPr>
          <p:cNvPr id="38" name="bsub">
            <a:hlinkClick action="ppaction://hlinksldjump" r:id="rId8"/>
          </p:cNvPr>
          <p:cNvSpPr txBox="1"/>
          <p:nvPr/>
        </p:nvSpPr>
        <p:spPr>
          <a:xfrm>
            <a:off x="7264400" y="5003800"/>
            <a:ext cx="43180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C2D2CA"/>
                </a:solidFill>
              </a:rPr>
              <a:t>Weighted overlay to rank the best places for a goal.</a:t>
            </a:r>
          </a:p>
        </p:txBody>
      </p:sp>
      <p:pic>
        <p:nvPicPr>
          <p:cNvPr id="39" name="Graphic 39" descr="Surface analysis">
            <a:hlinkClick action="ppaction://hlinksldjump" r:id="rId5"/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65900" y="1778000"/>
            <a:ext cx="304800" cy="304800"/>
          </a:xfrm>
          <a:prstGeom prst="rect">
            <a:avLst/>
          </a:prstGeom>
        </p:spPr>
      </p:pic>
      <p:pic>
        <p:nvPicPr>
          <p:cNvPr id="40" name="Graphic 40" descr="Map algebra">
            <a:hlinkClick action="ppaction://hlinksldjump" r:id="rId7"/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65900" y="3327400"/>
            <a:ext cx="304800" cy="304800"/>
          </a:xfrm>
          <a:prstGeom prst="rect">
            <a:avLst/>
          </a:prstGeom>
        </p:spPr>
      </p:pic>
      <p:pic>
        <p:nvPicPr>
          <p:cNvPr id="41" name="Graphic 41" descr="Suitability modeling">
            <a:hlinkClick action="ppaction://hlinksldjump" r:id="rId8"/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65900" y="4876800"/>
            <a:ext cx="304800" cy="304800"/>
          </a:xfrm>
          <a:prstGeom prst="rect">
            <a:avLst/>
          </a:prstGeom>
        </p:spPr>
      </p:pic>
      <p:sp>
        <p:nvSpPr>
          <p:cNvPr id="42" name="Oval 41">
            <a:hlinkClick action="ppaction://hlinksldjump" r:id="rId5"/>
          </p:cNvPr>
          <p:cNvSpPr/>
          <p:nvPr/>
        </p:nvSpPr>
        <p:spPr>
          <a:xfrm>
            <a:off x="11093450" y="1724025"/>
            <a:ext cx="412750" cy="412750"/>
          </a:xfrm>
          <a:prstGeom prst="ellipse">
            <a:avLst/>
          </a:prstGeom>
          <a:solidFill>
            <a:srgbClr val="DE8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arrow.png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47107" y="1777682"/>
            <a:ext cx="305435" cy="305435"/>
          </a:xfrm>
          <a:prstGeom prst="rect">
            <a:avLst/>
          </a:prstGeom>
        </p:spPr>
      </p:pic>
      <p:sp>
        <p:nvSpPr>
          <p:cNvPr id="44" name="Oval 43">
            <a:hlinkClick action="ppaction://hlinksldjump" r:id="rId7"/>
          </p:cNvPr>
          <p:cNvSpPr/>
          <p:nvPr/>
        </p:nvSpPr>
        <p:spPr>
          <a:xfrm>
            <a:off x="11093450" y="3273425"/>
            <a:ext cx="412750" cy="412750"/>
          </a:xfrm>
          <a:prstGeom prst="ellipse">
            <a:avLst/>
          </a:prstGeom>
          <a:solidFill>
            <a:srgbClr val="2FB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arrow.png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47107" y="3327082"/>
            <a:ext cx="305435" cy="305435"/>
          </a:xfrm>
          <a:prstGeom prst="rect">
            <a:avLst/>
          </a:prstGeom>
        </p:spPr>
      </p:pic>
      <p:sp>
        <p:nvSpPr>
          <p:cNvPr id="46" name="Oval 45">
            <a:hlinkClick action="ppaction://hlinksldjump" r:id="rId8"/>
          </p:cNvPr>
          <p:cNvSpPr/>
          <p:nvPr/>
        </p:nvSpPr>
        <p:spPr>
          <a:xfrm>
            <a:off x="11093450" y="4822825"/>
            <a:ext cx="412750" cy="412750"/>
          </a:xfrm>
          <a:prstGeom prst="ellipse">
            <a:avLst/>
          </a:prstGeom>
          <a:solidFill>
            <a:srgbClr val="B58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arrow.png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47107" y="4876482"/>
            <a:ext cx="305435" cy="305435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6172200" y="5842000"/>
            <a:ext cx="5562600" cy="33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i="1" b="1">
                <a:solidFill>
                  <a:srgbClr val="C9D9CE"/>
                </a:solidFill>
                <a:latin typeface="Segoe UI"/>
              </a:rPr>
              <a:t>Click a card above to jump straight to that section  →</a:t>
            </a:r>
          </a:p>
        </p:txBody>
      </p:sp>
    </p:spTree>
    <p:extLst>
      <p:ext uri="{BB962C8B-B14F-4D97-AF65-F5344CB8AC3E}">
        <p14:creationId xmlns:p14="http://schemas.microsoft.com/office/powerpoint/2010/main" val="1759268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eyebrow"/>
          <p:cNvSpPr txBox="1"/>
          <p:nvPr/>
        </p:nvSpPr>
        <p:spPr>
          <a:xfrm>
            <a:off x="812800" y="508000"/>
            <a:ext cx="5334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00" b="1" spc="200" dirty="0">
                <a:solidFill>
                  <a:srgbClr val="E3B24A"/>
                </a:solidFill>
                <a:latin typeface="Trebuchet MS"/>
              </a:rPr>
              <a:t>RASTER DATA ANALYSIS</a:t>
            </a:r>
          </a:p>
        </p:txBody>
      </p:sp>
      <p:sp>
        <p:nvSpPr>
          <p:cNvPr id="21" name="ghost"/>
          <p:cNvSpPr txBox="1"/>
          <p:nvPr/>
        </p:nvSpPr>
        <p:spPr>
          <a:xfrm>
            <a:off x="9144000" y="355600"/>
            <a:ext cx="2540000" cy="939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</a:pPr>
            <a:r>
              <a:rPr lang="en-US" sz="4600" b="1" dirty="0">
                <a:solidFill>
                  <a:srgbClr val="1C4835"/>
                </a:solidFill>
                <a:latin typeface="Trebuchet MS"/>
              </a:rPr>
              <a:t>02</a:t>
            </a:r>
          </a:p>
        </p:txBody>
      </p:sp>
      <p:sp>
        <p:nvSpPr>
          <p:cNvPr id="22" name="title"/>
          <p:cNvSpPr txBox="1"/>
          <p:nvPr/>
        </p:nvSpPr>
        <p:spPr>
          <a:xfrm>
            <a:off x="812800" y="762000"/>
            <a:ext cx="81280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3000" b="1" dirty="0">
                <a:solidFill>
                  <a:srgbClr val="EEF3EF"/>
                </a:solidFill>
                <a:latin typeface="Trebuchet MS"/>
              </a:rPr>
              <a:t>What is raster data?</a:t>
            </a:r>
          </a:p>
        </p:txBody>
      </p:sp>
      <p:sp>
        <p:nvSpPr>
          <p:cNvPr id="23" name="b"/>
          <p:cNvSpPr/>
          <p:nvPr/>
        </p:nvSpPr>
        <p:spPr>
          <a:xfrm>
            <a:off x="838200" y="1346200"/>
            <a:ext cx="355600" cy="63500"/>
          </a:xfrm>
          <a:prstGeom prst="rect">
            <a:avLst/>
          </a:prstGeom>
          <a:solidFill>
            <a:srgbClr val="DE843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b"/>
          <p:cNvSpPr/>
          <p:nvPr/>
        </p:nvSpPr>
        <p:spPr>
          <a:xfrm>
            <a:off x="1244600" y="1346200"/>
            <a:ext cx="355600" cy="63500"/>
          </a:xfrm>
          <a:prstGeom prst="rect">
            <a:avLst/>
          </a:prstGeom>
          <a:solidFill>
            <a:srgbClr val="2FB8B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b"/>
          <p:cNvSpPr/>
          <p:nvPr/>
        </p:nvSpPr>
        <p:spPr>
          <a:xfrm>
            <a:off x="1651000" y="1346200"/>
            <a:ext cx="355600" cy="63500"/>
          </a:xfrm>
          <a:prstGeom prst="rect">
            <a:avLst/>
          </a:prstGeom>
          <a:solidFill>
            <a:srgbClr val="B58AE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subtitle"/>
          <p:cNvSpPr txBox="1"/>
          <p:nvPr/>
        </p:nvSpPr>
        <p:spPr>
          <a:xfrm>
            <a:off x="812800" y="1473200"/>
            <a:ext cx="8382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500" dirty="0">
                <a:solidFill>
                  <a:srgbClr val="C2D2CA"/>
                </a:solidFill>
              </a:rPr>
              <a:t>A continuous grid of equal-sized cells — every cell holds a value</a:t>
            </a:r>
          </a:p>
        </p:txBody>
      </p:sp>
      <p:sp>
        <p:nvSpPr>
          <p:cNvPr id="27" name="card-left"/>
          <p:cNvSpPr/>
          <p:nvPr/>
        </p:nvSpPr>
        <p:spPr>
          <a:xfrm>
            <a:off x="812800" y="1905000"/>
            <a:ext cx="5207000" cy="4343400"/>
          </a:xfrm>
          <a:prstGeom prst="roundRect">
            <a:avLst>
              <a:gd name="adj" fmla="val 3000"/>
            </a:avLst>
          </a:prstGeom>
          <a:solidFill>
            <a:srgbClr val="143A2C"/>
          </a:solidFill>
          <a:ln w="12700">
            <a:solidFill>
              <a:srgbClr val="2F584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8" name="lhead"/>
          <p:cNvSpPr txBox="1"/>
          <p:nvPr/>
        </p:nvSpPr>
        <p:spPr>
          <a:xfrm>
            <a:off x="1117600" y="215900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00" b="1" spc="150" dirty="0">
                <a:solidFill>
                  <a:srgbClr val="E3B24A"/>
                </a:solidFill>
                <a:latin typeface="Trebuchet MS"/>
              </a:rPr>
              <a:t>HOW A RASTER STORES THE WORLD</a:t>
            </a:r>
          </a:p>
        </p:txBody>
      </p:sp>
      <p:sp>
        <p:nvSpPr>
          <p:cNvPr id="29" name="chipL0"/>
          <p:cNvSpPr/>
          <p:nvPr/>
        </p:nvSpPr>
        <p:spPr>
          <a:xfrm>
            <a:off x="1117600" y="2540000"/>
            <a:ext cx="508000" cy="508000"/>
          </a:xfrm>
          <a:prstGeom prst="roundRect">
            <a:avLst>
              <a:gd name="adj" fmla="val 18000"/>
            </a:avLst>
          </a:prstGeom>
          <a:solidFill>
            <a:srgbClr val="173D2E"/>
          </a:solidFill>
          <a:ln w="15875">
            <a:solidFill>
              <a:srgbClr val="DE843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" name="rh0"/>
          <p:cNvSpPr txBox="1"/>
          <p:nvPr/>
        </p:nvSpPr>
        <p:spPr>
          <a:xfrm>
            <a:off x="1778000" y="2514600"/>
            <a:ext cx="39878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450" b="1" dirty="0">
                <a:solidFill>
                  <a:srgbClr val="EEF3EF"/>
                </a:solidFill>
                <a:latin typeface="Trebuchet MS"/>
              </a:rPr>
              <a:t>A grid of cells</a:t>
            </a:r>
          </a:p>
        </p:txBody>
      </p:sp>
      <p:sp>
        <p:nvSpPr>
          <p:cNvPr id="31" name="rs0"/>
          <p:cNvSpPr txBox="1"/>
          <p:nvPr/>
        </p:nvSpPr>
        <p:spPr>
          <a:xfrm>
            <a:off x="1778000" y="2794000"/>
            <a:ext cx="40640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C2D2CA"/>
                </a:solidFill>
              </a:rPr>
              <a:t>The area is divided into equal-sized square cells (pixels), each holding one value.</a:t>
            </a:r>
          </a:p>
        </p:txBody>
      </p:sp>
      <p:sp>
        <p:nvSpPr>
          <p:cNvPr id="32" name="chipL1"/>
          <p:cNvSpPr/>
          <p:nvPr/>
        </p:nvSpPr>
        <p:spPr>
          <a:xfrm>
            <a:off x="1117600" y="3403600"/>
            <a:ext cx="508000" cy="508000"/>
          </a:xfrm>
          <a:prstGeom prst="roundRect">
            <a:avLst>
              <a:gd name="adj" fmla="val 18000"/>
            </a:avLst>
          </a:prstGeom>
          <a:solidFill>
            <a:srgbClr val="173D2E"/>
          </a:solidFill>
          <a:ln w="15875">
            <a:solidFill>
              <a:srgbClr val="DE843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3" name="rh1"/>
          <p:cNvSpPr txBox="1"/>
          <p:nvPr/>
        </p:nvSpPr>
        <p:spPr>
          <a:xfrm>
            <a:off x="1778000" y="3378200"/>
            <a:ext cx="39878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450" b="1" dirty="0">
                <a:solidFill>
                  <a:srgbClr val="EEF3EF"/>
                </a:solidFill>
                <a:latin typeface="Trebuchet MS"/>
              </a:rPr>
              <a:t>Cell size = resolution</a:t>
            </a:r>
          </a:p>
        </p:txBody>
      </p:sp>
      <p:sp>
        <p:nvSpPr>
          <p:cNvPr id="34" name="rs1"/>
          <p:cNvSpPr txBox="1"/>
          <p:nvPr/>
        </p:nvSpPr>
        <p:spPr>
          <a:xfrm>
            <a:off x="1778000" y="3657600"/>
            <a:ext cx="40640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C2D2CA"/>
                </a:solidFill>
              </a:rPr>
              <a:t>Smaller cells capture finer detail — but create larger files.</a:t>
            </a:r>
          </a:p>
        </p:txBody>
      </p:sp>
      <p:sp>
        <p:nvSpPr>
          <p:cNvPr id="35" name="chipL2"/>
          <p:cNvSpPr/>
          <p:nvPr/>
        </p:nvSpPr>
        <p:spPr>
          <a:xfrm>
            <a:off x="1117600" y="4267200"/>
            <a:ext cx="508000" cy="508000"/>
          </a:xfrm>
          <a:prstGeom prst="roundRect">
            <a:avLst>
              <a:gd name="adj" fmla="val 18000"/>
            </a:avLst>
          </a:prstGeom>
          <a:solidFill>
            <a:srgbClr val="173D2E"/>
          </a:solidFill>
          <a:ln w="15875">
            <a:solidFill>
              <a:srgbClr val="DE843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6" name="rh2"/>
          <p:cNvSpPr txBox="1"/>
          <p:nvPr/>
        </p:nvSpPr>
        <p:spPr>
          <a:xfrm>
            <a:off x="1778000" y="4241800"/>
            <a:ext cx="39878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450" b="1" dirty="0">
                <a:solidFill>
                  <a:srgbClr val="EEF3EF"/>
                </a:solidFill>
                <a:latin typeface="Trebuchet MS"/>
              </a:rPr>
              <a:t>Bands</a:t>
            </a:r>
          </a:p>
        </p:txBody>
      </p:sp>
      <p:sp>
        <p:nvSpPr>
          <p:cNvPr id="37" name="rs2"/>
          <p:cNvSpPr txBox="1"/>
          <p:nvPr/>
        </p:nvSpPr>
        <p:spPr>
          <a:xfrm>
            <a:off x="1778000" y="4521200"/>
            <a:ext cx="40640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C2D2CA"/>
                </a:solidFill>
              </a:rPr>
              <a:t>Cells can stack several values at once, e.g. RGB or multispectral imagery.</a:t>
            </a:r>
          </a:p>
        </p:txBody>
      </p:sp>
      <p:sp>
        <p:nvSpPr>
          <p:cNvPr id="38" name="chipL3"/>
          <p:cNvSpPr/>
          <p:nvPr/>
        </p:nvSpPr>
        <p:spPr>
          <a:xfrm>
            <a:off x="1117600" y="5130800"/>
            <a:ext cx="508000" cy="508000"/>
          </a:xfrm>
          <a:prstGeom prst="roundRect">
            <a:avLst>
              <a:gd name="adj" fmla="val 18000"/>
            </a:avLst>
          </a:prstGeom>
          <a:solidFill>
            <a:srgbClr val="173D2E"/>
          </a:solidFill>
          <a:ln w="15875">
            <a:solidFill>
              <a:srgbClr val="DE843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9" name="rh3"/>
          <p:cNvSpPr txBox="1"/>
          <p:nvPr/>
        </p:nvSpPr>
        <p:spPr>
          <a:xfrm>
            <a:off x="1778000" y="5105400"/>
            <a:ext cx="39878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450" b="1" dirty="0">
                <a:solidFill>
                  <a:srgbClr val="EEF3EF"/>
                </a:solidFill>
                <a:latin typeface="Trebuchet MS"/>
              </a:rPr>
              <a:t>A continuous field</a:t>
            </a:r>
          </a:p>
        </p:txBody>
      </p:sp>
      <p:sp>
        <p:nvSpPr>
          <p:cNvPr id="40" name="rs3"/>
          <p:cNvSpPr txBox="1"/>
          <p:nvPr/>
        </p:nvSpPr>
        <p:spPr>
          <a:xfrm>
            <a:off x="1778000" y="5384800"/>
            <a:ext cx="40640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C2D2CA"/>
                </a:solidFill>
              </a:rPr>
              <a:t>Values exist everywhere on the grid — ideal for surfaces and imagery.</a:t>
            </a:r>
          </a:p>
        </p:txBody>
      </p:sp>
      <p:sp>
        <p:nvSpPr>
          <p:cNvPr id="41" name="card-right"/>
          <p:cNvSpPr/>
          <p:nvPr/>
        </p:nvSpPr>
        <p:spPr>
          <a:xfrm>
            <a:off x="6299200" y="1905000"/>
            <a:ext cx="5080000" cy="4343400"/>
          </a:xfrm>
          <a:prstGeom prst="roundRect">
            <a:avLst>
              <a:gd name="adj" fmla="val 3000"/>
            </a:avLst>
          </a:prstGeom>
          <a:solidFill>
            <a:srgbClr val="143A2C"/>
          </a:solidFill>
          <a:ln w="12700">
            <a:solidFill>
              <a:srgbClr val="2F584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2" name="rhead"/>
          <p:cNvSpPr txBox="1"/>
          <p:nvPr/>
        </p:nvSpPr>
        <p:spPr>
          <a:xfrm>
            <a:off x="6604000" y="215900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00" b="1" spc="150" dirty="0">
                <a:solidFill>
                  <a:srgbClr val="E3B24A"/>
                </a:solidFill>
                <a:latin typeface="Trebuchet MS"/>
              </a:rPr>
              <a:t>COMMON FILE FORMATS</a:t>
            </a:r>
          </a:p>
        </p:txBody>
      </p:sp>
      <p:sp>
        <p:nvSpPr>
          <p:cNvPr id="43" name="fmtlist"/>
          <p:cNvSpPr txBox="1"/>
          <p:nvPr/>
        </p:nvSpPr>
        <p:spPr>
          <a:xfrm>
            <a:off x="6604000" y="2616200"/>
            <a:ext cx="4521200" cy="355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03200" indent="-203200" algn="l">
              <a:lnSpc>
                <a:spcPct val="112000"/>
              </a:lnSpc>
              <a:spcAft>
                <a:spcPts val="700"/>
              </a:spcAft>
              <a:buFont typeface="Arial"/>
              <a:buChar char="•"/>
            </a:pPr>
            <a:r>
              <a:rPr lang="en-US" sz="1450" b="1" dirty="0">
                <a:solidFill>
                  <a:srgbClr val="EEF3EF"/>
                </a:solidFill>
              </a:rPr>
              <a:t>GeoTIFF (.tif, .tiff)</a:t>
            </a:r>
            <a:r>
              <a:rPr lang="en-US" sz="1400" dirty="0">
                <a:solidFill>
                  <a:srgbClr val="C2D2CA"/>
                </a:solidFill>
              </a:rPr>
              <a:t> — the universal georeferenced raster</a:t>
            </a:r>
          </a:p>
          <a:p>
            <a:pPr marL="203200" indent="-203200" algn="l">
              <a:lnSpc>
                <a:spcPct val="112000"/>
              </a:lnSpc>
              <a:spcAft>
                <a:spcPts val="700"/>
              </a:spcAft>
              <a:buFont typeface="Arial"/>
              <a:buChar char="•"/>
            </a:pPr>
            <a:r>
              <a:rPr lang="en-US" sz="1450" b="1" dirty="0">
                <a:solidFill>
                  <a:srgbClr val="EEF3EF"/>
                </a:solidFill>
              </a:rPr>
              <a:t>Esri GRID</a:t>
            </a:r>
            <a:r>
              <a:rPr lang="en-US" sz="1400" dirty="0">
                <a:solidFill>
                  <a:srgbClr val="C2D2CA"/>
                </a:solidFill>
              </a:rPr>
              <a:t> — native ArcGIS raster, stored as a folder</a:t>
            </a:r>
          </a:p>
          <a:p>
            <a:pPr marL="203200" indent="-203200" algn="l">
              <a:lnSpc>
                <a:spcPct val="112000"/>
              </a:lnSpc>
              <a:spcAft>
                <a:spcPts val="700"/>
              </a:spcAft>
              <a:buFont typeface="Arial"/>
              <a:buChar char="•"/>
            </a:pPr>
            <a:r>
              <a:rPr lang="en-US" sz="1450" b="1" dirty="0">
                <a:solidFill>
                  <a:srgbClr val="EEF3EF"/>
                </a:solidFill>
              </a:rPr>
              <a:t>ERDAS IMAGINE (.img)</a:t>
            </a:r>
            <a:r>
              <a:rPr lang="en-US" sz="1400" dirty="0">
                <a:solidFill>
                  <a:srgbClr val="C2D2CA"/>
                </a:solidFill>
              </a:rPr>
              <a:t> — common for satellite imagery</a:t>
            </a:r>
          </a:p>
          <a:p>
            <a:pPr marL="203200" indent="-203200" algn="l">
              <a:lnSpc>
                <a:spcPct val="112000"/>
              </a:lnSpc>
              <a:spcAft>
                <a:spcPts val="700"/>
              </a:spcAft>
              <a:buFont typeface="Arial"/>
              <a:buChar char="•"/>
            </a:pPr>
            <a:r>
              <a:rPr lang="en-US" sz="1450" b="1" dirty="0">
                <a:solidFill>
                  <a:srgbClr val="EEF3EF"/>
                </a:solidFill>
              </a:rPr>
              <a:t>ASCII Grid (.asc)</a:t>
            </a:r>
            <a:r>
              <a:rPr lang="en-US" sz="1400" dirty="0">
                <a:solidFill>
                  <a:srgbClr val="C2D2CA"/>
                </a:solidFill>
              </a:rPr>
              <a:t> — plain-text, portable and readable</a:t>
            </a:r>
          </a:p>
          <a:p>
            <a:pPr marL="203200" indent="-203200" algn="l">
              <a:lnSpc>
                <a:spcPct val="112000"/>
              </a:lnSpc>
              <a:spcAft>
                <a:spcPts val="700"/>
              </a:spcAft>
              <a:buFont typeface="Arial"/>
              <a:buChar char="•"/>
            </a:pPr>
            <a:r>
              <a:rPr lang="en-US" sz="1450" b="1" dirty="0">
                <a:solidFill>
                  <a:srgbClr val="EEF3EF"/>
                </a:solidFill>
              </a:rPr>
              <a:t>JPEG 2000 (.jp2)</a:t>
            </a:r>
            <a:r>
              <a:rPr lang="en-US" sz="1400" dirty="0">
                <a:solidFill>
                  <a:srgbClr val="C2D2CA"/>
                </a:solidFill>
              </a:rPr>
              <a:t> — heavily compressed imagery</a:t>
            </a:r>
          </a:p>
          <a:p>
            <a:pPr marL="203200" indent="-203200" algn="l">
              <a:lnSpc>
                <a:spcPct val="112000"/>
              </a:lnSpc>
              <a:spcAft>
                <a:spcPts val="700"/>
              </a:spcAft>
              <a:buFont typeface="Arial"/>
              <a:buChar char="•"/>
            </a:pPr>
            <a:r>
              <a:rPr lang="en-US" sz="1450" b="1" dirty="0">
                <a:solidFill>
                  <a:srgbClr val="EEF3EF"/>
                </a:solidFill>
              </a:rPr>
              <a:t>netCDF / HDF (.nc, .hdf)</a:t>
            </a:r>
            <a:r>
              <a:rPr lang="en-US" sz="1400" dirty="0">
                <a:solidFill>
                  <a:srgbClr val="C2D2CA"/>
                </a:solidFill>
              </a:rPr>
              <a:t> — multidimensional scientific data</a:t>
            </a:r>
          </a:p>
        </p:txBody>
      </p:sp>
      <p:pic>
        <p:nvPicPr>
          <p:cNvPr id="44" name="Graphic 44" descr="grid of cell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31900" y="2654300"/>
            <a:ext cx="279400" cy="279400"/>
          </a:xfrm>
          <a:prstGeom prst="rect">
            <a:avLst/>
          </a:prstGeom>
        </p:spPr>
      </p:pic>
      <p:pic>
        <p:nvPicPr>
          <p:cNvPr id="45" name="Graphic 45" descr="resolut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31900" y="3517900"/>
            <a:ext cx="279400" cy="279400"/>
          </a:xfrm>
          <a:prstGeom prst="rect">
            <a:avLst/>
          </a:prstGeom>
        </p:spPr>
      </p:pic>
      <p:pic>
        <p:nvPicPr>
          <p:cNvPr id="46" name="Graphic 46" descr="band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1900" y="4381500"/>
            <a:ext cx="279400" cy="279400"/>
          </a:xfrm>
          <a:prstGeom prst="rect">
            <a:avLst/>
          </a:prstGeom>
        </p:spPr>
      </p:pic>
      <p:pic>
        <p:nvPicPr>
          <p:cNvPr id="47" name="Graphic 47" descr="continuous field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31900" y="5245100"/>
            <a:ext cx="279400" cy="27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6224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"/>
          <p:cNvSpPr txBox="1"/>
          <p:nvPr/>
        </p:nvSpPr>
        <p:spPr>
          <a:xfrm>
            <a:off x="812800" y="508000"/>
            <a:ext cx="5334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00" b="1" spc="200" dirty="0">
                <a:solidFill>
                  <a:srgbClr val="E3B24A"/>
                </a:solidFill>
                <a:latin typeface="Trebuchet MS"/>
              </a:rPr>
              <a:t>RASTER DATA ANALYSIS</a:t>
            </a:r>
          </a:p>
        </p:txBody>
      </p:sp>
      <p:sp>
        <p:nvSpPr>
          <p:cNvPr id="21" name="t"/>
          <p:cNvSpPr txBox="1"/>
          <p:nvPr/>
        </p:nvSpPr>
        <p:spPr>
          <a:xfrm>
            <a:off x="9144000" y="355600"/>
            <a:ext cx="2540000" cy="939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</a:pPr>
            <a:r>
              <a:rPr lang="en-US" sz="4600" b="1" dirty="0">
                <a:solidFill>
                  <a:srgbClr val="1C4835"/>
                </a:solidFill>
                <a:latin typeface="Trebuchet MS"/>
              </a:rPr>
              <a:t>03</a:t>
            </a:r>
          </a:p>
        </p:txBody>
      </p:sp>
      <p:sp>
        <p:nvSpPr>
          <p:cNvPr id="22" name="t"/>
          <p:cNvSpPr txBox="1"/>
          <p:nvPr/>
        </p:nvSpPr>
        <p:spPr>
          <a:xfrm>
            <a:off x="812800" y="762000"/>
            <a:ext cx="81280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3000" b="1" dirty="0">
                <a:solidFill>
                  <a:srgbClr val="EEF3EF"/>
                </a:solidFill>
                <a:latin typeface="Trebuchet MS"/>
              </a:rPr>
              <a:t>Learning objectives</a:t>
            </a:r>
          </a:p>
        </p:txBody>
      </p:sp>
      <p:sp>
        <p:nvSpPr>
          <p:cNvPr id="23" name="b"/>
          <p:cNvSpPr/>
          <p:nvPr/>
        </p:nvSpPr>
        <p:spPr>
          <a:xfrm>
            <a:off x="838200" y="1346200"/>
            <a:ext cx="355600" cy="63500"/>
          </a:xfrm>
          <a:prstGeom prst="rect">
            <a:avLst/>
          </a:prstGeom>
          <a:solidFill>
            <a:srgbClr val="DE843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b"/>
          <p:cNvSpPr/>
          <p:nvPr/>
        </p:nvSpPr>
        <p:spPr>
          <a:xfrm>
            <a:off x="1244600" y="1346200"/>
            <a:ext cx="355600" cy="63500"/>
          </a:xfrm>
          <a:prstGeom prst="rect">
            <a:avLst/>
          </a:prstGeom>
          <a:solidFill>
            <a:srgbClr val="2FB8B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b"/>
          <p:cNvSpPr/>
          <p:nvPr/>
        </p:nvSpPr>
        <p:spPr>
          <a:xfrm>
            <a:off x="1651000" y="1346200"/>
            <a:ext cx="355600" cy="63500"/>
          </a:xfrm>
          <a:prstGeom prst="rect">
            <a:avLst/>
          </a:prstGeom>
          <a:solidFill>
            <a:srgbClr val="B58AE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t"/>
          <p:cNvSpPr txBox="1"/>
          <p:nvPr/>
        </p:nvSpPr>
        <p:spPr>
          <a:xfrm>
            <a:off x="812800" y="1473200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500" dirty="0">
                <a:solidFill>
                  <a:srgbClr val="C2D2CA"/>
                </a:solidFill>
              </a:rPr>
              <a:t>What you'll be able to do by the end of this lesson</a:t>
            </a:r>
          </a:p>
        </p:txBody>
      </p:sp>
      <p:sp>
        <p:nvSpPr>
          <p:cNvPr id="27" name="card"/>
          <p:cNvSpPr/>
          <p:nvPr/>
        </p:nvSpPr>
        <p:spPr>
          <a:xfrm>
            <a:off x="812800" y="1905000"/>
            <a:ext cx="10566400" cy="4343400"/>
          </a:xfrm>
          <a:prstGeom prst="roundRect">
            <a:avLst>
              <a:gd name="adj" fmla="val 2500"/>
            </a:avLst>
          </a:prstGeom>
          <a:solidFill>
            <a:srgbClr val="143A2C"/>
          </a:solidFill>
          <a:ln w="12700">
            <a:solidFill>
              <a:srgbClr val="2F584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8" name="chip0"/>
          <p:cNvSpPr/>
          <p:nvPr/>
        </p:nvSpPr>
        <p:spPr>
          <a:xfrm>
            <a:off x="1117600" y="2235200"/>
            <a:ext cx="508000" cy="508000"/>
          </a:xfrm>
          <a:prstGeom prst="roundRect">
            <a:avLst>
              <a:gd name="adj" fmla="val 18000"/>
            </a:avLst>
          </a:prstGeom>
          <a:solidFill>
            <a:srgbClr val="173D2E"/>
          </a:solidFill>
          <a:ln w="15875">
            <a:solidFill>
              <a:srgbClr val="DE843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9" name="t"/>
          <p:cNvSpPr txBox="1"/>
          <p:nvPr/>
        </p:nvSpPr>
        <p:spPr>
          <a:xfrm>
            <a:off x="1778000" y="22225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EEF3EF"/>
                </a:solidFill>
                <a:latin typeface="Trebuchet MS"/>
              </a:rPr>
              <a:t>Read a DEM &amp; derive surfaces</a:t>
            </a:r>
          </a:p>
        </p:txBody>
      </p:sp>
      <p:sp>
        <p:nvSpPr>
          <p:cNvPr id="30" name="t"/>
          <p:cNvSpPr txBox="1"/>
          <p:nvPr/>
        </p:nvSpPr>
        <p:spPr>
          <a:xfrm>
            <a:off x="5765800" y="2260600"/>
            <a:ext cx="53340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en-US" sz="1300" dirty="0">
                <a:solidFill>
                  <a:srgbClr val="C2D2CA"/>
                </a:solidFill>
              </a:rPr>
              <a:t>Turn an elevation grid into slope, aspect, hillshade and contour lines.</a:t>
            </a:r>
          </a:p>
        </p:txBody>
      </p:sp>
      <p:sp>
        <p:nvSpPr>
          <p:cNvPr id="31" name="chip1"/>
          <p:cNvSpPr/>
          <p:nvPr/>
        </p:nvSpPr>
        <p:spPr>
          <a:xfrm>
            <a:off x="1117600" y="3022600"/>
            <a:ext cx="508000" cy="508000"/>
          </a:xfrm>
          <a:prstGeom prst="roundRect">
            <a:avLst>
              <a:gd name="adj" fmla="val 18000"/>
            </a:avLst>
          </a:prstGeom>
          <a:solidFill>
            <a:srgbClr val="173D2E"/>
          </a:solidFill>
          <a:ln w="15875">
            <a:solidFill>
              <a:srgbClr val="2FB8B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2" name="t"/>
          <p:cNvSpPr txBox="1"/>
          <p:nvPr/>
        </p:nvSpPr>
        <p:spPr>
          <a:xfrm>
            <a:off x="1778000" y="30099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EEF3EF"/>
                </a:solidFill>
                <a:latin typeface="Trebuchet MS"/>
              </a:rPr>
              <a:t>Do cell-by-cell map algebra</a:t>
            </a:r>
          </a:p>
        </p:txBody>
      </p:sp>
      <p:sp>
        <p:nvSpPr>
          <p:cNvPr id="33" name="t"/>
          <p:cNvSpPr txBox="1"/>
          <p:nvPr/>
        </p:nvSpPr>
        <p:spPr>
          <a:xfrm>
            <a:off x="5765800" y="3048000"/>
            <a:ext cx="53340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en-US" sz="1300" dirty="0">
                <a:solidFill>
                  <a:srgbClr val="C2D2CA"/>
                </a:solidFill>
              </a:rPr>
              <a:t>Combine and transform rasters with local, focal, zonal and global operations.</a:t>
            </a:r>
          </a:p>
        </p:txBody>
      </p:sp>
      <p:sp>
        <p:nvSpPr>
          <p:cNvPr id="34" name="chip2"/>
          <p:cNvSpPr/>
          <p:nvPr/>
        </p:nvSpPr>
        <p:spPr>
          <a:xfrm>
            <a:off x="1117600" y="3810000"/>
            <a:ext cx="508000" cy="508000"/>
          </a:xfrm>
          <a:prstGeom prst="roundRect">
            <a:avLst>
              <a:gd name="adj" fmla="val 18000"/>
            </a:avLst>
          </a:prstGeom>
          <a:solidFill>
            <a:srgbClr val="173D2E"/>
          </a:solidFill>
          <a:ln w="15875">
            <a:solidFill>
              <a:srgbClr val="B58AE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5" name="t"/>
          <p:cNvSpPr txBox="1"/>
          <p:nvPr/>
        </p:nvSpPr>
        <p:spPr>
          <a:xfrm>
            <a:off x="1778000" y="37973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EEF3EF"/>
                </a:solidFill>
                <a:latin typeface="Trebuchet MS"/>
              </a:rPr>
              <a:t>Build a suitability model</a:t>
            </a:r>
          </a:p>
        </p:txBody>
      </p:sp>
      <p:sp>
        <p:nvSpPr>
          <p:cNvPr id="36" name="t"/>
          <p:cNvSpPr txBox="1"/>
          <p:nvPr/>
        </p:nvSpPr>
        <p:spPr>
          <a:xfrm>
            <a:off x="5765800" y="3835400"/>
            <a:ext cx="53340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en-US" sz="1300" dirty="0">
                <a:solidFill>
                  <a:srgbClr val="C2D2CA"/>
                </a:solidFill>
              </a:rPr>
              <a:t>Reclassify, weight and overlay criteria to rank the best locations for a goal.</a:t>
            </a:r>
          </a:p>
        </p:txBody>
      </p:sp>
      <p:sp>
        <p:nvSpPr>
          <p:cNvPr id="37" name="chip3"/>
          <p:cNvSpPr/>
          <p:nvPr/>
        </p:nvSpPr>
        <p:spPr>
          <a:xfrm>
            <a:off x="1117600" y="4597400"/>
            <a:ext cx="508000" cy="508000"/>
          </a:xfrm>
          <a:prstGeom prst="roundRect">
            <a:avLst>
              <a:gd name="adj" fmla="val 18000"/>
            </a:avLst>
          </a:prstGeom>
          <a:solidFill>
            <a:srgbClr val="1E3A2C"/>
          </a:solidFill>
          <a:ln w="15875">
            <a:solidFill>
              <a:srgbClr val="E3B24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8" name="t"/>
          <p:cNvSpPr txBox="1"/>
          <p:nvPr/>
        </p:nvSpPr>
        <p:spPr>
          <a:xfrm>
            <a:off x="1778000" y="45847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EEF3EF"/>
                </a:solidFill>
                <a:latin typeface="Trebuchet MS"/>
              </a:rPr>
              <a:t>Find free U.S. data</a:t>
            </a:r>
          </a:p>
        </p:txBody>
      </p:sp>
      <p:sp>
        <p:nvSpPr>
          <p:cNvPr id="39" name="t"/>
          <p:cNvSpPr txBox="1"/>
          <p:nvPr/>
        </p:nvSpPr>
        <p:spPr>
          <a:xfrm>
            <a:off x="5765800" y="4622800"/>
            <a:ext cx="53340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en-US" sz="1300" dirty="0">
                <a:solidFill>
                  <a:srgbClr val="C2D2CA"/>
                </a:solidFill>
              </a:rPr>
              <a:t>Source DEMs, imagery and land cover from USGS 3DEP, NLCD and NREL.</a:t>
            </a:r>
          </a:p>
        </p:txBody>
      </p:sp>
      <p:sp>
        <p:nvSpPr>
          <p:cNvPr id="40" name="chip4"/>
          <p:cNvSpPr/>
          <p:nvPr/>
        </p:nvSpPr>
        <p:spPr>
          <a:xfrm>
            <a:off x="1117600" y="5384800"/>
            <a:ext cx="508000" cy="508000"/>
          </a:xfrm>
          <a:prstGeom prst="roundRect">
            <a:avLst>
              <a:gd name="adj" fmla="val 18000"/>
            </a:avLst>
          </a:prstGeom>
          <a:solidFill>
            <a:srgbClr val="173D2E"/>
          </a:solidFill>
          <a:ln w="15875">
            <a:solidFill>
              <a:srgbClr val="DE843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1" name="t"/>
          <p:cNvSpPr txBox="1"/>
          <p:nvPr/>
        </p:nvSpPr>
        <p:spPr>
          <a:xfrm>
            <a:off x="1778000" y="53721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EEF3EF"/>
                </a:solidFill>
                <a:latin typeface="Trebuchet MS"/>
              </a:rPr>
              <a:t>Choose the right tool</a:t>
            </a:r>
          </a:p>
        </p:txBody>
      </p:sp>
      <p:sp>
        <p:nvSpPr>
          <p:cNvPr id="42" name="t"/>
          <p:cNvSpPr txBox="1"/>
          <p:nvPr/>
        </p:nvSpPr>
        <p:spPr>
          <a:xfrm>
            <a:off x="5765800" y="5410200"/>
            <a:ext cx="53340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en-US" sz="1300" dirty="0">
                <a:solidFill>
                  <a:srgbClr val="C2D2CA"/>
                </a:solidFill>
              </a:rPr>
              <a:t>Match each task to the correct ArcGIS Pro Spatial Analyst tool.</a:t>
            </a:r>
          </a:p>
        </p:txBody>
      </p:sp>
      <p:pic>
        <p:nvPicPr>
          <p:cNvPr id="43" name="Graphic 4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31900" y="2349500"/>
            <a:ext cx="279400" cy="279400"/>
          </a:xfrm>
          <a:prstGeom prst="rect">
            <a:avLst/>
          </a:prstGeom>
        </p:spPr>
      </p:pic>
      <p:pic>
        <p:nvPicPr>
          <p:cNvPr id="44" name="Graphic 4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31900" y="3136900"/>
            <a:ext cx="279400" cy="279400"/>
          </a:xfrm>
          <a:prstGeom prst="rect">
            <a:avLst/>
          </a:prstGeom>
        </p:spPr>
      </p:pic>
      <p:pic>
        <p:nvPicPr>
          <p:cNvPr id="45" name="Graphic 4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1900" y="3924300"/>
            <a:ext cx="279400" cy="279400"/>
          </a:xfrm>
          <a:prstGeom prst="rect">
            <a:avLst/>
          </a:prstGeom>
        </p:spPr>
      </p:pic>
      <p:pic>
        <p:nvPicPr>
          <p:cNvPr id="46" name="Graphic 4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31900" y="4711700"/>
            <a:ext cx="279400" cy="279400"/>
          </a:xfrm>
          <a:prstGeom prst="rect">
            <a:avLst/>
          </a:prstGeom>
        </p:spPr>
      </p:pic>
      <p:pic>
        <p:nvPicPr>
          <p:cNvPr id="47" name="Graphic 4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31900" y="5499100"/>
            <a:ext cx="279400" cy="27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632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"/>
          <p:cNvSpPr txBox="1"/>
          <p:nvPr/>
        </p:nvSpPr>
        <p:spPr>
          <a:xfrm>
            <a:off x="812800" y="508000"/>
            <a:ext cx="5334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00" b="1" spc="200" dirty="0">
                <a:solidFill>
                  <a:srgbClr val="E3B24A"/>
                </a:solidFill>
                <a:latin typeface="Trebuchet MS"/>
              </a:rPr>
              <a:t>RASTER DATA ANALYSIS</a:t>
            </a:r>
          </a:p>
        </p:txBody>
      </p:sp>
      <p:sp>
        <p:nvSpPr>
          <p:cNvPr id="21" name="t"/>
          <p:cNvSpPr txBox="1"/>
          <p:nvPr/>
        </p:nvSpPr>
        <p:spPr>
          <a:xfrm>
            <a:off x="9144000" y="355600"/>
            <a:ext cx="2540000" cy="939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</a:pPr>
            <a:r>
              <a:rPr lang="en-US" sz="4600" b="1" dirty="0">
                <a:solidFill>
                  <a:srgbClr val="1C4835"/>
                </a:solidFill>
                <a:latin typeface="Trebuchet MS"/>
              </a:rPr>
              <a:t>04</a:t>
            </a:r>
          </a:p>
        </p:txBody>
      </p:sp>
      <p:sp>
        <p:nvSpPr>
          <p:cNvPr id="22" name="t"/>
          <p:cNvSpPr txBox="1"/>
          <p:nvPr/>
        </p:nvSpPr>
        <p:spPr>
          <a:xfrm>
            <a:off x="812800" y="762000"/>
            <a:ext cx="81280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3000" b="1" dirty="0">
                <a:solidFill>
                  <a:srgbClr val="EEF3EF"/>
                </a:solidFill>
                <a:latin typeface="Trebuchet MS"/>
              </a:rPr>
              <a:t>Three ways to analyze a raster</a:t>
            </a:r>
          </a:p>
        </p:txBody>
      </p:sp>
      <p:sp>
        <p:nvSpPr>
          <p:cNvPr id="23" name="b"/>
          <p:cNvSpPr/>
          <p:nvPr/>
        </p:nvSpPr>
        <p:spPr>
          <a:xfrm>
            <a:off x="838200" y="1346200"/>
            <a:ext cx="355600" cy="63500"/>
          </a:xfrm>
          <a:prstGeom prst="rect">
            <a:avLst/>
          </a:prstGeom>
          <a:solidFill>
            <a:srgbClr val="DE843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b"/>
          <p:cNvSpPr/>
          <p:nvPr/>
        </p:nvSpPr>
        <p:spPr>
          <a:xfrm>
            <a:off x="1244600" y="1346200"/>
            <a:ext cx="355600" cy="63500"/>
          </a:xfrm>
          <a:prstGeom prst="rect">
            <a:avLst/>
          </a:prstGeom>
          <a:solidFill>
            <a:srgbClr val="2FB8B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b"/>
          <p:cNvSpPr/>
          <p:nvPr/>
        </p:nvSpPr>
        <p:spPr>
          <a:xfrm>
            <a:off x="1651000" y="1346200"/>
            <a:ext cx="355600" cy="63500"/>
          </a:xfrm>
          <a:prstGeom prst="rect">
            <a:avLst/>
          </a:prstGeom>
          <a:solidFill>
            <a:srgbClr val="B58AE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t"/>
          <p:cNvSpPr txBox="1"/>
          <p:nvPr/>
        </p:nvSpPr>
        <p:spPr>
          <a:xfrm>
            <a:off x="812800" y="1473200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500" dirty="0">
                <a:solidFill>
                  <a:srgbClr val="C2D2CA"/>
                </a:solidFill>
              </a:rPr>
              <a:t>Pick the family of operations that answers your question</a:t>
            </a:r>
          </a:p>
        </p:txBody>
      </p:sp>
      <p:sp>
        <p:nvSpPr>
          <p:cNvPr id="27" name="card0"/>
          <p:cNvSpPr/>
          <p:nvPr/>
        </p:nvSpPr>
        <p:spPr>
          <a:xfrm>
            <a:off x="812800" y="1905000"/>
            <a:ext cx="3314700" cy="4343400"/>
          </a:xfrm>
          <a:prstGeom prst="roundRect">
            <a:avLst>
              <a:gd name="adj" fmla="val 3500"/>
            </a:avLst>
          </a:prstGeom>
          <a:solidFill>
            <a:srgbClr val="143A2C"/>
          </a:solidFill>
          <a:ln w="15875">
            <a:solidFill>
              <a:srgbClr val="DE843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8" name="chip0"/>
          <p:cNvSpPr/>
          <p:nvPr/>
        </p:nvSpPr>
        <p:spPr>
          <a:xfrm>
            <a:off x="2127250" y="2311400"/>
            <a:ext cx="685800" cy="685800"/>
          </a:xfrm>
          <a:prstGeom prst="roundRect">
            <a:avLst>
              <a:gd name="adj" fmla="val 22000"/>
            </a:avLst>
          </a:prstGeom>
          <a:solidFill>
            <a:srgbClr val="173D2E"/>
          </a:solidFill>
          <a:ln w="15875">
            <a:solidFill>
              <a:srgbClr val="DE843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9" name="t"/>
          <p:cNvSpPr txBox="1"/>
          <p:nvPr/>
        </p:nvSpPr>
        <p:spPr>
          <a:xfrm>
            <a:off x="965200" y="3200400"/>
            <a:ext cx="30099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US" sz="1600" b="1" spc="30" dirty="0">
                <a:solidFill>
                  <a:srgbClr val="DE843C"/>
                </a:solidFill>
                <a:latin typeface="Trebuchet MS"/>
              </a:rPr>
              <a:t>SURFACE ANALYSIS</a:t>
            </a:r>
          </a:p>
        </p:txBody>
      </p:sp>
      <p:sp>
        <p:nvSpPr>
          <p:cNvPr id="30" name="t"/>
          <p:cNvSpPr txBox="1"/>
          <p:nvPr/>
        </p:nvSpPr>
        <p:spPr>
          <a:xfrm>
            <a:off x="1041400" y="3632200"/>
            <a:ext cx="2857500" cy="889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C2D2CA"/>
                </a:solidFill>
              </a:rPr>
              <a:t>Derive slope, aspect, hillshade and contours from an elevation grid.</a:t>
            </a:r>
          </a:p>
        </p:txBody>
      </p:sp>
      <p:sp>
        <p:nvSpPr>
          <p:cNvPr id="31" name="b"/>
          <p:cNvSpPr/>
          <p:nvPr/>
        </p:nvSpPr>
        <p:spPr>
          <a:xfrm>
            <a:off x="1320800" y="4724400"/>
            <a:ext cx="2298700" cy="12700"/>
          </a:xfrm>
          <a:prstGeom prst="rect">
            <a:avLst/>
          </a:prstGeom>
          <a:solidFill>
            <a:srgbClr val="2F584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" name="t"/>
          <p:cNvSpPr txBox="1"/>
          <p:nvPr/>
        </p:nvSpPr>
        <p:spPr>
          <a:xfrm>
            <a:off x="965200" y="4876800"/>
            <a:ext cx="30099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US" sz="1150" b="1" spc="150" dirty="0">
                <a:solidFill>
                  <a:srgbClr val="E3B24A"/>
                </a:solidFill>
                <a:latin typeface="Trebuchet MS"/>
              </a:rPr>
              <a:t>CORE TOOL</a:t>
            </a:r>
          </a:p>
        </p:txBody>
      </p:sp>
      <p:sp>
        <p:nvSpPr>
          <p:cNvPr id="33" name="t"/>
          <p:cNvSpPr txBox="1"/>
          <p:nvPr/>
        </p:nvSpPr>
        <p:spPr>
          <a:xfrm>
            <a:off x="965200" y="5130800"/>
            <a:ext cx="30099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US" sz="1350" b="1" dirty="0">
                <a:solidFill>
                  <a:srgbClr val="EEF3EF"/>
                </a:solidFill>
              </a:rPr>
              <a:t>Spatial Analyst · Surface</a:t>
            </a:r>
          </a:p>
        </p:txBody>
      </p:sp>
      <p:sp>
        <p:nvSpPr>
          <p:cNvPr id="34" name="t"/>
          <p:cNvSpPr txBox="1"/>
          <p:nvPr/>
        </p:nvSpPr>
        <p:spPr>
          <a:xfrm>
            <a:off x="965200" y="5486400"/>
            <a:ext cx="30099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US" sz="1250" i="1" dirty="0">
                <a:solidFill>
                  <a:srgbClr val="8AA595"/>
                </a:solidFill>
              </a:rPr>
              <a:t>e.g. Central Park, NYC</a:t>
            </a:r>
          </a:p>
        </p:txBody>
      </p:sp>
      <p:sp>
        <p:nvSpPr>
          <p:cNvPr id="35" name="card1"/>
          <p:cNvSpPr/>
          <p:nvPr/>
        </p:nvSpPr>
        <p:spPr>
          <a:xfrm>
            <a:off x="4432300" y="1905000"/>
            <a:ext cx="3314700" cy="4343400"/>
          </a:xfrm>
          <a:prstGeom prst="roundRect">
            <a:avLst>
              <a:gd name="adj" fmla="val 3500"/>
            </a:avLst>
          </a:prstGeom>
          <a:solidFill>
            <a:srgbClr val="143A2C"/>
          </a:solidFill>
          <a:ln w="15875">
            <a:solidFill>
              <a:srgbClr val="2FB8B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6" name="chip1"/>
          <p:cNvSpPr/>
          <p:nvPr/>
        </p:nvSpPr>
        <p:spPr>
          <a:xfrm>
            <a:off x="5746750" y="2311400"/>
            <a:ext cx="685800" cy="685800"/>
          </a:xfrm>
          <a:prstGeom prst="roundRect">
            <a:avLst>
              <a:gd name="adj" fmla="val 22000"/>
            </a:avLst>
          </a:prstGeom>
          <a:solidFill>
            <a:srgbClr val="173D2E"/>
          </a:solidFill>
          <a:ln w="15875">
            <a:solidFill>
              <a:srgbClr val="2FB8B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7" name="t"/>
          <p:cNvSpPr txBox="1"/>
          <p:nvPr/>
        </p:nvSpPr>
        <p:spPr>
          <a:xfrm>
            <a:off x="4584700" y="3200400"/>
            <a:ext cx="30099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US" sz="1600" b="1" spc="30" dirty="0">
                <a:solidFill>
                  <a:srgbClr val="2FB8B0"/>
                </a:solidFill>
                <a:latin typeface="Trebuchet MS"/>
              </a:rPr>
              <a:t>MAP ALGEBRA</a:t>
            </a:r>
          </a:p>
        </p:txBody>
      </p:sp>
      <p:sp>
        <p:nvSpPr>
          <p:cNvPr id="38" name="t"/>
          <p:cNvSpPr txBox="1"/>
          <p:nvPr/>
        </p:nvSpPr>
        <p:spPr>
          <a:xfrm>
            <a:off x="4660900" y="3632200"/>
            <a:ext cx="2857500" cy="889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C2D2CA"/>
                </a:solidFill>
              </a:rPr>
              <a:t>Run cell-by-cell math to combine and transform raster values.</a:t>
            </a:r>
          </a:p>
        </p:txBody>
      </p:sp>
      <p:sp>
        <p:nvSpPr>
          <p:cNvPr id="39" name="b"/>
          <p:cNvSpPr/>
          <p:nvPr/>
        </p:nvSpPr>
        <p:spPr>
          <a:xfrm>
            <a:off x="4940300" y="4724400"/>
            <a:ext cx="2298700" cy="12700"/>
          </a:xfrm>
          <a:prstGeom prst="rect">
            <a:avLst/>
          </a:prstGeom>
          <a:solidFill>
            <a:srgbClr val="2F584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" name="t"/>
          <p:cNvSpPr txBox="1"/>
          <p:nvPr/>
        </p:nvSpPr>
        <p:spPr>
          <a:xfrm>
            <a:off x="4584700" y="4876800"/>
            <a:ext cx="30099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US" sz="1150" b="1" spc="150" dirty="0">
                <a:solidFill>
                  <a:srgbClr val="E3B24A"/>
                </a:solidFill>
                <a:latin typeface="Trebuchet MS"/>
              </a:rPr>
              <a:t>CORE TOOL</a:t>
            </a:r>
          </a:p>
        </p:txBody>
      </p:sp>
      <p:sp>
        <p:nvSpPr>
          <p:cNvPr id="41" name="t"/>
          <p:cNvSpPr txBox="1"/>
          <p:nvPr/>
        </p:nvSpPr>
        <p:spPr>
          <a:xfrm>
            <a:off x="4584700" y="5130800"/>
            <a:ext cx="30099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US" sz="1350" b="1" dirty="0">
                <a:solidFill>
                  <a:srgbClr val="EEF3EF"/>
                </a:solidFill>
              </a:rPr>
              <a:t>Spatial Analyst · Map Algebra</a:t>
            </a:r>
          </a:p>
        </p:txBody>
      </p:sp>
      <p:sp>
        <p:nvSpPr>
          <p:cNvPr id="42" name="t"/>
          <p:cNvSpPr txBox="1"/>
          <p:nvPr/>
        </p:nvSpPr>
        <p:spPr>
          <a:xfrm>
            <a:off x="4584700" y="5486400"/>
            <a:ext cx="30099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US" sz="1250" i="1" dirty="0">
                <a:solidFill>
                  <a:srgbClr val="8AA595"/>
                </a:solidFill>
              </a:rPr>
              <a:t>e.g. NDVI, Central Valley</a:t>
            </a:r>
          </a:p>
        </p:txBody>
      </p:sp>
      <p:sp>
        <p:nvSpPr>
          <p:cNvPr id="43" name="card2"/>
          <p:cNvSpPr/>
          <p:nvPr/>
        </p:nvSpPr>
        <p:spPr>
          <a:xfrm>
            <a:off x="8051800" y="1905000"/>
            <a:ext cx="3314700" cy="4343400"/>
          </a:xfrm>
          <a:prstGeom prst="roundRect">
            <a:avLst>
              <a:gd name="adj" fmla="val 3500"/>
            </a:avLst>
          </a:prstGeom>
          <a:solidFill>
            <a:srgbClr val="143A2C"/>
          </a:solidFill>
          <a:ln w="15875">
            <a:solidFill>
              <a:srgbClr val="B58AE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4" name="chip2"/>
          <p:cNvSpPr/>
          <p:nvPr/>
        </p:nvSpPr>
        <p:spPr>
          <a:xfrm>
            <a:off x="9366250" y="2311400"/>
            <a:ext cx="685800" cy="685800"/>
          </a:xfrm>
          <a:prstGeom prst="roundRect">
            <a:avLst>
              <a:gd name="adj" fmla="val 22000"/>
            </a:avLst>
          </a:prstGeom>
          <a:solidFill>
            <a:srgbClr val="173D2E"/>
          </a:solidFill>
          <a:ln w="15875">
            <a:solidFill>
              <a:srgbClr val="B58AE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5" name="t"/>
          <p:cNvSpPr txBox="1"/>
          <p:nvPr/>
        </p:nvSpPr>
        <p:spPr>
          <a:xfrm>
            <a:off x="8204200" y="3200400"/>
            <a:ext cx="30099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US" sz="1600" b="1" spc="30" dirty="0">
                <a:solidFill>
                  <a:srgbClr val="B58AE0"/>
                </a:solidFill>
                <a:latin typeface="Trebuchet MS"/>
              </a:rPr>
              <a:t>SUITABILITY MODELING</a:t>
            </a:r>
          </a:p>
        </p:txBody>
      </p:sp>
      <p:sp>
        <p:nvSpPr>
          <p:cNvPr id="46" name="t"/>
          <p:cNvSpPr txBox="1"/>
          <p:nvPr/>
        </p:nvSpPr>
        <p:spPr>
          <a:xfrm>
            <a:off x="8280400" y="3632200"/>
            <a:ext cx="2857500" cy="889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C2D2CA"/>
                </a:solidFill>
              </a:rPr>
              <a:t>Reclassify, weight and overlay criteria to rank the best sites.</a:t>
            </a:r>
          </a:p>
        </p:txBody>
      </p:sp>
      <p:sp>
        <p:nvSpPr>
          <p:cNvPr id="47" name="b"/>
          <p:cNvSpPr/>
          <p:nvPr/>
        </p:nvSpPr>
        <p:spPr>
          <a:xfrm>
            <a:off x="8559800" y="4724400"/>
            <a:ext cx="2298700" cy="12700"/>
          </a:xfrm>
          <a:prstGeom prst="rect">
            <a:avLst/>
          </a:prstGeom>
          <a:solidFill>
            <a:srgbClr val="2F584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8" name="t"/>
          <p:cNvSpPr txBox="1"/>
          <p:nvPr/>
        </p:nvSpPr>
        <p:spPr>
          <a:xfrm>
            <a:off x="8204200" y="4876800"/>
            <a:ext cx="30099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US" sz="1150" b="1" spc="150" dirty="0">
                <a:solidFill>
                  <a:srgbClr val="E3B24A"/>
                </a:solidFill>
                <a:latin typeface="Trebuchet MS"/>
              </a:rPr>
              <a:t>CORE TOOL</a:t>
            </a:r>
          </a:p>
        </p:txBody>
      </p:sp>
      <p:sp>
        <p:nvSpPr>
          <p:cNvPr id="49" name="t"/>
          <p:cNvSpPr txBox="1"/>
          <p:nvPr/>
        </p:nvSpPr>
        <p:spPr>
          <a:xfrm>
            <a:off x="8204200" y="5130800"/>
            <a:ext cx="30099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US" sz="1350" b="1" dirty="0">
                <a:solidFill>
                  <a:srgbClr val="EEF3EF"/>
                </a:solidFill>
              </a:rPr>
              <a:t>Spatial Analyst · Overlay</a:t>
            </a:r>
          </a:p>
        </p:txBody>
      </p:sp>
      <p:sp>
        <p:nvSpPr>
          <p:cNvPr id="50" name="t"/>
          <p:cNvSpPr txBox="1"/>
          <p:nvPr/>
        </p:nvSpPr>
        <p:spPr>
          <a:xfrm>
            <a:off x="8204200" y="5486400"/>
            <a:ext cx="30099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US" sz="1250" i="1" dirty="0">
                <a:solidFill>
                  <a:srgbClr val="8AA595"/>
                </a:solidFill>
              </a:rPr>
              <a:t>e.g. Solar siting, Arizona</a:t>
            </a:r>
          </a:p>
        </p:txBody>
      </p:sp>
      <p:pic>
        <p:nvPicPr>
          <p:cNvPr id="51" name="Graphic 5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86000" y="2463800"/>
            <a:ext cx="381000" cy="381000"/>
          </a:xfrm>
          <a:prstGeom prst="rect">
            <a:avLst/>
          </a:prstGeom>
        </p:spPr>
      </p:pic>
      <p:pic>
        <p:nvPicPr>
          <p:cNvPr id="52" name="Graphic 5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05500" y="2463800"/>
            <a:ext cx="381000" cy="381000"/>
          </a:xfrm>
          <a:prstGeom prst="rect">
            <a:avLst/>
          </a:prstGeom>
        </p:spPr>
      </p:pic>
      <p:pic>
        <p:nvPicPr>
          <p:cNvPr id="53" name="Graphic 5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0" y="2463800"/>
            <a:ext cx="381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7592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host"/>
          <p:cNvSpPr txBox="1"/>
          <p:nvPr/>
        </p:nvSpPr>
        <p:spPr>
          <a:xfrm>
            <a:off x="9144000" y="355600"/>
            <a:ext cx="2540000" cy="939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</a:pPr>
            <a:r>
              <a:rPr lang="en-US" sz="4600" b="1" dirty="0">
                <a:solidFill>
                  <a:srgbClr val="1C4835"/>
                </a:solidFill>
                <a:latin typeface="Trebuchet MS"/>
              </a:rPr>
              <a:t>05</a:t>
            </a:r>
          </a:p>
        </p:txBody>
      </p:sp>
      <p:sp>
        <p:nvSpPr>
          <p:cNvPr id="21" name="medal"/>
          <p:cNvSpPr/>
          <p:nvPr/>
        </p:nvSpPr>
        <p:spPr>
          <a:xfrm>
            <a:off x="5613400" y="1219200"/>
            <a:ext cx="965200" cy="965200"/>
          </a:xfrm>
          <a:prstGeom prst="roundRect">
            <a:avLst>
              <a:gd name="adj" fmla="val 22000"/>
            </a:avLst>
          </a:prstGeom>
          <a:solidFill>
            <a:srgbClr val="173D2E"/>
          </a:solidFill>
          <a:ln w="19050">
            <a:solidFill>
              <a:srgbClr val="DE843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" name="eyebrow"/>
          <p:cNvSpPr txBox="1"/>
          <p:nvPr/>
        </p:nvSpPr>
        <p:spPr>
          <a:xfrm>
            <a:off x="2286000" y="2489200"/>
            <a:ext cx="7620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US" sz="1300" b="1" spc="300" dirty="0">
                <a:solidFill>
                  <a:srgbClr val="E3B24A"/>
                </a:solidFill>
                <a:latin typeface="Trebuchet MS"/>
              </a:rPr>
              <a:t>SECTION 01</a:t>
            </a:r>
          </a:p>
        </p:txBody>
      </p:sp>
      <p:sp>
        <p:nvSpPr>
          <p:cNvPr id="23" name="title"/>
          <p:cNvSpPr txBox="1"/>
          <p:nvPr/>
        </p:nvSpPr>
        <p:spPr>
          <a:xfrm>
            <a:off x="1651000" y="2819400"/>
            <a:ext cx="8890000" cy="7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US" sz="4400" b="1" dirty="0">
                <a:solidFill>
                  <a:srgbClr val="EEF3EF"/>
                </a:solidFill>
                <a:latin typeface="Trebuchet MS"/>
              </a:rPr>
              <a:t>Surface Analysis</a:t>
            </a:r>
          </a:p>
        </p:txBody>
      </p:sp>
      <p:sp>
        <p:nvSpPr>
          <p:cNvPr id="24" name="bar"/>
          <p:cNvSpPr/>
          <p:nvPr/>
        </p:nvSpPr>
        <p:spPr>
          <a:xfrm>
            <a:off x="5334000" y="3835400"/>
            <a:ext cx="1524000" cy="76200"/>
          </a:xfrm>
          <a:prstGeom prst="rect">
            <a:avLst/>
          </a:prstGeom>
          <a:solidFill>
            <a:srgbClr val="DE843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stmt"/>
          <p:cNvSpPr txBox="1"/>
          <p:nvPr/>
        </p:nvSpPr>
        <p:spPr>
          <a:xfrm>
            <a:off x="2286000" y="4089400"/>
            <a:ext cx="7620000" cy="7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6000"/>
              </a:lnSpc>
              <a:buNone/>
            </a:pPr>
            <a:r>
              <a:rPr lang="en-US" sz="1600" dirty="0">
                <a:solidFill>
                  <a:srgbClr val="C2D2CA"/>
                </a:solidFill>
              </a:rPr>
              <a:t>Turn a single elevation grid into the shape of the land — slope, aspect, shaded relief and contour lines.</a:t>
            </a:r>
          </a:p>
        </p:txBody>
      </p:sp>
      <p:sp>
        <p:nvSpPr>
          <p:cNvPr id="26" name="pill0"/>
          <p:cNvSpPr/>
          <p:nvPr/>
        </p:nvSpPr>
        <p:spPr>
          <a:xfrm>
            <a:off x="2578100" y="4978400"/>
            <a:ext cx="1625600" cy="406400"/>
          </a:xfrm>
          <a:prstGeom prst="roundRect">
            <a:avLst>
              <a:gd name="adj" fmla="val 26000"/>
            </a:avLst>
          </a:prstGeom>
          <a:solidFill>
            <a:srgbClr val="143A2C"/>
          </a:solidFill>
          <a:ln w="12700">
            <a:solidFill>
              <a:srgbClr val="DE843C"/>
            </a:solidFill>
          </a:ln>
        </p:spPr>
        <p:txBody>
          <a:bodyPr wrap="square" lIns="4000" tIns="4000" rIns="4000" bIns="4000" anchor="ctr">
            <a:noAutofit/>
          </a:bodyPr>
          <a:lstStyle/>
          <a:p>
            <a:pPr algn="ctr">
              <a:buNone/>
            </a:pPr>
            <a:r>
              <a:rPr lang="en-US" sz="1250" b="1" spc="100" dirty="0">
                <a:solidFill>
                  <a:srgbClr val="DE843C"/>
                </a:solidFill>
                <a:latin typeface="Trebuchet MS"/>
              </a:rPr>
              <a:t>SLOPE</a:t>
            </a:r>
          </a:p>
        </p:txBody>
      </p:sp>
      <p:sp>
        <p:nvSpPr>
          <p:cNvPr id="27" name="pill1"/>
          <p:cNvSpPr/>
          <p:nvPr/>
        </p:nvSpPr>
        <p:spPr>
          <a:xfrm>
            <a:off x="4381500" y="4978400"/>
            <a:ext cx="1625600" cy="406400"/>
          </a:xfrm>
          <a:prstGeom prst="roundRect">
            <a:avLst>
              <a:gd name="adj" fmla="val 26000"/>
            </a:avLst>
          </a:prstGeom>
          <a:solidFill>
            <a:srgbClr val="143A2C"/>
          </a:solidFill>
          <a:ln w="12700">
            <a:solidFill>
              <a:srgbClr val="DE843C"/>
            </a:solidFill>
          </a:ln>
        </p:spPr>
        <p:txBody>
          <a:bodyPr wrap="square" lIns="4000" tIns="4000" rIns="4000" bIns="4000" anchor="ctr">
            <a:noAutofit/>
          </a:bodyPr>
          <a:lstStyle/>
          <a:p>
            <a:pPr algn="ctr">
              <a:buNone/>
            </a:pPr>
            <a:r>
              <a:rPr lang="en-US" sz="1250" b="1" spc="100" dirty="0">
                <a:solidFill>
                  <a:srgbClr val="DE843C"/>
                </a:solidFill>
                <a:latin typeface="Trebuchet MS"/>
              </a:rPr>
              <a:t>ASPECT</a:t>
            </a:r>
          </a:p>
        </p:txBody>
      </p:sp>
      <p:sp>
        <p:nvSpPr>
          <p:cNvPr id="28" name="pill2"/>
          <p:cNvSpPr/>
          <p:nvPr/>
        </p:nvSpPr>
        <p:spPr>
          <a:xfrm>
            <a:off x="6184900" y="4978400"/>
            <a:ext cx="1625600" cy="406400"/>
          </a:xfrm>
          <a:prstGeom prst="roundRect">
            <a:avLst>
              <a:gd name="adj" fmla="val 26000"/>
            </a:avLst>
          </a:prstGeom>
          <a:solidFill>
            <a:srgbClr val="143A2C"/>
          </a:solidFill>
          <a:ln w="12700">
            <a:solidFill>
              <a:srgbClr val="DE843C"/>
            </a:solidFill>
          </a:ln>
        </p:spPr>
        <p:txBody>
          <a:bodyPr wrap="square" lIns="4000" tIns="4000" rIns="4000" bIns="4000" anchor="ctr">
            <a:noAutofit/>
          </a:bodyPr>
          <a:lstStyle/>
          <a:p>
            <a:pPr algn="ctr">
              <a:buNone/>
            </a:pPr>
            <a:r>
              <a:rPr lang="en-US" sz="1250" b="1" spc="100" dirty="0">
                <a:solidFill>
                  <a:srgbClr val="DE843C"/>
                </a:solidFill>
                <a:latin typeface="Trebuchet MS"/>
              </a:rPr>
              <a:t>HILLSHADE</a:t>
            </a:r>
          </a:p>
        </p:txBody>
      </p:sp>
      <p:sp>
        <p:nvSpPr>
          <p:cNvPr id="29" name="pill3"/>
          <p:cNvSpPr/>
          <p:nvPr/>
        </p:nvSpPr>
        <p:spPr>
          <a:xfrm>
            <a:off x="7988300" y="4978400"/>
            <a:ext cx="1625600" cy="406400"/>
          </a:xfrm>
          <a:prstGeom prst="roundRect">
            <a:avLst>
              <a:gd name="adj" fmla="val 26000"/>
            </a:avLst>
          </a:prstGeom>
          <a:solidFill>
            <a:srgbClr val="143A2C"/>
          </a:solidFill>
          <a:ln w="12700">
            <a:solidFill>
              <a:srgbClr val="DE843C"/>
            </a:solidFill>
          </a:ln>
        </p:spPr>
        <p:txBody>
          <a:bodyPr wrap="square" lIns="4000" tIns="4000" rIns="4000" bIns="4000" anchor="ctr">
            <a:noAutofit/>
          </a:bodyPr>
          <a:lstStyle/>
          <a:p>
            <a:pPr algn="ctr">
              <a:buNone/>
            </a:pPr>
            <a:r>
              <a:rPr lang="en-US" sz="1250" b="1" spc="100" dirty="0">
                <a:solidFill>
                  <a:srgbClr val="DE843C"/>
                </a:solidFill>
                <a:latin typeface="Trebuchet MS"/>
              </a:rPr>
              <a:t>CONTOURS</a:t>
            </a:r>
          </a:p>
        </p:txBody>
      </p:sp>
      <p:pic>
        <p:nvPicPr>
          <p:cNvPr id="30" name="Graphic 30" descr="Mountain icon for Surface Analysis divide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42000" y="1447800"/>
            <a:ext cx="508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4019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eyebrow"/>
          <p:cNvSpPr txBox="1"/>
          <p:nvPr/>
        </p:nvSpPr>
        <p:spPr>
          <a:xfrm>
            <a:off x="812800" y="508000"/>
            <a:ext cx="6350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00" b="1" spc="200" dirty="0">
                <a:solidFill>
                  <a:srgbClr val="E3B24A"/>
                </a:solidFill>
                <a:latin typeface="Trebuchet MS"/>
              </a:rPr>
              <a:t>SURFACE ANALYSIS</a:t>
            </a:r>
          </a:p>
        </p:txBody>
      </p:sp>
      <p:sp>
        <p:nvSpPr>
          <p:cNvPr id="21" name="ghost"/>
          <p:cNvSpPr txBox="1"/>
          <p:nvPr/>
        </p:nvSpPr>
        <p:spPr>
          <a:xfrm>
            <a:off x="8890000" y="355600"/>
            <a:ext cx="2794000" cy="939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</a:pPr>
            <a:r>
              <a:rPr lang="en-US" sz="4600" b="1" dirty="0">
                <a:solidFill>
                  <a:srgbClr val="1C4835"/>
                </a:solidFill>
                <a:latin typeface="Trebuchet MS"/>
              </a:rPr>
              <a:t>06</a:t>
            </a:r>
          </a:p>
        </p:txBody>
      </p:sp>
      <p:sp>
        <p:nvSpPr>
          <p:cNvPr id="22" name="title"/>
          <p:cNvSpPr txBox="1"/>
          <p:nvPr/>
        </p:nvSpPr>
        <p:spPr>
          <a:xfrm>
            <a:off x="812800" y="762000"/>
            <a:ext cx="81280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3000" b="1" dirty="0">
                <a:solidFill>
                  <a:srgbClr val="EEF3EF"/>
                </a:solidFill>
                <a:latin typeface="Trebuchet MS"/>
              </a:rPr>
              <a:t>From elevation to terrain</a:t>
            </a:r>
          </a:p>
        </p:txBody>
      </p:sp>
      <p:sp>
        <p:nvSpPr>
          <p:cNvPr id="23" name="b"/>
          <p:cNvSpPr/>
          <p:nvPr/>
        </p:nvSpPr>
        <p:spPr>
          <a:xfrm>
            <a:off x="838200" y="1346200"/>
            <a:ext cx="355600" cy="63500"/>
          </a:xfrm>
          <a:prstGeom prst="rect">
            <a:avLst/>
          </a:prstGeom>
          <a:solidFill>
            <a:srgbClr val="DE843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b"/>
          <p:cNvSpPr/>
          <p:nvPr/>
        </p:nvSpPr>
        <p:spPr>
          <a:xfrm>
            <a:off x="1244600" y="1346200"/>
            <a:ext cx="355600" cy="63500"/>
          </a:xfrm>
          <a:prstGeom prst="rect">
            <a:avLst/>
          </a:prstGeom>
          <a:solidFill>
            <a:srgbClr val="2FB8B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b"/>
          <p:cNvSpPr/>
          <p:nvPr/>
        </p:nvSpPr>
        <p:spPr>
          <a:xfrm>
            <a:off x="1651000" y="1346200"/>
            <a:ext cx="355600" cy="63500"/>
          </a:xfrm>
          <a:prstGeom prst="rect">
            <a:avLst/>
          </a:prstGeom>
          <a:solidFill>
            <a:srgbClr val="B58AE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subtitle"/>
          <p:cNvSpPr txBox="1"/>
          <p:nvPr/>
        </p:nvSpPr>
        <p:spPr>
          <a:xfrm>
            <a:off x="812800" y="1473200"/>
            <a:ext cx="10160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500" dirty="0">
                <a:solidFill>
                  <a:srgbClr val="C2D2CA"/>
                </a:solidFill>
              </a:rPr>
              <a:t>Every surface tool derives a brand-new raster from a DEM's cell values</a:t>
            </a:r>
          </a:p>
        </p:txBody>
      </p:sp>
      <p:sp>
        <p:nvSpPr>
          <p:cNvPr id="27" name="cardL"/>
          <p:cNvSpPr/>
          <p:nvPr/>
        </p:nvSpPr>
        <p:spPr>
          <a:xfrm>
            <a:off x="812800" y="1905000"/>
            <a:ext cx="5588000" cy="4343400"/>
          </a:xfrm>
          <a:prstGeom prst="roundRect">
            <a:avLst>
              <a:gd name="adj" fmla="val 3000"/>
            </a:avLst>
          </a:prstGeom>
          <a:solidFill>
            <a:srgbClr val="143A2C"/>
          </a:solidFill>
          <a:ln w="12700">
            <a:solidFill>
              <a:srgbClr val="2F584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8" name="lhead"/>
          <p:cNvSpPr txBox="1"/>
          <p:nvPr/>
        </p:nvSpPr>
        <p:spPr>
          <a:xfrm>
            <a:off x="1117600" y="2159000"/>
            <a:ext cx="5080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00" b="1" spc="150" dirty="0">
                <a:solidFill>
                  <a:srgbClr val="E3B24A"/>
                </a:solidFill>
                <a:latin typeface="Trebuchet MS"/>
              </a:rPr>
              <a:t>DERIVED SURFACES</a:t>
            </a:r>
          </a:p>
        </p:txBody>
      </p:sp>
      <p:sp>
        <p:nvSpPr>
          <p:cNvPr id="29" name="chipL0"/>
          <p:cNvSpPr/>
          <p:nvPr/>
        </p:nvSpPr>
        <p:spPr>
          <a:xfrm>
            <a:off x="1117600" y="2565400"/>
            <a:ext cx="508000" cy="508000"/>
          </a:xfrm>
          <a:prstGeom prst="roundRect">
            <a:avLst>
              <a:gd name="adj" fmla="val 18000"/>
            </a:avLst>
          </a:prstGeom>
          <a:solidFill>
            <a:srgbClr val="173D2E"/>
          </a:solidFill>
          <a:ln w="15875">
            <a:solidFill>
              <a:srgbClr val="DE843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" name="rh0"/>
          <p:cNvSpPr txBox="1"/>
          <p:nvPr/>
        </p:nvSpPr>
        <p:spPr>
          <a:xfrm>
            <a:off x="1778000" y="2540000"/>
            <a:ext cx="44704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EEF3EF"/>
                </a:solidFill>
                <a:latin typeface="Trebuchet MS"/>
              </a:rPr>
              <a:t>Slope</a:t>
            </a:r>
          </a:p>
        </p:txBody>
      </p:sp>
      <p:sp>
        <p:nvSpPr>
          <p:cNvPr id="31" name="rs0"/>
          <p:cNvSpPr txBox="1"/>
          <p:nvPr/>
        </p:nvSpPr>
        <p:spPr>
          <a:xfrm>
            <a:off x="1778000" y="2819400"/>
            <a:ext cx="44704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en-US" sz="1300" dirty="0">
                <a:solidFill>
                  <a:srgbClr val="C2D2CA"/>
                </a:solidFill>
              </a:rPr>
              <a:t>Steepness of each cell, in degrees or percent rise.</a:t>
            </a:r>
          </a:p>
        </p:txBody>
      </p:sp>
      <p:sp>
        <p:nvSpPr>
          <p:cNvPr id="32" name="chipL1"/>
          <p:cNvSpPr/>
          <p:nvPr/>
        </p:nvSpPr>
        <p:spPr>
          <a:xfrm>
            <a:off x="1117600" y="3403600"/>
            <a:ext cx="508000" cy="508000"/>
          </a:xfrm>
          <a:prstGeom prst="roundRect">
            <a:avLst>
              <a:gd name="adj" fmla="val 18000"/>
            </a:avLst>
          </a:prstGeom>
          <a:solidFill>
            <a:srgbClr val="173D2E"/>
          </a:solidFill>
          <a:ln w="15875">
            <a:solidFill>
              <a:srgbClr val="DE843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3" name="rh1"/>
          <p:cNvSpPr txBox="1"/>
          <p:nvPr/>
        </p:nvSpPr>
        <p:spPr>
          <a:xfrm>
            <a:off x="1778000" y="3378200"/>
            <a:ext cx="44704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EEF3EF"/>
                </a:solidFill>
                <a:latin typeface="Trebuchet MS"/>
              </a:rPr>
              <a:t>Aspect</a:t>
            </a:r>
          </a:p>
        </p:txBody>
      </p:sp>
      <p:sp>
        <p:nvSpPr>
          <p:cNvPr id="34" name="rs1"/>
          <p:cNvSpPr txBox="1"/>
          <p:nvPr/>
        </p:nvSpPr>
        <p:spPr>
          <a:xfrm>
            <a:off x="1778000" y="3657600"/>
            <a:ext cx="44704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en-US" sz="1300" dirty="0">
                <a:solidFill>
                  <a:srgbClr val="C2D2CA"/>
                </a:solidFill>
              </a:rPr>
              <a:t>The compass direction a slope faces, 0–360°.</a:t>
            </a:r>
          </a:p>
        </p:txBody>
      </p:sp>
      <p:sp>
        <p:nvSpPr>
          <p:cNvPr id="35" name="chipL2"/>
          <p:cNvSpPr/>
          <p:nvPr/>
        </p:nvSpPr>
        <p:spPr>
          <a:xfrm>
            <a:off x="1117600" y="4241800"/>
            <a:ext cx="508000" cy="508000"/>
          </a:xfrm>
          <a:prstGeom prst="roundRect">
            <a:avLst>
              <a:gd name="adj" fmla="val 18000"/>
            </a:avLst>
          </a:prstGeom>
          <a:solidFill>
            <a:srgbClr val="173D2E"/>
          </a:solidFill>
          <a:ln w="15875">
            <a:solidFill>
              <a:srgbClr val="DE843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6" name="rh2"/>
          <p:cNvSpPr txBox="1"/>
          <p:nvPr/>
        </p:nvSpPr>
        <p:spPr>
          <a:xfrm>
            <a:off x="1778000" y="4216400"/>
            <a:ext cx="44704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EEF3EF"/>
                </a:solidFill>
                <a:latin typeface="Trebuchet MS"/>
              </a:rPr>
              <a:t>Hillshade</a:t>
            </a:r>
          </a:p>
        </p:txBody>
      </p:sp>
      <p:sp>
        <p:nvSpPr>
          <p:cNvPr id="37" name="rs2"/>
          <p:cNvSpPr txBox="1"/>
          <p:nvPr/>
        </p:nvSpPr>
        <p:spPr>
          <a:xfrm>
            <a:off x="1778000" y="4495800"/>
            <a:ext cx="44704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en-US" sz="1300" dirty="0">
                <a:solidFill>
                  <a:srgbClr val="C2D2CA"/>
                </a:solidFill>
              </a:rPr>
              <a:t>Shaded relief from a light source — realistic terrain.</a:t>
            </a:r>
          </a:p>
        </p:txBody>
      </p:sp>
      <p:sp>
        <p:nvSpPr>
          <p:cNvPr id="38" name="chipL3"/>
          <p:cNvSpPr/>
          <p:nvPr/>
        </p:nvSpPr>
        <p:spPr>
          <a:xfrm>
            <a:off x="1117600" y="5080000"/>
            <a:ext cx="508000" cy="508000"/>
          </a:xfrm>
          <a:prstGeom prst="roundRect">
            <a:avLst>
              <a:gd name="adj" fmla="val 18000"/>
            </a:avLst>
          </a:prstGeom>
          <a:solidFill>
            <a:srgbClr val="173D2E"/>
          </a:solidFill>
          <a:ln w="15875">
            <a:solidFill>
              <a:srgbClr val="DE843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9" name="rh3"/>
          <p:cNvSpPr txBox="1"/>
          <p:nvPr/>
        </p:nvSpPr>
        <p:spPr>
          <a:xfrm>
            <a:off x="1778000" y="5054600"/>
            <a:ext cx="44704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EEF3EF"/>
                </a:solidFill>
                <a:latin typeface="Trebuchet MS"/>
              </a:rPr>
              <a:t>Contours</a:t>
            </a:r>
          </a:p>
        </p:txBody>
      </p:sp>
      <p:sp>
        <p:nvSpPr>
          <p:cNvPr id="40" name="rs3"/>
          <p:cNvSpPr txBox="1"/>
          <p:nvPr/>
        </p:nvSpPr>
        <p:spPr>
          <a:xfrm>
            <a:off x="1778000" y="5334000"/>
            <a:ext cx="44704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en-US" sz="1300" dirty="0">
                <a:solidFill>
                  <a:srgbClr val="C2D2CA"/>
                </a:solidFill>
              </a:rPr>
              <a:t>Lines joining cells of equal elevation.</a:t>
            </a:r>
          </a:p>
        </p:txBody>
      </p:sp>
      <p:sp>
        <p:nvSpPr>
          <p:cNvPr id="41" name="panelA"/>
          <p:cNvSpPr/>
          <p:nvPr/>
        </p:nvSpPr>
        <p:spPr>
          <a:xfrm>
            <a:off x="6705600" y="1905000"/>
            <a:ext cx="4673600" cy="1854200"/>
          </a:xfrm>
          <a:prstGeom prst="roundRect">
            <a:avLst>
              <a:gd name="adj" fmla="val 3000"/>
            </a:avLst>
          </a:prstGeom>
          <a:solidFill>
            <a:srgbClr val="143A2C"/>
          </a:solidFill>
          <a:ln w="12700">
            <a:solidFill>
              <a:srgbClr val="2F584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2" name="headA"/>
          <p:cNvSpPr txBox="1"/>
          <p:nvPr/>
        </p:nvSpPr>
        <p:spPr>
          <a:xfrm>
            <a:off x="7010400" y="2133600"/>
            <a:ext cx="40894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00" b="1" spc="150" dirty="0">
                <a:solidFill>
                  <a:srgbClr val="E3B24A"/>
                </a:solidFill>
                <a:latin typeface="Trebuchet MS"/>
              </a:rPr>
              <a:t>HOW IT WORKS</a:t>
            </a:r>
          </a:p>
        </p:txBody>
      </p:sp>
      <p:sp>
        <p:nvSpPr>
          <p:cNvPr id="43" name="bodyA"/>
          <p:cNvSpPr txBox="1"/>
          <p:nvPr/>
        </p:nvSpPr>
        <p:spPr>
          <a:xfrm>
            <a:off x="7010400" y="2489200"/>
            <a:ext cx="4089400" cy="1168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6000"/>
              </a:lnSpc>
              <a:buNone/>
            </a:pPr>
            <a:r>
              <a:rPr lang="en-US" sz="1350" dirty="0">
                <a:solidFill>
                  <a:srgbClr val="C2D2CA"/>
                </a:solidFill>
              </a:rPr>
              <a:t>Each tool scans a moving 3×3 window of cells and computes a value from that neighbourhood — so every result is itself a new raster.</a:t>
            </a:r>
          </a:p>
        </p:txBody>
      </p:sp>
      <p:sp>
        <p:nvSpPr>
          <p:cNvPr id="44" name="panelB"/>
          <p:cNvSpPr/>
          <p:nvPr/>
        </p:nvSpPr>
        <p:spPr>
          <a:xfrm>
            <a:off x="6705600" y="3962400"/>
            <a:ext cx="4673600" cy="2286000"/>
          </a:xfrm>
          <a:prstGeom prst="roundRect">
            <a:avLst>
              <a:gd name="adj" fmla="val 3000"/>
            </a:avLst>
          </a:prstGeom>
          <a:solidFill>
            <a:srgbClr val="173D2E"/>
          </a:solidFill>
          <a:ln w="15875">
            <a:solidFill>
              <a:srgbClr val="DE843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5" name="headB"/>
          <p:cNvSpPr txBox="1"/>
          <p:nvPr/>
        </p:nvSpPr>
        <p:spPr>
          <a:xfrm>
            <a:off x="7366000" y="4216400"/>
            <a:ext cx="3810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00" b="1" spc="60" dirty="0">
                <a:solidFill>
                  <a:srgbClr val="DE843C"/>
                </a:solidFill>
                <a:latin typeface="Trebuchet MS"/>
              </a:rPr>
              <a:t>WHERE TO FIND IT IN ARCGIS PRO</a:t>
            </a:r>
          </a:p>
        </p:txBody>
      </p:sp>
      <p:sp>
        <p:nvSpPr>
          <p:cNvPr id="46" name="pathB"/>
          <p:cNvSpPr txBox="1"/>
          <p:nvPr/>
        </p:nvSpPr>
        <p:spPr>
          <a:xfrm>
            <a:off x="7010400" y="4597400"/>
            <a:ext cx="4191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350" b="1" dirty="0">
                <a:solidFill>
                  <a:srgbClr val="EEF3EF"/>
                </a:solidFill>
              </a:rPr>
              <a:t>Analysis ▸ Tools ▸ Spatial Analyst ▸ Surface</a:t>
            </a:r>
          </a:p>
        </p:txBody>
      </p:sp>
      <p:sp>
        <p:nvSpPr>
          <p:cNvPr id="47" name="toolsB"/>
          <p:cNvSpPr txBox="1"/>
          <p:nvPr/>
        </p:nvSpPr>
        <p:spPr>
          <a:xfrm>
            <a:off x="7010400" y="4978400"/>
            <a:ext cx="4191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300" b="1" dirty="0">
                <a:solidFill>
                  <a:srgbClr val="DE843C"/>
                </a:solidFill>
              </a:rPr>
              <a:t>Slope · Aspect · Hillshade · Contour</a:t>
            </a:r>
          </a:p>
        </p:txBody>
      </p:sp>
      <p:sp>
        <p:nvSpPr>
          <p:cNvPr id="48" name="noteB"/>
          <p:cNvSpPr txBox="1"/>
          <p:nvPr/>
        </p:nvSpPr>
        <p:spPr>
          <a:xfrm>
            <a:off x="7010400" y="5334000"/>
            <a:ext cx="41910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en-US" sz="1250" i="1" dirty="0">
                <a:solidFill>
                  <a:srgbClr val="8AA595"/>
                </a:solidFill>
              </a:rPr>
              <a:t>Tip: or type a tool name into the Geoprocessing search.</a:t>
            </a:r>
          </a:p>
        </p:txBody>
      </p:sp>
      <p:pic>
        <p:nvPicPr>
          <p:cNvPr id="49" name="Graphic 49" descr="Slop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31900" y="2679700"/>
            <a:ext cx="279400" cy="279400"/>
          </a:xfrm>
          <a:prstGeom prst="rect">
            <a:avLst/>
          </a:prstGeom>
        </p:spPr>
      </p:pic>
      <p:pic>
        <p:nvPicPr>
          <p:cNvPr id="50" name="Graphic 50" descr="Aspec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31900" y="3517900"/>
            <a:ext cx="279400" cy="279400"/>
          </a:xfrm>
          <a:prstGeom prst="rect">
            <a:avLst/>
          </a:prstGeom>
        </p:spPr>
      </p:pic>
      <p:pic>
        <p:nvPicPr>
          <p:cNvPr id="51" name="Graphic 51" descr="Hillshad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1900" y="4356100"/>
            <a:ext cx="279400" cy="279400"/>
          </a:xfrm>
          <a:prstGeom prst="rect">
            <a:avLst/>
          </a:prstGeom>
        </p:spPr>
      </p:pic>
      <p:pic>
        <p:nvPicPr>
          <p:cNvPr id="52" name="Graphic 52" descr="Contour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31900" y="5194300"/>
            <a:ext cx="279400" cy="279400"/>
          </a:xfrm>
          <a:prstGeom prst="rect">
            <a:avLst/>
          </a:prstGeom>
        </p:spPr>
      </p:pic>
      <p:pic>
        <p:nvPicPr>
          <p:cNvPr id="53" name="Graphic 53" descr="Where to find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85000" y="4191000"/>
            <a:ext cx="228600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8988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eyebrow"/>
          <p:cNvSpPr txBox="1"/>
          <p:nvPr/>
        </p:nvSpPr>
        <p:spPr>
          <a:xfrm>
            <a:off x="812800" y="508000"/>
            <a:ext cx="6604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00" b="1" spc="200" dirty="0">
                <a:solidFill>
                  <a:srgbClr val="E3B24A"/>
                </a:solidFill>
                <a:latin typeface="Trebuchet MS"/>
              </a:rPr>
              <a:t>SURFACE ANALYSIS</a:t>
            </a:r>
          </a:p>
        </p:txBody>
      </p:sp>
      <p:sp>
        <p:nvSpPr>
          <p:cNvPr id="21" name="ghost"/>
          <p:cNvSpPr txBox="1"/>
          <p:nvPr/>
        </p:nvSpPr>
        <p:spPr>
          <a:xfrm>
            <a:off x="8890000" y="355600"/>
            <a:ext cx="2794000" cy="939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</a:pPr>
            <a:r>
              <a:rPr lang="en-US" sz="4600" b="1" dirty="0">
                <a:solidFill>
                  <a:srgbClr val="1C4835"/>
                </a:solidFill>
                <a:latin typeface="Trebuchet MS"/>
              </a:rPr>
              <a:t>07</a:t>
            </a:r>
          </a:p>
        </p:txBody>
      </p:sp>
      <p:sp>
        <p:nvSpPr>
          <p:cNvPr id="22" name="title"/>
          <p:cNvSpPr txBox="1"/>
          <p:nvPr/>
        </p:nvSpPr>
        <p:spPr>
          <a:xfrm>
            <a:off x="812800" y="762000"/>
            <a:ext cx="81280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3000" b="1" dirty="0">
                <a:solidFill>
                  <a:srgbClr val="EEF3EF"/>
                </a:solidFill>
                <a:latin typeface="Trebuchet MS"/>
              </a:rPr>
              <a:t>Central Park, NYC — a 1 m DEM</a:t>
            </a:r>
          </a:p>
        </p:txBody>
      </p:sp>
      <p:sp>
        <p:nvSpPr>
          <p:cNvPr id="23" name="b"/>
          <p:cNvSpPr/>
          <p:nvPr/>
        </p:nvSpPr>
        <p:spPr>
          <a:xfrm>
            <a:off x="838200" y="1346200"/>
            <a:ext cx="355600" cy="63500"/>
          </a:xfrm>
          <a:prstGeom prst="rect">
            <a:avLst/>
          </a:prstGeom>
          <a:solidFill>
            <a:srgbClr val="DE843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b"/>
          <p:cNvSpPr/>
          <p:nvPr/>
        </p:nvSpPr>
        <p:spPr>
          <a:xfrm>
            <a:off x="1244600" y="1346200"/>
            <a:ext cx="355600" cy="63500"/>
          </a:xfrm>
          <a:prstGeom prst="rect">
            <a:avLst/>
          </a:prstGeom>
          <a:solidFill>
            <a:srgbClr val="2FB8B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b"/>
          <p:cNvSpPr/>
          <p:nvPr/>
        </p:nvSpPr>
        <p:spPr>
          <a:xfrm>
            <a:off x="1651000" y="1346200"/>
            <a:ext cx="355600" cy="63500"/>
          </a:xfrm>
          <a:prstGeom prst="rect">
            <a:avLst/>
          </a:prstGeom>
          <a:solidFill>
            <a:srgbClr val="B58AE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subtitle"/>
          <p:cNvSpPr txBox="1"/>
          <p:nvPr/>
        </p:nvSpPr>
        <p:spPr>
          <a:xfrm>
            <a:off x="812800" y="1473200"/>
            <a:ext cx="8636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500" dirty="0">
                <a:solidFill>
                  <a:srgbClr val="C2D2CA"/>
                </a:solidFill>
              </a:rPr>
              <a:t>From an elevation grid to slope, aspect and shaded relief</a:t>
            </a:r>
          </a:p>
        </p:txBody>
      </p:sp>
      <p:sp>
        <p:nvSpPr>
          <p:cNvPr id="27" name="frame"/>
          <p:cNvSpPr/>
          <p:nvPr/>
        </p:nvSpPr>
        <p:spPr>
          <a:xfrm>
            <a:off x="812800" y="1905000"/>
            <a:ext cx="5080000" cy="4343400"/>
          </a:xfrm>
          <a:prstGeom prst="roundRect">
            <a:avLst>
              <a:gd name="adj" fmla="val 4000"/>
            </a:avLst>
          </a:prstGeom>
          <a:solidFill>
            <a:srgbClr val="173D2E"/>
          </a:solidFill>
          <a:ln w="19050">
            <a:solidFill>
              <a:srgbClr val="DE843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8" name="loc"/>
          <p:cNvSpPr txBox="1"/>
          <p:nvPr/>
        </p:nvSpPr>
        <p:spPr>
          <a:xfrm>
            <a:off x="1066800" y="3810000"/>
            <a:ext cx="45720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US" sz="1800" b="1" dirty="0">
                <a:solidFill>
                  <a:srgbClr val="EEF3EF"/>
                </a:solidFill>
                <a:latin typeface="Trebuchet MS"/>
              </a:rPr>
              <a:t>Central Park, New York City</a:t>
            </a:r>
          </a:p>
        </p:txBody>
      </p:sp>
      <p:sp>
        <p:nvSpPr>
          <p:cNvPr id="29" name="locsub"/>
          <p:cNvSpPr txBox="1"/>
          <p:nvPr/>
        </p:nvSpPr>
        <p:spPr>
          <a:xfrm>
            <a:off x="1066800" y="4241800"/>
            <a:ext cx="4572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US" sz="1350" b="1" dirty="0">
                <a:solidFill>
                  <a:srgbClr val="DE843C"/>
                </a:solidFill>
                <a:latin typeface="Trebuchet MS"/>
              </a:rPr>
              <a:t>1 m DEM  ·  USGS 3DEP</a:t>
            </a:r>
          </a:p>
        </p:txBody>
      </p:sp>
      <p:sp>
        <p:nvSpPr>
          <p:cNvPr id="30" name="loccap"/>
          <p:cNvSpPr txBox="1"/>
          <p:nvPr/>
        </p:nvSpPr>
        <p:spPr>
          <a:xfrm>
            <a:off x="1066800" y="5435600"/>
            <a:ext cx="4572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US" sz="1300" i="1" dirty="0">
                <a:solidFill>
                  <a:srgbClr val="8AA595"/>
                </a:solidFill>
              </a:rPr>
              <a:t>DEM → hillshade → slope · aspect</a:t>
            </a:r>
          </a:p>
        </p:txBody>
      </p:sp>
      <p:sp>
        <p:nvSpPr>
          <p:cNvPr id="31" name="wfhead"/>
          <p:cNvSpPr txBox="1"/>
          <p:nvPr/>
        </p:nvSpPr>
        <p:spPr>
          <a:xfrm>
            <a:off x="6299200" y="213360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00" b="1" spc="150" dirty="0">
                <a:solidFill>
                  <a:srgbClr val="E3B24A"/>
                </a:solidFill>
                <a:latin typeface="Trebuchet MS"/>
              </a:rPr>
              <a:t>WORKFLOW</a:t>
            </a:r>
          </a:p>
        </p:txBody>
      </p:sp>
      <p:sp>
        <p:nvSpPr>
          <p:cNvPr id="32" name="chip0"/>
          <p:cNvSpPr/>
          <p:nvPr/>
        </p:nvSpPr>
        <p:spPr>
          <a:xfrm>
            <a:off x="6299200" y="2565400"/>
            <a:ext cx="508000" cy="508000"/>
          </a:xfrm>
          <a:prstGeom prst="roundRect">
            <a:avLst>
              <a:gd name="adj" fmla="val 18000"/>
            </a:avLst>
          </a:prstGeom>
          <a:solidFill>
            <a:srgbClr val="173D2E"/>
          </a:solidFill>
          <a:ln w="15875">
            <a:solidFill>
              <a:srgbClr val="DE843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3" name="rh0"/>
          <p:cNvSpPr txBox="1"/>
          <p:nvPr/>
        </p:nvSpPr>
        <p:spPr>
          <a:xfrm>
            <a:off x="6959600" y="2540000"/>
            <a:ext cx="44704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EEF3EF"/>
                </a:solidFill>
                <a:latin typeface="Trebuchet MS"/>
              </a:rPr>
              <a:t>Get the DEM</a:t>
            </a:r>
          </a:p>
        </p:txBody>
      </p:sp>
      <p:sp>
        <p:nvSpPr>
          <p:cNvPr id="34" name="rs0"/>
          <p:cNvSpPr txBox="1"/>
          <p:nvPr/>
        </p:nvSpPr>
        <p:spPr>
          <a:xfrm>
            <a:off x="6959600" y="2819400"/>
            <a:ext cx="44704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en-US" sz="1300" dirty="0">
                <a:solidFill>
                  <a:srgbClr val="C2D2CA"/>
                </a:solidFill>
              </a:rPr>
              <a:t>Download the 1 m elevation model for Central Park from USGS 3DEP (The National Map).</a:t>
            </a:r>
          </a:p>
        </p:txBody>
      </p:sp>
      <p:sp>
        <p:nvSpPr>
          <p:cNvPr id="35" name="chip1"/>
          <p:cNvSpPr/>
          <p:nvPr/>
        </p:nvSpPr>
        <p:spPr>
          <a:xfrm>
            <a:off x="6299200" y="3454400"/>
            <a:ext cx="508000" cy="508000"/>
          </a:xfrm>
          <a:prstGeom prst="roundRect">
            <a:avLst>
              <a:gd name="adj" fmla="val 18000"/>
            </a:avLst>
          </a:prstGeom>
          <a:solidFill>
            <a:srgbClr val="173D2E"/>
          </a:solidFill>
          <a:ln w="15875">
            <a:solidFill>
              <a:srgbClr val="DE843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6" name="rh1"/>
          <p:cNvSpPr txBox="1"/>
          <p:nvPr/>
        </p:nvSpPr>
        <p:spPr>
          <a:xfrm>
            <a:off x="6959600" y="3429000"/>
            <a:ext cx="44704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EEF3EF"/>
                </a:solidFill>
                <a:latin typeface="Trebuchet MS"/>
              </a:rPr>
              <a:t>Derive surfaces</a:t>
            </a:r>
          </a:p>
        </p:txBody>
      </p:sp>
      <p:sp>
        <p:nvSpPr>
          <p:cNvPr id="37" name="rs1"/>
          <p:cNvSpPr txBox="1"/>
          <p:nvPr/>
        </p:nvSpPr>
        <p:spPr>
          <a:xfrm>
            <a:off x="6959600" y="3708400"/>
            <a:ext cx="44704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en-US" sz="1300" dirty="0">
                <a:solidFill>
                  <a:srgbClr val="C2D2CA"/>
                </a:solidFill>
              </a:rPr>
              <a:t>Run Slope, Aspect and Hillshade on the DEM with Spatial Analyst → Surface.</a:t>
            </a:r>
          </a:p>
        </p:txBody>
      </p:sp>
      <p:sp>
        <p:nvSpPr>
          <p:cNvPr id="38" name="chip2"/>
          <p:cNvSpPr/>
          <p:nvPr/>
        </p:nvSpPr>
        <p:spPr>
          <a:xfrm>
            <a:off x="6299200" y="4343400"/>
            <a:ext cx="508000" cy="508000"/>
          </a:xfrm>
          <a:prstGeom prst="roundRect">
            <a:avLst>
              <a:gd name="adj" fmla="val 18000"/>
            </a:avLst>
          </a:prstGeom>
          <a:solidFill>
            <a:srgbClr val="173D2E"/>
          </a:solidFill>
          <a:ln w="15875">
            <a:solidFill>
              <a:srgbClr val="DE843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9" name="rh2"/>
          <p:cNvSpPr txBox="1"/>
          <p:nvPr/>
        </p:nvSpPr>
        <p:spPr>
          <a:xfrm>
            <a:off x="6959600" y="4318000"/>
            <a:ext cx="44704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EEF3EF"/>
                </a:solidFill>
                <a:latin typeface="Trebuchet MS"/>
              </a:rPr>
              <a:t>Read the terrain</a:t>
            </a:r>
          </a:p>
        </p:txBody>
      </p:sp>
      <p:sp>
        <p:nvSpPr>
          <p:cNvPr id="40" name="rs2"/>
          <p:cNvSpPr txBox="1"/>
          <p:nvPr/>
        </p:nvSpPr>
        <p:spPr>
          <a:xfrm>
            <a:off x="6959600" y="4597400"/>
            <a:ext cx="44704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en-US" sz="1300" dirty="0">
                <a:solidFill>
                  <a:srgbClr val="C2D2CA"/>
                </a:solidFill>
              </a:rPr>
              <a:t>Vista Rock rises ~40 m above the low-lying Pool, Loch and Ravine to the north.</a:t>
            </a:r>
          </a:p>
        </p:txBody>
      </p:sp>
      <p:sp>
        <p:nvSpPr>
          <p:cNvPr id="41" name="databand"/>
          <p:cNvSpPr/>
          <p:nvPr/>
        </p:nvSpPr>
        <p:spPr>
          <a:xfrm>
            <a:off x="6299200" y="5207000"/>
            <a:ext cx="5080000" cy="1016000"/>
          </a:xfrm>
          <a:prstGeom prst="roundRect">
            <a:avLst>
              <a:gd name="adj" fmla="val 3000"/>
            </a:avLst>
          </a:prstGeom>
          <a:solidFill>
            <a:srgbClr val="1E3A2C"/>
          </a:solidFill>
          <a:ln w="15875">
            <a:solidFill>
              <a:srgbClr val="E3B24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2" name="dhead"/>
          <p:cNvSpPr txBox="1"/>
          <p:nvPr/>
        </p:nvSpPr>
        <p:spPr>
          <a:xfrm>
            <a:off x="6959600" y="5384800"/>
            <a:ext cx="4191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50" b="1" spc="150" dirty="0">
                <a:solidFill>
                  <a:srgbClr val="E3B24A"/>
                </a:solidFill>
                <a:latin typeface="Trebuchet MS"/>
              </a:rPr>
              <a:t>FREE DATA SOURCE</a:t>
            </a:r>
          </a:p>
        </p:txBody>
      </p:sp>
      <p:sp>
        <p:nvSpPr>
          <p:cNvPr id="43" name="dtext"/>
          <p:cNvSpPr txBox="1"/>
          <p:nvPr/>
        </p:nvSpPr>
        <p:spPr>
          <a:xfrm>
            <a:off x="6959600" y="5638800"/>
            <a:ext cx="4241800" cy="482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en-US" sz="1300" dirty="0">
                <a:solidFill>
                  <a:srgbClr val="C2D2CA"/>
                </a:solidFill>
              </a:rPr>
              <a:t>USGS 3DEP 1 m DEM — The National Map (apps.nationalmap.gov)</a:t>
            </a:r>
          </a:p>
        </p:txBody>
      </p:sp>
      <p:pic>
        <p:nvPicPr>
          <p:cNvPr id="44" name="Graphic 44" descr="terrai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81300" y="2489200"/>
            <a:ext cx="1143000" cy="1143000"/>
          </a:xfrm>
          <a:prstGeom prst="rect">
            <a:avLst/>
          </a:prstGeom>
        </p:spPr>
      </p:pic>
      <p:pic>
        <p:nvPicPr>
          <p:cNvPr id="45" name="Graphic 45" descr="download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13500" y="2679700"/>
            <a:ext cx="279400" cy="279400"/>
          </a:xfrm>
          <a:prstGeom prst="rect">
            <a:avLst/>
          </a:prstGeom>
        </p:spPr>
      </p:pic>
      <p:pic>
        <p:nvPicPr>
          <p:cNvPr id="46" name="Graphic 46" descr="tool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13500" y="3568700"/>
            <a:ext cx="279400" cy="279400"/>
          </a:xfrm>
          <a:prstGeom prst="rect">
            <a:avLst/>
          </a:prstGeom>
        </p:spPr>
      </p:pic>
      <p:pic>
        <p:nvPicPr>
          <p:cNvPr id="47" name="Graphic 47" descr="read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13500" y="4457700"/>
            <a:ext cx="279400" cy="279400"/>
          </a:xfrm>
          <a:prstGeom prst="rect">
            <a:avLst/>
          </a:prstGeom>
        </p:spPr>
      </p:pic>
      <p:pic>
        <p:nvPicPr>
          <p:cNvPr id="48" name="Graphic 48" descr="data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78600" y="5410200"/>
            <a:ext cx="228600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0119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"/>
          <p:cNvSpPr txBox="1"/>
          <p:nvPr/>
        </p:nvSpPr>
        <p:spPr>
          <a:xfrm>
            <a:off x="812800" y="508000"/>
            <a:ext cx="6604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00" b="1" spc="200" dirty="0">
                <a:solidFill>
                  <a:srgbClr val="E3B24A"/>
                </a:solidFill>
                <a:latin typeface="Trebuchet MS"/>
              </a:rPr>
              <a:t>SURFACE ANALYSIS · HANDS-ON LAB</a:t>
            </a:r>
          </a:p>
        </p:txBody>
      </p:sp>
      <p:sp>
        <p:nvSpPr>
          <p:cNvPr id="21" name="t"/>
          <p:cNvSpPr txBox="1"/>
          <p:nvPr/>
        </p:nvSpPr>
        <p:spPr>
          <a:xfrm>
            <a:off x="8890000" y="355600"/>
            <a:ext cx="2794000" cy="939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</a:pPr>
            <a:r>
              <a:rPr lang="en-US" sz="4600" b="1" dirty="0">
                <a:solidFill>
                  <a:srgbClr val="1C4835"/>
                </a:solidFill>
                <a:latin typeface="Trebuchet MS"/>
              </a:rPr>
              <a:t>08</a:t>
            </a:r>
          </a:p>
        </p:txBody>
      </p:sp>
      <p:sp>
        <p:nvSpPr>
          <p:cNvPr id="22" name="t"/>
          <p:cNvSpPr txBox="1"/>
          <p:nvPr/>
        </p:nvSpPr>
        <p:spPr>
          <a:xfrm>
            <a:off x="812800" y="762000"/>
            <a:ext cx="81280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3000" b="1" dirty="0">
                <a:solidFill>
                  <a:srgbClr val="EEF3EF"/>
                </a:solidFill>
                <a:latin typeface="Trebuchet MS"/>
              </a:rPr>
              <a:t>Your turn — map the terrain</a:t>
            </a:r>
          </a:p>
        </p:txBody>
      </p:sp>
      <p:sp>
        <p:nvSpPr>
          <p:cNvPr id="23" name="b"/>
          <p:cNvSpPr/>
          <p:nvPr/>
        </p:nvSpPr>
        <p:spPr>
          <a:xfrm>
            <a:off x="838200" y="1346200"/>
            <a:ext cx="355600" cy="63500"/>
          </a:xfrm>
          <a:prstGeom prst="rect">
            <a:avLst/>
          </a:prstGeom>
          <a:solidFill>
            <a:srgbClr val="DE843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b"/>
          <p:cNvSpPr/>
          <p:nvPr/>
        </p:nvSpPr>
        <p:spPr>
          <a:xfrm>
            <a:off x="1244600" y="1346200"/>
            <a:ext cx="355600" cy="63500"/>
          </a:xfrm>
          <a:prstGeom prst="rect">
            <a:avLst/>
          </a:prstGeom>
          <a:solidFill>
            <a:srgbClr val="2FB8B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b"/>
          <p:cNvSpPr/>
          <p:nvPr/>
        </p:nvSpPr>
        <p:spPr>
          <a:xfrm>
            <a:off x="1651000" y="1346200"/>
            <a:ext cx="355600" cy="63500"/>
          </a:xfrm>
          <a:prstGeom prst="rect">
            <a:avLst/>
          </a:prstGeom>
          <a:solidFill>
            <a:srgbClr val="B58AE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t"/>
          <p:cNvSpPr txBox="1"/>
          <p:nvPr/>
        </p:nvSpPr>
        <p:spPr>
          <a:xfrm>
            <a:off x="812800" y="1473200"/>
            <a:ext cx="8636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500" dirty="0">
                <a:solidFill>
                  <a:srgbClr val="C2D2CA"/>
                </a:solidFill>
              </a:rPr>
              <a:t>Derive slope, aspect and hillshade from the Central Park DEM</a:t>
            </a:r>
          </a:p>
        </p:txBody>
      </p:sp>
      <p:sp>
        <p:nvSpPr>
          <p:cNvPr id="27" name="t"/>
          <p:cNvSpPr txBox="1"/>
          <p:nvPr/>
        </p:nvSpPr>
        <p:spPr>
          <a:xfrm>
            <a:off x="812800" y="213360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00" b="1" spc="200" dirty="0">
                <a:solidFill>
                  <a:srgbClr val="DE843C"/>
                </a:solidFill>
                <a:latin typeface="Trebuchet MS"/>
              </a:rPr>
              <a:t>TASK</a:t>
            </a:r>
          </a:p>
        </p:txBody>
      </p:sp>
      <p:sp>
        <p:nvSpPr>
          <p:cNvPr id="28" name="badge0"/>
          <p:cNvSpPr/>
          <p:nvPr/>
        </p:nvSpPr>
        <p:spPr>
          <a:xfrm>
            <a:off x="812800" y="2540000"/>
            <a:ext cx="381000" cy="381000"/>
          </a:xfrm>
          <a:prstGeom prst="ellipse">
            <a:avLst/>
          </a:prstGeom>
          <a:solidFill>
            <a:srgbClr val="DE843C"/>
          </a:solidFill>
          <a:ln>
            <a:noFill/>
          </a:ln>
        </p:spPr>
        <p:txBody>
          <a:bodyPr wrap="square" lIns="0" tIns="36000" rIns="0" bIns="36000" anchor="ctr">
            <a:noAutofit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0E2A20"/>
                </a:solidFill>
                <a:latin typeface="Trebuchet MS"/>
              </a:rPr>
              <a:t>1</a:t>
            </a:r>
          </a:p>
        </p:txBody>
      </p:sp>
      <p:sp>
        <p:nvSpPr>
          <p:cNvPr id="29" name="t"/>
          <p:cNvSpPr txBox="1"/>
          <p:nvPr/>
        </p:nvSpPr>
        <p:spPr>
          <a:xfrm>
            <a:off x="1346200" y="2527300"/>
            <a:ext cx="4800600" cy="635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en-US" sz="1350" dirty="0">
                <a:solidFill>
                  <a:srgbClr val="C2D2CA"/>
                </a:solidFill>
              </a:rPr>
              <a:t>Add the Central Park 1 m DEM to a new map in ArcGIS Pro.</a:t>
            </a:r>
          </a:p>
        </p:txBody>
      </p:sp>
      <p:sp>
        <p:nvSpPr>
          <p:cNvPr id="30" name="badge1"/>
          <p:cNvSpPr/>
          <p:nvPr/>
        </p:nvSpPr>
        <p:spPr>
          <a:xfrm>
            <a:off x="812800" y="3276600"/>
            <a:ext cx="381000" cy="381000"/>
          </a:xfrm>
          <a:prstGeom prst="ellipse">
            <a:avLst/>
          </a:prstGeom>
          <a:solidFill>
            <a:srgbClr val="DE843C"/>
          </a:solidFill>
          <a:ln>
            <a:noFill/>
          </a:ln>
        </p:spPr>
        <p:txBody>
          <a:bodyPr wrap="square" lIns="0" tIns="36000" rIns="0" bIns="36000" anchor="ctr">
            <a:noAutofit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0E2A20"/>
                </a:solidFill>
                <a:latin typeface="Trebuchet MS"/>
              </a:rPr>
              <a:t>2</a:t>
            </a:r>
          </a:p>
        </p:txBody>
      </p:sp>
      <p:sp>
        <p:nvSpPr>
          <p:cNvPr id="31" name="t"/>
          <p:cNvSpPr txBox="1"/>
          <p:nvPr/>
        </p:nvSpPr>
        <p:spPr>
          <a:xfrm>
            <a:off x="1346200" y="3263900"/>
            <a:ext cx="4800600" cy="635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en-US" sz="1350" dirty="0">
                <a:solidFill>
                  <a:srgbClr val="C2D2CA"/>
                </a:solidFill>
              </a:rPr>
              <a:t>Run Slope (Spatial Analyst ▸ Surface) with output in degrees.</a:t>
            </a:r>
          </a:p>
        </p:txBody>
      </p:sp>
      <p:sp>
        <p:nvSpPr>
          <p:cNvPr id="32" name="badge2"/>
          <p:cNvSpPr/>
          <p:nvPr/>
        </p:nvSpPr>
        <p:spPr>
          <a:xfrm>
            <a:off x="812800" y="4013200"/>
            <a:ext cx="381000" cy="381000"/>
          </a:xfrm>
          <a:prstGeom prst="ellipse">
            <a:avLst/>
          </a:prstGeom>
          <a:solidFill>
            <a:srgbClr val="DE843C"/>
          </a:solidFill>
          <a:ln>
            <a:noFill/>
          </a:ln>
        </p:spPr>
        <p:txBody>
          <a:bodyPr wrap="square" lIns="0" tIns="36000" rIns="0" bIns="36000" anchor="ctr">
            <a:noAutofit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0E2A20"/>
                </a:solidFill>
                <a:latin typeface="Trebuchet MS"/>
              </a:rPr>
              <a:t>3</a:t>
            </a:r>
          </a:p>
        </p:txBody>
      </p:sp>
      <p:sp>
        <p:nvSpPr>
          <p:cNvPr id="33" name="t"/>
          <p:cNvSpPr txBox="1"/>
          <p:nvPr/>
        </p:nvSpPr>
        <p:spPr>
          <a:xfrm>
            <a:off x="1346200" y="4000500"/>
            <a:ext cx="4800600" cy="635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en-US" sz="1350" dirty="0">
                <a:solidFill>
                  <a:srgbClr val="C2D2CA"/>
                </a:solidFill>
              </a:rPr>
              <a:t>Run Aspect on the DEM to map the direction each slope faces.</a:t>
            </a:r>
          </a:p>
        </p:txBody>
      </p:sp>
      <p:sp>
        <p:nvSpPr>
          <p:cNvPr id="34" name="badge3"/>
          <p:cNvSpPr/>
          <p:nvPr/>
        </p:nvSpPr>
        <p:spPr>
          <a:xfrm>
            <a:off x="812800" y="4749800"/>
            <a:ext cx="381000" cy="381000"/>
          </a:xfrm>
          <a:prstGeom prst="ellipse">
            <a:avLst/>
          </a:prstGeom>
          <a:solidFill>
            <a:srgbClr val="DE843C"/>
          </a:solidFill>
          <a:ln>
            <a:noFill/>
          </a:ln>
        </p:spPr>
        <p:txBody>
          <a:bodyPr wrap="square" lIns="0" tIns="36000" rIns="0" bIns="36000" anchor="ctr">
            <a:noAutofit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0E2A20"/>
                </a:solidFill>
                <a:latin typeface="Trebuchet MS"/>
              </a:rPr>
              <a:t>4</a:t>
            </a:r>
          </a:p>
        </p:txBody>
      </p:sp>
      <p:sp>
        <p:nvSpPr>
          <p:cNvPr id="35" name="t"/>
          <p:cNvSpPr txBox="1"/>
          <p:nvPr/>
        </p:nvSpPr>
        <p:spPr>
          <a:xfrm>
            <a:off x="1346200" y="4737100"/>
            <a:ext cx="4800600" cy="635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en-US" sz="1350" dirty="0">
                <a:solidFill>
                  <a:srgbClr val="C2D2CA"/>
                </a:solidFill>
              </a:rPr>
              <a:t>Run Hillshade with azimuth 315° and altitude 45°.</a:t>
            </a:r>
          </a:p>
        </p:txBody>
      </p:sp>
      <p:sp>
        <p:nvSpPr>
          <p:cNvPr id="36" name="badge4"/>
          <p:cNvSpPr/>
          <p:nvPr/>
        </p:nvSpPr>
        <p:spPr>
          <a:xfrm>
            <a:off x="812800" y="5486400"/>
            <a:ext cx="381000" cy="381000"/>
          </a:xfrm>
          <a:prstGeom prst="ellipse">
            <a:avLst/>
          </a:prstGeom>
          <a:solidFill>
            <a:srgbClr val="DE843C"/>
          </a:solidFill>
          <a:ln>
            <a:noFill/>
          </a:ln>
        </p:spPr>
        <p:txBody>
          <a:bodyPr wrap="square" lIns="0" tIns="36000" rIns="0" bIns="36000" anchor="ctr">
            <a:noAutofit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0E2A20"/>
                </a:solidFill>
                <a:latin typeface="Trebuchet MS"/>
              </a:rPr>
              <a:t>5</a:t>
            </a:r>
          </a:p>
        </p:txBody>
      </p:sp>
      <p:sp>
        <p:nvSpPr>
          <p:cNvPr id="37" name="t"/>
          <p:cNvSpPr txBox="1"/>
          <p:nvPr/>
        </p:nvSpPr>
        <p:spPr>
          <a:xfrm>
            <a:off x="1346200" y="5473700"/>
            <a:ext cx="4800600" cy="635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en-US" sz="1350" dirty="0">
                <a:solidFill>
                  <a:srgbClr val="C2D2CA"/>
                </a:solidFill>
              </a:rPr>
              <a:t>Use Explore to click Vista Rock and read its elevation.</a:t>
            </a:r>
          </a:p>
        </p:txBody>
      </p:sp>
      <p:sp>
        <p:nvSpPr>
          <p:cNvPr id="38" name="akcard"/>
          <p:cNvSpPr/>
          <p:nvPr/>
        </p:nvSpPr>
        <p:spPr>
          <a:xfrm>
            <a:off x="6299200" y="1905000"/>
            <a:ext cx="5080000" cy="2311400"/>
          </a:xfrm>
          <a:prstGeom prst="roundRect">
            <a:avLst>
              <a:gd name="adj" fmla="val 3000"/>
            </a:avLst>
          </a:prstGeom>
          <a:solidFill>
            <a:srgbClr val="143A2C"/>
          </a:solidFill>
          <a:ln w="12700">
            <a:solidFill>
              <a:srgbClr val="2F584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9" name="t"/>
          <p:cNvSpPr txBox="1"/>
          <p:nvPr/>
        </p:nvSpPr>
        <p:spPr>
          <a:xfrm>
            <a:off x="6553200" y="2133600"/>
            <a:ext cx="4572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00" b="1" spc="150" dirty="0">
                <a:solidFill>
                  <a:srgbClr val="E3B24A"/>
                </a:solidFill>
                <a:latin typeface="Trebuchet MS"/>
              </a:rPr>
              <a:t>ANSWER KEY</a:t>
            </a:r>
          </a:p>
        </p:txBody>
      </p:sp>
      <p:sp>
        <p:nvSpPr>
          <p:cNvPr id="201" name="answersA"/>
          <p:cNvSpPr txBox="1"/>
          <p:nvPr/>
        </p:nvSpPr>
        <p:spPr>
          <a:xfrm>
            <a:off x="6553200" y="2489200"/>
            <a:ext cx="4622800" cy="165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EEF3EF"/>
                </a:solidFill>
              </a:rPr>
              <a:t>Step 2 — </a:t>
            </a:r>
            <a:r>
              <a:rPr lang="en-US" sz="1300" dirty="0">
                <a:solidFill>
                  <a:srgbClr val="C2D2CA"/>
                </a:solidFill>
              </a:rPr>
              <a:t>Slope highlights the steep banks of the Ravine and Great Hill.</a:t>
            </a:r>
          </a:p>
          <a:p>
            <a:pPr algn="l">
              <a:lnSpc>
                <a:spcPct val="1200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EEF3EF"/>
                </a:solidFill>
              </a:rPr>
              <a:t>Step 4 — </a:t>
            </a:r>
            <a:r>
              <a:rPr lang="en-US" sz="1300" dirty="0">
                <a:solidFill>
                  <a:srgbClr val="C2D2CA"/>
                </a:solidFill>
              </a:rPr>
              <a:t>Hillshade renders a 3-D shaded relief of the park.</a:t>
            </a:r>
          </a:p>
          <a:p>
            <a:pPr algn="l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EF3EF"/>
                </a:solidFill>
              </a:rPr>
              <a:t>Step 5 — </a:t>
            </a:r>
            <a:r>
              <a:rPr lang="en-US" sz="1300" dirty="0">
                <a:solidFill>
                  <a:srgbClr val="C2D2CA"/>
                </a:solidFill>
              </a:rPr>
              <a:t>Vista Rock reads about 40 m — the park's high point.</a:t>
            </a:r>
          </a:p>
        </p:txBody>
      </p:sp>
      <p:sp>
        <p:nvSpPr>
          <p:cNvPr id="210" name="promptA"/>
          <p:cNvSpPr/>
          <p:nvPr/>
        </p:nvSpPr>
        <p:spPr>
          <a:xfrm>
            <a:off x="6400800" y="2413000"/>
            <a:ext cx="4876800" cy="1752600"/>
          </a:xfrm>
          <a:prstGeom prst="roundRect">
            <a:avLst>
              <a:gd name="adj" fmla="val 3000"/>
            </a:avLst>
          </a:prstGeom>
          <a:solidFill>
            <a:srgbClr val="1E3A2C"/>
          </a:solidFill>
          <a:ln w="15875">
            <a:solidFill>
              <a:srgbClr val="E3B24A"/>
            </a:solidFill>
            <a:prstDash val="dash"/>
          </a:ln>
        </p:spPr>
        <p:txBody>
          <a:bodyPr wrap="square" lIns="91440" tIns="36000" rIns="91440" bIns="36000" anchor="ctr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F0D48A"/>
                </a:solidFill>
                <a:latin typeface="Trebuchet MS"/>
              </a:rPr>
              <a:t>Click to reveal the Answer Key</a:t>
            </a:r>
          </a:p>
          <a:p>
            <a:pPr algn="ctr">
              <a:buNone/>
            </a:pPr>
            <a:r>
              <a:rPr lang="en-US" sz="1150" i="1" dirty="0">
                <a:solidFill>
                  <a:srgbClr val="8AA595"/>
                </a:solidFill>
              </a:rPr>
              <a:t>(plays in Slide Show)</a:t>
            </a:r>
          </a:p>
        </p:txBody>
      </p:sp>
      <p:sp>
        <p:nvSpPr>
          <p:cNvPr id="40" name="ercard"/>
          <p:cNvSpPr/>
          <p:nvPr/>
        </p:nvSpPr>
        <p:spPr>
          <a:xfrm>
            <a:off x="6299200" y="4368800"/>
            <a:ext cx="5080000" cy="1879600"/>
          </a:xfrm>
          <a:prstGeom prst="roundRect">
            <a:avLst>
              <a:gd name="adj" fmla="val 3000"/>
            </a:avLst>
          </a:prstGeom>
          <a:solidFill>
            <a:srgbClr val="143A2C"/>
          </a:solidFill>
          <a:ln w="12700">
            <a:solidFill>
              <a:srgbClr val="2F584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1" name="t"/>
          <p:cNvSpPr txBox="1"/>
          <p:nvPr/>
        </p:nvSpPr>
        <p:spPr>
          <a:xfrm>
            <a:off x="6553200" y="4597400"/>
            <a:ext cx="4572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00" b="1" spc="150" dirty="0">
                <a:solidFill>
                  <a:srgbClr val="E3B24A"/>
                </a:solidFill>
                <a:latin typeface="Trebuchet MS"/>
              </a:rPr>
              <a:t>EXPECTED RESULT</a:t>
            </a:r>
          </a:p>
        </p:txBody>
      </p:sp>
      <p:sp>
        <p:nvSpPr>
          <p:cNvPr id="202" name="resultB"/>
          <p:cNvSpPr txBox="1"/>
          <p:nvPr/>
        </p:nvSpPr>
        <p:spPr>
          <a:xfrm>
            <a:off x="6553200" y="4927600"/>
            <a:ext cx="4622800" cy="1219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C2D2CA"/>
                </a:solidFill>
              </a:rPr>
              <a:t>You can turn one elevation grid into slope, aspect and hillshade rasters — and read real elevations — fully describing Central Park's terrain from a DEM.</a:t>
            </a:r>
          </a:p>
        </p:txBody>
      </p:sp>
      <p:sp>
        <p:nvSpPr>
          <p:cNvPr id="211" name="promptB"/>
          <p:cNvSpPr/>
          <p:nvPr/>
        </p:nvSpPr>
        <p:spPr>
          <a:xfrm>
            <a:off x="6400800" y="4851400"/>
            <a:ext cx="4876800" cy="1320800"/>
          </a:xfrm>
          <a:prstGeom prst="roundRect">
            <a:avLst>
              <a:gd name="adj" fmla="val 3000"/>
            </a:avLst>
          </a:prstGeom>
          <a:solidFill>
            <a:srgbClr val="1E3A2C"/>
          </a:solidFill>
          <a:ln w="15875">
            <a:solidFill>
              <a:srgbClr val="E3B24A"/>
            </a:solidFill>
            <a:prstDash val="dash"/>
          </a:ln>
        </p:spPr>
        <p:txBody>
          <a:bodyPr wrap="square" lIns="91440" tIns="36000" rIns="91440" bIns="36000" anchor="ctr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F0D48A"/>
                </a:solidFill>
                <a:latin typeface="Trebuchet MS"/>
              </a:rPr>
              <a:t>Click to reveal the Expected Result</a:t>
            </a:r>
          </a:p>
          <a:p>
            <a:pPr algn="ctr">
              <a:buNone/>
            </a:pPr>
            <a:r>
              <a:rPr lang="en-US" sz="1150" i="1" dirty="0">
                <a:solidFill>
                  <a:srgbClr val="8AA595"/>
                </a:solidFill>
              </a:rPr>
              <a:t>(plays in Slide Show)</a:t>
            </a:r>
          </a:p>
        </p:txBody>
      </p:sp>
    </p:spTree>
    <p:extLst>
      <p:ext uri="{BB962C8B-B14F-4D97-AF65-F5344CB8AC3E}">
        <p14:creationId xmlns:p14="http://schemas.microsoft.com/office/powerpoint/2010/main" val="1146676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host"/>
          <p:cNvSpPr txBox="1"/>
          <p:nvPr/>
        </p:nvSpPr>
        <p:spPr>
          <a:xfrm>
            <a:off x="8890000" y="355600"/>
            <a:ext cx="2794000" cy="939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</a:pPr>
            <a:r>
              <a:rPr lang="en-US" sz="4600" b="1" dirty="0">
                <a:solidFill>
                  <a:srgbClr val="1C4835"/>
                </a:solidFill>
                <a:latin typeface="Trebuchet MS"/>
              </a:rPr>
              <a:t>09</a:t>
            </a:r>
          </a:p>
        </p:txBody>
      </p:sp>
      <p:sp>
        <p:nvSpPr>
          <p:cNvPr id="21" name="medallion"/>
          <p:cNvSpPr/>
          <p:nvPr/>
        </p:nvSpPr>
        <p:spPr>
          <a:xfrm>
            <a:off x="5613400" y="1219200"/>
            <a:ext cx="965200" cy="965200"/>
          </a:xfrm>
          <a:prstGeom prst="roundRect">
            <a:avLst>
              <a:gd name="adj" fmla="val 20000"/>
            </a:avLst>
          </a:prstGeom>
          <a:solidFill>
            <a:srgbClr val="173D2E"/>
          </a:solidFill>
          <a:ln w="19050">
            <a:solidFill>
              <a:srgbClr val="2FB8B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" name="eyebrow"/>
          <p:cNvSpPr txBox="1"/>
          <p:nvPr/>
        </p:nvSpPr>
        <p:spPr>
          <a:xfrm>
            <a:off x="2286000" y="2514600"/>
            <a:ext cx="7620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US" sz="1300" b="1" spc="300" dirty="0">
                <a:solidFill>
                  <a:srgbClr val="E3B24A"/>
                </a:solidFill>
                <a:latin typeface="Trebuchet MS"/>
              </a:rPr>
              <a:t>SECTION 02</a:t>
            </a:r>
          </a:p>
        </p:txBody>
      </p:sp>
      <p:sp>
        <p:nvSpPr>
          <p:cNvPr id="23" name="title"/>
          <p:cNvSpPr txBox="1"/>
          <p:nvPr/>
        </p:nvSpPr>
        <p:spPr>
          <a:xfrm>
            <a:off x="1651000" y="2844800"/>
            <a:ext cx="8890000" cy="7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US" sz="4400" b="1" dirty="0">
                <a:solidFill>
                  <a:srgbClr val="EEF3EF"/>
                </a:solidFill>
                <a:latin typeface="Trebuchet MS"/>
              </a:rPr>
              <a:t>Map Algebra</a:t>
            </a:r>
          </a:p>
        </p:txBody>
      </p:sp>
      <p:sp>
        <p:nvSpPr>
          <p:cNvPr id="24" name="bar"/>
          <p:cNvSpPr/>
          <p:nvPr/>
        </p:nvSpPr>
        <p:spPr>
          <a:xfrm>
            <a:off x="5334000" y="3835400"/>
            <a:ext cx="1524000" cy="76200"/>
          </a:xfrm>
          <a:prstGeom prst="rect">
            <a:avLst/>
          </a:prstGeom>
          <a:solidFill>
            <a:srgbClr val="2FB8B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stmt"/>
          <p:cNvSpPr txBox="1"/>
          <p:nvPr/>
        </p:nvSpPr>
        <p:spPr>
          <a:xfrm>
            <a:off x="2286000" y="4064000"/>
            <a:ext cx="7620000" cy="660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6000"/>
              </a:lnSpc>
              <a:buNone/>
            </a:pPr>
            <a:r>
              <a:rPr lang="en-US" sz="1600" dirty="0">
                <a:solidFill>
                  <a:srgbClr val="C2D2CA"/>
                </a:solidFill>
              </a:rPr>
              <a:t>Do math on raster cells — combine, transform and reclassify grids to build brand-new value surfaces.</a:t>
            </a:r>
          </a:p>
        </p:txBody>
      </p:sp>
      <p:sp>
        <p:nvSpPr>
          <p:cNvPr id="26" name="pill0"/>
          <p:cNvSpPr/>
          <p:nvPr/>
        </p:nvSpPr>
        <p:spPr>
          <a:xfrm>
            <a:off x="2578100" y="4978400"/>
            <a:ext cx="1625600" cy="406400"/>
          </a:xfrm>
          <a:prstGeom prst="roundRect">
            <a:avLst>
              <a:gd name="adj" fmla="val 26000"/>
            </a:avLst>
          </a:prstGeom>
          <a:solidFill>
            <a:srgbClr val="143A2C"/>
          </a:solidFill>
          <a:ln w="12700">
            <a:solidFill>
              <a:srgbClr val="2FB8B0"/>
            </a:solidFill>
          </a:ln>
        </p:spPr>
        <p:txBody>
          <a:bodyPr wrap="square" lIns="7200" tIns="7200" rIns="7200" bIns="7200" anchor="ctr">
            <a:noAutofit/>
          </a:bodyPr>
          <a:lstStyle/>
          <a:p>
            <a:pPr algn="ctr">
              <a:buNone/>
            </a:pPr>
            <a:r>
              <a:rPr lang="en-US" sz="1250" b="1" spc="100" dirty="0">
                <a:solidFill>
                  <a:srgbClr val="2FB8B0"/>
                </a:solidFill>
                <a:latin typeface="Trebuchet MS"/>
              </a:rPr>
              <a:t>LOCAL</a:t>
            </a:r>
          </a:p>
        </p:txBody>
      </p:sp>
      <p:sp>
        <p:nvSpPr>
          <p:cNvPr id="27" name="pill1"/>
          <p:cNvSpPr/>
          <p:nvPr/>
        </p:nvSpPr>
        <p:spPr>
          <a:xfrm>
            <a:off x="4381500" y="4978400"/>
            <a:ext cx="1625600" cy="406400"/>
          </a:xfrm>
          <a:prstGeom prst="roundRect">
            <a:avLst>
              <a:gd name="adj" fmla="val 26000"/>
            </a:avLst>
          </a:prstGeom>
          <a:solidFill>
            <a:srgbClr val="143A2C"/>
          </a:solidFill>
          <a:ln w="12700">
            <a:solidFill>
              <a:srgbClr val="2FB8B0"/>
            </a:solidFill>
          </a:ln>
        </p:spPr>
        <p:txBody>
          <a:bodyPr wrap="square" lIns="7200" tIns="7200" rIns="7200" bIns="7200" anchor="ctr">
            <a:noAutofit/>
          </a:bodyPr>
          <a:lstStyle/>
          <a:p>
            <a:pPr algn="ctr">
              <a:buNone/>
            </a:pPr>
            <a:r>
              <a:rPr lang="en-US" sz="1250" b="1" spc="100" dirty="0">
                <a:solidFill>
                  <a:srgbClr val="2FB8B0"/>
                </a:solidFill>
                <a:latin typeface="Trebuchet MS"/>
              </a:rPr>
              <a:t>FOCAL</a:t>
            </a:r>
          </a:p>
        </p:txBody>
      </p:sp>
      <p:sp>
        <p:nvSpPr>
          <p:cNvPr id="28" name="pill2"/>
          <p:cNvSpPr/>
          <p:nvPr/>
        </p:nvSpPr>
        <p:spPr>
          <a:xfrm>
            <a:off x="6184900" y="4978400"/>
            <a:ext cx="1625600" cy="406400"/>
          </a:xfrm>
          <a:prstGeom prst="roundRect">
            <a:avLst>
              <a:gd name="adj" fmla="val 26000"/>
            </a:avLst>
          </a:prstGeom>
          <a:solidFill>
            <a:srgbClr val="143A2C"/>
          </a:solidFill>
          <a:ln w="12700">
            <a:solidFill>
              <a:srgbClr val="2FB8B0"/>
            </a:solidFill>
          </a:ln>
        </p:spPr>
        <p:txBody>
          <a:bodyPr wrap="square" lIns="7200" tIns="7200" rIns="7200" bIns="7200" anchor="ctr">
            <a:noAutofit/>
          </a:bodyPr>
          <a:lstStyle/>
          <a:p>
            <a:pPr algn="ctr">
              <a:buNone/>
            </a:pPr>
            <a:r>
              <a:rPr lang="en-US" sz="1250" b="1" spc="100" dirty="0">
                <a:solidFill>
                  <a:srgbClr val="2FB8B0"/>
                </a:solidFill>
                <a:latin typeface="Trebuchet MS"/>
              </a:rPr>
              <a:t>ZONAL</a:t>
            </a:r>
          </a:p>
        </p:txBody>
      </p:sp>
      <p:sp>
        <p:nvSpPr>
          <p:cNvPr id="29" name="pill3"/>
          <p:cNvSpPr/>
          <p:nvPr/>
        </p:nvSpPr>
        <p:spPr>
          <a:xfrm>
            <a:off x="7988300" y="4978400"/>
            <a:ext cx="1625600" cy="406400"/>
          </a:xfrm>
          <a:prstGeom prst="roundRect">
            <a:avLst>
              <a:gd name="adj" fmla="val 26000"/>
            </a:avLst>
          </a:prstGeom>
          <a:solidFill>
            <a:srgbClr val="143A2C"/>
          </a:solidFill>
          <a:ln w="12700">
            <a:solidFill>
              <a:srgbClr val="2FB8B0"/>
            </a:solidFill>
          </a:ln>
        </p:spPr>
        <p:txBody>
          <a:bodyPr wrap="square" lIns="7200" tIns="7200" rIns="7200" bIns="7200" anchor="ctr">
            <a:noAutofit/>
          </a:bodyPr>
          <a:lstStyle/>
          <a:p>
            <a:pPr algn="ctr">
              <a:buNone/>
            </a:pPr>
            <a:r>
              <a:rPr lang="en-US" sz="1250" b="1" spc="100" dirty="0">
                <a:solidFill>
                  <a:srgbClr val="2FB8B0"/>
                </a:solidFill>
                <a:latin typeface="Trebuchet MS"/>
              </a:rPr>
              <a:t>GLOBAL</a:t>
            </a:r>
          </a:p>
        </p:txBody>
      </p:sp>
      <p:pic>
        <p:nvPicPr>
          <p:cNvPr id="30" name="Graphic 30" descr="Map algebra calculator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42000" y="1447800"/>
            <a:ext cx="508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835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"/>
          <p:cNvSpPr txBox="1"/>
          <p:nvPr/>
        </p:nvSpPr>
        <p:spPr>
          <a:xfrm>
            <a:off x="812800" y="508000"/>
            <a:ext cx="7112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00" b="1" spc="200" dirty="0">
                <a:solidFill>
                  <a:srgbClr val="E3B24A"/>
                </a:solidFill>
                <a:latin typeface="Trebuchet MS"/>
              </a:rPr>
              <a:t>MAP ALGEBRA</a:t>
            </a:r>
          </a:p>
        </p:txBody>
      </p:sp>
      <p:sp>
        <p:nvSpPr>
          <p:cNvPr id="21" name="t"/>
          <p:cNvSpPr txBox="1"/>
          <p:nvPr/>
        </p:nvSpPr>
        <p:spPr>
          <a:xfrm>
            <a:off x="8890000" y="355600"/>
            <a:ext cx="2794000" cy="939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</a:pPr>
            <a:r>
              <a:rPr lang="en-US" sz="4600" b="1" dirty="0">
                <a:solidFill>
                  <a:srgbClr val="1C4835"/>
                </a:solidFill>
                <a:latin typeface="Trebuchet MS"/>
              </a:rPr>
              <a:t>10</a:t>
            </a:r>
          </a:p>
        </p:txBody>
      </p:sp>
      <p:sp>
        <p:nvSpPr>
          <p:cNvPr id="22" name="t"/>
          <p:cNvSpPr txBox="1"/>
          <p:nvPr/>
        </p:nvSpPr>
        <p:spPr>
          <a:xfrm>
            <a:off x="812800" y="762000"/>
            <a:ext cx="81280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3000" b="1" dirty="0">
                <a:solidFill>
                  <a:srgbClr val="EEF3EF"/>
                </a:solidFill>
                <a:latin typeface="Trebuchet MS"/>
              </a:rPr>
              <a:t>Four kinds of raster math</a:t>
            </a:r>
          </a:p>
        </p:txBody>
      </p:sp>
      <p:sp>
        <p:nvSpPr>
          <p:cNvPr id="23" name="b"/>
          <p:cNvSpPr/>
          <p:nvPr/>
        </p:nvSpPr>
        <p:spPr>
          <a:xfrm>
            <a:off x="838200" y="1346200"/>
            <a:ext cx="355600" cy="63500"/>
          </a:xfrm>
          <a:prstGeom prst="rect">
            <a:avLst/>
          </a:prstGeom>
          <a:solidFill>
            <a:srgbClr val="DE843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b"/>
          <p:cNvSpPr/>
          <p:nvPr/>
        </p:nvSpPr>
        <p:spPr>
          <a:xfrm>
            <a:off x="1244600" y="1346200"/>
            <a:ext cx="355600" cy="63500"/>
          </a:xfrm>
          <a:prstGeom prst="rect">
            <a:avLst/>
          </a:prstGeom>
          <a:solidFill>
            <a:srgbClr val="2FB8B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b"/>
          <p:cNvSpPr/>
          <p:nvPr/>
        </p:nvSpPr>
        <p:spPr>
          <a:xfrm>
            <a:off x="1651000" y="1346200"/>
            <a:ext cx="355600" cy="63500"/>
          </a:xfrm>
          <a:prstGeom prst="rect">
            <a:avLst/>
          </a:prstGeom>
          <a:solidFill>
            <a:srgbClr val="B58AE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t"/>
          <p:cNvSpPr txBox="1"/>
          <p:nvPr/>
        </p:nvSpPr>
        <p:spPr>
          <a:xfrm>
            <a:off x="812800" y="1473200"/>
            <a:ext cx="8636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500" dirty="0">
                <a:solidFill>
                  <a:srgbClr val="C2D2CA"/>
                </a:solidFill>
              </a:rPr>
              <a:t>How map algebra transforms grids of cell values</a:t>
            </a:r>
          </a:p>
        </p:txBody>
      </p:sp>
      <p:sp>
        <p:nvSpPr>
          <p:cNvPr id="27" name="b"/>
          <p:cNvSpPr/>
          <p:nvPr/>
        </p:nvSpPr>
        <p:spPr>
          <a:xfrm>
            <a:off x="812800" y="1905000"/>
            <a:ext cx="5588000" cy="4343400"/>
          </a:xfrm>
          <a:prstGeom prst="roundRect">
            <a:avLst>
              <a:gd name="adj" fmla="val 3000"/>
            </a:avLst>
          </a:prstGeom>
          <a:solidFill>
            <a:srgbClr val="143A2C"/>
          </a:solidFill>
          <a:ln w="12700">
            <a:solidFill>
              <a:srgbClr val="2F584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8" name="t"/>
          <p:cNvSpPr txBox="1"/>
          <p:nvPr/>
        </p:nvSpPr>
        <p:spPr>
          <a:xfrm>
            <a:off x="1117600" y="215900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00" b="1" spc="150" dirty="0">
                <a:solidFill>
                  <a:srgbClr val="E3B24A"/>
                </a:solidFill>
                <a:latin typeface="Trebuchet MS"/>
              </a:rPr>
              <a:t>OPERATION TYPES</a:t>
            </a:r>
          </a:p>
        </p:txBody>
      </p:sp>
      <p:sp>
        <p:nvSpPr>
          <p:cNvPr id="29" name="chip0"/>
          <p:cNvSpPr/>
          <p:nvPr/>
        </p:nvSpPr>
        <p:spPr>
          <a:xfrm>
            <a:off x="1117600" y="2565400"/>
            <a:ext cx="508000" cy="508000"/>
          </a:xfrm>
          <a:prstGeom prst="roundRect">
            <a:avLst>
              <a:gd name="adj" fmla="val 18000"/>
            </a:avLst>
          </a:prstGeom>
          <a:solidFill>
            <a:srgbClr val="173D2E"/>
          </a:solidFill>
          <a:ln w="15875">
            <a:solidFill>
              <a:srgbClr val="2FB8B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" name="t"/>
          <p:cNvSpPr txBox="1"/>
          <p:nvPr/>
        </p:nvSpPr>
        <p:spPr>
          <a:xfrm>
            <a:off x="1778000" y="2540000"/>
            <a:ext cx="44704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EEF3EF"/>
                </a:solidFill>
                <a:latin typeface="Trebuchet MS"/>
              </a:rPr>
              <a:t>Local</a:t>
            </a:r>
          </a:p>
        </p:txBody>
      </p:sp>
      <p:sp>
        <p:nvSpPr>
          <p:cNvPr id="31" name="t"/>
          <p:cNvSpPr txBox="1"/>
          <p:nvPr/>
        </p:nvSpPr>
        <p:spPr>
          <a:xfrm>
            <a:off x="1778000" y="2819400"/>
            <a:ext cx="44704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en-US" sz="1300" dirty="0">
                <a:solidFill>
                  <a:srgbClr val="C2D2CA"/>
                </a:solidFill>
              </a:rPr>
              <a:t>Cell-by-cell math on one or more grids at the same location — add, reclassify, NDVI.</a:t>
            </a:r>
          </a:p>
        </p:txBody>
      </p:sp>
      <p:sp>
        <p:nvSpPr>
          <p:cNvPr id="32" name="chip1"/>
          <p:cNvSpPr/>
          <p:nvPr/>
        </p:nvSpPr>
        <p:spPr>
          <a:xfrm>
            <a:off x="1117600" y="3403600"/>
            <a:ext cx="508000" cy="508000"/>
          </a:xfrm>
          <a:prstGeom prst="roundRect">
            <a:avLst>
              <a:gd name="adj" fmla="val 18000"/>
            </a:avLst>
          </a:prstGeom>
          <a:solidFill>
            <a:srgbClr val="173D2E"/>
          </a:solidFill>
          <a:ln w="15875">
            <a:solidFill>
              <a:srgbClr val="2FB8B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3" name="t"/>
          <p:cNvSpPr txBox="1"/>
          <p:nvPr/>
        </p:nvSpPr>
        <p:spPr>
          <a:xfrm>
            <a:off x="1778000" y="3378200"/>
            <a:ext cx="44704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EEF3EF"/>
                </a:solidFill>
                <a:latin typeface="Trebuchet MS"/>
              </a:rPr>
              <a:t>Focal</a:t>
            </a:r>
          </a:p>
        </p:txBody>
      </p:sp>
      <p:sp>
        <p:nvSpPr>
          <p:cNvPr id="34" name="t"/>
          <p:cNvSpPr txBox="1"/>
          <p:nvPr/>
        </p:nvSpPr>
        <p:spPr>
          <a:xfrm>
            <a:off x="1778000" y="3657600"/>
            <a:ext cx="44704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en-US" sz="1300" dirty="0">
                <a:solidFill>
                  <a:srgbClr val="C2D2CA"/>
                </a:solidFill>
              </a:rPr>
              <a:t>Reads a moving neighbourhood window — smoothing, focal mean, edge detection.</a:t>
            </a:r>
          </a:p>
        </p:txBody>
      </p:sp>
      <p:sp>
        <p:nvSpPr>
          <p:cNvPr id="35" name="chip2"/>
          <p:cNvSpPr/>
          <p:nvPr/>
        </p:nvSpPr>
        <p:spPr>
          <a:xfrm>
            <a:off x="1117600" y="4241800"/>
            <a:ext cx="508000" cy="508000"/>
          </a:xfrm>
          <a:prstGeom prst="roundRect">
            <a:avLst>
              <a:gd name="adj" fmla="val 18000"/>
            </a:avLst>
          </a:prstGeom>
          <a:solidFill>
            <a:srgbClr val="173D2E"/>
          </a:solidFill>
          <a:ln w="15875">
            <a:solidFill>
              <a:srgbClr val="2FB8B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6" name="t"/>
          <p:cNvSpPr txBox="1"/>
          <p:nvPr/>
        </p:nvSpPr>
        <p:spPr>
          <a:xfrm>
            <a:off x="1778000" y="4216400"/>
            <a:ext cx="44704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EEF3EF"/>
                </a:solidFill>
                <a:latin typeface="Trebuchet MS"/>
              </a:rPr>
              <a:t>Zonal</a:t>
            </a:r>
          </a:p>
        </p:txBody>
      </p:sp>
      <p:sp>
        <p:nvSpPr>
          <p:cNvPr id="37" name="t"/>
          <p:cNvSpPr txBox="1"/>
          <p:nvPr/>
        </p:nvSpPr>
        <p:spPr>
          <a:xfrm>
            <a:off x="1778000" y="4495800"/>
            <a:ext cx="44704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en-US" sz="1300" dirty="0">
                <a:solidFill>
                  <a:srgbClr val="C2D2CA"/>
                </a:solidFill>
              </a:rPr>
              <a:t>Summarises cells inside zones — e.g. mean elevation per watershed.</a:t>
            </a:r>
          </a:p>
        </p:txBody>
      </p:sp>
      <p:sp>
        <p:nvSpPr>
          <p:cNvPr id="38" name="chip3"/>
          <p:cNvSpPr/>
          <p:nvPr/>
        </p:nvSpPr>
        <p:spPr>
          <a:xfrm>
            <a:off x="1117600" y="5080000"/>
            <a:ext cx="508000" cy="508000"/>
          </a:xfrm>
          <a:prstGeom prst="roundRect">
            <a:avLst>
              <a:gd name="adj" fmla="val 18000"/>
            </a:avLst>
          </a:prstGeom>
          <a:solidFill>
            <a:srgbClr val="173D2E"/>
          </a:solidFill>
          <a:ln w="15875">
            <a:solidFill>
              <a:srgbClr val="2FB8B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9" name="t"/>
          <p:cNvSpPr txBox="1"/>
          <p:nvPr/>
        </p:nvSpPr>
        <p:spPr>
          <a:xfrm>
            <a:off x="1778000" y="5054600"/>
            <a:ext cx="44704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EEF3EF"/>
                </a:solidFill>
                <a:latin typeface="Trebuchet MS"/>
              </a:rPr>
              <a:t>Global</a:t>
            </a:r>
          </a:p>
        </p:txBody>
      </p:sp>
      <p:sp>
        <p:nvSpPr>
          <p:cNvPr id="40" name="t"/>
          <p:cNvSpPr txBox="1"/>
          <p:nvPr/>
        </p:nvSpPr>
        <p:spPr>
          <a:xfrm>
            <a:off x="1778000" y="5334000"/>
            <a:ext cx="44704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en-US" sz="1300" dirty="0">
                <a:solidFill>
                  <a:srgbClr val="C2D2CA"/>
                </a:solidFill>
              </a:rPr>
              <a:t>Uses the whole raster — Euclidean distance, cost path, region groups.</a:t>
            </a:r>
          </a:p>
        </p:txBody>
      </p:sp>
      <p:sp>
        <p:nvSpPr>
          <p:cNvPr id="41" name="b"/>
          <p:cNvSpPr/>
          <p:nvPr/>
        </p:nvSpPr>
        <p:spPr>
          <a:xfrm>
            <a:off x="6705600" y="1905000"/>
            <a:ext cx="4673600" cy="1854200"/>
          </a:xfrm>
          <a:prstGeom prst="roundRect">
            <a:avLst>
              <a:gd name="adj" fmla="val 3000"/>
            </a:avLst>
          </a:prstGeom>
          <a:solidFill>
            <a:srgbClr val="143A2C"/>
          </a:solidFill>
          <a:ln w="12700">
            <a:solidFill>
              <a:srgbClr val="2F584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2" name="t"/>
          <p:cNvSpPr txBox="1"/>
          <p:nvPr/>
        </p:nvSpPr>
        <p:spPr>
          <a:xfrm>
            <a:off x="7010400" y="2133600"/>
            <a:ext cx="40894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00" b="1" spc="150" dirty="0">
                <a:solidFill>
                  <a:srgbClr val="E3B24A"/>
                </a:solidFill>
                <a:latin typeface="Trebuchet MS"/>
              </a:rPr>
              <a:t>HOW IT WORKS</a:t>
            </a:r>
          </a:p>
        </p:txBody>
      </p:sp>
      <p:sp>
        <p:nvSpPr>
          <p:cNvPr id="43" name="t"/>
          <p:cNvSpPr txBox="1"/>
          <p:nvPr/>
        </p:nvSpPr>
        <p:spPr>
          <a:xfrm>
            <a:off x="7010400" y="2489200"/>
            <a:ext cx="4089400" cy="1168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6000"/>
              </a:lnSpc>
              <a:buNone/>
            </a:pPr>
            <a:r>
              <a:rPr lang="en-US" sz="1350" dirty="0">
                <a:solidFill>
                  <a:srgbClr val="C2D2CA"/>
                </a:solidFill>
              </a:rPr>
              <a:t>Map algebra evaluates an expression on every cell. The output is always a new raster the same size and grid as the input(s).</a:t>
            </a:r>
          </a:p>
        </p:txBody>
      </p:sp>
      <p:sp>
        <p:nvSpPr>
          <p:cNvPr id="44" name="b"/>
          <p:cNvSpPr/>
          <p:nvPr/>
        </p:nvSpPr>
        <p:spPr>
          <a:xfrm>
            <a:off x="6705600" y="3962400"/>
            <a:ext cx="4673600" cy="2286000"/>
          </a:xfrm>
          <a:prstGeom prst="roundRect">
            <a:avLst>
              <a:gd name="adj" fmla="val 3000"/>
            </a:avLst>
          </a:prstGeom>
          <a:solidFill>
            <a:srgbClr val="173D2E"/>
          </a:solidFill>
          <a:ln w="15875">
            <a:solidFill>
              <a:srgbClr val="2FB8B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5" name="pindot"/>
          <p:cNvSpPr/>
          <p:nvPr/>
        </p:nvSpPr>
        <p:spPr>
          <a:xfrm>
            <a:off x="6959600" y="4191000"/>
            <a:ext cx="254000" cy="254000"/>
          </a:xfrm>
          <a:prstGeom prst="roundRect">
            <a:avLst>
              <a:gd name="adj" fmla="val 20000"/>
            </a:avLst>
          </a:prstGeom>
          <a:solidFill>
            <a:srgbClr val="2FB8B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6" name="t"/>
          <p:cNvSpPr txBox="1"/>
          <p:nvPr/>
        </p:nvSpPr>
        <p:spPr>
          <a:xfrm>
            <a:off x="7340600" y="4216400"/>
            <a:ext cx="3810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00" b="1" spc="50" dirty="0">
                <a:solidFill>
                  <a:srgbClr val="2FB8B0"/>
                </a:solidFill>
                <a:latin typeface="Trebuchet MS"/>
              </a:rPr>
              <a:t>WHERE TO FIND IT IN ARCGIS PRO</a:t>
            </a:r>
          </a:p>
        </p:txBody>
      </p:sp>
      <p:sp>
        <p:nvSpPr>
          <p:cNvPr id="47" name="t"/>
          <p:cNvSpPr txBox="1"/>
          <p:nvPr/>
        </p:nvSpPr>
        <p:spPr>
          <a:xfrm>
            <a:off x="7010400" y="4597400"/>
            <a:ext cx="4191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350" b="1" dirty="0">
                <a:solidFill>
                  <a:srgbClr val="EEF3EF"/>
                </a:solidFill>
                <a:latin typeface="Trebuchet MS"/>
              </a:rPr>
              <a:t>Spatial Analyst ▸ Map Algebra ▸ Raster Calculator</a:t>
            </a:r>
          </a:p>
        </p:txBody>
      </p:sp>
      <p:sp>
        <p:nvSpPr>
          <p:cNvPr id="48" name="t"/>
          <p:cNvSpPr txBox="1"/>
          <p:nvPr/>
        </p:nvSpPr>
        <p:spPr>
          <a:xfrm>
            <a:off x="7010400" y="4978400"/>
            <a:ext cx="4191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300" dirty="0">
                <a:solidFill>
                  <a:srgbClr val="2FB8B0"/>
                </a:solidFill>
              </a:rPr>
              <a:t>Toolsets: Local · Focal · Zonal · Global</a:t>
            </a:r>
          </a:p>
        </p:txBody>
      </p:sp>
      <p:sp>
        <p:nvSpPr>
          <p:cNvPr id="49" name="t"/>
          <p:cNvSpPr txBox="1"/>
          <p:nvPr/>
        </p:nvSpPr>
        <p:spPr>
          <a:xfrm>
            <a:off x="7010400" y="5359400"/>
            <a:ext cx="41910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en-US" sz="1250" i="1" dirty="0">
                <a:solidFill>
                  <a:srgbClr val="8AA595"/>
                </a:solidFill>
              </a:rPr>
              <a:t>Tip: build formulas like (NIR - Red) / (NIR + Red).</a:t>
            </a:r>
          </a:p>
        </p:txBody>
      </p:sp>
      <p:pic>
        <p:nvPicPr>
          <p:cNvPr id="50" name="Graphic 50" descr="Local operat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31900" y="2679700"/>
            <a:ext cx="279400" cy="279400"/>
          </a:xfrm>
          <a:prstGeom prst="rect">
            <a:avLst/>
          </a:prstGeom>
        </p:spPr>
      </p:pic>
      <p:pic>
        <p:nvPicPr>
          <p:cNvPr id="51" name="Graphic 51" descr="Focal operat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31900" y="3517900"/>
            <a:ext cx="279400" cy="279400"/>
          </a:xfrm>
          <a:prstGeom prst="rect">
            <a:avLst/>
          </a:prstGeom>
        </p:spPr>
      </p:pic>
      <p:pic>
        <p:nvPicPr>
          <p:cNvPr id="52" name="Graphic 52" descr="Zonal operat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1900" y="4356100"/>
            <a:ext cx="279400" cy="279400"/>
          </a:xfrm>
          <a:prstGeom prst="rect">
            <a:avLst/>
          </a:prstGeom>
        </p:spPr>
      </p:pic>
      <p:pic>
        <p:nvPicPr>
          <p:cNvPr id="53" name="Graphic 53" descr="Global operat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31900" y="5194300"/>
            <a:ext cx="279400" cy="27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9385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eyebrow"/>
          <p:cNvSpPr txBox="1"/>
          <p:nvPr/>
        </p:nvSpPr>
        <p:spPr>
          <a:xfrm>
            <a:off x="812800" y="508000"/>
            <a:ext cx="7112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00" b="1" spc="200" dirty="0">
                <a:solidFill>
                  <a:srgbClr val="E3B24A"/>
                </a:solidFill>
                <a:latin typeface="Trebuchet MS"/>
              </a:rPr>
              <a:t>MAP ALGEBRA</a:t>
            </a:r>
          </a:p>
        </p:txBody>
      </p:sp>
      <p:sp>
        <p:nvSpPr>
          <p:cNvPr id="21" name="ghost"/>
          <p:cNvSpPr txBox="1"/>
          <p:nvPr/>
        </p:nvSpPr>
        <p:spPr>
          <a:xfrm>
            <a:off x="8890000" y="355600"/>
            <a:ext cx="2794000" cy="939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</a:pPr>
            <a:r>
              <a:rPr lang="en-US" sz="4600" b="1" dirty="0">
                <a:solidFill>
                  <a:srgbClr val="1C4835"/>
                </a:solidFill>
                <a:latin typeface="Trebuchet MS"/>
              </a:rPr>
              <a:t>11</a:t>
            </a:r>
          </a:p>
        </p:txBody>
      </p:sp>
      <p:sp>
        <p:nvSpPr>
          <p:cNvPr id="22" name="title"/>
          <p:cNvSpPr txBox="1"/>
          <p:nvPr/>
        </p:nvSpPr>
        <p:spPr>
          <a:xfrm>
            <a:off x="812800" y="762000"/>
            <a:ext cx="81280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3000" b="1" dirty="0">
                <a:solidFill>
                  <a:srgbClr val="EEF3EF"/>
                </a:solidFill>
                <a:latin typeface="Trebuchet MS"/>
              </a:rPr>
              <a:t>NDVI in California’s Central Valley</a:t>
            </a:r>
          </a:p>
        </p:txBody>
      </p:sp>
      <p:sp>
        <p:nvSpPr>
          <p:cNvPr id="23" name="b"/>
          <p:cNvSpPr/>
          <p:nvPr/>
        </p:nvSpPr>
        <p:spPr>
          <a:xfrm>
            <a:off x="838200" y="1346200"/>
            <a:ext cx="355600" cy="63500"/>
          </a:xfrm>
          <a:prstGeom prst="rect">
            <a:avLst/>
          </a:prstGeom>
          <a:solidFill>
            <a:srgbClr val="DE843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b"/>
          <p:cNvSpPr/>
          <p:nvPr/>
        </p:nvSpPr>
        <p:spPr>
          <a:xfrm>
            <a:off x="1244600" y="1346200"/>
            <a:ext cx="355600" cy="63500"/>
          </a:xfrm>
          <a:prstGeom prst="rect">
            <a:avLst/>
          </a:prstGeom>
          <a:solidFill>
            <a:srgbClr val="2FB8B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b"/>
          <p:cNvSpPr/>
          <p:nvPr/>
        </p:nvSpPr>
        <p:spPr>
          <a:xfrm>
            <a:off x="1651000" y="1346200"/>
            <a:ext cx="355600" cy="63500"/>
          </a:xfrm>
          <a:prstGeom prst="rect">
            <a:avLst/>
          </a:prstGeom>
          <a:solidFill>
            <a:srgbClr val="B58AE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subtitle"/>
          <p:cNvSpPr txBox="1"/>
          <p:nvPr/>
        </p:nvSpPr>
        <p:spPr>
          <a:xfrm>
            <a:off x="812800" y="1473200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500" dirty="0">
                <a:solidFill>
                  <a:srgbClr val="C2D2CA"/>
                </a:solidFill>
              </a:rPr>
              <a:t>Cell-by-cell band math turns two Landsat bands into a vegetation index</a:t>
            </a:r>
          </a:p>
        </p:txBody>
      </p:sp>
      <p:sp>
        <p:nvSpPr>
          <p:cNvPr id="27" name="frame"/>
          <p:cNvSpPr/>
          <p:nvPr/>
        </p:nvSpPr>
        <p:spPr>
          <a:xfrm>
            <a:off x="812800" y="1905000"/>
            <a:ext cx="5080000" cy="4343400"/>
          </a:xfrm>
          <a:prstGeom prst="roundRect">
            <a:avLst>
              <a:gd name="adj" fmla="val 4000"/>
            </a:avLst>
          </a:prstGeom>
          <a:solidFill>
            <a:srgbClr val="173D2E"/>
          </a:solidFill>
          <a:ln w="19050">
            <a:solidFill>
              <a:srgbClr val="2FB8B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8" name="loc"/>
          <p:cNvSpPr txBox="1"/>
          <p:nvPr/>
        </p:nvSpPr>
        <p:spPr>
          <a:xfrm>
            <a:off x="1066800" y="3784600"/>
            <a:ext cx="45720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US" sz="1800" b="1" dirty="0">
                <a:solidFill>
                  <a:srgbClr val="EEF3EF"/>
                </a:solidFill>
                <a:latin typeface="Trebuchet MS"/>
              </a:rPr>
              <a:t>California’s Central Valley</a:t>
            </a:r>
          </a:p>
        </p:txBody>
      </p:sp>
      <p:sp>
        <p:nvSpPr>
          <p:cNvPr id="29" name="locsub"/>
          <p:cNvSpPr txBox="1"/>
          <p:nvPr/>
        </p:nvSpPr>
        <p:spPr>
          <a:xfrm>
            <a:off x="1066800" y="4216400"/>
            <a:ext cx="4572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US" sz="1350" b="1" dirty="0">
                <a:solidFill>
                  <a:srgbClr val="2FB8B0"/>
                </a:solidFill>
                <a:latin typeface="Trebuchet MS"/>
              </a:rPr>
              <a:t>NDVI  ·  Landsat 8 / 9</a:t>
            </a:r>
          </a:p>
        </p:txBody>
      </p:sp>
      <p:sp>
        <p:nvSpPr>
          <p:cNvPr id="30" name="formula"/>
          <p:cNvSpPr txBox="1"/>
          <p:nvPr/>
        </p:nvSpPr>
        <p:spPr>
          <a:xfrm>
            <a:off x="1066800" y="5410200"/>
            <a:ext cx="4572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US" sz="1400" i="1" dirty="0">
                <a:solidFill>
                  <a:srgbClr val="C2D2CA"/>
                </a:solidFill>
                <a:latin typeface="Trebuchet MS"/>
              </a:rPr>
              <a:t>( NIR − Red ) / ( NIR + Red )</a:t>
            </a:r>
          </a:p>
        </p:txBody>
      </p:sp>
      <p:sp>
        <p:nvSpPr>
          <p:cNvPr id="31" name="wfhead"/>
          <p:cNvSpPr txBox="1"/>
          <p:nvPr/>
        </p:nvSpPr>
        <p:spPr>
          <a:xfrm>
            <a:off x="6299200" y="213360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00" b="1" spc="150" dirty="0">
                <a:solidFill>
                  <a:srgbClr val="E3B24A"/>
                </a:solidFill>
                <a:latin typeface="Trebuchet MS"/>
              </a:rPr>
              <a:t>WORKFLOW</a:t>
            </a:r>
          </a:p>
        </p:txBody>
      </p:sp>
      <p:sp>
        <p:nvSpPr>
          <p:cNvPr id="32" name="chip0"/>
          <p:cNvSpPr/>
          <p:nvPr/>
        </p:nvSpPr>
        <p:spPr>
          <a:xfrm>
            <a:off x="6299200" y="2565400"/>
            <a:ext cx="508000" cy="508000"/>
          </a:xfrm>
          <a:prstGeom prst="roundRect">
            <a:avLst>
              <a:gd name="adj" fmla="val 18000"/>
            </a:avLst>
          </a:prstGeom>
          <a:solidFill>
            <a:srgbClr val="173D2E"/>
          </a:solidFill>
          <a:ln w="15875">
            <a:solidFill>
              <a:srgbClr val="2FB8B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3" name="rh0"/>
          <p:cNvSpPr txBox="1"/>
          <p:nvPr/>
        </p:nvSpPr>
        <p:spPr>
          <a:xfrm>
            <a:off x="6959600" y="2540000"/>
            <a:ext cx="44704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EEF3EF"/>
                </a:solidFill>
                <a:latin typeface="Trebuchet MS"/>
              </a:rPr>
              <a:t>Get the bands</a:t>
            </a:r>
          </a:p>
        </p:txBody>
      </p:sp>
      <p:sp>
        <p:nvSpPr>
          <p:cNvPr id="34" name="rs0"/>
          <p:cNvSpPr txBox="1"/>
          <p:nvPr/>
        </p:nvSpPr>
        <p:spPr>
          <a:xfrm>
            <a:off x="6959600" y="2819400"/>
            <a:ext cx="44704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en-US" sz="1300" dirty="0">
                <a:solidFill>
                  <a:srgbClr val="C2D2CA"/>
                </a:solidFill>
              </a:rPr>
              <a:t>Download a Landsat 8/9 scene — the Red and Near-Infrared bands — from USGS EarthExplorer.</a:t>
            </a:r>
          </a:p>
        </p:txBody>
      </p:sp>
      <p:sp>
        <p:nvSpPr>
          <p:cNvPr id="35" name="chip1"/>
          <p:cNvSpPr/>
          <p:nvPr/>
        </p:nvSpPr>
        <p:spPr>
          <a:xfrm>
            <a:off x="6299200" y="3454400"/>
            <a:ext cx="508000" cy="508000"/>
          </a:xfrm>
          <a:prstGeom prst="roundRect">
            <a:avLst>
              <a:gd name="adj" fmla="val 18000"/>
            </a:avLst>
          </a:prstGeom>
          <a:solidFill>
            <a:srgbClr val="173D2E"/>
          </a:solidFill>
          <a:ln w="15875">
            <a:solidFill>
              <a:srgbClr val="2FB8B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6" name="rh1"/>
          <p:cNvSpPr txBox="1"/>
          <p:nvPr/>
        </p:nvSpPr>
        <p:spPr>
          <a:xfrm>
            <a:off x="6959600" y="3429000"/>
            <a:ext cx="44704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EEF3EF"/>
                </a:solidFill>
                <a:latin typeface="Trebuchet MS"/>
              </a:rPr>
              <a:t>Run the band math</a:t>
            </a:r>
          </a:p>
        </p:txBody>
      </p:sp>
      <p:sp>
        <p:nvSpPr>
          <p:cNvPr id="37" name="rs1"/>
          <p:cNvSpPr txBox="1"/>
          <p:nvPr/>
        </p:nvSpPr>
        <p:spPr>
          <a:xfrm>
            <a:off x="6959600" y="3708400"/>
            <a:ext cx="44704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en-US" sz="1300" dirty="0">
                <a:solidFill>
                  <a:srgbClr val="C2D2CA"/>
                </a:solidFill>
              </a:rPr>
              <a:t>In Raster Calculator, compute (NIR − Red) / (NIR + Red) as a Float raster.</a:t>
            </a:r>
          </a:p>
        </p:txBody>
      </p:sp>
      <p:sp>
        <p:nvSpPr>
          <p:cNvPr id="38" name="chip2"/>
          <p:cNvSpPr/>
          <p:nvPr/>
        </p:nvSpPr>
        <p:spPr>
          <a:xfrm>
            <a:off x="6299200" y="4343400"/>
            <a:ext cx="508000" cy="508000"/>
          </a:xfrm>
          <a:prstGeom prst="roundRect">
            <a:avLst>
              <a:gd name="adj" fmla="val 18000"/>
            </a:avLst>
          </a:prstGeom>
          <a:solidFill>
            <a:srgbClr val="173D2E"/>
          </a:solidFill>
          <a:ln w="15875">
            <a:solidFill>
              <a:srgbClr val="2FB8B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9" name="rh2"/>
          <p:cNvSpPr txBox="1"/>
          <p:nvPr/>
        </p:nvSpPr>
        <p:spPr>
          <a:xfrm>
            <a:off x="6959600" y="4318000"/>
            <a:ext cx="44704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EEF3EF"/>
                </a:solidFill>
                <a:latin typeface="Trebuchet MS"/>
              </a:rPr>
              <a:t>Read the index</a:t>
            </a:r>
          </a:p>
        </p:txBody>
      </p:sp>
      <p:sp>
        <p:nvSpPr>
          <p:cNvPr id="40" name="rs2"/>
          <p:cNvSpPr txBox="1"/>
          <p:nvPr/>
        </p:nvSpPr>
        <p:spPr>
          <a:xfrm>
            <a:off x="6959600" y="4597400"/>
            <a:ext cx="44704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en-US" sz="1300" dirty="0">
                <a:solidFill>
                  <a:srgbClr val="C2D2CA"/>
                </a:solidFill>
              </a:rPr>
              <a:t>Values near +1 are lush irrigated cropland; near 0 is bare desert soil.</a:t>
            </a:r>
          </a:p>
        </p:txBody>
      </p:sp>
      <p:sp>
        <p:nvSpPr>
          <p:cNvPr id="41" name="databand"/>
          <p:cNvSpPr/>
          <p:nvPr/>
        </p:nvSpPr>
        <p:spPr>
          <a:xfrm>
            <a:off x="6299200" y="5207000"/>
            <a:ext cx="5080000" cy="1016000"/>
          </a:xfrm>
          <a:prstGeom prst="roundRect">
            <a:avLst>
              <a:gd name="adj" fmla="val 3000"/>
            </a:avLst>
          </a:prstGeom>
          <a:solidFill>
            <a:srgbClr val="1E3A2C"/>
          </a:solidFill>
          <a:ln w="15875">
            <a:solidFill>
              <a:srgbClr val="E3B24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2" name="dhead"/>
          <p:cNvSpPr txBox="1"/>
          <p:nvPr/>
        </p:nvSpPr>
        <p:spPr>
          <a:xfrm>
            <a:off x="6959600" y="5384800"/>
            <a:ext cx="4191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50" b="1" spc="150" dirty="0">
                <a:solidFill>
                  <a:srgbClr val="E3B24A"/>
                </a:solidFill>
                <a:latin typeface="Trebuchet MS"/>
              </a:rPr>
              <a:t>FREE DATA SOURCE</a:t>
            </a:r>
          </a:p>
        </p:txBody>
      </p:sp>
      <p:sp>
        <p:nvSpPr>
          <p:cNvPr id="43" name="dtext"/>
          <p:cNvSpPr txBox="1"/>
          <p:nvPr/>
        </p:nvSpPr>
        <p:spPr>
          <a:xfrm>
            <a:off x="6959600" y="5638800"/>
            <a:ext cx="4241800" cy="482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en-US" sz="1300" dirty="0">
                <a:solidFill>
                  <a:srgbClr val="C2D2CA"/>
                </a:solidFill>
              </a:rPr>
              <a:t>USGS EarthExplorer — Landsat 8/9 Collection 2 (earthexplorer.usgs.gov)</a:t>
            </a:r>
          </a:p>
        </p:txBody>
      </p:sp>
      <p:pic>
        <p:nvPicPr>
          <p:cNvPr id="45" name="Graphic 45" descr="Download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13500" y="2679700"/>
            <a:ext cx="279400" cy="279400"/>
          </a:xfrm>
          <a:prstGeom prst="rect">
            <a:avLst/>
          </a:prstGeom>
        </p:spPr>
      </p:pic>
      <p:pic>
        <p:nvPicPr>
          <p:cNvPr id="46" name="Graphic 46" descr="Calculato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13500" y="3568700"/>
            <a:ext cx="279400" cy="279400"/>
          </a:xfrm>
          <a:prstGeom prst="rect">
            <a:avLst/>
          </a:prstGeom>
        </p:spPr>
      </p:pic>
      <p:pic>
        <p:nvPicPr>
          <p:cNvPr id="47" name="Graphic 47" descr="Read value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13500" y="4457700"/>
            <a:ext cx="279400" cy="279400"/>
          </a:xfrm>
          <a:prstGeom prst="rect">
            <a:avLst/>
          </a:prstGeom>
        </p:spPr>
      </p:pic>
      <p:pic>
        <p:nvPicPr>
          <p:cNvPr id="48" name="Graphic 48" descr="Data sourc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78600" y="5410200"/>
            <a:ext cx="228600" cy="228600"/>
          </a:xfrm>
          <a:prstGeom prst="rect">
            <a:avLst/>
          </a:prstGeom>
        </p:spPr>
      </p:pic>
      <p:pic>
        <p:nvPicPr>
          <p:cNvPr id="49" name="Graphic 49" descr="Sprouting seed icon for NDVI vegetat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19400" y="2489200"/>
            <a:ext cx="1066800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5827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"/>
          <p:cNvSpPr txBox="1"/>
          <p:nvPr/>
        </p:nvSpPr>
        <p:spPr>
          <a:xfrm>
            <a:off x="812800" y="508000"/>
            <a:ext cx="7112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00" b="1" dirty="0">
                <a:solidFill>
                  <a:srgbClr val="E3B24A"/>
                </a:solidFill>
                <a:latin typeface="Trebuchet MS"/>
              </a:rPr>
              <a:t>MAP ALGEBRA · HANDS-ON LAB</a:t>
            </a:r>
          </a:p>
        </p:txBody>
      </p:sp>
      <p:sp>
        <p:nvSpPr>
          <p:cNvPr id="21" name="t"/>
          <p:cNvSpPr txBox="1"/>
          <p:nvPr/>
        </p:nvSpPr>
        <p:spPr>
          <a:xfrm>
            <a:off x="8890000" y="355600"/>
            <a:ext cx="2794000" cy="939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</a:pPr>
            <a:r>
              <a:rPr lang="en-US" sz="4600" b="1" dirty="0">
                <a:solidFill>
                  <a:srgbClr val="1C4835"/>
                </a:solidFill>
                <a:latin typeface="Trebuchet MS"/>
              </a:rPr>
              <a:t>12</a:t>
            </a:r>
          </a:p>
        </p:txBody>
      </p:sp>
      <p:sp>
        <p:nvSpPr>
          <p:cNvPr id="22" name="t"/>
          <p:cNvSpPr txBox="1"/>
          <p:nvPr/>
        </p:nvSpPr>
        <p:spPr>
          <a:xfrm>
            <a:off x="812800" y="762000"/>
            <a:ext cx="81280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3000" b="1" dirty="0">
                <a:solidFill>
                  <a:srgbClr val="EEF3EF"/>
                </a:solidFill>
                <a:latin typeface="Trebuchet MS"/>
              </a:rPr>
              <a:t>Your turn — compute NDVI</a:t>
            </a:r>
          </a:p>
        </p:txBody>
      </p:sp>
      <p:sp>
        <p:nvSpPr>
          <p:cNvPr id="23" name="b"/>
          <p:cNvSpPr/>
          <p:nvPr/>
        </p:nvSpPr>
        <p:spPr>
          <a:xfrm>
            <a:off x="838200" y="1346200"/>
            <a:ext cx="355600" cy="63500"/>
          </a:xfrm>
          <a:prstGeom prst="rect">
            <a:avLst/>
          </a:prstGeom>
          <a:solidFill>
            <a:srgbClr val="DE843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b"/>
          <p:cNvSpPr/>
          <p:nvPr/>
        </p:nvSpPr>
        <p:spPr>
          <a:xfrm>
            <a:off x="1244600" y="1346200"/>
            <a:ext cx="355600" cy="63500"/>
          </a:xfrm>
          <a:prstGeom prst="rect">
            <a:avLst/>
          </a:prstGeom>
          <a:solidFill>
            <a:srgbClr val="2FB8B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b"/>
          <p:cNvSpPr/>
          <p:nvPr/>
        </p:nvSpPr>
        <p:spPr>
          <a:xfrm>
            <a:off x="1651000" y="1346200"/>
            <a:ext cx="355600" cy="63500"/>
          </a:xfrm>
          <a:prstGeom prst="rect">
            <a:avLst/>
          </a:prstGeom>
          <a:solidFill>
            <a:srgbClr val="B58AE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t"/>
          <p:cNvSpPr txBox="1"/>
          <p:nvPr/>
        </p:nvSpPr>
        <p:spPr>
          <a:xfrm>
            <a:off x="812800" y="1473200"/>
            <a:ext cx="8636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500" dirty="0">
                <a:solidFill>
                  <a:srgbClr val="C2D2CA"/>
                </a:solidFill>
              </a:rPr>
              <a:t>Turn two Landsat bands into a vegetation index with Raster Calculator</a:t>
            </a:r>
          </a:p>
        </p:txBody>
      </p:sp>
      <p:sp>
        <p:nvSpPr>
          <p:cNvPr id="27" name="t"/>
          <p:cNvSpPr txBox="1"/>
          <p:nvPr/>
        </p:nvSpPr>
        <p:spPr>
          <a:xfrm>
            <a:off x="812800" y="213360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00" b="1" dirty="0">
                <a:solidFill>
                  <a:srgbClr val="E3B24A"/>
                </a:solidFill>
                <a:latin typeface="Trebuchet MS"/>
              </a:rPr>
              <a:t>TASK</a:t>
            </a:r>
          </a:p>
        </p:txBody>
      </p:sp>
      <p:sp>
        <p:nvSpPr>
          <p:cNvPr id="28" name="b"/>
          <p:cNvSpPr/>
          <p:nvPr/>
        </p:nvSpPr>
        <p:spPr>
          <a:xfrm>
            <a:off x="812800" y="2565400"/>
            <a:ext cx="355600" cy="355600"/>
          </a:xfrm>
          <a:prstGeom prst="ellipse">
            <a:avLst/>
          </a:prstGeom>
          <a:solidFill>
            <a:srgbClr val="2FB8B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" name="t"/>
          <p:cNvSpPr txBox="1"/>
          <p:nvPr/>
        </p:nvSpPr>
        <p:spPr>
          <a:xfrm>
            <a:off x="812800" y="2616200"/>
            <a:ext cx="3556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0E2A20"/>
                </a:solidFill>
                <a:latin typeface="Trebuchet MS"/>
              </a:rPr>
              <a:t>1</a:t>
            </a:r>
          </a:p>
        </p:txBody>
      </p:sp>
      <p:sp>
        <p:nvSpPr>
          <p:cNvPr id="30" name="t"/>
          <p:cNvSpPr txBox="1"/>
          <p:nvPr/>
        </p:nvSpPr>
        <p:spPr>
          <a:xfrm>
            <a:off x="1320800" y="2578100"/>
            <a:ext cx="4724400" cy="609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en-US" sz="1350" dirty="0">
                <a:solidFill>
                  <a:srgbClr val="C2D2CA"/>
                </a:solidFill>
              </a:rPr>
              <a:t>Add the Landsat Red and NIR bands to a new map in ArcGIS Pro.</a:t>
            </a:r>
          </a:p>
        </p:txBody>
      </p:sp>
      <p:sp>
        <p:nvSpPr>
          <p:cNvPr id="31" name="b"/>
          <p:cNvSpPr/>
          <p:nvPr/>
        </p:nvSpPr>
        <p:spPr>
          <a:xfrm>
            <a:off x="812800" y="3302000"/>
            <a:ext cx="355600" cy="355600"/>
          </a:xfrm>
          <a:prstGeom prst="ellipse">
            <a:avLst/>
          </a:prstGeom>
          <a:solidFill>
            <a:srgbClr val="2FB8B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" name="t"/>
          <p:cNvSpPr txBox="1"/>
          <p:nvPr/>
        </p:nvSpPr>
        <p:spPr>
          <a:xfrm>
            <a:off x="812800" y="3352800"/>
            <a:ext cx="3556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0E2A20"/>
                </a:solidFill>
                <a:latin typeface="Trebuchet MS"/>
              </a:rPr>
              <a:t>2</a:t>
            </a:r>
          </a:p>
        </p:txBody>
      </p:sp>
      <p:sp>
        <p:nvSpPr>
          <p:cNvPr id="33" name="t"/>
          <p:cNvSpPr txBox="1"/>
          <p:nvPr/>
        </p:nvSpPr>
        <p:spPr>
          <a:xfrm>
            <a:off x="1320800" y="3314700"/>
            <a:ext cx="4724400" cy="609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en-US" sz="1350" dirty="0">
                <a:solidFill>
                  <a:srgbClr val="C2D2CA"/>
                </a:solidFill>
              </a:rPr>
              <a:t>Open Raster Calculator (Spatial Analyst ▸ Map Algebra).</a:t>
            </a:r>
          </a:p>
        </p:txBody>
      </p:sp>
      <p:sp>
        <p:nvSpPr>
          <p:cNvPr id="34" name="b"/>
          <p:cNvSpPr/>
          <p:nvPr/>
        </p:nvSpPr>
        <p:spPr>
          <a:xfrm>
            <a:off x="812800" y="4038600"/>
            <a:ext cx="355600" cy="355600"/>
          </a:xfrm>
          <a:prstGeom prst="ellipse">
            <a:avLst/>
          </a:prstGeom>
          <a:solidFill>
            <a:srgbClr val="2FB8B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5" name="t"/>
          <p:cNvSpPr txBox="1"/>
          <p:nvPr/>
        </p:nvSpPr>
        <p:spPr>
          <a:xfrm>
            <a:off x="812800" y="4089400"/>
            <a:ext cx="3556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0E2A20"/>
                </a:solidFill>
                <a:latin typeface="Trebuchet MS"/>
              </a:rPr>
              <a:t>3</a:t>
            </a:r>
          </a:p>
        </p:txBody>
      </p:sp>
      <p:sp>
        <p:nvSpPr>
          <p:cNvPr id="36" name="t"/>
          <p:cNvSpPr txBox="1"/>
          <p:nvPr/>
        </p:nvSpPr>
        <p:spPr>
          <a:xfrm>
            <a:off x="1320800" y="4051300"/>
            <a:ext cx="4724400" cy="609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en-US" sz="1350" dirty="0">
                <a:solidFill>
                  <a:srgbClr val="C2D2CA"/>
                </a:solidFill>
              </a:rPr>
              <a:t>Enter Float(NIR − Red) / Float(NIR + Red) and run it.</a:t>
            </a:r>
          </a:p>
        </p:txBody>
      </p:sp>
      <p:sp>
        <p:nvSpPr>
          <p:cNvPr id="37" name="b"/>
          <p:cNvSpPr/>
          <p:nvPr/>
        </p:nvSpPr>
        <p:spPr>
          <a:xfrm>
            <a:off x="812800" y="4775200"/>
            <a:ext cx="355600" cy="355600"/>
          </a:xfrm>
          <a:prstGeom prst="ellipse">
            <a:avLst/>
          </a:prstGeom>
          <a:solidFill>
            <a:srgbClr val="2FB8B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8" name="t"/>
          <p:cNvSpPr txBox="1"/>
          <p:nvPr/>
        </p:nvSpPr>
        <p:spPr>
          <a:xfrm>
            <a:off x="812800" y="4826000"/>
            <a:ext cx="3556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0E2A20"/>
                </a:solidFill>
                <a:latin typeface="Trebuchet MS"/>
              </a:rPr>
              <a:t>4</a:t>
            </a:r>
          </a:p>
        </p:txBody>
      </p:sp>
      <p:sp>
        <p:nvSpPr>
          <p:cNvPr id="39" name="t"/>
          <p:cNvSpPr txBox="1"/>
          <p:nvPr/>
        </p:nvSpPr>
        <p:spPr>
          <a:xfrm>
            <a:off x="1320800" y="4787900"/>
            <a:ext cx="4724400" cy="609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en-US" sz="1350" dirty="0">
                <a:solidFill>
                  <a:srgbClr val="C2D2CA"/>
                </a:solidFill>
              </a:rPr>
              <a:t>Apply a green colour ramp and stretch it to the value range.</a:t>
            </a:r>
          </a:p>
        </p:txBody>
      </p:sp>
      <p:sp>
        <p:nvSpPr>
          <p:cNvPr id="40" name="b"/>
          <p:cNvSpPr/>
          <p:nvPr/>
        </p:nvSpPr>
        <p:spPr>
          <a:xfrm>
            <a:off x="812800" y="5511800"/>
            <a:ext cx="355600" cy="355600"/>
          </a:xfrm>
          <a:prstGeom prst="ellipse">
            <a:avLst/>
          </a:prstGeom>
          <a:solidFill>
            <a:srgbClr val="2FB8B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t"/>
          <p:cNvSpPr txBox="1"/>
          <p:nvPr/>
        </p:nvSpPr>
        <p:spPr>
          <a:xfrm>
            <a:off x="812800" y="5562600"/>
            <a:ext cx="3556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0E2A20"/>
                </a:solidFill>
                <a:latin typeface="Trebuchet MS"/>
              </a:rPr>
              <a:t>5</a:t>
            </a:r>
          </a:p>
        </p:txBody>
      </p:sp>
      <p:sp>
        <p:nvSpPr>
          <p:cNvPr id="42" name="t"/>
          <p:cNvSpPr txBox="1"/>
          <p:nvPr/>
        </p:nvSpPr>
        <p:spPr>
          <a:xfrm>
            <a:off x="1320800" y="5524500"/>
            <a:ext cx="4724400" cy="609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en-US" sz="1350" dirty="0">
                <a:solidFill>
                  <a:srgbClr val="C2D2CA"/>
                </a:solidFill>
              </a:rPr>
              <a:t>Use Explore to click a cropland cell, then a desert cell, and compare.</a:t>
            </a:r>
          </a:p>
        </p:txBody>
      </p:sp>
      <p:sp>
        <p:nvSpPr>
          <p:cNvPr id="43" name="akcard"/>
          <p:cNvSpPr/>
          <p:nvPr/>
        </p:nvSpPr>
        <p:spPr>
          <a:xfrm>
            <a:off x="6299200" y="1905000"/>
            <a:ext cx="5080000" cy="2311400"/>
          </a:xfrm>
          <a:prstGeom prst="roundRect">
            <a:avLst>
              <a:gd name="adj" fmla="val 3000"/>
            </a:avLst>
          </a:prstGeom>
          <a:solidFill>
            <a:srgbClr val="143A2C"/>
          </a:solidFill>
          <a:ln w="12700">
            <a:solidFill>
              <a:srgbClr val="2F584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4" name="t"/>
          <p:cNvSpPr txBox="1"/>
          <p:nvPr/>
        </p:nvSpPr>
        <p:spPr>
          <a:xfrm>
            <a:off x="6553200" y="2133600"/>
            <a:ext cx="4572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00" b="1" dirty="0">
                <a:solidFill>
                  <a:srgbClr val="E3B24A"/>
                </a:solidFill>
                <a:latin typeface="Trebuchet MS"/>
              </a:rPr>
              <a:t>ANSWER KEY</a:t>
            </a:r>
          </a:p>
        </p:txBody>
      </p:sp>
      <p:sp>
        <p:nvSpPr>
          <p:cNvPr id="201" name="answers"/>
          <p:cNvSpPr txBox="1"/>
          <p:nvPr/>
        </p:nvSpPr>
        <p:spPr>
          <a:xfrm>
            <a:off x="6553200" y="2489200"/>
            <a:ext cx="4622800" cy="162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2FB8B0"/>
                </a:solidFill>
              </a:rPr>
              <a:t>Step 3 — </a:t>
            </a:r>
            <a:r>
              <a:rPr lang="en-US" sz="1300" dirty="0">
                <a:solidFill>
                  <a:srgbClr val="C2D2CA"/>
                </a:solidFill>
              </a:rPr>
              <a:t>wrap bands in Float() so you get decimals, not integers.</a:t>
            </a:r>
          </a:p>
          <a:p>
            <a:pPr algn="l">
              <a:lnSpc>
                <a:spcPct val="1200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2FB8B0"/>
                </a:solidFill>
              </a:rPr>
              <a:t>Step 4 — </a:t>
            </a:r>
            <a:r>
              <a:rPr lang="en-US" sz="1300" dirty="0">
                <a:solidFill>
                  <a:srgbClr val="C2D2CA"/>
                </a:solidFill>
              </a:rPr>
              <a:t>NDVI ranges about −1 to +1; stretch the ramp to fit.</a:t>
            </a:r>
          </a:p>
          <a:p>
            <a:pPr algn="l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FB8B0"/>
                </a:solidFill>
              </a:rPr>
              <a:t>Step 5 — </a:t>
            </a:r>
            <a:r>
              <a:rPr lang="en-US" sz="1300" dirty="0">
                <a:solidFill>
                  <a:srgbClr val="C2D2CA"/>
                </a:solidFill>
              </a:rPr>
              <a:t>cropland ≈ 0.6–0.9; bare desert ≈ 0–0.2.</a:t>
            </a:r>
          </a:p>
        </p:txBody>
      </p:sp>
      <p:sp>
        <p:nvSpPr>
          <p:cNvPr id="210" name="promptA"/>
          <p:cNvSpPr/>
          <p:nvPr/>
        </p:nvSpPr>
        <p:spPr>
          <a:xfrm>
            <a:off x="6400800" y="2387600"/>
            <a:ext cx="4876800" cy="1778000"/>
          </a:xfrm>
          <a:prstGeom prst="roundRect">
            <a:avLst>
              <a:gd name="adj" fmla="val 3000"/>
            </a:avLst>
          </a:prstGeom>
          <a:solidFill>
            <a:srgbClr val="1E3A2C"/>
          </a:solidFill>
          <a:ln w="15875">
            <a:solidFill>
              <a:srgbClr val="E3B24A"/>
            </a:solidFill>
            <a:prstDash val="dash"/>
          </a:ln>
        </p:spPr>
        <p:txBody>
          <a:bodyPr wrap="square" lIns="91440" tIns="45720" rIns="45720" bIns="45720" anchor="ctr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F0D48A"/>
                </a:solidFill>
                <a:latin typeface="Trebuchet MS"/>
              </a:rPr>
              <a:t>Click to reveal the Answer Key</a:t>
            </a:r>
          </a:p>
          <a:p>
            <a:pPr algn="ctr">
              <a:buNone/>
            </a:pPr>
            <a:r>
              <a:rPr lang="en-US" sz="1150" dirty="0">
                <a:solidFill>
                  <a:srgbClr val="8AA595"/>
                </a:solidFill>
              </a:rPr>
              <a:t>(in Slide Show)</a:t>
            </a:r>
          </a:p>
        </p:txBody>
      </p:sp>
      <p:sp>
        <p:nvSpPr>
          <p:cNvPr id="45" name="ercard"/>
          <p:cNvSpPr/>
          <p:nvPr/>
        </p:nvSpPr>
        <p:spPr>
          <a:xfrm>
            <a:off x="6299200" y="4368800"/>
            <a:ext cx="5080000" cy="1879600"/>
          </a:xfrm>
          <a:prstGeom prst="roundRect">
            <a:avLst>
              <a:gd name="adj" fmla="val 3000"/>
            </a:avLst>
          </a:prstGeom>
          <a:solidFill>
            <a:srgbClr val="143A2C"/>
          </a:solidFill>
          <a:ln w="12700">
            <a:solidFill>
              <a:srgbClr val="2F584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6" name="t"/>
          <p:cNvSpPr txBox="1"/>
          <p:nvPr/>
        </p:nvSpPr>
        <p:spPr>
          <a:xfrm>
            <a:off x="6553200" y="4597400"/>
            <a:ext cx="4572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00" b="1" dirty="0">
                <a:solidFill>
                  <a:srgbClr val="E3B24A"/>
                </a:solidFill>
                <a:latin typeface="Trebuchet MS"/>
              </a:rPr>
              <a:t>EXPECTED RESULT</a:t>
            </a:r>
          </a:p>
        </p:txBody>
      </p:sp>
      <p:sp>
        <p:nvSpPr>
          <p:cNvPr id="202" name="result"/>
          <p:cNvSpPr txBox="1"/>
          <p:nvPr/>
        </p:nvSpPr>
        <p:spPr>
          <a:xfrm>
            <a:off x="6553200" y="4927600"/>
            <a:ext cx="4622800" cy="1219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C2D2CA"/>
                </a:solidFill>
              </a:rPr>
              <a:t>You can compute NDVI with map algebra and read vegetation vigour cell-by-cell — high over irrigated fields, low over desert.</a:t>
            </a:r>
          </a:p>
        </p:txBody>
      </p:sp>
      <p:sp>
        <p:nvSpPr>
          <p:cNvPr id="211" name="promptB"/>
          <p:cNvSpPr/>
          <p:nvPr/>
        </p:nvSpPr>
        <p:spPr>
          <a:xfrm>
            <a:off x="6400800" y="4826000"/>
            <a:ext cx="4876800" cy="1371600"/>
          </a:xfrm>
          <a:prstGeom prst="roundRect">
            <a:avLst>
              <a:gd name="adj" fmla="val 3000"/>
            </a:avLst>
          </a:prstGeom>
          <a:solidFill>
            <a:srgbClr val="1E3A2C"/>
          </a:solidFill>
          <a:ln w="15875">
            <a:solidFill>
              <a:srgbClr val="E3B24A"/>
            </a:solidFill>
            <a:prstDash val="dash"/>
          </a:ln>
        </p:spPr>
        <p:txBody>
          <a:bodyPr wrap="square" lIns="91440" tIns="45720" rIns="45720" bIns="45720" anchor="ctr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F0D48A"/>
                </a:solidFill>
                <a:latin typeface="Trebuchet MS"/>
              </a:rPr>
              <a:t>Click to reveal the Expected Result</a:t>
            </a:r>
          </a:p>
          <a:p>
            <a:pPr algn="ctr">
              <a:buNone/>
            </a:pPr>
            <a:r>
              <a:rPr lang="en-US" sz="1150" dirty="0">
                <a:solidFill>
                  <a:srgbClr val="8AA595"/>
                </a:solidFill>
              </a:rPr>
              <a:t>(in Slide Show)</a:t>
            </a:r>
          </a:p>
        </p:txBody>
      </p:sp>
    </p:spTree>
    <p:extLst>
      <p:ext uri="{BB962C8B-B14F-4D97-AF65-F5344CB8AC3E}">
        <p14:creationId xmlns:p14="http://schemas.microsoft.com/office/powerpoint/2010/main" val="3504368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"/>
          <p:cNvSpPr txBox="1"/>
          <p:nvPr/>
        </p:nvSpPr>
        <p:spPr>
          <a:xfrm>
            <a:off x="8890000" y="355600"/>
            <a:ext cx="2794000" cy="939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</a:pPr>
            <a:r>
              <a:rPr lang="en-US" sz="4600" b="1" dirty="0">
                <a:solidFill>
                  <a:srgbClr val="1C4835"/>
                </a:solidFill>
                <a:latin typeface="Trebuchet MS"/>
              </a:rPr>
              <a:t>13</a:t>
            </a:r>
          </a:p>
        </p:txBody>
      </p:sp>
      <p:sp>
        <p:nvSpPr>
          <p:cNvPr id="21" name="medallion"/>
          <p:cNvSpPr/>
          <p:nvPr/>
        </p:nvSpPr>
        <p:spPr>
          <a:xfrm>
            <a:off x="5613400" y="1219200"/>
            <a:ext cx="965200" cy="965200"/>
          </a:xfrm>
          <a:prstGeom prst="roundRect">
            <a:avLst>
              <a:gd name="adj" fmla="val 20000"/>
            </a:avLst>
          </a:prstGeom>
          <a:solidFill>
            <a:srgbClr val="173D2E"/>
          </a:solidFill>
          <a:ln w="19050">
            <a:solidFill>
              <a:srgbClr val="B58AE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" name="t"/>
          <p:cNvSpPr txBox="1"/>
          <p:nvPr/>
        </p:nvSpPr>
        <p:spPr>
          <a:xfrm>
            <a:off x="2286000" y="2514600"/>
            <a:ext cx="7620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US" sz="1300" b="1" spc="300" dirty="0">
                <a:solidFill>
                  <a:srgbClr val="E3B24A"/>
                </a:solidFill>
                <a:latin typeface="Trebuchet MS"/>
              </a:rPr>
              <a:t>SECTION 03</a:t>
            </a:r>
          </a:p>
        </p:txBody>
      </p:sp>
      <p:sp>
        <p:nvSpPr>
          <p:cNvPr id="23" name="t"/>
          <p:cNvSpPr txBox="1"/>
          <p:nvPr/>
        </p:nvSpPr>
        <p:spPr>
          <a:xfrm>
            <a:off x="1651000" y="2819400"/>
            <a:ext cx="8890000" cy="711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US" sz="4400" b="1" dirty="0">
                <a:solidFill>
                  <a:srgbClr val="EEF3EF"/>
                </a:solidFill>
                <a:latin typeface="Trebuchet MS"/>
              </a:rPr>
              <a:t>Suitability Modeling</a:t>
            </a:r>
          </a:p>
        </p:txBody>
      </p:sp>
      <p:sp>
        <p:nvSpPr>
          <p:cNvPr id="24" name="b"/>
          <p:cNvSpPr/>
          <p:nvPr/>
        </p:nvSpPr>
        <p:spPr>
          <a:xfrm>
            <a:off x="5334000" y="3835400"/>
            <a:ext cx="1524000" cy="76200"/>
          </a:xfrm>
          <a:prstGeom prst="rect">
            <a:avLst/>
          </a:prstGeom>
          <a:solidFill>
            <a:srgbClr val="B58AE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t"/>
          <p:cNvSpPr txBox="1"/>
          <p:nvPr/>
        </p:nvSpPr>
        <p:spPr>
          <a:xfrm>
            <a:off x="2286000" y="4064000"/>
            <a:ext cx="7620000" cy="7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6000"/>
              </a:lnSpc>
              <a:buNone/>
            </a:pPr>
            <a:r>
              <a:rPr lang="en-US" sz="1600" dirty="0">
                <a:solidFill>
                  <a:srgbClr val="C2D2CA"/>
                </a:solidFill>
              </a:rPr>
              <a:t>Blend several factors into one score — reclassify each layer to a common scale, weight them, and overlay to rank the best places.</a:t>
            </a:r>
          </a:p>
        </p:txBody>
      </p:sp>
      <p:sp>
        <p:nvSpPr>
          <p:cNvPr id="26" name="b"/>
          <p:cNvSpPr/>
          <p:nvPr/>
        </p:nvSpPr>
        <p:spPr>
          <a:xfrm>
            <a:off x="2578100" y="4978400"/>
            <a:ext cx="1625600" cy="406400"/>
          </a:xfrm>
          <a:prstGeom prst="roundRect">
            <a:avLst>
              <a:gd name="adj" fmla="val 26000"/>
            </a:avLst>
          </a:prstGeom>
          <a:solidFill>
            <a:srgbClr val="143A2C"/>
          </a:solidFill>
          <a:ln w="12700">
            <a:solidFill>
              <a:srgbClr val="B58AE0"/>
            </a:solidFill>
          </a:ln>
        </p:spPr>
        <p:txBody>
          <a:bodyPr wrap="square" lIns="45720" tIns="20000" rIns="45720" bIns="20000" anchor="ctr">
            <a:noAutofit/>
          </a:bodyPr>
          <a:lstStyle/>
          <a:p>
            <a:pPr algn="ctr">
              <a:buNone/>
            </a:pPr>
            <a:r>
              <a:rPr lang="en-US" sz="1250" b="1" spc="100" dirty="0">
                <a:solidFill>
                  <a:srgbClr val="B58AE0"/>
                </a:solidFill>
                <a:latin typeface="Trebuchet MS"/>
              </a:rPr>
              <a:t>CRITERIA</a:t>
            </a:r>
          </a:p>
        </p:txBody>
      </p:sp>
      <p:sp>
        <p:nvSpPr>
          <p:cNvPr id="27" name="b"/>
          <p:cNvSpPr/>
          <p:nvPr/>
        </p:nvSpPr>
        <p:spPr>
          <a:xfrm>
            <a:off x="4381500" y="4978400"/>
            <a:ext cx="1625600" cy="406400"/>
          </a:xfrm>
          <a:prstGeom prst="roundRect">
            <a:avLst>
              <a:gd name="adj" fmla="val 26000"/>
            </a:avLst>
          </a:prstGeom>
          <a:solidFill>
            <a:srgbClr val="143A2C"/>
          </a:solidFill>
          <a:ln w="12700">
            <a:solidFill>
              <a:srgbClr val="B58AE0"/>
            </a:solidFill>
          </a:ln>
        </p:spPr>
        <p:txBody>
          <a:bodyPr wrap="square" lIns="45720" tIns="20000" rIns="45720" bIns="20000" anchor="ctr">
            <a:noAutofit/>
          </a:bodyPr>
          <a:lstStyle/>
          <a:p>
            <a:pPr algn="ctr">
              <a:buNone/>
            </a:pPr>
            <a:r>
              <a:rPr lang="en-US" sz="1250" b="1" spc="100" dirty="0">
                <a:solidFill>
                  <a:srgbClr val="B58AE0"/>
                </a:solidFill>
                <a:latin typeface="Trebuchet MS"/>
              </a:rPr>
              <a:t>RECLASSIFY</a:t>
            </a:r>
          </a:p>
        </p:txBody>
      </p:sp>
      <p:sp>
        <p:nvSpPr>
          <p:cNvPr id="28" name="b"/>
          <p:cNvSpPr/>
          <p:nvPr/>
        </p:nvSpPr>
        <p:spPr>
          <a:xfrm>
            <a:off x="6184900" y="4978400"/>
            <a:ext cx="1625600" cy="406400"/>
          </a:xfrm>
          <a:prstGeom prst="roundRect">
            <a:avLst>
              <a:gd name="adj" fmla="val 26000"/>
            </a:avLst>
          </a:prstGeom>
          <a:solidFill>
            <a:srgbClr val="143A2C"/>
          </a:solidFill>
          <a:ln w="12700">
            <a:solidFill>
              <a:srgbClr val="B58AE0"/>
            </a:solidFill>
          </a:ln>
        </p:spPr>
        <p:txBody>
          <a:bodyPr wrap="square" lIns="45720" tIns="20000" rIns="45720" bIns="20000" anchor="ctr">
            <a:noAutofit/>
          </a:bodyPr>
          <a:lstStyle/>
          <a:p>
            <a:pPr algn="ctr">
              <a:buNone/>
            </a:pPr>
            <a:r>
              <a:rPr lang="en-US" sz="1250" b="1" spc="100" dirty="0">
                <a:solidFill>
                  <a:srgbClr val="B58AE0"/>
                </a:solidFill>
                <a:latin typeface="Trebuchet MS"/>
              </a:rPr>
              <a:t>WEIGHT</a:t>
            </a:r>
          </a:p>
        </p:txBody>
      </p:sp>
      <p:sp>
        <p:nvSpPr>
          <p:cNvPr id="29" name="b"/>
          <p:cNvSpPr/>
          <p:nvPr/>
        </p:nvSpPr>
        <p:spPr>
          <a:xfrm>
            <a:off x="7988300" y="4978400"/>
            <a:ext cx="1625600" cy="406400"/>
          </a:xfrm>
          <a:prstGeom prst="roundRect">
            <a:avLst>
              <a:gd name="adj" fmla="val 26000"/>
            </a:avLst>
          </a:prstGeom>
          <a:solidFill>
            <a:srgbClr val="143A2C"/>
          </a:solidFill>
          <a:ln w="12700">
            <a:solidFill>
              <a:srgbClr val="B58AE0"/>
            </a:solidFill>
          </a:ln>
        </p:spPr>
        <p:txBody>
          <a:bodyPr wrap="square" lIns="45720" tIns="20000" rIns="45720" bIns="20000" anchor="ctr">
            <a:noAutofit/>
          </a:bodyPr>
          <a:lstStyle/>
          <a:p>
            <a:pPr algn="ctr">
              <a:buNone/>
            </a:pPr>
            <a:r>
              <a:rPr lang="en-US" sz="1250" b="1" spc="100" dirty="0">
                <a:solidFill>
                  <a:srgbClr val="B58AE0"/>
                </a:solidFill>
                <a:latin typeface="Trebuchet MS"/>
              </a:rPr>
              <a:t>OVERLAY</a:t>
            </a:r>
          </a:p>
        </p:txBody>
      </p:sp>
      <p:pic>
        <p:nvPicPr>
          <p:cNvPr id="30" name="Graphic 30" descr="Suitability layers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42000" y="1447800"/>
            <a:ext cx="508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8622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"/>
          <p:cNvSpPr txBox="1"/>
          <p:nvPr/>
        </p:nvSpPr>
        <p:spPr>
          <a:xfrm>
            <a:off x="812800" y="508000"/>
            <a:ext cx="6604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00" b="1" spc="200" dirty="0">
                <a:solidFill>
                  <a:srgbClr val="E3B24A"/>
                </a:solidFill>
                <a:latin typeface="Trebuchet MS"/>
              </a:rPr>
              <a:t>SUITABILITY MODELING</a:t>
            </a:r>
          </a:p>
        </p:txBody>
      </p:sp>
      <p:sp>
        <p:nvSpPr>
          <p:cNvPr id="21" name="t"/>
          <p:cNvSpPr txBox="1"/>
          <p:nvPr/>
        </p:nvSpPr>
        <p:spPr>
          <a:xfrm>
            <a:off x="8890000" y="355600"/>
            <a:ext cx="2794000" cy="939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</a:pPr>
            <a:r>
              <a:rPr lang="en-US" sz="4600" b="1" dirty="0">
                <a:solidFill>
                  <a:srgbClr val="1C4835"/>
                </a:solidFill>
                <a:latin typeface="Trebuchet MS"/>
              </a:rPr>
              <a:t>14</a:t>
            </a:r>
          </a:p>
        </p:txBody>
      </p:sp>
      <p:sp>
        <p:nvSpPr>
          <p:cNvPr id="22" name="t"/>
          <p:cNvSpPr txBox="1"/>
          <p:nvPr/>
        </p:nvSpPr>
        <p:spPr>
          <a:xfrm>
            <a:off x="812800" y="762000"/>
            <a:ext cx="83820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3000" b="1" dirty="0">
                <a:solidFill>
                  <a:srgbClr val="EEF3EF"/>
                </a:solidFill>
                <a:latin typeface="Trebuchet MS"/>
              </a:rPr>
              <a:t>The weighted-overlay workflow</a:t>
            </a:r>
          </a:p>
        </p:txBody>
      </p:sp>
      <p:sp>
        <p:nvSpPr>
          <p:cNvPr id="23" name="b"/>
          <p:cNvSpPr/>
          <p:nvPr/>
        </p:nvSpPr>
        <p:spPr>
          <a:xfrm>
            <a:off x="838200" y="1346200"/>
            <a:ext cx="355600" cy="63500"/>
          </a:xfrm>
          <a:prstGeom prst="rect">
            <a:avLst/>
          </a:prstGeom>
          <a:solidFill>
            <a:srgbClr val="DE843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b"/>
          <p:cNvSpPr/>
          <p:nvPr/>
        </p:nvSpPr>
        <p:spPr>
          <a:xfrm>
            <a:off x="1244600" y="1346200"/>
            <a:ext cx="355600" cy="63500"/>
          </a:xfrm>
          <a:prstGeom prst="rect">
            <a:avLst/>
          </a:prstGeom>
          <a:solidFill>
            <a:srgbClr val="2FB8B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b"/>
          <p:cNvSpPr/>
          <p:nvPr/>
        </p:nvSpPr>
        <p:spPr>
          <a:xfrm>
            <a:off x="1651000" y="1346200"/>
            <a:ext cx="355600" cy="63500"/>
          </a:xfrm>
          <a:prstGeom prst="rect">
            <a:avLst/>
          </a:prstGeom>
          <a:solidFill>
            <a:srgbClr val="B58AE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t"/>
          <p:cNvSpPr txBox="1"/>
          <p:nvPr/>
        </p:nvSpPr>
        <p:spPr>
          <a:xfrm>
            <a:off x="812800" y="1473200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500" dirty="0">
                <a:solidFill>
                  <a:srgbClr val="C2D2CA"/>
                </a:solidFill>
              </a:rPr>
              <a:t>Blend several criteria rasters into one suitability score</a:t>
            </a:r>
          </a:p>
        </p:txBody>
      </p:sp>
      <p:sp>
        <p:nvSpPr>
          <p:cNvPr id="27" name="card"/>
          <p:cNvSpPr/>
          <p:nvPr/>
        </p:nvSpPr>
        <p:spPr>
          <a:xfrm>
            <a:off x="812800" y="1905000"/>
            <a:ext cx="5588000" cy="4343400"/>
          </a:xfrm>
          <a:prstGeom prst="roundRect">
            <a:avLst>
              <a:gd name="adj" fmla="val 3000"/>
            </a:avLst>
          </a:prstGeom>
          <a:solidFill>
            <a:srgbClr val="143A2C"/>
          </a:solidFill>
          <a:ln w="12700">
            <a:solidFill>
              <a:srgbClr val="2F584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8" name="t"/>
          <p:cNvSpPr txBox="1"/>
          <p:nvPr/>
        </p:nvSpPr>
        <p:spPr>
          <a:xfrm>
            <a:off x="1117600" y="215900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00" b="1" spc="150" dirty="0">
                <a:solidFill>
                  <a:srgbClr val="E3B24A"/>
                </a:solidFill>
                <a:latin typeface="Trebuchet MS"/>
              </a:rPr>
              <a:t>FOUR STEPS</a:t>
            </a:r>
          </a:p>
        </p:txBody>
      </p:sp>
      <p:sp>
        <p:nvSpPr>
          <p:cNvPr id="29" name="chip0"/>
          <p:cNvSpPr/>
          <p:nvPr/>
        </p:nvSpPr>
        <p:spPr>
          <a:xfrm>
            <a:off x="1117600" y="2565400"/>
            <a:ext cx="508000" cy="508000"/>
          </a:xfrm>
          <a:prstGeom prst="roundRect">
            <a:avLst>
              <a:gd name="adj" fmla="val 18000"/>
            </a:avLst>
          </a:prstGeom>
          <a:solidFill>
            <a:srgbClr val="173D2E"/>
          </a:solidFill>
          <a:ln w="15875">
            <a:solidFill>
              <a:srgbClr val="B58AE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" name="t"/>
          <p:cNvSpPr txBox="1"/>
          <p:nvPr/>
        </p:nvSpPr>
        <p:spPr>
          <a:xfrm>
            <a:off x="1778000" y="2540000"/>
            <a:ext cx="4445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EEF3EF"/>
                </a:solidFill>
                <a:latin typeface="Trebuchet MS"/>
              </a:rPr>
              <a:t>Define criteria</a:t>
            </a:r>
          </a:p>
        </p:txBody>
      </p:sp>
      <p:sp>
        <p:nvSpPr>
          <p:cNvPr id="31" name="t"/>
          <p:cNvSpPr txBox="1"/>
          <p:nvPr/>
        </p:nvSpPr>
        <p:spPr>
          <a:xfrm>
            <a:off x="1778000" y="2819400"/>
            <a:ext cx="44704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en-US" sz="1300" dirty="0">
                <a:solidFill>
                  <a:srgbClr val="C2D2CA"/>
                </a:solidFill>
              </a:rPr>
              <a:t>List the factors that make a site good or bad — slope, land cover, distance.</a:t>
            </a:r>
          </a:p>
        </p:txBody>
      </p:sp>
      <p:sp>
        <p:nvSpPr>
          <p:cNvPr id="32" name="chip1"/>
          <p:cNvSpPr/>
          <p:nvPr/>
        </p:nvSpPr>
        <p:spPr>
          <a:xfrm>
            <a:off x="1117600" y="3403600"/>
            <a:ext cx="508000" cy="508000"/>
          </a:xfrm>
          <a:prstGeom prst="roundRect">
            <a:avLst>
              <a:gd name="adj" fmla="val 18000"/>
            </a:avLst>
          </a:prstGeom>
          <a:solidFill>
            <a:srgbClr val="173D2E"/>
          </a:solidFill>
          <a:ln w="15875">
            <a:solidFill>
              <a:srgbClr val="B58AE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3" name="t"/>
          <p:cNvSpPr txBox="1"/>
          <p:nvPr/>
        </p:nvSpPr>
        <p:spPr>
          <a:xfrm>
            <a:off x="1778000" y="3378200"/>
            <a:ext cx="4445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EEF3EF"/>
                </a:solidFill>
                <a:latin typeface="Trebuchet MS"/>
              </a:rPr>
              <a:t>Reclassify</a:t>
            </a:r>
          </a:p>
        </p:txBody>
      </p:sp>
      <p:sp>
        <p:nvSpPr>
          <p:cNvPr id="34" name="t"/>
          <p:cNvSpPr txBox="1"/>
          <p:nvPr/>
        </p:nvSpPr>
        <p:spPr>
          <a:xfrm>
            <a:off x="1778000" y="3657600"/>
            <a:ext cx="44704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en-US" sz="1300" dirty="0">
                <a:solidFill>
                  <a:srgbClr val="C2D2CA"/>
                </a:solidFill>
              </a:rPr>
              <a:t>Rescale every input raster onto one common suitability scale, e.g. 1–9.</a:t>
            </a:r>
          </a:p>
        </p:txBody>
      </p:sp>
      <p:sp>
        <p:nvSpPr>
          <p:cNvPr id="35" name="chip2"/>
          <p:cNvSpPr/>
          <p:nvPr/>
        </p:nvSpPr>
        <p:spPr>
          <a:xfrm>
            <a:off x="1117600" y="4241800"/>
            <a:ext cx="508000" cy="508000"/>
          </a:xfrm>
          <a:prstGeom prst="roundRect">
            <a:avLst>
              <a:gd name="adj" fmla="val 18000"/>
            </a:avLst>
          </a:prstGeom>
          <a:solidFill>
            <a:srgbClr val="173D2E"/>
          </a:solidFill>
          <a:ln w="15875">
            <a:solidFill>
              <a:srgbClr val="B58AE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6" name="t"/>
          <p:cNvSpPr txBox="1"/>
          <p:nvPr/>
        </p:nvSpPr>
        <p:spPr>
          <a:xfrm>
            <a:off x="1778000" y="4216400"/>
            <a:ext cx="4445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EEF3EF"/>
                </a:solidFill>
                <a:latin typeface="Trebuchet MS"/>
              </a:rPr>
              <a:t>Weight</a:t>
            </a:r>
          </a:p>
        </p:txBody>
      </p:sp>
      <p:sp>
        <p:nvSpPr>
          <p:cNvPr id="37" name="t"/>
          <p:cNvSpPr txBox="1"/>
          <p:nvPr/>
        </p:nvSpPr>
        <p:spPr>
          <a:xfrm>
            <a:off x="1778000" y="4495800"/>
            <a:ext cx="44704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en-US" sz="1300" dirty="0">
                <a:solidFill>
                  <a:srgbClr val="C2D2CA"/>
                </a:solidFill>
              </a:rPr>
              <a:t>Give each criterion an importance weight; the weights sum to 100%.</a:t>
            </a:r>
          </a:p>
        </p:txBody>
      </p:sp>
      <p:sp>
        <p:nvSpPr>
          <p:cNvPr id="38" name="chip3"/>
          <p:cNvSpPr/>
          <p:nvPr/>
        </p:nvSpPr>
        <p:spPr>
          <a:xfrm>
            <a:off x="1117600" y="5080000"/>
            <a:ext cx="508000" cy="508000"/>
          </a:xfrm>
          <a:prstGeom prst="roundRect">
            <a:avLst>
              <a:gd name="adj" fmla="val 18000"/>
            </a:avLst>
          </a:prstGeom>
          <a:solidFill>
            <a:srgbClr val="173D2E"/>
          </a:solidFill>
          <a:ln w="15875">
            <a:solidFill>
              <a:srgbClr val="B58AE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9" name="t"/>
          <p:cNvSpPr txBox="1"/>
          <p:nvPr/>
        </p:nvSpPr>
        <p:spPr>
          <a:xfrm>
            <a:off x="1778000" y="5054600"/>
            <a:ext cx="4445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EEF3EF"/>
                </a:solidFill>
                <a:latin typeface="Trebuchet MS"/>
              </a:rPr>
              <a:t>Overlay &amp; score</a:t>
            </a:r>
          </a:p>
        </p:txBody>
      </p:sp>
      <p:sp>
        <p:nvSpPr>
          <p:cNvPr id="40" name="t"/>
          <p:cNvSpPr txBox="1"/>
          <p:nvPr/>
        </p:nvSpPr>
        <p:spPr>
          <a:xfrm>
            <a:off x="1778000" y="5334000"/>
            <a:ext cx="44704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en-US" sz="1300" dirty="0">
                <a:solidFill>
                  <a:srgbClr val="C2D2CA"/>
                </a:solidFill>
              </a:rPr>
              <a:t>Combine the weighted layers into a single suitability surface.</a:t>
            </a:r>
          </a:p>
        </p:txBody>
      </p:sp>
      <p:sp>
        <p:nvSpPr>
          <p:cNvPr id="41" name="pa"/>
          <p:cNvSpPr/>
          <p:nvPr/>
        </p:nvSpPr>
        <p:spPr>
          <a:xfrm>
            <a:off x="6705600" y="1905000"/>
            <a:ext cx="4673600" cy="1854200"/>
          </a:xfrm>
          <a:prstGeom prst="roundRect">
            <a:avLst>
              <a:gd name="adj" fmla="val 3000"/>
            </a:avLst>
          </a:prstGeom>
          <a:solidFill>
            <a:srgbClr val="143A2C"/>
          </a:solidFill>
          <a:ln w="12700">
            <a:solidFill>
              <a:srgbClr val="2F584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2" name="t"/>
          <p:cNvSpPr txBox="1"/>
          <p:nvPr/>
        </p:nvSpPr>
        <p:spPr>
          <a:xfrm>
            <a:off x="7010400" y="2133600"/>
            <a:ext cx="40894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00" b="1" spc="150" dirty="0">
                <a:solidFill>
                  <a:srgbClr val="E3B24A"/>
                </a:solidFill>
                <a:latin typeface="Trebuchet MS"/>
              </a:rPr>
              <a:t>HOW IT WORKS</a:t>
            </a:r>
          </a:p>
        </p:txBody>
      </p:sp>
      <p:sp>
        <p:nvSpPr>
          <p:cNvPr id="43" name="t"/>
          <p:cNvSpPr txBox="1"/>
          <p:nvPr/>
        </p:nvSpPr>
        <p:spPr>
          <a:xfrm>
            <a:off x="7010400" y="2489200"/>
            <a:ext cx="4089400" cy="1168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6000"/>
              </a:lnSpc>
              <a:buNone/>
            </a:pPr>
            <a:r>
              <a:rPr lang="en-US" sz="1350" dirty="0">
                <a:solidFill>
                  <a:srgbClr val="C2D2CA"/>
                </a:solidFill>
              </a:rPr>
              <a:t>Each reclassified layer is multiplied by its weight and added — so every cell ends up with one suitability score.</a:t>
            </a:r>
          </a:p>
        </p:txBody>
      </p:sp>
      <p:sp>
        <p:nvSpPr>
          <p:cNvPr id="44" name="pb"/>
          <p:cNvSpPr/>
          <p:nvPr/>
        </p:nvSpPr>
        <p:spPr>
          <a:xfrm>
            <a:off x="6705600" y="3962400"/>
            <a:ext cx="4673600" cy="2286000"/>
          </a:xfrm>
          <a:prstGeom prst="roundRect">
            <a:avLst>
              <a:gd name="adj" fmla="val 3000"/>
            </a:avLst>
          </a:prstGeom>
          <a:solidFill>
            <a:srgbClr val="173D2E"/>
          </a:solidFill>
          <a:ln w="15875">
            <a:solidFill>
              <a:srgbClr val="B58AE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5" name="dot"/>
          <p:cNvSpPr/>
          <p:nvPr/>
        </p:nvSpPr>
        <p:spPr>
          <a:xfrm>
            <a:off x="6959600" y="4229100"/>
            <a:ext cx="152400" cy="152400"/>
          </a:xfrm>
          <a:prstGeom prst="roundRect">
            <a:avLst>
              <a:gd name="adj" fmla="val 40000"/>
            </a:avLst>
          </a:prstGeom>
          <a:solidFill>
            <a:srgbClr val="B58AE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6" name="t"/>
          <p:cNvSpPr txBox="1"/>
          <p:nvPr/>
        </p:nvSpPr>
        <p:spPr>
          <a:xfrm>
            <a:off x="7239000" y="4203700"/>
            <a:ext cx="3937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00" b="1" spc="50" dirty="0">
                <a:solidFill>
                  <a:srgbClr val="B58AE0"/>
                </a:solidFill>
                <a:latin typeface="Trebuchet MS"/>
              </a:rPr>
              <a:t>WHERE TO FIND IT IN ARCGIS PRO</a:t>
            </a:r>
          </a:p>
        </p:txBody>
      </p:sp>
      <p:sp>
        <p:nvSpPr>
          <p:cNvPr id="47" name="t"/>
          <p:cNvSpPr txBox="1"/>
          <p:nvPr/>
        </p:nvSpPr>
        <p:spPr>
          <a:xfrm>
            <a:off x="6959600" y="4572000"/>
            <a:ext cx="42418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350" b="1" dirty="0">
                <a:solidFill>
                  <a:srgbClr val="EEF3EF"/>
                </a:solidFill>
              </a:rPr>
              <a:t>Spatial Analyst ▸ Overlay ▸ Weighted Overlay</a:t>
            </a:r>
          </a:p>
        </p:txBody>
      </p:sp>
      <p:sp>
        <p:nvSpPr>
          <p:cNvPr id="48" name="t"/>
          <p:cNvSpPr txBox="1"/>
          <p:nvPr/>
        </p:nvSpPr>
        <p:spPr>
          <a:xfrm>
            <a:off x="6959600" y="4953000"/>
            <a:ext cx="42418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300" dirty="0">
                <a:solidFill>
                  <a:srgbClr val="B58AE0"/>
                </a:solidFill>
              </a:rPr>
              <a:t>Also: Reclass ▸ Reclassify · Distance tools</a:t>
            </a:r>
          </a:p>
        </p:txBody>
      </p:sp>
      <p:sp>
        <p:nvSpPr>
          <p:cNvPr id="49" name="t"/>
          <p:cNvSpPr txBox="1"/>
          <p:nvPr/>
        </p:nvSpPr>
        <p:spPr>
          <a:xfrm>
            <a:off x="6959600" y="5334000"/>
            <a:ext cx="42418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en-US" sz="1250" i="1" dirty="0">
                <a:solidFill>
                  <a:srgbClr val="8AA595"/>
                </a:solidFill>
              </a:rPr>
              <a:t>Tip: Weighted Sum works too when weights are raw multipliers.</a:t>
            </a:r>
          </a:p>
        </p:txBody>
      </p:sp>
      <p:pic>
        <p:nvPicPr>
          <p:cNvPr id="50" name="Graphic 50" descr="Criteria checklis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31900" y="2679700"/>
            <a:ext cx="279400" cy="279400"/>
          </a:xfrm>
          <a:prstGeom prst="rect">
            <a:avLst/>
          </a:prstGeom>
        </p:spPr>
      </p:pic>
      <p:pic>
        <p:nvPicPr>
          <p:cNvPr id="51" name="Graphic 51" descr="Reclassif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31900" y="3517900"/>
            <a:ext cx="279400" cy="279400"/>
          </a:xfrm>
          <a:prstGeom prst="rect">
            <a:avLst/>
          </a:prstGeom>
        </p:spPr>
      </p:pic>
      <p:pic>
        <p:nvPicPr>
          <p:cNvPr id="52" name="Graphic 52" descr="Weight scale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1900" y="4356100"/>
            <a:ext cx="279400" cy="279400"/>
          </a:xfrm>
          <a:prstGeom prst="rect">
            <a:avLst/>
          </a:prstGeom>
        </p:spPr>
      </p:pic>
      <p:pic>
        <p:nvPicPr>
          <p:cNvPr id="53" name="Graphic 53" descr="Overlay layer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31900" y="5194300"/>
            <a:ext cx="279400" cy="27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1086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"/>
          <p:cNvSpPr txBox="1"/>
          <p:nvPr/>
        </p:nvSpPr>
        <p:spPr>
          <a:xfrm>
            <a:off x="812800" y="508000"/>
            <a:ext cx="7112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00" b="1" spc="200" dirty="0">
                <a:solidFill>
                  <a:srgbClr val="E3B24A"/>
                </a:solidFill>
                <a:latin typeface="Trebuchet MS"/>
              </a:rPr>
              <a:t>SUITABILITY MODELING</a:t>
            </a:r>
          </a:p>
        </p:txBody>
      </p:sp>
      <p:sp>
        <p:nvSpPr>
          <p:cNvPr id="21" name="t"/>
          <p:cNvSpPr txBox="1"/>
          <p:nvPr/>
        </p:nvSpPr>
        <p:spPr>
          <a:xfrm>
            <a:off x="8890000" y="355600"/>
            <a:ext cx="2794000" cy="939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</a:pPr>
            <a:r>
              <a:rPr lang="en-US" sz="4600" b="1" dirty="0">
                <a:solidFill>
                  <a:srgbClr val="1C4835"/>
                </a:solidFill>
                <a:latin typeface="Trebuchet MS"/>
              </a:rPr>
              <a:t>15</a:t>
            </a:r>
          </a:p>
        </p:txBody>
      </p:sp>
      <p:sp>
        <p:nvSpPr>
          <p:cNvPr id="22" name="t"/>
          <p:cNvSpPr txBox="1"/>
          <p:nvPr/>
        </p:nvSpPr>
        <p:spPr>
          <a:xfrm>
            <a:off x="812800" y="762000"/>
            <a:ext cx="81280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3000" b="1" dirty="0">
                <a:solidFill>
                  <a:srgbClr val="EEF3EF"/>
                </a:solidFill>
                <a:latin typeface="Trebuchet MS"/>
              </a:rPr>
              <a:t>Siting a solar farm in Arizona</a:t>
            </a:r>
          </a:p>
        </p:txBody>
      </p:sp>
      <p:sp>
        <p:nvSpPr>
          <p:cNvPr id="23" name="b"/>
          <p:cNvSpPr/>
          <p:nvPr/>
        </p:nvSpPr>
        <p:spPr>
          <a:xfrm>
            <a:off x="838200" y="1346200"/>
            <a:ext cx="355600" cy="63500"/>
          </a:xfrm>
          <a:prstGeom prst="rect">
            <a:avLst/>
          </a:prstGeom>
          <a:solidFill>
            <a:srgbClr val="DE843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b"/>
          <p:cNvSpPr/>
          <p:nvPr/>
        </p:nvSpPr>
        <p:spPr>
          <a:xfrm>
            <a:off x="1244600" y="1346200"/>
            <a:ext cx="355600" cy="63500"/>
          </a:xfrm>
          <a:prstGeom prst="rect">
            <a:avLst/>
          </a:prstGeom>
          <a:solidFill>
            <a:srgbClr val="2FB8B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b"/>
          <p:cNvSpPr/>
          <p:nvPr/>
        </p:nvSpPr>
        <p:spPr>
          <a:xfrm>
            <a:off x="1651000" y="1346200"/>
            <a:ext cx="355600" cy="63500"/>
          </a:xfrm>
          <a:prstGeom prst="rect">
            <a:avLst/>
          </a:prstGeom>
          <a:solidFill>
            <a:srgbClr val="B58AE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t"/>
          <p:cNvSpPr txBox="1"/>
          <p:nvPr/>
        </p:nvSpPr>
        <p:spPr>
          <a:xfrm>
            <a:off x="812800" y="1473200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500" dirty="0">
                <a:solidFill>
                  <a:srgbClr val="C2D2CA"/>
                </a:solidFill>
              </a:rPr>
              <a:t>Four criteria layers, weighted and overlaid into one suitability map</a:t>
            </a:r>
          </a:p>
        </p:txBody>
      </p:sp>
      <p:sp>
        <p:nvSpPr>
          <p:cNvPr id="27" name="frame"/>
          <p:cNvSpPr/>
          <p:nvPr/>
        </p:nvSpPr>
        <p:spPr>
          <a:xfrm>
            <a:off x="812800" y="1905000"/>
            <a:ext cx="5080000" cy="4343400"/>
          </a:xfrm>
          <a:prstGeom prst="roundRect">
            <a:avLst>
              <a:gd name="adj" fmla="val 4000"/>
            </a:avLst>
          </a:prstGeom>
          <a:solidFill>
            <a:srgbClr val="173D2E"/>
          </a:solidFill>
          <a:ln w="19050">
            <a:solidFill>
              <a:srgbClr val="B58AE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8" name="t"/>
          <p:cNvSpPr txBox="1"/>
          <p:nvPr/>
        </p:nvSpPr>
        <p:spPr>
          <a:xfrm>
            <a:off x="1066800" y="3810000"/>
            <a:ext cx="45720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US" sz="1800" b="1" dirty="0">
                <a:solidFill>
                  <a:srgbClr val="EEF3EF"/>
                </a:solidFill>
                <a:latin typeface="Trebuchet MS"/>
              </a:rPr>
              <a:t>Arizona, USA</a:t>
            </a:r>
          </a:p>
        </p:txBody>
      </p:sp>
      <p:sp>
        <p:nvSpPr>
          <p:cNvPr id="29" name="t"/>
          <p:cNvSpPr txBox="1"/>
          <p:nvPr/>
        </p:nvSpPr>
        <p:spPr>
          <a:xfrm>
            <a:off x="1066800" y="4241800"/>
            <a:ext cx="4572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US" sz="1350" b="1" dirty="0">
                <a:solidFill>
                  <a:srgbClr val="B58AE0"/>
                </a:solidFill>
                <a:latin typeface="Trebuchet MS"/>
              </a:rPr>
              <a:t>Utility-scale solar siting</a:t>
            </a:r>
          </a:p>
        </p:txBody>
      </p:sp>
      <p:sp>
        <p:nvSpPr>
          <p:cNvPr id="30" name="t"/>
          <p:cNvSpPr txBox="1"/>
          <p:nvPr/>
        </p:nvSpPr>
        <p:spPr>
          <a:xfrm>
            <a:off x="1066800" y="5435600"/>
            <a:ext cx="4572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US" sz="1250" i="1" dirty="0">
                <a:solidFill>
                  <a:srgbClr val="8AA595"/>
                </a:solidFill>
              </a:rPr>
              <a:t>high sun · flat ground · open land · near grid</a:t>
            </a:r>
          </a:p>
        </p:txBody>
      </p:sp>
      <p:sp>
        <p:nvSpPr>
          <p:cNvPr id="31" name="t"/>
          <p:cNvSpPr txBox="1"/>
          <p:nvPr/>
        </p:nvSpPr>
        <p:spPr>
          <a:xfrm>
            <a:off x="6299200" y="213360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00" b="1" spc="150" dirty="0">
                <a:solidFill>
                  <a:srgbClr val="E3B24A"/>
                </a:solidFill>
                <a:latin typeface="Trebuchet MS"/>
              </a:rPr>
              <a:t>WORKFLOW</a:t>
            </a:r>
          </a:p>
        </p:txBody>
      </p:sp>
      <p:sp>
        <p:nvSpPr>
          <p:cNvPr id="32" name="chip0"/>
          <p:cNvSpPr/>
          <p:nvPr/>
        </p:nvSpPr>
        <p:spPr>
          <a:xfrm>
            <a:off x="6299200" y="2565400"/>
            <a:ext cx="508000" cy="508000"/>
          </a:xfrm>
          <a:prstGeom prst="roundRect">
            <a:avLst>
              <a:gd name="adj" fmla="val 18000"/>
            </a:avLst>
          </a:prstGeom>
          <a:solidFill>
            <a:srgbClr val="173D2E"/>
          </a:solidFill>
          <a:ln w="15875">
            <a:solidFill>
              <a:srgbClr val="B58AE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3" name="t"/>
          <p:cNvSpPr txBox="1"/>
          <p:nvPr/>
        </p:nvSpPr>
        <p:spPr>
          <a:xfrm>
            <a:off x="6959600" y="2540000"/>
            <a:ext cx="44704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EEF3EF"/>
                </a:solidFill>
                <a:latin typeface="Trebuchet MS"/>
              </a:rPr>
              <a:t>Gather the criteria</a:t>
            </a:r>
          </a:p>
        </p:txBody>
      </p:sp>
      <p:sp>
        <p:nvSpPr>
          <p:cNvPr id="34" name="t"/>
          <p:cNvSpPr txBox="1"/>
          <p:nvPr/>
        </p:nvSpPr>
        <p:spPr>
          <a:xfrm>
            <a:off x="6959600" y="2819400"/>
            <a:ext cx="44704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en-US" sz="1300" dirty="0">
                <a:solidFill>
                  <a:srgbClr val="C2D2CA"/>
                </a:solidFill>
              </a:rPr>
              <a:t>Slope (3DEP), land cover (NLCD), solar resource (NREL GHI) and distance to transmission lines.</a:t>
            </a:r>
          </a:p>
        </p:txBody>
      </p:sp>
      <p:sp>
        <p:nvSpPr>
          <p:cNvPr id="35" name="chip1"/>
          <p:cNvSpPr/>
          <p:nvPr/>
        </p:nvSpPr>
        <p:spPr>
          <a:xfrm>
            <a:off x="6299200" y="3454400"/>
            <a:ext cx="508000" cy="508000"/>
          </a:xfrm>
          <a:prstGeom prst="roundRect">
            <a:avLst>
              <a:gd name="adj" fmla="val 18000"/>
            </a:avLst>
          </a:prstGeom>
          <a:solidFill>
            <a:srgbClr val="173D2E"/>
          </a:solidFill>
          <a:ln w="15875">
            <a:solidFill>
              <a:srgbClr val="B58AE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6" name="t"/>
          <p:cNvSpPr txBox="1"/>
          <p:nvPr/>
        </p:nvSpPr>
        <p:spPr>
          <a:xfrm>
            <a:off x="6959600" y="3429000"/>
            <a:ext cx="44704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EEF3EF"/>
                </a:solidFill>
                <a:latin typeface="Trebuchet MS"/>
              </a:rPr>
              <a:t>Reclassify &amp; weight</a:t>
            </a:r>
          </a:p>
        </p:txBody>
      </p:sp>
      <p:sp>
        <p:nvSpPr>
          <p:cNvPr id="37" name="t"/>
          <p:cNvSpPr txBox="1"/>
          <p:nvPr/>
        </p:nvSpPr>
        <p:spPr>
          <a:xfrm>
            <a:off x="6959600" y="3708400"/>
            <a:ext cx="44704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en-US" sz="1300" dirty="0">
                <a:solidFill>
                  <a:srgbClr val="C2D2CA"/>
                </a:solidFill>
              </a:rPr>
              <a:t>Rescale each layer to 1–9; weight solar resource and slope the highest.</a:t>
            </a:r>
          </a:p>
        </p:txBody>
      </p:sp>
      <p:sp>
        <p:nvSpPr>
          <p:cNvPr id="38" name="chip2"/>
          <p:cNvSpPr/>
          <p:nvPr/>
        </p:nvSpPr>
        <p:spPr>
          <a:xfrm>
            <a:off x="6299200" y="4343400"/>
            <a:ext cx="508000" cy="508000"/>
          </a:xfrm>
          <a:prstGeom prst="roundRect">
            <a:avLst>
              <a:gd name="adj" fmla="val 18000"/>
            </a:avLst>
          </a:prstGeom>
          <a:solidFill>
            <a:srgbClr val="173D2E"/>
          </a:solidFill>
          <a:ln w="15875">
            <a:solidFill>
              <a:srgbClr val="B58AE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9" name="t"/>
          <p:cNvSpPr txBox="1"/>
          <p:nvPr/>
        </p:nvSpPr>
        <p:spPr>
          <a:xfrm>
            <a:off x="6959600" y="4318000"/>
            <a:ext cx="44704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EEF3EF"/>
                </a:solidFill>
                <a:latin typeface="Trebuchet MS"/>
              </a:rPr>
              <a:t>Overlay &amp; rank</a:t>
            </a:r>
          </a:p>
        </p:txBody>
      </p:sp>
      <p:sp>
        <p:nvSpPr>
          <p:cNvPr id="40" name="t"/>
          <p:cNvSpPr txBox="1"/>
          <p:nvPr/>
        </p:nvSpPr>
        <p:spPr>
          <a:xfrm>
            <a:off x="6959600" y="4597400"/>
            <a:ext cx="44704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en-US" sz="1300" dirty="0">
                <a:solidFill>
                  <a:srgbClr val="C2D2CA"/>
                </a:solidFill>
              </a:rPr>
              <a:t>Weighted Overlay yields a 1–9 map — the 8–9 zones are the best sites.</a:t>
            </a:r>
          </a:p>
        </p:txBody>
      </p:sp>
      <p:sp>
        <p:nvSpPr>
          <p:cNvPr id="41" name="databand"/>
          <p:cNvSpPr/>
          <p:nvPr/>
        </p:nvSpPr>
        <p:spPr>
          <a:xfrm>
            <a:off x="6299200" y="5207000"/>
            <a:ext cx="5080000" cy="1016000"/>
          </a:xfrm>
          <a:prstGeom prst="roundRect">
            <a:avLst>
              <a:gd name="adj" fmla="val 3000"/>
            </a:avLst>
          </a:prstGeom>
          <a:solidFill>
            <a:srgbClr val="1E3A2C"/>
          </a:solidFill>
          <a:ln w="15875">
            <a:solidFill>
              <a:srgbClr val="E3B24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2" name="t"/>
          <p:cNvSpPr txBox="1"/>
          <p:nvPr/>
        </p:nvSpPr>
        <p:spPr>
          <a:xfrm>
            <a:off x="6959600" y="5384800"/>
            <a:ext cx="4191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50" b="1" spc="150" dirty="0">
                <a:solidFill>
                  <a:srgbClr val="E3B24A"/>
                </a:solidFill>
                <a:latin typeface="Trebuchet MS"/>
              </a:rPr>
              <a:t>FREE DATA SOURCES</a:t>
            </a:r>
          </a:p>
        </p:txBody>
      </p:sp>
      <p:sp>
        <p:nvSpPr>
          <p:cNvPr id="43" name="t"/>
          <p:cNvSpPr txBox="1"/>
          <p:nvPr/>
        </p:nvSpPr>
        <p:spPr>
          <a:xfrm>
            <a:off x="6959600" y="5638800"/>
            <a:ext cx="4241800" cy="482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en-US" sz="1300" dirty="0">
                <a:solidFill>
                  <a:srgbClr val="C2D2CA"/>
                </a:solidFill>
              </a:rPr>
              <a:t>USGS 3DEP · MRLC NLCD · NREL NSRDB — all free (nrel.gov, mrlc.gov)</a:t>
            </a:r>
          </a:p>
        </p:txBody>
      </p:sp>
      <p:pic>
        <p:nvPicPr>
          <p:cNvPr id="44" name="Graphic 44" descr="Solar sun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819400" y="2489200"/>
            <a:ext cx="1066800" cy="1066800"/>
          </a:xfrm>
          <a:prstGeom prst="rect">
            <a:avLst/>
          </a:prstGeom>
        </p:spPr>
      </p:pic>
      <p:pic>
        <p:nvPicPr>
          <p:cNvPr id="45" name="Graphic 45" descr="Gather criteria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13500" y="2679700"/>
            <a:ext cx="279400" cy="279400"/>
          </a:xfrm>
          <a:prstGeom prst="rect">
            <a:avLst/>
          </a:prstGeom>
        </p:spPr>
      </p:pic>
      <p:pic>
        <p:nvPicPr>
          <p:cNvPr id="46" name="Graphic 46" descr="Reclassify and weigh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13500" y="3568700"/>
            <a:ext cx="279400" cy="279400"/>
          </a:xfrm>
          <a:prstGeom prst="rect">
            <a:avLst/>
          </a:prstGeom>
        </p:spPr>
      </p:pic>
      <p:pic>
        <p:nvPicPr>
          <p:cNvPr id="47" name="Graphic 47" descr="Overlay and ran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13500" y="4457700"/>
            <a:ext cx="279400" cy="279400"/>
          </a:xfrm>
          <a:prstGeom prst="rect">
            <a:avLst/>
          </a:prstGeom>
        </p:spPr>
      </p:pic>
      <p:pic>
        <p:nvPicPr>
          <p:cNvPr id="48" name="Graphic 48" descr="Data sourc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78600" y="5410200"/>
            <a:ext cx="228600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415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"/>
          <p:cNvSpPr txBox="1"/>
          <p:nvPr/>
        </p:nvSpPr>
        <p:spPr>
          <a:xfrm>
            <a:off x="812800" y="508000"/>
            <a:ext cx="7620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00" b="1" dirty="0">
                <a:solidFill>
                  <a:srgbClr val="E3B24A"/>
                </a:solidFill>
                <a:latin typeface="Trebuchet MS"/>
              </a:rPr>
              <a:t>SUITABILITY MODELING · HANDS-ON LAB</a:t>
            </a:r>
          </a:p>
        </p:txBody>
      </p:sp>
      <p:sp>
        <p:nvSpPr>
          <p:cNvPr id="21" name="t"/>
          <p:cNvSpPr txBox="1"/>
          <p:nvPr/>
        </p:nvSpPr>
        <p:spPr>
          <a:xfrm>
            <a:off x="8890000" y="355600"/>
            <a:ext cx="2794000" cy="939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</a:pPr>
            <a:r>
              <a:rPr lang="en-US" sz="4600" b="1" dirty="0">
                <a:solidFill>
                  <a:srgbClr val="1C4835"/>
                </a:solidFill>
                <a:latin typeface="Trebuchet MS"/>
              </a:rPr>
              <a:t>16</a:t>
            </a:r>
          </a:p>
        </p:txBody>
      </p:sp>
      <p:sp>
        <p:nvSpPr>
          <p:cNvPr id="22" name="t"/>
          <p:cNvSpPr txBox="1"/>
          <p:nvPr/>
        </p:nvSpPr>
        <p:spPr>
          <a:xfrm>
            <a:off x="812800" y="762000"/>
            <a:ext cx="81280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3000" b="1" dirty="0">
                <a:solidFill>
                  <a:srgbClr val="EEF3EF"/>
                </a:solidFill>
                <a:latin typeface="Trebuchet MS"/>
              </a:rPr>
              <a:t>Your turn — model solar suitability</a:t>
            </a:r>
          </a:p>
        </p:txBody>
      </p:sp>
      <p:sp>
        <p:nvSpPr>
          <p:cNvPr id="23" name="b"/>
          <p:cNvSpPr/>
          <p:nvPr/>
        </p:nvSpPr>
        <p:spPr>
          <a:xfrm>
            <a:off x="838200" y="1346200"/>
            <a:ext cx="355600" cy="63500"/>
          </a:xfrm>
          <a:prstGeom prst="rect">
            <a:avLst/>
          </a:prstGeom>
          <a:solidFill>
            <a:srgbClr val="DE843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b"/>
          <p:cNvSpPr/>
          <p:nvPr/>
        </p:nvSpPr>
        <p:spPr>
          <a:xfrm>
            <a:off x="1244600" y="1346200"/>
            <a:ext cx="355600" cy="63500"/>
          </a:xfrm>
          <a:prstGeom prst="rect">
            <a:avLst/>
          </a:prstGeom>
          <a:solidFill>
            <a:srgbClr val="2FB8B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b"/>
          <p:cNvSpPr/>
          <p:nvPr/>
        </p:nvSpPr>
        <p:spPr>
          <a:xfrm>
            <a:off x="1651000" y="1346200"/>
            <a:ext cx="355600" cy="63500"/>
          </a:xfrm>
          <a:prstGeom prst="rect">
            <a:avLst/>
          </a:prstGeom>
          <a:solidFill>
            <a:srgbClr val="B58AE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t"/>
          <p:cNvSpPr txBox="1"/>
          <p:nvPr/>
        </p:nvSpPr>
        <p:spPr>
          <a:xfrm>
            <a:off x="812800" y="1473200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500" dirty="0">
                <a:solidFill>
                  <a:srgbClr val="C2D2CA"/>
                </a:solidFill>
              </a:rPr>
              <a:t>Weight and overlay four criteria to rank the best solar sites in Arizona</a:t>
            </a:r>
          </a:p>
        </p:txBody>
      </p:sp>
      <p:sp>
        <p:nvSpPr>
          <p:cNvPr id="27" name="t"/>
          <p:cNvSpPr txBox="1"/>
          <p:nvPr/>
        </p:nvSpPr>
        <p:spPr>
          <a:xfrm>
            <a:off x="812800" y="213360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00" b="1" dirty="0">
                <a:solidFill>
                  <a:srgbClr val="E3B24A"/>
                </a:solidFill>
                <a:latin typeface="Trebuchet MS"/>
              </a:rPr>
              <a:t>TASK</a:t>
            </a:r>
          </a:p>
        </p:txBody>
      </p:sp>
      <p:sp>
        <p:nvSpPr>
          <p:cNvPr id="28" name="b"/>
          <p:cNvSpPr/>
          <p:nvPr/>
        </p:nvSpPr>
        <p:spPr>
          <a:xfrm>
            <a:off x="812800" y="2565400"/>
            <a:ext cx="355600" cy="355600"/>
          </a:xfrm>
          <a:prstGeom prst="ellipse">
            <a:avLst/>
          </a:prstGeom>
          <a:solidFill>
            <a:srgbClr val="B58AE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" name="t"/>
          <p:cNvSpPr txBox="1"/>
          <p:nvPr/>
        </p:nvSpPr>
        <p:spPr>
          <a:xfrm>
            <a:off x="812800" y="2616200"/>
            <a:ext cx="3556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0E2A20"/>
                </a:solidFill>
                <a:latin typeface="Trebuchet MS"/>
              </a:rPr>
              <a:t>1</a:t>
            </a:r>
          </a:p>
        </p:txBody>
      </p:sp>
      <p:sp>
        <p:nvSpPr>
          <p:cNvPr id="30" name="t"/>
          <p:cNvSpPr txBox="1"/>
          <p:nvPr/>
        </p:nvSpPr>
        <p:spPr>
          <a:xfrm>
            <a:off x="1320800" y="2578100"/>
            <a:ext cx="4724400" cy="609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en-US" sz="1350" dirty="0">
                <a:solidFill>
                  <a:srgbClr val="C2D2CA"/>
                </a:solidFill>
              </a:rPr>
              <a:t>Add slope (3DEP), NLCD land cover, NREL solar (GHI) and transmission lines.</a:t>
            </a:r>
          </a:p>
        </p:txBody>
      </p:sp>
      <p:sp>
        <p:nvSpPr>
          <p:cNvPr id="31" name="b"/>
          <p:cNvSpPr/>
          <p:nvPr/>
        </p:nvSpPr>
        <p:spPr>
          <a:xfrm>
            <a:off x="812800" y="3302000"/>
            <a:ext cx="355600" cy="355600"/>
          </a:xfrm>
          <a:prstGeom prst="ellipse">
            <a:avLst/>
          </a:prstGeom>
          <a:solidFill>
            <a:srgbClr val="B58AE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" name="t"/>
          <p:cNvSpPr txBox="1"/>
          <p:nvPr/>
        </p:nvSpPr>
        <p:spPr>
          <a:xfrm>
            <a:off x="812800" y="3352800"/>
            <a:ext cx="3556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0E2A20"/>
                </a:solidFill>
                <a:latin typeface="Trebuchet MS"/>
              </a:rPr>
              <a:t>2</a:t>
            </a:r>
          </a:p>
        </p:txBody>
      </p:sp>
      <p:sp>
        <p:nvSpPr>
          <p:cNvPr id="33" name="t"/>
          <p:cNvSpPr txBox="1"/>
          <p:nvPr/>
        </p:nvSpPr>
        <p:spPr>
          <a:xfrm>
            <a:off x="1320800" y="3314700"/>
            <a:ext cx="4724400" cy="609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en-US" sz="1350" dirty="0">
                <a:solidFill>
                  <a:srgbClr val="C2D2CA"/>
                </a:solidFill>
              </a:rPr>
              <a:t>Reclassify each raster to a 1–9 suitability scale (Spatial Analyst ▸ Reclass).</a:t>
            </a:r>
          </a:p>
        </p:txBody>
      </p:sp>
      <p:sp>
        <p:nvSpPr>
          <p:cNvPr id="34" name="b"/>
          <p:cNvSpPr/>
          <p:nvPr/>
        </p:nvSpPr>
        <p:spPr>
          <a:xfrm>
            <a:off x="812800" y="4038600"/>
            <a:ext cx="355600" cy="355600"/>
          </a:xfrm>
          <a:prstGeom prst="ellipse">
            <a:avLst/>
          </a:prstGeom>
          <a:solidFill>
            <a:srgbClr val="B58AE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5" name="t"/>
          <p:cNvSpPr txBox="1"/>
          <p:nvPr/>
        </p:nvSpPr>
        <p:spPr>
          <a:xfrm>
            <a:off x="812800" y="4089400"/>
            <a:ext cx="3556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0E2A20"/>
                </a:solidFill>
                <a:latin typeface="Trebuchet MS"/>
              </a:rPr>
              <a:t>3</a:t>
            </a:r>
          </a:p>
        </p:txBody>
      </p:sp>
      <p:sp>
        <p:nvSpPr>
          <p:cNvPr id="36" name="t"/>
          <p:cNvSpPr txBox="1"/>
          <p:nvPr/>
        </p:nvSpPr>
        <p:spPr>
          <a:xfrm>
            <a:off x="1320800" y="4051300"/>
            <a:ext cx="4724400" cy="609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en-US" sz="1350" dirty="0">
                <a:solidFill>
                  <a:srgbClr val="C2D2CA"/>
                </a:solidFill>
              </a:rPr>
              <a:t>Open Weighted Overlay (Spatial Analyst ▸ Overlay).</a:t>
            </a:r>
          </a:p>
        </p:txBody>
      </p:sp>
      <p:sp>
        <p:nvSpPr>
          <p:cNvPr id="37" name="b"/>
          <p:cNvSpPr/>
          <p:nvPr/>
        </p:nvSpPr>
        <p:spPr>
          <a:xfrm>
            <a:off x="812800" y="4775200"/>
            <a:ext cx="355600" cy="355600"/>
          </a:xfrm>
          <a:prstGeom prst="ellipse">
            <a:avLst/>
          </a:prstGeom>
          <a:solidFill>
            <a:srgbClr val="B58AE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8" name="t"/>
          <p:cNvSpPr txBox="1"/>
          <p:nvPr/>
        </p:nvSpPr>
        <p:spPr>
          <a:xfrm>
            <a:off x="812800" y="4826000"/>
            <a:ext cx="3556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0E2A20"/>
                </a:solidFill>
                <a:latin typeface="Trebuchet MS"/>
              </a:rPr>
              <a:t>4</a:t>
            </a:r>
          </a:p>
        </p:txBody>
      </p:sp>
      <p:sp>
        <p:nvSpPr>
          <p:cNvPr id="39" name="t"/>
          <p:cNvSpPr txBox="1"/>
          <p:nvPr/>
        </p:nvSpPr>
        <p:spPr>
          <a:xfrm>
            <a:off x="1320800" y="4787900"/>
            <a:ext cx="4724400" cy="609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en-US" sz="1350" dirty="0">
                <a:solidFill>
                  <a:srgbClr val="C2D2CA"/>
                </a:solidFill>
              </a:rPr>
              <a:t>Set weights — e.g. GHI 40%, slope 30%, land cover 20%, access 10%.</a:t>
            </a:r>
          </a:p>
        </p:txBody>
      </p:sp>
      <p:sp>
        <p:nvSpPr>
          <p:cNvPr id="40" name="b"/>
          <p:cNvSpPr/>
          <p:nvPr/>
        </p:nvSpPr>
        <p:spPr>
          <a:xfrm>
            <a:off x="812800" y="5511800"/>
            <a:ext cx="355600" cy="355600"/>
          </a:xfrm>
          <a:prstGeom prst="ellipse">
            <a:avLst/>
          </a:prstGeom>
          <a:solidFill>
            <a:srgbClr val="B58AE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t"/>
          <p:cNvSpPr txBox="1"/>
          <p:nvPr/>
        </p:nvSpPr>
        <p:spPr>
          <a:xfrm>
            <a:off x="812800" y="5562600"/>
            <a:ext cx="3556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0E2A20"/>
                </a:solidFill>
                <a:latin typeface="Trebuchet MS"/>
              </a:rPr>
              <a:t>5</a:t>
            </a:r>
          </a:p>
        </p:txBody>
      </p:sp>
      <p:sp>
        <p:nvSpPr>
          <p:cNvPr id="42" name="t"/>
          <p:cNvSpPr txBox="1"/>
          <p:nvPr/>
        </p:nvSpPr>
        <p:spPr>
          <a:xfrm>
            <a:off x="1320800" y="5524500"/>
            <a:ext cx="4724400" cy="609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en-US" sz="1350" dirty="0">
                <a:solidFill>
                  <a:srgbClr val="C2D2CA"/>
                </a:solidFill>
              </a:rPr>
              <a:t>Run it, symbolise the 1–9 output and highlight the 8–9 cells.</a:t>
            </a:r>
          </a:p>
        </p:txBody>
      </p:sp>
      <p:sp>
        <p:nvSpPr>
          <p:cNvPr id="43" name="akcard"/>
          <p:cNvSpPr/>
          <p:nvPr/>
        </p:nvSpPr>
        <p:spPr>
          <a:xfrm>
            <a:off x="6299200" y="1905000"/>
            <a:ext cx="5080000" cy="2311400"/>
          </a:xfrm>
          <a:prstGeom prst="roundRect">
            <a:avLst>
              <a:gd name="adj" fmla="val 3000"/>
            </a:avLst>
          </a:prstGeom>
          <a:solidFill>
            <a:srgbClr val="143A2C"/>
          </a:solidFill>
          <a:ln w="12700">
            <a:solidFill>
              <a:srgbClr val="2F584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4" name="t"/>
          <p:cNvSpPr txBox="1"/>
          <p:nvPr/>
        </p:nvSpPr>
        <p:spPr>
          <a:xfrm>
            <a:off x="6553200" y="2133600"/>
            <a:ext cx="4572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00" b="1" dirty="0">
                <a:solidFill>
                  <a:srgbClr val="E3B24A"/>
                </a:solidFill>
                <a:latin typeface="Trebuchet MS"/>
              </a:rPr>
              <a:t>ANSWER KEY</a:t>
            </a:r>
          </a:p>
        </p:txBody>
      </p:sp>
      <p:sp>
        <p:nvSpPr>
          <p:cNvPr id="201" name="answers"/>
          <p:cNvSpPr txBox="1"/>
          <p:nvPr/>
        </p:nvSpPr>
        <p:spPr>
          <a:xfrm>
            <a:off x="6553200" y="2489200"/>
            <a:ext cx="4622800" cy="162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B58AE0"/>
                </a:solidFill>
              </a:rPr>
              <a:t>Step 2 — </a:t>
            </a:r>
            <a:r>
              <a:rPr lang="en-US" sz="1300" dirty="0">
                <a:solidFill>
                  <a:srgbClr val="C2D2CA"/>
                </a:solidFill>
              </a:rPr>
              <a:t>flat land with high GHI scores 9; steep or protected land scores 1.</a:t>
            </a:r>
          </a:p>
          <a:p>
            <a:pPr algn="l">
              <a:lnSpc>
                <a:spcPct val="1200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B58AE0"/>
                </a:solidFill>
              </a:rPr>
              <a:t>Step 4 — </a:t>
            </a:r>
            <a:r>
              <a:rPr lang="en-US" sz="1300" dirty="0">
                <a:solidFill>
                  <a:srgbClr val="C2D2CA"/>
                </a:solidFill>
              </a:rPr>
              <a:t>the weights must add up to 100%.</a:t>
            </a:r>
          </a:p>
          <a:p>
            <a:pPr algn="l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58AE0"/>
                </a:solidFill>
              </a:rPr>
              <a:t>Step 5 — </a:t>
            </a:r>
            <a:r>
              <a:rPr lang="en-US" sz="1300" dirty="0">
                <a:solidFill>
                  <a:srgbClr val="C2D2CA"/>
                </a:solidFill>
              </a:rPr>
              <a:t>the 8–9 cells are your most suitable solar sites.</a:t>
            </a:r>
          </a:p>
        </p:txBody>
      </p:sp>
      <p:sp>
        <p:nvSpPr>
          <p:cNvPr id="210" name="promptA"/>
          <p:cNvSpPr/>
          <p:nvPr/>
        </p:nvSpPr>
        <p:spPr>
          <a:xfrm>
            <a:off x="6400800" y="2387600"/>
            <a:ext cx="4876800" cy="1778000"/>
          </a:xfrm>
          <a:prstGeom prst="roundRect">
            <a:avLst>
              <a:gd name="adj" fmla="val 3000"/>
            </a:avLst>
          </a:prstGeom>
          <a:solidFill>
            <a:srgbClr val="1E3A2C"/>
          </a:solidFill>
          <a:ln w="15875">
            <a:solidFill>
              <a:srgbClr val="E3B24A"/>
            </a:solidFill>
            <a:prstDash val="dash"/>
          </a:ln>
        </p:spPr>
        <p:txBody>
          <a:bodyPr wrap="square" lIns="91440" tIns="45720" rIns="45720" bIns="45720" anchor="ctr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F0D48A"/>
                </a:solidFill>
                <a:latin typeface="Trebuchet MS"/>
              </a:rPr>
              <a:t>Click to reveal the Answer Key</a:t>
            </a:r>
          </a:p>
          <a:p>
            <a:pPr algn="ctr">
              <a:buNone/>
            </a:pPr>
            <a:r>
              <a:rPr lang="en-US" sz="1150" dirty="0">
                <a:solidFill>
                  <a:srgbClr val="8AA595"/>
                </a:solidFill>
              </a:rPr>
              <a:t>(in Slide Show)</a:t>
            </a:r>
          </a:p>
        </p:txBody>
      </p:sp>
      <p:sp>
        <p:nvSpPr>
          <p:cNvPr id="45" name="ercard"/>
          <p:cNvSpPr/>
          <p:nvPr/>
        </p:nvSpPr>
        <p:spPr>
          <a:xfrm>
            <a:off x="6299200" y="4368800"/>
            <a:ext cx="5080000" cy="1879600"/>
          </a:xfrm>
          <a:prstGeom prst="roundRect">
            <a:avLst>
              <a:gd name="adj" fmla="val 3000"/>
            </a:avLst>
          </a:prstGeom>
          <a:solidFill>
            <a:srgbClr val="143A2C"/>
          </a:solidFill>
          <a:ln w="12700">
            <a:solidFill>
              <a:srgbClr val="2F584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6" name="t"/>
          <p:cNvSpPr txBox="1"/>
          <p:nvPr/>
        </p:nvSpPr>
        <p:spPr>
          <a:xfrm>
            <a:off x="6553200" y="4597400"/>
            <a:ext cx="4572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00" b="1" dirty="0">
                <a:solidFill>
                  <a:srgbClr val="E3B24A"/>
                </a:solidFill>
                <a:latin typeface="Trebuchet MS"/>
              </a:rPr>
              <a:t>EXPECTED RESULT</a:t>
            </a:r>
          </a:p>
        </p:txBody>
      </p:sp>
      <p:sp>
        <p:nvSpPr>
          <p:cNvPr id="202" name="result"/>
          <p:cNvSpPr txBox="1"/>
          <p:nvPr/>
        </p:nvSpPr>
        <p:spPr>
          <a:xfrm>
            <a:off x="6553200" y="4927600"/>
            <a:ext cx="4622800" cy="1219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C2D2CA"/>
                </a:solidFill>
              </a:rPr>
              <a:t>You can turn four criteria rasters into one weighted suitability map and point to the best solar-farm sites in Arizona.</a:t>
            </a:r>
          </a:p>
        </p:txBody>
      </p:sp>
      <p:sp>
        <p:nvSpPr>
          <p:cNvPr id="211" name="promptB"/>
          <p:cNvSpPr/>
          <p:nvPr/>
        </p:nvSpPr>
        <p:spPr>
          <a:xfrm>
            <a:off x="6400800" y="4826000"/>
            <a:ext cx="4876800" cy="1371600"/>
          </a:xfrm>
          <a:prstGeom prst="roundRect">
            <a:avLst>
              <a:gd name="adj" fmla="val 3000"/>
            </a:avLst>
          </a:prstGeom>
          <a:solidFill>
            <a:srgbClr val="1E3A2C"/>
          </a:solidFill>
          <a:ln w="15875">
            <a:solidFill>
              <a:srgbClr val="E3B24A"/>
            </a:solidFill>
            <a:prstDash val="dash"/>
          </a:ln>
        </p:spPr>
        <p:txBody>
          <a:bodyPr wrap="square" lIns="91440" tIns="45720" rIns="45720" bIns="45720" anchor="ctr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F0D48A"/>
                </a:solidFill>
                <a:latin typeface="Trebuchet MS"/>
              </a:rPr>
              <a:t>Click to reveal the Expected Result</a:t>
            </a:r>
          </a:p>
          <a:p>
            <a:pPr algn="ctr">
              <a:buNone/>
            </a:pPr>
            <a:r>
              <a:rPr lang="en-US" sz="1150" dirty="0">
                <a:solidFill>
                  <a:srgbClr val="8AA595"/>
                </a:solidFill>
              </a:rPr>
              <a:t>(in Slide Show)</a:t>
            </a:r>
          </a:p>
        </p:txBody>
      </p:sp>
    </p:spTree>
    <p:extLst>
      <p:ext uri="{BB962C8B-B14F-4D97-AF65-F5344CB8AC3E}">
        <p14:creationId xmlns:p14="http://schemas.microsoft.com/office/powerpoint/2010/main" val="3135862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"/>
          <p:cNvSpPr txBox="1"/>
          <p:nvPr/>
        </p:nvSpPr>
        <p:spPr>
          <a:xfrm>
            <a:off x="812800" y="508000"/>
            <a:ext cx="6604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00" b="1" spc="200" dirty="0">
                <a:solidFill>
                  <a:srgbClr val="E3B24A"/>
                </a:solidFill>
                <a:latin typeface="Trebuchet MS"/>
              </a:rPr>
              <a:t>RASTER DATA ANALYSIS</a:t>
            </a:r>
          </a:p>
        </p:txBody>
      </p:sp>
      <p:sp>
        <p:nvSpPr>
          <p:cNvPr id="21" name="t"/>
          <p:cNvSpPr txBox="1"/>
          <p:nvPr/>
        </p:nvSpPr>
        <p:spPr>
          <a:xfrm>
            <a:off x="8890000" y="355600"/>
            <a:ext cx="2794000" cy="939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</a:pPr>
            <a:r>
              <a:rPr lang="en-US" sz="4600" b="1" dirty="0">
                <a:solidFill>
                  <a:srgbClr val="1C4835"/>
                </a:solidFill>
                <a:latin typeface="Trebuchet MS"/>
              </a:rPr>
              <a:t>17</a:t>
            </a:r>
          </a:p>
        </p:txBody>
      </p:sp>
      <p:sp>
        <p:nvSpPr>
          <p:cNvPr id="22" name="t"/>
          <p:cNvSpPr txBox="1"/>
          <p:nvPr/>
        </p:nvSpPr>
        <p:spPr>
          <a:xfrm>
            <a:off x="812800" y="762000"/>
            <a:ext cx="81280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3000" b="1" dirty="0">
                <a:solidFill>
                  <a:srgbClr val="EEF3EF"/>
                </a:solidFill>
                <a:latin typeface="Trebuchet MS"/>
              </a:rPr>
              <a:t>Choosing a raster tool</a:t>
            </a:r>
          </a:p>
        </p:txBody>
      </p:sp>
      <p:sp>
        <p:nvSpPr>
          <p:cNvPr id="23" name="c"/>
          <p:cNvSpPr/>
          <p:nvPr/>
        </p:nvSpPr>
        <p:spPr>
          <a:xfrm>
            <a:off x="838200" y="1346200"/>
            <a:ext cx="355600" cy="63500"/>
          </a:xfrm>
          <a:prstGeom prst="rect">
            <a:avLst/>
          </a:prstGeom>
          <a:solidFill>
            <a:srgbClr val="DE843C"/>
          </a:solidFill>
          <a:ln>
            <a:noFill/>
          </a:ln>
        </p:spPr>
        <p:txBody>
          <a:bodyPr wrap="square" lIns="100000" tIns="27432" rIns="45720" bIns="27432" anchor="ctr">
            <a:noAutofit/>
          </a:bodyPr>
          <a:lstStyle/>
          <a:p>
            <a:pPr algn="l">
              <a:buNone/>
            </a:pPr>
            <a:r>
              <a:rPr lang="en-US" sz="400" dirty="0">
                <a:solidFill>
                  <a:srgbClr val="C2D2CA"/>
                </a:solidFill>
              </a:rPr>
              <a:t> </a:t>
            </a:r>
          </a:p>
        </p:txBody>
      </p:sp>
      <p:sp>
        <p:nvSpPr>
          <p:cNvPr id="24" name="c"/>
          <p:cNvSpPr/>
          <p:nvPr/>
        </p:nvSpPr>
        <p:spPr>
          <a:xfrm>
            <a:off x="1244600" y="1346200"/>
            <a:ext cx="355600" cy="63500"/>
          </a:xfrm>
          <a:prstGeom prst="rect">
            <a:avLst/>
          </a:prstGeom>
          <a:solidFill>
            <a:srgbClr val="2FB8B0"/>
          </a:solidFill>
          <a:ln>
            <a:noFill/>
          </a:ln>
        </p:spPr>
        <p:txBody>
          <a:bodyPr wrap="square" lIns="100000" tIns="27432" rIns="45720" bIns="27432" anchor="ctr">
            <a:noAutofit/>
          </a:bodyPr>
          <a:lstStyle/>
          <a:p>
            <a:pPr algn="l">
              <a:buNone/>
            </a:pPr>
            <a:r>
              <a:rPr lang="en-US" sz="400" dirty="0">
                <a:solidFill>
                  <a:srgbClr val="C2D2CA"/>
                </a:solidFill>
              </a:rPr>
              <a:t> </a:t>
            </a:r>
          </a:p>
        </p:txBody>
      </p:sp>
      <p:sp>
        <p:nvSpPr>
          <p:cNvPr id="25" name="c"/>
          <p:cNvSpPr/>
          <p:nvPr/>
        </p:nvSpPr>
        <p:spPr>
          <a:xfrm>
            <a:off x="1651000" y="1346200"/>
            <a:ext cx="355600" cy="63500"/>
          </a:xfrm>
          <a:prstGeom prst="rect">
            <a:avLst/>
          </a:prstGeom>
          <a:solidFill>
            <a:srgbClr val="B58AE0"/>
          </a:solidFill>
          <a:ln>
            <a:noFill/>
          </a:ln>
        </p:spPr>
        <p:txBody>
          <a:bodyPr wrap="square" lIns="100000" tIns="27432" rIns="45720" bIns="27432" anchor="ctr">
            <a:noAutofit/>
          </a:bodyPr>
          <a:lstStyle/>
          <a:p>
            <a:pPr algn="l">
              <a:buNone/>
            </a:pPr>
            <a:r>
              <a:rPr lang="en-US" sz="400" dirty="0">
                <a:solidFill>
                  <a:srgbClr val="C2D2CA"/>
                </a:solidFill>
              </a:rPr>
              <a:t> </a:t>
            </a:r>
          </a:p>
        </p:txBody>
      </p:sp>
      <p:sp>
        <p:nvSpPr>
          <p:cNvPr id="26" name="t"/>
          <p:cNvSpPr txBox="1"/>
          <p:nvPr/>
        </p:nvSpPr>
        <p:spPr>
          <a:xfrm>
            <a:off x="812800" y="1473200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500" dirty="0">
                <a:solidFill>
                  <a:srgbClr val="C2D2CA"/>
                </a:solidFill>
              </a:rPr>
              <a:t>Match the technique to the question you're asking</a:t>
            </a:r>
          </a:p>
        </p:txBody>
      </p:sp>
      <p:sp>
        <p:nvSpPr>
          <p:cNvPr id="27" name="c"/>
          <p:cNvSpPr/>
          <p:nvPr/>
        </p:nvSpPr>
        <p:spPr>
          <a:xfrm>
            <a:off x="812800" y="1905000"/>
            <a:ext cx="2184400" cy="457200"/>
          </a:xfrm>
          <a:prstGeom prst="rect">
            <a:avLst/>
          </a:prstGeom>
          <a:solidFill>
            <a:srgbClr val="E3B24A"/>
          </a:solidFill>
          <a:ln>
            <a:noFill/>
          </a:ln>
        </p:spPr>
        <p:txBody>
          <a:bodyPr wrap="square" lIns="10000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150" b="1" spc="50" dirty="0">
                <a:solidFill>
                  <a:srgbClr val="0E2A20"/>
                </a:solidFill>
                <a:latin typeface="Trebuchet MS"/>
              </a:rPr>
              <a:t>RASTER TASK</a:t>
            </a:r>
          </a:p>
        </p:txBody>
      </p:sp>
      <p:sp>
        <p:nvSpPr>
          <p:cNvPr id="28" name="c"/>
          <p:cNvSpPr/>
          <p:nvPr/>
        </p:nvSpPr>
        <p:spPr>
          <a:xfrm>
            <a:off x="3048000" y="1905000"/>
            <a:ext cx="2717800" cy="457200"/>
          </a:xfrm>
          <a:prstGeom prst="rect">
            <a:avLst/>
          </a:prstGeom>
          <a:solidFill>
            <a:srgbClr val="DE843C"/>
          </a:solidFill>
          <a:ln>
            <a:noFill/>
          </a:ln>
        </p:spPr>
        <p:txBody>
          <a:bodyPr wrap="square" lIns="10000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250" b="1" spc="50" dirty="0">
                <a:solidFill>
                  <a:srgbClr val="0E2A20"/>
                </a:solidFill>
                <a:latin typeface="Trebuchet MS"/>
              </a:rPr>
              <a:t>SURFACE ANALYSIS</a:t>
            </a:r>
          </a:p>
        </p:txBody>
      </p:sp>
      <p:sp>
        <p:nvSpPr>
          <p:cNvPr id="29" name="c"/>
          <p:cNvSpPr/>
          <p:nvPr/>
        </p:nvSpPr>
        <p:spPr>
          <a:xfrm>
            <a:off x="5816600" y="1905000"/>
            <a:ext cx="2717800" cy="457200"/>
          </a:xfrm>
          <a:prstGeom prst="rect">
            <a:avLst/>
          </a:prstGeom>
          <a:solidFill>
            <a:srgbClr val="2FB8B0"/>
          </a:solidFill>
          <a:ln>
            <a:noFill/>
          </a:ln>
        </p:spPr>
        <p:txBody>
          <a:bodyPr wrap="square" lIns="10000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250" b="1" spc="50" dirty="0">
                <a:solidFill>
                  <a:srgbClr val="0E2A20"/>
                </a:solidFill>
                <a:latin typeface="Trebuchet MS"/>
              </a:rPr>
              <a:t>MAP ALGEBRA</a:t>
            </a:r>
          </a:p>
        </p:txBody>
      </p:sp>
      <p:sp>
        <p:nvSpPr>
          <p:cNvPr id="30" name="c"/>
          <p:cNvSpPr/>
          <p:nvPr/>
        </p:nvSpPr>
        <p:spPr>
          <a:xfrm>
            <a:off x="8585200" y="1905000"/>
            <a:ext cx="2743200" cy="457200"/>
          </a:xfrm>
          <a:prstGeom prst="rect">
            <a:avLst/>
          </a:prstGeom>
          <a:solidFill>
            <a:srgbClr val="B58AE0"/>
          </a:solidFill>
          <a:ln>
            <a:noFill/>
          </a:ln>
        </p:spPr>
        <p:txBody>
          <a:bodyPr wrap="square" lIns="10000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250" b="1" spc="50" dirty="0">
                <a:solidFill>
                  <a:srgbClr val="0E2A20"/>
                </a:solidFill>
                <a:latin typeface="Trebuchet MS"/>
              </a:rPr>
              <a:t>SUITABILITY</a:t>
            </a:r>
          </a:p>
        </p:txBody>
      </p:sp>
      <p:sp>
        <p:nvSpPr>
          <p:cNvPr id="31" name="c"/>
          <p:cNvSpPr/>
          <p:nvPr/>
        </p:nvSpPr>
        <p:spPr>
          <a:xfrm>
            <a:off x="812800" y="2362200"/>
            <a:ext cx="2184400" cy="596900"/>
          </a:xfrm>
          <a:prstGeom prst="rect">
            <a:avLst/>
          </a:prstGeom>
          <a:solidFill>
            <a:srgbClr val="143A2C"/>
          </a:solidFill>
          <a:ln>
            <a:noFill/>
          </a:ln>
        </p:spPr>
        <p:txBody>
          <a:bodyPr wrap="square" lIns="100000" tIns="27432" rIns="45720" bIns="27432" anchor="ctr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EF3EF"/>
                </a:solidFill>
                <a:latin typeface="Trebuchet MS"/>
              </a:rPr>
              <a:t>The question</a:t>
            </a:r>
          </a:p>
        </p:txBody>
      </p:sp>
      <p:sp>
        <p:nvSpPr>
          <p:cNvPr id="32" name="c"/>
          <p:cNvSpPr/>
          <p:nvPr/>
        </p:nvSpPr>
        <p:spPr>
          <a:xfrm>
            <a:off x="3048000" y="2362200"/>
            <a:ext cx="2717800" cy="596900"/>
          </a:xfrm>
          <a:prstGeom prst="rect">
            <a:avLst/>
          </a:prstGeom>
          <a:solidFill>
            <a:srgbClr val="143A2C"/>
          </a:solidFill>
          <a:ln>
            <a:noFill/>
          </a:ln>
        </p:spPr>
        <p:txBody>
          <a:bodyPr wrap="square" lIns="100000" tIns="27432" rIns="45720" bIns="27432" anchor="ctr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2D2CA"/>
                </a:solidFill>
              </a:rPr>
              <a:t>What shape is the land?</a:t>
            </a:r>
          </a:p>
        </p:txBody>
      </p:sp>
      <p:sp>
        <p:nvSpPr>
          <p:cNvPr id="33" name="c"/>
          <p:cNvSpPr/>
          <p:nvPr/>
        </p:nvSpPr>
        <p:spPr>
          <a:xfrm>
            <a:off x="5816600" y="2362200"/>
            <a:ext cx="2717800" cy="596900"/>
          </a:xfrm>
          <a:prstGeom prst="rect">
            <a:avLst/>
          </a:prstGeom>
          <a:solidFill>
            <a:srgbClr val="143A2C"/>
          </a:solidFill>
          <a:ln>
            <a:noFill/>
          </a:ln>
        </p:spPr>
        <p:txBody>
          <a:bodyPr wrap="square" lIns="100000" tIns="27432" rIns="45720" bIns="27432" anchor="ctr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2D2CA"/>
                </a:solidFill>
              </a:rPr>
              <a:t>What do cells add up to?</a:t>
            </a:r>
          </a:p>
        </p:txBody>
      </p:sp>
      <p:sp>
        <p:nvSpPr>
          <p:cNvPr id="34" name="c"/>
          <p:cNvSpPr/>
          <p:nvPr/>
        </p:nvSpPr>
        <p:spPr>
          <a:xfrm>
            <a:off x="8585200" y="2362200"/>
            <a:ext cx="2743200" cy="596900"/>
          </a:xfrm>
          <a:prstGeom prst="rect">
            <a:avLst/>
          </a:prstGeom>
          <a:solidFill>
            <a:srgbClr val="143A2C"/>
          </a:solidFill>
          <a:ln>
            <a:noFill/>
          </a:ln>
        </p:spPr>
        <p:txBody>
          <a:bodyPr wrap="square" lIns="100000" tIns="27432" rIns="45720" bIns="27432" anchor="ctr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2D2CA"/>
                </a:solidFill>
              </a:rPr>
              <a:t>Where is the best place?</a:t>
            </a:r>
          </a:p>
        </p:txBody>
      </p:sp>
      <p:sp>
        <p:nvSpPr>
          <p:cNvPr id="35" name="c"/>
          <p:cNvSpPr/>
          <p:nvPr/>
        </p:nvSpPr>
        <p:spPr>
          <a:xfrm>
            <a:off x="812800" y="3009900"/>
            <a:ext cx="2184400" cy="596900"/>
          </a:xfrm>
          <a:prstGeom prst="rect">
            <a:avLst/>
          </a:prstGeom>
          <a:solidFill>
            <a:srgbClr val="0F2C22"/>
          </a:solidFill>
          <a:ln>
            <a:noFill/>
          </a:ln>
        </p:spPr>
        <p:txBody>
          <a:bodyPr wrap="square" lIns="100000" tIns="27432" rIns="45720" bIns="27432" anchor="ctr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EF3EF"/>
                </a:solidFill>
                <a:latin typeface="Trebuchet MS"/>
              </a:rPr>
              <a:t>Core operation</a:t>
            </a:r>
          </a:p>
        </p:txBody>
      </p:sp>
      <p:sp>
        <p:nvSpPr>
          <p:cNvPr id="36" name="c"/>
          <p:cNvSpPr/>
          <p:nvPr/>
        </p:nvSpPr>
        <p:spPr>
          <a:xfrm>
            <a:off x="3048000" y="3009900"/>
            <a:ext cx="2717800" cy="596900"/>
          </a:xfrm>
          <a:prstGeom prst="rect">
            <a:avLst/>
          </a:prstGeom>
          <a:solidFill>
            <a:srgbClr val="0F2C22"/>
          </a:solidFill>
          <a:ln>
            <a:noFill/>
          </a:ln>
        </p:spPr>
        <p:txBody>
          <a:bodyPr wrap="square" lIns="100000" tIns="27432" rIns="45720" bIns="27432" anchor="ctr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2D2CA"/>
                </a:solidFill>
              </a:rPr>
              <a:t>Neighbourhood 3×3 on a DEM</a:t>
            </a:r>
          </a:p>
        </p:txBody>
      </p:sp>
      <p:sp>
        <p:nvSpPr>
          <p:cNvPr id="37" name="c"/>
          <p:cNvSpPr/>
          <p:nvPr/>
        </p:nvSpPr>
        <p:spPr>
          <a:xfrm>
            <a:off x="5816600" y="3009900"/>
            <a:ext cx="2717800" cy="596900"/>
          </a:xfrm>
          <a:prstGeom prst="rect">
            <a:avLst/>
          </a:prstGeom>
          <a:solidFill>
            <a:srgbClr val="0F2C22"/>
          </a:solidFill>
          <a:ln>
            <a:noFill/>
          </a:ln>
        </p:spPr>
        <p:txBody>
          <a:bodyPr wrap="square" lIns="100000" tIns="27432" rIns="45720" bIns="27432" anchor="ctr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2D2CA"/>
                </a:solidFill>
              </a:rPr>
              <a:t>Cell-by-cell raster math</a:t>
            </a:r>
          </a:p>
        </p:txBody>
      </p:sp>
      <p:sp>
        <p:nvSpPr>
          <p:cNvPr id="38" name="c"/>
          <p:cNvSpPr/>
          <p:nvPr/>
        </p:nvSpPr>
        <p:spPr>
          <a:xfrm>
            <a:off x="8585200" y="3009900"/>
            <a:ext cx="2743200" cy="596900"/>
          </a:xfrm>
          <a:prstGeom prst="rect">
            <a:avLst/>
          </a:prstGeom>
          <a:solidFill>
            <a:srgbClr val="0F2C22"/>
          </a:solidFill>
          <a:ln>
            <a:noFill/>
          </a:ln>
        </p:spPr>
        <p:txBody>
          <a:bodyPr wrap="square" lIns="100000" tIns="27432" rIns="45720" bIns="27432" anchor="ctr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2D2CA"/>
                </a:solidFill>
              </a:rPr>
              <a:t>Reclassify + weighted overlay</a:t>
            </a:r>
          </a:p>
        </p:txBody>
      </p:sp>
      <p:sp>
        <p:nvSpPr>
          <p:cNvPr id="39" name="c"/>
          <p:cNvSpPr/>
          <p:nvPr/>
        </p:nvSpPr>
        <p:spPr>
          <a:xfrm>
            <a:off x="812800" y="3657600"/>
            <a:ext cx="2184400" cy="596900"/>
          </a:xfrm>
          <a:prstGeom prst="rect">
            <a:avLst/>
          </a:prstGeom>
          <a:solidFill>
            <a:srgbClr val="143A2C"/>
          </a:solidFill>
          <a:ln>
            <a:noFill/>
          </a:ln>
        </p:spPr>
        <p:txBody>
          <a:bodyPr wrap="square" lIns="100000" tIns="27432" rIns="45720" bIns="27432" anchor="ctr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EF3EF"/>
                </a:solidFill>
                <a:latin typeface="Trebuchet MS"/>
              </a:rPr>
              <a:t>Key input</a:t>
            </a:r>
          </a:p>
        </p:txBody>
      </p:sp>
      <p:sp>
        <p:nvSpPr>
          <p:cNvPr id="40" name="c"/>
          <p:cNvSpPr/>
          <p:nvPr/>
        </p:nvSpPr>
        <p:spPr>
          <a:xfrm>
            <a:off x="3048000" y="3657600"/>
            <a:ext cx="2717800" cy="596900"/>
          </a:xfrm>
          <a:prstGeom prst="rect">
            <a:avLst/>
          </a:prstGeom>
          <a:solidFill>
            <a:srgbClr val="143A2C"/>
          </a:solidFill>
          <a:ln>
            <a:noFill/>
          </a:ln>
        </p:spPr>
        <p:txBody>
          <a:bodyPr wrap="square" lIns="100000" tIns="27432" rIns="45720" bIns="27432" anchor="ctr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2D2CA"/>
                </a:solidFill>
              </a:rPr>
              <a:t>One elevation grid (DEM)</a:t>
            </a:r>
          </a:p>
        </p:txBody>
      </p:sp>
      <p:sp>
        <p:nvSpPr>
          <p:cNvPr id="41" name="c"/>
          <p:cNvSpPr/>
          <p:nvPr/>
        </p:nvSpPr>
        <p:spPr>
          <a:xfrm>
            <a:off x="5816600" y="3657600"/>
            <a:ext cx="2717800" cy="596900"/>
          </a:xfrm>
          <a:prstGeom prst="rect">
            <a:avLst/>
          </a:prstGeom>
          <a:solidFill>
            <a:srgbClr val="143A2C"/>
          </a:solidFill>
          <a:ln>
            <a:noFill/>
          </a:ln>
        </p:spPr>
        <p:txBody>
          <a:bodyPr wrap="square" lIns="100000" tIns="27432" rIns="45720" bIns="27432" anchor="ctr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2D2CA"/>
                </a:solidFill>
              </a:rPr>
              <a:t>One or more value rasters</a:t>
            </a:r>
          </a:p>
        </p:txBody>
      </p:sp>
      <p:sp>
        <p:nvSpPr>
          <p:cNvPr id="42" name="c"/>
          <p:cNvSpPr/>
          <p:nvPr/>
        </p:nvSpPr>
        <p:spPr>
          <a:xfrm>
            <a:off x="8585200" y="3657600"/>
            <a:ext cx="2743200" cy="596900"/>
          </a:xfrm>
          <a:prstGeom prst="rect">
            <a:avLst/>
          </a:prstGeom>
          <a:solidFill>
            <a:srgbClr val="143A2C"/>
          </a:solidFill>
          <a:ln>
            <a:noFill/>
          </a:ln>
        </p:spPr>
        <p:txBody>
          <a:bodyPr wrap="square" lIns="100000" tIns="27432" rIns="45720" bIns="27432" anchor="ctr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2D2CA"/>
                </a:solidFill>
              </a:rPr>
              <a:t>Several criteria rasters</a:t>
            </a:r>
          </a:p>
        </p:txBody>
      </p:sp>
      <p:sp>
        <p:nvSpPr>
          <p:cNvPr id="43" name="c"/>
          <p:cNvSpPr/>
          <p:nvPr/>
        </p:nvSpPr>
        <p:spPr>
          <a:xfrm>
            <a:off x="812800" y="4305300"/>
            <a:ext cx="2184400" cy="596900"/>
          </a:xfrm>
          <a:prstGeom prst="rect">
            <a:avLst/>
          </a:prstGeom>
          <a:solidFill>
            <a:srgbClr val="0F2C22"/>
          </a:solidFill>
          <a:ln>
            <a:noFill/>
          </a:ln>
        </p:spPr>
        <p:txBody>
          <a:bodyPr wrap="square" lIns="100000" tIns="27432" rIns="45720" bIns="27432" anchor="ctr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EF3EF"/>
                </a:solidFill>
                <a:latin typeface="Trebuchet MS"/>
              </a:rPr>
              <a:t>Output</a:t>
            </a:r>
          </a:p>
        </p:txBody>
      </p:sp>
      <p:sp>
        <p:nvSpPr>
          <p:cNvPr id="44" name="c"/>
          <p:cNvSpPr/>
          <p:nvPr/>
        </p:nvSpPr>
        <p:spPr>
          <a:xfrm>
            <a:off x="3048000" y="4305300"/>
            <a:ext cx="2717800" cy="596900"/>
          </a:xfrm>
          <a:prstGeom prst="rect">
            <a:avLst/>
          </a:prstGeom>
          <a:solidFill>
            <a:srgbClr val="0F2C22"/>
          </a:solidFill>
          <a:ln>
            <a:noFill/>
          </a:ln>
        </p:spPr>
        <p:txBody>
          <a:bodyPr wrap="square" lIns="100000" tIns="27432" rIns="45720" bIns="27432" anchor="ctr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2D2CA"/>
                </a:solidFill>
              </a:rPr>
              <a:t>Slope · aspect · hillshade</a:t>
            </a:r>
          </a:p>
        </p:txBody>
      </p:sp>
      <p:sp>
        <p:nvSpPr>
          <p:cNvPr id="45" name="c"/>
          <p:cNvSpPr/>
          <p:nvPr/>
        </p:nvSpPr>
        <p:spPr>
          <a:xfrm>
            <a:off x="5816600" y="4305300"/>
            <a:ext cx="2717800" cy="596900"/>
          </a:xfrm>
          <a:prstGeom prst="rect">
            <a:avLst/>
          </a:prstGeom>
          <a:solidFill>
            <a:srgbClr val="0F2C22"/>
          </a:solidFill>
          <a:ln>
            <a:noFill/>
          </a:ln>
        </p:spPr>
        <p:txBody>
          <a:bodyPr wrap="square" lIns="100000" tIns="27432" rIns="45720" bIns="27432" anchor="ctr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2D2CA"/>
                </a:solidFill>
              </a:rPr>
              <a:t>New value raster (NDVI)</a:t>
            </a:r>
          </a:p>
        </p:txBody>
      </p:sp>
      <p:sp>
        <p:nvSpPr>
          <p:cNvPr id="46" name="c"/>
          <p:cNvSpPr/>
          <p:nvPr/>
        </p:nvSpPr>
        <p:spPr>
          <a:xfrm>
            <a:off x="8585200" y="4305300"/>
            <a:ext cx="2743200" cy="596900"/>
          </a:xfrm>
          <a:prstGeom prst="rect">
            <a:avLst/>
          </a:prstGeom>
          <a:solidFill>
            <a:srgbClr val="0F2C22"/>
          </a:solidFill>
          <a:ln>
            <a:noFill/>
          </a:ln>
        </p:spPr>
        <p:txBody>
          <a:bodyPr wrap="square" lIns="100000" tIns="27432" rIns="45720" bIns="27432" anchor="ctr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2D2CA"/>
                </a:solidFill>
              </a:rPr>
              <a:t>A 1–9 suitability map</a:t>
            </a:r>
          </a:p>
        </p:txBody>
      </p:sp>
      <p:sp>
        <p:nvSpPr>
          <p:cNvPr id="47" name="c"/>
          <p:cNvSpPr/>
          <p:nvPr/>
        </p:nvSpPr>
        <p:spPr>
          <a:xfrm>
            <a:off x="812800" y="4953000"/>
            <a:ext cx="2184400" cy="596900"/>
          </a:xfrm>
          <a:prstGeom prst="rect">
            <a:avLst/>
          </a:prstGeom>
          <a:solidFill>
            <a:srgbClr val="143A2C"/>
          </a:solidFill>
          <a:ln>
            <a:noFill/>
          </a:ln>
        </p:spPr>
        <p:txBody>
          <a:bodyPr wrap="square" lIns="100000" tIns="27432" rIns="45720" bIns="27432" anchor="ctr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EF3EF"/>
                </a:solidFill>
                <a:latin typeface="Trebuchet MS"/>
              </a:rPr>
              <a:t>ArcGIS tool</a:t>
            </a:r>
          </a:p>
        </p:txBody>
      </p:sp>
      <p:sp>
        <p:nvSpPr>
          <p:cNvPr id="48" name="c"/>
          <p:cNvSpPr/>
          <p:nvPr/>
        </p:nvSpPr>
        <p:spPr>
          <a:xfrm>
            <a:off x="3048000" y="4953000"/>
            <a:ext cx="2717800" cy="596900"/>
          </a:xfrm>
          <a:prstGeom prst="rect">
            <a:avLst/>
          </a:prstGeom>
          <a:solidFill>
            <a:srgbClr val="143A2C"/>
          </a:solidFill>
          <a:ln>
            <a:noFill/>
          </a:ln>
        </p:spPr>
        <p:txBody>
          <a:bodyPr wrap="square" lIns="100000" tIns="27432" rIns="45720" bIns="27432" anchor="ctr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2D2CA"/>
                </a:solidFill>
              </a:rPr>
              <a:t>Spatial Analyst ▸ Surface</a:t>
            </a:r>
          </a:p>
        </p:txBody>
      </p:sp>
      <p:sp>
        <p:nvSpPr>
          <p:cNvPr id="49" name="c"/>
          <p:cNvSpPr/>
          <p:nvPr/>
        </p:nvSpPr>
        <p:spPr>
          <a:xfrm>
            <a:off x="5816600" y="4953000"/>
            <a:ext cx="2717800" cy="596900"/>
          </a:xfrm>
          <a:prstGeom prst="rect">
            <a:avLst/>
          </a:prstGeom>
          <a:solidFill>
            <a:srgbClr val="143A2C"/>
          </a:solidFill>
          <a:ln>
            <a:noFill/>
          </a:ln>
        </p:spPr>
        <p:txBody>
          <a:bodyPr wrap="square" lIns="100000" tIns="27432" rIns="45720" bIns="27432" anchor="ctr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2D2CA"/>
                </a:solidFill>
              </a:rPr>
              <a:t>Raster Calculator</a:t>
            </a:r>
          </a:p>
        </p:txBody>
      </p:sp>
      <p:sp>
        <p:nvSpPr>
          <p:cNvPr id="50" name="c"/>
          <p:cNvSpPr/>
          <p:nvPr/>
        </p:nvSpPr>
        <p:spPr>
          <a:xfrm>
            <a:off x="8585200" y="4953000"/>
            <a:ext cx="2743200" cy="596900"/>
          </a:xfrm>
          <a:prstGeom prst="rect">
            <a:avLst/>
          </a:prstGeom>
          <a:solidFill>
            <a:srgbClr val="143A2C"/>
          </a:solidFill>
          <a:ln>
            <a:noFill/>
          </a:ln>
        </p:spPr>
        <p:txBody>
          <a:bodyPr wrap="square" lIns="100000" tIns="27432" rIns="45720" bIns="27432" anchor="ctr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2D2CA"/>
                </a:solidFill>
              </a:rPr>
              <a:t>Weighted Overlay</a:t>
            </a:r>
          </a:p>
        </p:txBody>
      </p:sp>
      <p:sp>
        <p:nvSpPr>
          <p:cNvPr id="51" name="c"/>
          <p:cNvSpPr/>
          <p:nvPr/>
        </p:nvSpPr>
        <p:spPr>
          <a:xfrm>
            <a:off x="812800" y="5600700"/>
            <a:ext cx="2184400" cy="596900"/>
          </a:xfrm>
          <a:prstGeom prst="rect">
            <a:avLst/>
          </a:prstGeom>
          <a:solidFill>
            <a:srgbClr val="0F2C22"/>
          </a:solidFill>
          <a:ln>
            <a:noFill/>
          </a:ln>
        </p:spPr>
        <p:txBody>
          <a:bodyPr wrap="square" lIns="100000" tIns="27432" rIns="45720" bIns="27432" anchor="ctr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EF3EF"/>
                </a:solidFill>
                <a:latin typeface="Trebuchet MS"/>
              </a:rPr>
              <a:t>Example &amp; data</a:t>
            </a:r>
          </a:p>
        </p:txBody>
      </p:sp>
      <p:sp>
        <p:nvSpPr>
          <p:cNvPr id="52" name="c"/>
          <p:cNvSpPr/>
          <p:nvPr/>
        </p:nvSpPr>
        <p:spPr>
          <a:xfrm>
            <a:off x="3048000" y="5600700"/>
            <a:ext cx="2717800" cy="596900"/>
          </a:xfrm>
          <a:prstGeom prst="rect">
            <a:avLst/>
          </a:prstGeom>
          <a:solidFill>
            <a:srgbClr val="0F2C22"/>
          </a:solidFill>
          <a:ln>
            <a:noFill/>
          </a:ln>
        </p:spPr>
        <p:txBody>
          <a:bodyPr wrap="square" lIns="100000" tIns="27432" rIns="45720" bIns="27432" anchor="ctr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2D2CA"/>
                </a:solidFill>
              </a:rPr>
              <a:t>Central Park · 3DEP</a:t>
            </a:r>
          </a:p>
        </p:txBody>
      </p:sp>
      <p:sp>
        <p:nvSpPr>
          <p:cNvPr id="53" name="c"/>
          <p:cNvSpPr/>
          <p:nvPr/>
        </p:nvSpPr>
        <p:spPr>
          <a:xfrm>
            <a:off x="5816600" y="5600700"/>
            <a:ext cx="2717800" cy="596900"/>
          </a:xfrm>
          <a:prstGeom prst="rect">
            <a:avLst/>
          </a:prstGeom>
          <a:solidFill>
            <a:srgbClr val="0F2C22"/>
          </a:solidFill>
          <a:ln>
            <a:noFill/>
          </a:ln>
        </p:spPr>
        <p:txBody>
          <a:bodyPr wrap="square" lIns="100000" tIns="27432" rIns="45720" bIns="27432" anchor="ctr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2D2CA"/>
                </a:solidFill>
              </a:rPr>
              <a:t>Central Valley · Landsat</a:t>
            </a:r>
          </a:p>
        </p:txBody>
      </p:sp>
      <p:sp>
        <p:nvSpPr>
          <p:cNvPr id="54" name="c"/>
          <p:cNvSpPr/>
          <p:nvPr/>
        </p:nvSpPr>
        <p:spPr>
          <a:xfrm>
            <a:off x="8585200" y="5600700"/>
            <a:ext cx="2743200" cy="596900"/>
          </a:xfrm>
          <a:prstGeom prst="rect">
            <a:avLst/>
          </a:prstGeom>
          <a:solidFill>
            <a:srgbClr val="0F2C22"/>
          </a:solidFill>
          <a:ln>
            <a:noFill/>
          </a:ln>
        </p:spPr>
        <p:txBody>
          <a:bodyPr wrap="square" lIns="100000" tIns="27432" rIns="45720" bIns="27432" anchor="ctr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2D2CA"/>
                </a:solidFill>
              </a:rPr>
              <a:t>Arizona · NLCD · NREL</a:t>
            </a:r>
          </a:p>
        </p:txBody>
      </p:sp>
    </p:spTree>
    <p:extLst>
      <p:ext uri="{BB962C8B-B14F-4D97-AF65-F5344CB8AC3E}">
        <p14:creationId xmlns:p14="http://schemas.microsoft.com/office/powerpoint/2010/main" val="20187527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"/>
          <p:cNvSpPr txBox="1"/>
          <p:nvPr/>
        </p:nvSpPr>
        <p:spPr>
          <a:xfrm>
            <a:off x="812800" y="508000"/>
            <a:ext cx="6604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00" b="1" dirty="0">
                <a:solidFill>
                  <a:srgbClr val="E3B24A"/>
                </a:solidFill>
                <a:latin typeface="Trebuchet MS"/>
              </a:rPr>
              <a:t>RASTER DATA ANALYSIS</a:t>
            </a:r>
          </a:p>
        </p:txBody>
      </p:sp>
      <p:sp>
        <p:nvSpPr>
          <p:cNvPr id="21" name="t"/>
          <p:cNvSpPr txBox="1"/>
          <p:nvPr/>
        </p:nvSpPr>
        <p:spPr>
          <a:xfrm>
            <a:off x="8890000" y="355600"/>
            <a:ext cx="2794000" cy="939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</a:pPr>
            <a:r>
              <a:rPr lang="en-US" sz="4600" b="1" dirty="0">
                <a:solidFill>
                  <a:srgbClr val="1C4835"/>
                </a:solidFill>
                <a:latin typeface="Trebuchet MS"/>
              </a:rPr>
              <a:t>18</a:t>
            </a:r>
          </a:p>
        </p:txBody>
      </p:sp>
      <p:sp>
        <p:nvSpPr>
          <p:cNvPr id="22" name="t"/>
          <p:cNvSpPr txBox="1"/>
          <p:nvPr/>
        </p:nvSpPr>
        <p:spPr>
          <a:xfrm>
            <a:off x="812800" y="762000"/>
            <a:ext cx="81280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3000" b="1" dirty="0">
                <a:solidFill>
                  <a:srgbClr val="EEF3EF"/>
                </a:solidFill>
                <a:latin typeface="Trebuchet MS"/>
              </a:rPr>
              <a:t>Knowledge check</a:t>
            </a:r>
          </a:p>
        </p:txBody>
      </p:sp>
      <p:sp>
        <p:nvSpPr>
          <p:cNvPr id="23" name="b"/>
          <p:cNvSpPr/>
          <p:nvPr/>
        </p:nvSpPr>
        <p:spPr>
          <a:xfrm>
            <a:off x="838200" y="1346200"/>
            <a:ext cx="355600" cy="63500"/>
          </a:xfrm>
          <a:prstGeom prst="rect">
            <a:avLst/>
          </a:prstGeom>
          <a:solidFill>
            <a:srgbClr val="DE843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b"/>
          <p:cNvSpPr/>
          <p:nvPr/>
        </p:nvSpPr>
        <p:spPr>
          <a:xfrm>
            <a:off x="1244600" y="1346200"/>
            <a:ext cx="355600" cy="63500"/>
          </a:xfrm>
          <a:prstGeom prst="rect">
            <a:avLst/>
          </a:prstGeom>
          <a:solidFill>
            <a:srgbClr val="2FB8B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b"/>
          <p:cNvSpPr/>
          <p:nvPr/>
        </p:nvSpPr>
        <p:spPr>
          <a:xfrm>
            <a:off x="1651000" y="1346200"/>
            <a:ext cx="355600" cy="63500"/>
          </a:xfrm>
          <a:prstGeom prst="rect">
            <a:avLst/>
          </a:prstGeom>
          <a:solidFill>
            <a:srgbClr val="B58AE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t"/>
          <p:cNvSpPr txBox="1"/>
          <p:nvPr/>
        </p:nvSpPr>
        <p:spPr>
          <a:xfrm>
            <a:off x="812800" y="1473200"/>
            <a:ext cx="8636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500" dirty="0">
                <a:solidFill>
                  <a:srgbClr val="C2D2CA"/>
                </a:solidFill>
              </a:rPr>
              <a:t>Click each card in Slide Show to reveal the answer</a:t>
            </a:r>
          </a:p>
        </p:txBody>
      </p:sp>
      <p:sp>
        <p:nvSpPr>
          <p:cNvPr id="27" name="card0"/>
          <p:cNvSpPr/>
          <p:nvPr/>
        </p:nvSpPr>
        <p:spPr>
          <a:xfrm>
            <a:off x="812800" y="1905000"/>
            <a:ext cx="5130800" cy="2044700"/>
          </a:xfrm>
          <a:prstGeom prst="roundRect">
            <a:avLst>
              <a:gd name="adj" fmla="val 4000"/>
            </a:avLst>
          </a:prstGeom>
          <a:solidFill>
            <a:srgbClr val="143A2C"/>
          </a:solidFill>
          <a:ln w="12700">
            <a:solidFill>
              <a:srgbClr val="2F584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8" name="badge0"/>
          <p:cNvSpPr/>
          <p:nvPr/>
        </p:nvSpPr>
        <p:spPr>
          <a:xfrm>
            <a:off x="1041400" y="2133600"/>
            <a:ext cx="431800" cy="431800"/>
          </a:xfrm>
          <a:prstGeom prst="ellipse">
            <a:avLst/>
          </a:prstGeom>
          <a:solidFill>
            <a:srgbClr val="DE843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" name="t"/>
          <p:cNvSpPr txBox="1"/>
          <p:nvPr/>
        </p:nvSpPr>
        <p:spPr>
          <a:xfrm>
            <a:off x="1041400" y="2209800"/>
            <a:ext cx="4318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US" sz="1500" b="1" dirty="0">
                <a:solidFill>
                  <a:srgbClr val="0E2A20"/>
                </a:solidFill>
                <a:latin typeface="Trebuchet MS"/>
              </a:rPr>
              <a:t>1</a:t>
            </a:r>
          </a:p>
        </p:txBody>
      </p:sp>
      <p:sp>
        <p:nvSpPr>
          <p:cNvPr id="30" name="t"/>
          <p:cNvSpPr txBox="1"/>
          <p:nvPr/>
        </p:nvSpPr>
        <p:spPr>
          <a:xfrm>
            <a:off x="1625600" y="2133600"/>
            <a:ext cx="4064000" cy="711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EEF3EF"/>
                </a:solidFill>
                <a:latin typeface="Trebuchet MS"/>
              </a:rPr>
              <a:t>Which tool gives a shaded-relief image of terrain?</a:t>
            </a:r>
          </a:p>
        </p:txBody>
      </p:sp>
      <p:sp>
        <p:nvSpPr>
          <p:cNvPr id="201" name="ans0"/>
          <p:cNvSpPr txBox="1"/>
          <p:nvPr/>
        </p:nvSpPr>
        <p:spPr>
          <a:xfrm>
            <a:off x="1066800" y="2997200"/>
            <a:ext cx="4622800" cy="7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en-US" sz="1350" dirty="0">
                <a:solidFill>
                  <a:srgbClr val="C2D2CA"/>
                </a:solidFill>
              </a:rPr>
              <a:t>Hillshade — it lights the DEM from a set sun angle to show relief.</a:t>
            </a:r>
          </a:p>
        </p:txBody>
      </p:sp>
      <p:sp>
        <p:nvSpPr>
          <p:cNvPr id="211" name="prompt0"/>
          <p:cNvSpPr/>
          <p:nvPr/>
        </p:nvSpPr>
        <p:spPr>
          <a:xfrm>
            <a:off x="990600" y="2921000"/>
            <a:ext cx="4775200" cy="889000"/>
          </a:xfrm>
          <a:prstGeom prst="roundRect">
            <a:avLst>
              <a:gd name="adj" fmla="val 5000"/>
            </a:avLst>
          </a:prstGeom>
          <a:solidFill>
            <a:srgbClr val="1E3A2C"/>
          </a:solidFill>
          <a:ln w="15875">
            <a:solidFill>
              <a:srgbClr val="E3B24A"/>
            </a:solidFill>
            <a:prstDash val="dash"/>
          </a:ln>
        </p:spPr>
        <p:txBody>
          <a:bodyPr wrap="square" lIns="91440" tIns="36000" rIns="45720" bIns="36000" anchor="ctr">
            <a:noAutofit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F0D48A"/>
                </a:solidFill>
                <a:latin typeface="Trebuchet MS"/>
              </a:rPr>
              <a:t>Click to reveal answer</a:t>
            </a:r>
          </a:p>
        </p:txBody>
      </p:sp>
      <p:sp>
        <p:nvSpPr>
          <p:cNvPr id="31" name="card1"/>
          <p:cNvSpPr/>
          <p:nvPr/>
        </p:nvSpPr>
        <p:spPr>
          <a:xfrm>
            <a:off x="6248400" y="1905000"/>
            <a:ext cx="5130800" cy="2044700"/>
          </a:xfrm>
          <a:prstGeom prst="roundRect">
            <a:avLst>
              <a:gd name="adj" fmla="val 4000"/>
            </a:avLst>
          </a:prstGeom>
          <a:solidFill>
            <a:srgbClr val="143A2C"/>
          </a:solidFill>
          <a:ln w="12700">
            <a:solidFill>
              <a:srgbClr val="2F584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2" name="badge1"/>
          <p:cNvSpPr/>
          <p:nvPr/>
        </p:nvSpPr>
        <p:spPr>
          <a:xfrm>
            <a:off x="6477000" y="2133600"/>
            <a:ext cx="431800" cy="431800"/>
          </a:xfrm>
          <a:prstGeom prst="ellipse">
            <a:avLst/>
          </a:prstGeom>
          <a:solidFill>
            <a:srgbClr val="2FB8B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" name="t"/>
          <p:cNvSpPr txBox="1"/>
          <p:nvPr/>
        </p:nvSpPr>
        <p:spPr>
          <a:xfrm>
            <a:off x="6477000" y="2209800"/>
            <a:ext cx="4318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US" sz="1500" b="1" dirty="0">
                <a:solidFill>
                  <a:srgbClr val="0E2A20"/>
                </a:solidFill>
                <a:latin typeface="Trebuchet MS"/>
              </a:rPr>
              <a:t>2</a:t>
            </a:r>
          </a:p>
        </p:txBody>
      </p:sp>
      <p:sp>
        <p:nvSpPr>
          <p:cNvPr id="34" name="t"/>
          <p:cNvSpPr txBox="1"/>
          <p:nvPr/>
        </p:nvSpPr>
        <p:spPr>
          <a:xfrm>
            <a:off x="7061200" y="2133600"/>
            <a:ext cx="4064000" cy="711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EEF3EF"/>
                </a:solidFill>
                <a:latin typeface="Trebuchet MS"/>
              </a:rPr>
              <a:t>In NDVI, what does a value near +1 mean?</a:t>
            </a:r>
          </a:p>
        </p:txBody>
      </p:sp>
      <p:sp>
        <p:nvSpPr>
          <p:cNvPr id="202" name="ans1"/>
          <p:cNvSpPr txBox="1"/>
          <p:nvPr/>
        </p:nvSpPr>
        <p:spPr>
          <a:xfrm>
            <a:off x="6502400" y="2997200"/>
            <a:ext cx="4622800" cy="7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en-US" sz="1350" dirty="0">
                <a:solidFill>
                  <a:srgbClr val="C2D2CA"/>
                </a:solidFill>
              </a:rPr>
              <a:t>Dense, healthy vegetation; values near 0 mean bare ground.</a:t>
            </a:r>
          </a:p>
        </p:txBody>
      </p:sp>
      <p:sp>
        <p:nvSpPr>
          <p:cNvPr id="212" name="prompt1"/>
          <p:cNvSpPr/>
          <p:nvPr/>
        </p:nvSpPr>
        <p:spPr>
          <a:xfrm>
            <a:off x="6426200" y="2921000"/>
            <a:ext cx="4775200" cy="889000"/>
          </a:xfrm>
          <a:prstGeom prst="roundRect">
            <a:avLst>
              <a:gd name="adj" fmla="val 5000"/>
            </a:avLst>
          </a:prstGeom>
          <a:solidFill>
            <a:srgbClr val="1E3A2C"/>
          </a:solidFill>
          <a:ln w="15875">
            <a:solidFill>
              <a:srgbClr val="E3B24A"/>
            </a:solidFill>
            <a:prstDash val="dash"/>
          </a:ln>
        </p:spPr>
        <p:txBody>
          <a:bodyPr wrap="square" lIns="91440" tIns="36000" rIns="45720" bIns="36000" anchor="ctr">
            <a:noAutofit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F0D48A"/>
                </a:solidFill>
                <a:latin typeface="Trebuchet MS"/>
              </a:rPr>
              <a:t>Click to reveal answer</a:t>
            </a:r>
          </a:p>
        </p:txBody>
      </p:sp>
      <p:sp>
        <p:nvSpPr>
          <p:cNvPr id="35" name="card2"/>
          <p:cNvSpPr/>
          <p:nvPr/>
        </p:nvSpPr>
        <p:spPr>
          <a:xfrm>
            <a:off x="812800" y="4203700"/>
            <a:ext cx="5130800" cy="2044700"/>
          </a:xfrm>
          <a:prstGeom prst="roundRect">
            <a:avLst>
              <a:gd name="adj" fmla="val 4000"/>
            </a:avLst>
          </a:prstGeom>
          <a:solidFill>
            <a:srgbClr val="143A2C"/>
          </a:solidFill>
          <a:ln w="12700">
            <a:solidFill>
              <a:srgbClr val="2F584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6" name="badge2"/>
          <p:cNvSpPr/>
          <p:nvPr/>
        </p:nvSpPr>
        <p:spPr>
          <a:xfrm>
            <a:off x="1041400" y="4432300"/>
            <a:ext cx="431800" cy="431800"/>
          </a:xfrm>
          <a:prstGeom prst="ellipse">
            <a:avLst/>
          </a:prstGeom>
          <a:solidFill>
            <a:srgbClr val="B58AE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7" name="t"/>
          <p:cNvSpPr txBox="1"/>
          <p:nvPr/>
        </p:nvSpPr>
        <p:spPr>
          <a:xfrm>
            <a:off x="1041400" y="4508500"/>
            <a:ext cx="4318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US" sz="1500" b="1" dirty="0">
                <a:solidFill>
                  <a:srgbClr val="0E2A20"/>
                </a:solidFill>
                <a:latin typeface="Trebuchet MS"/>
              </a:rPr>
              <a:t>3</a:t>
            </a:r>
          </a:p>
        </p:txBody>
      </p:sp>
      <p:sp>
        <p:nvSpPr>
          <p:cNvPr id="38" name="t"/>
          <p:cNvSpPr txBox="1"/>
          <p:nvPr/>
        </p:nvSpPr>
        <p:spPr>
          <a:xfrm>
            <a:off x="1625600" y="4432300"/>
            <a:ext cx="4064000" cy="711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EEF3EF"/>
                </a:solidFill>
                <a:latin typeface="Trebuchet MS"/>
              </a:rPr>
              <a:t>Why reclassify every layer before a weighted overlay?</a:t>
            </a:r>
          </a:p>
        </p:txBody>
      </p:sp>
      <p:sp>
        <p:nvSpPr>
          <p:cNvPr id="203" name="ans2"/>
          <p:cNvSpPr txBox="1"/>
          <p:nvPr/>
        </p:nvSpPr>
        <p:spPr>
          <a:xfrm>
            <a:off x="1066800" y="5295900"/>
            <a:ext cx="4622800" cy="7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en-US" sz="1350" dirty="0">
                <a:solidFill>
                  <a:srgbClr val="C2D2CA"/>
                </a:solidFill>
              </a:rPr>
              <a:t>To put all criteria on one common suitability scale, e.g. 1–9.</a:t>
            </a:r>
          </a:p>
        </p:txBody>
      </p:sp>
      <p:sp>
        <p:nvSpPr>
          <p:cNvPr id="213" name="prompt2"/>
          <p:cNvSpPr/>
          <p:nvPr/>
        </p:nvSpPr>
        <p:spPr>
          <a:xfrm>
            <a:off x="990600" y="5219700"/>
            <a:ext cx="4775200" cy="889000"/>
          </a:xfrm>
          <a:prstGeom prst="roundRect">
            <a:avLst>
              <a:gd name="adj" fmla="val 5000"/>
            </a:avLst>
          </a:prstGeom>
          <a:solidFill>
            <a:srgbClr val="1E3A2C"/>
          </a:solidFill>
          <a:ln w="15875">
            <a:solidFill>
              <a:srgbClr val="E3B24A"/>
            </a:solidFill>
            <a:prstDash val="dash"/>
          </a:ln>
        </p:spPr>
        <p:txBody>
          <a:bodyPr wrap="square" lIns="91440" tIns="36000" rIns="45720" bIns="36000" anchor="ctr">
            <a:noAutofit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F0D48A"/>
                </a:solidFill>
                <a:latin typeface="Trebuchet MS"/>
              </a:rPr>
              <a:t>Click to reveal answer</a:t>
            </a:r>
          </a:p>
        </p:txBody>
      </p:sp>
      <p:sp>
        <p:nvSpPr>
          <p:cNvPr id="39" name="card3"/>
          <p:cNvSpPr/>
          <p:nvPr/>
        </p:nvSpPr>
        <p:spPr>
          <a:xfrm>
            <a:off x="6248400" y="4203700"/>
            <a:ext cx="5130800" cy="2044700"/>
          </a:xfrm>
          <a:prstGeom prst="roundRect">
            <a:avLst>
              <a:gd name="adj" fmla="val 4000"/>
            </a:avLst>
          </a:prstGeom>
          <a:solidFill>
            <a:srgbClr val="143A2C"/>
          </a:solidFill>
          <a:ln w="12700">
            <a:solidFill>
              <a:srgbClr val="2F584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0" name="badge3"/>
          <p:cNvSpPr/>
          <p:nvPr/>
        </p:nvSpPr>
        <p:spPr>
          <a:xfrm>
            <a:off x="6477000" y="4432300"/>
            <a:ext cx="431800" cy="431800"/>
          </a:xfrm>
          <a:prstGeom prst="ellipse">
            <a:avLst/>
          </a:prstGeom>
          <a:solidFill>
            <a:srgbClr val="2FB8B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t"/>
          <p:cNvSpPr txBox="1"/>
          <p:nvPr/>
        </p:nvSpPr>
        <p:spPr>
          <a:xfrm>
            <a:off x="6477000" y="4508500"/>
            <a:ext cx="4318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US" sz="1500" b="1" dirty="0">
                <a:solidFill>
                  <a:srgbClr val="0E2A20"/>
                </a:solidFill>
                <a:latin typeface="Trebuchet MS"/>
              </a:rPr>
              <a:t>4</a:t>
            </a:r>
          </a:p>
        </p:txBody>
      </p:sp>
      <p:sp>
        <p:nvSpPr>
          <p:cNvPr id="42" name="t"/>
          <p:cNvSpPr txBox="1"/>
          <p:nvPr/>
        </p:nvSpPr>
        <p:spPr>
          <a:xfrm>
            <a:off x="7061200" y="4432300"/>
            <a:ext cx="4064000" cy="711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EEF3EF"/>
                </a:solidFill>
                <a:latin typeface="Trebuchet MS"/>
              </a:rPr>
              <a:t>Is NDVI a local, focal, zonal or global operation?</a:t>
            </a:r>
          </a:p>
        </p:txBody>
      </p:sp>
      <p:sp>
        <p:nvSpPr>
          <p:cNvPr id="204" name="ans3"/>
          <p:cNvSpPr txBox="1"/>
          <p:nvPr/>
        </p:nvSpPr>
        <p:spPr>
          <a:xfrm>
            <a:off x="6502400" y="5295900"/>
            <a:ext cx="4622800" cy="7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en-US" sz="1350" dirty="0">
                <a:solidFill>
                  <a:srgbClr val="C2D2CA"/>
                </a:solidFill>
              </a:rPr>
              <a:t>Local — it works cell-by-cell at the same location in each band.</a:t>
            </a:r>
          </a:p>
        </p:txBody>
      </p:sp>
      <p:sp>
        <p:nvSpPr>
          <p:cNvPr id="214" name="prompt3"/>
          <p:cNvSpPr/>
          <p:nvPr/>
        </p:nvSpPr>
        <p:spPr>
          <a:xfrm>
            <a:off x="6426200" y="5219700"/>
            <a:ext cx="4775200" cy="889000"/>
          </a:xfrm>
          <a:prstGeom prst="roundRect">
            <a:avLst>
              <a:gd name="adj" fmla="val 5000"/>
            </a:avLst>
          </a:prstGeom>
          <a:solidFill>
            <a:srgbClr val="1E3A2C"/>
          </a:solidFill>
          <a:ln w="15875">
            <a:solidFill>
              <a:srgbClr val="E3B24A"/>
            </a:solidFill>
            <a:prstDash val="dash"/>
          </a:ln>
        </p:spPr>
        <p:txBody>
          <a:bodyPr wrap="square" lIns="91440" tIns="36000" rIns="45720" bIns="36000" anchor="ctr">
            <a:noAutofit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F0D48A"/>
                </a:solidFill>
                <a:latin typeface="Trebuchet MS"/>
              </a:rPr>
              <a:t>Click to reveal answer</a:t>
            </a:r>
          </a:p>
        </p:txBody>
      </p:sp>
    </p:spTree>
    <p:extLst>
      <p:ext uri="{BB962C8B-B14F-4D97-AF65-F5344CB8AC3E}">
        <p14:creationId xmlns:p14="http://schemas.microsoft.com/office/powerpoint/2010/main" val="1604150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" restart="whenNotActive" fill="hold" nodeType="interactiveSeq">
                <p:stCondLst>
                  <p:cond evt="onClick" delay="0">
                    <p:tgtEl>
                      <p:spTgt spid="27"/>
                    </p:tgtEl>
                  </p:cond>
                  <p:cond evt="onClick" delay="0">
                    <p:tgtEl>
                      <p:spTgt spid="211"/>
                    </p:tgtEl>
                  </p:cond>
                </p:stCondLst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1" presetClass="exit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7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nodeType="interactiveSeq">
                <p:stCondLst>
                  <p:cond evt="onClick" delay="0">
                    <p:tgtEl>
                      <p:spTgt spid="31"/>
                    </p:tgtEl>
                  </p:cond>
                  <p:cond evt="onClick" delay="0">
                    <p:tgtEl>
                      <p:spTgt spid="212"/>
                    </p:tgtEl>
                  </p:cond>
                </p:stCondLst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presetID="1" presetClass="exit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17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3" restart="whenNotActive" fill="hold" nodeType="interactiveSeq">
                <p:stCondLst>
                  <p:cond evt="onClick" delay="0">
                    <p:tgtEl>
                      <p:spTgt spid="35"/>
                    </p:tgtEl>
                  </p:cond>
                  <p:cond evt="onClick" delay="0">
                    <p:tgtEl>
                      <p:spTgt spid="213"/>
                    </p:tgtEl>
                  </p:cond>
                </p:stCondLst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presetID="1" presetClass="exit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27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3" restart="whenNotActive" fill="hold" nodeType="interactiveSeq">
                <p:stCondLst>
                  <p:cond evt="onClick" delay="0">
                    <p:tgtEl>
                      <p:spTgt spid="39"/>
                    </p:tgtEl>
                  </p:cond>
                  <p:cond evt="onClick" delay="0">
                    <p:tgtEl>
                      <p:spTgt spid="214"/>
                    </p:tgtEl>
                  </p:cond>
                </p:stCondLst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presetID="1" presetClass="exit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37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"/>
          <p:cNvSpPr txBox="1"/>
          <p:nvPr/>
        </p:nvSpPr>
        <p:spPr>
          <a:xfrm>
            <a:off x="812800" y="508000"/>
            <a:ext cx="6604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00" b="1" dirty="0">
                <a:solidFill>
                  <a:srgbClr val="E3B24A"/>
                </a:solidFill>
                <a:latin typeface="Trebuchet MS"/>
              </a:rPr>
              <a:t>RASTER DATA ANALYSIS</a:t>
            </a:r>
          </a:p>
        </p:txBody>
      </p:sp>
      <p:sp>
        <p:nvSpPr>
          <p:cNvPr id="21" name="t"/>
          <p:cNvSpPr txBox="1"/>
          <p:nvPr/>
        </p:nvSpPr>
        <p:spPr>
          <a:xfrm>
            <a:off x="8890000" y="355600"/>
            <a:ext cx="2794000" cy="939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</a:pPr>
            <a:r>
              <a:rPr lang="en-US" sz="4600" b="1" dirty="0">
                <a:solidFill>
                  <a:srgbClr val="1C4835"/>
                </a:solidFill>
                <a:latin typeface="Trebuchet MS"/>
              </a:rPr>
              <a:t>19</a:t>
            </a:r>
          </a:p>
        </p:txBody>
      </p:sp>
      <p:sp>
        <p:nvSpPr>
          <p:cNvPr id="22" name="t"/>
          <p:cNvSpPr txBox="1"/>
          <p:nvPr/>
        </p:nvSpPr>
        <p:spPr>
          <a:xfrm>
            <a:off x="812800" y="762000"/>
            <a:ext cx="81280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3000" b="1" dirty="0">
                <a:solidFill>
                  <a:srgbClr val="EEF3EF"/>
                </a:solidFill>
                <a:latin typeface="Trebuchet MS"/>
              </a:rPr>
              <a:t>Recap — and what's next</a:t>
            </a:r>
          </a:p>
        </p:txBody>
      </p:sp>
      <p:sp>
        <p:nvSpPr>
          <p:cNvPr id="23" name="b"/>
          <p:cNvSpPr/>
          <p:nvPr/>
        </p:nvSpPr>
        <p:spPr>
          <a:xfrm>
            <a:off x="838200" y="1346200"/>
            <a:ext cx="355600" cy="63500"/>
          </a:xfrm>
          <a:prstGeom prst="rect">
            <a:avLst/>
          </a:prstGeom>
          <a:solidFill>
            <a:srgbClr val="DE843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b"/>
          <p:cNvSpPr/>
          <p:nvPr/>
        </p:nvSpPr>
        <p:spPr>
          <a:xfrm>
            <a:off x="1244600" y="1346200"/>
            <a:ext cx="355600" cy="63500"/>
          </a:xfrm>
          <a:prstGeom prst="rect">
            <a:avLst/>
          </a:prstGeom>
          <a:solidFill>
            <a:srgbClr val="2FB8B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b"/>
          <p:cNvSpPr/>
          <p:nvPr/>
        </p:nvSpPr>
        <p:spPr>
          <a:xfrm>
            <a:off x="1651000" y="1346200"/>
            <a:ext cx="355600" cy="63500"/>
          </a:xfrm>
          <a:prstGeom prst="rect">
            <a:avLst/>
          </a:prstGeom>
          <a:solidFill>
            <a:srgbClr val="B58AE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t"/>
          <p:cNvSpPr txBox="1"/>
          <p:nvPr/>
        </p:nvSpPr>
        <p:spPr>
          <a:xfrm>
            <a:off x="812800" y="1473200"/>
            <a:ext cx="8636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500" dirty="0">
                <a:solidFill>
                  <a:srgbClr val="C2D2CA"/>
                </a:solidFill>
              </a:rPr>
              <a:t>You can now read, transform and combine rasters to answer real questions</a:t>
            </a:r>
          </a:p>
        </p:txBody>
      </p:sp>
      <p:sp>
        <p:nvSpPr>
          <p:cNvPr id="27" name="tk0"/>
          <p:cNvSpPr/>
          <p:nvPr/>
        </p:nvSpPr>
        <p:spPr>
          <a:xfrm>
            <a:off x="812800" y="1905000"/>
            <a:ext cx="2451100" cy="2235200"/>
          </a:xfrm>
          <a:prstGeom prst="roundRect">
            <a:avLst>
              <a:gd name="adj" fmla="val 5000"/>
            </a:avLst>
          </a:prstGeom>
          <a:solidFill>
            <a:srgbClr val="143A2C"/>
          </a:solidFill>
          <a:ln w="12700">
            <a:solidFill>
              <a:srgbClr val="2F584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8" name="tkchip0"/>
          <p:cNvSpPr/>
          <p:nvPr/>
        </p:nvSpPr>
        <p:spPr>
          <a:xfrm>
            <a:off x="1016000" y="2133600"/>
            <a:ext cx="431800" cy="431800"/>
          </a:xfrm>
          <a:prstGeom prst="roundRect">
            <a:avLst>
              <a:gd name="adj" fmla="val 20000"/>
            </a:avLst>
          </a:prstGeom>
          <a:solidFill>
            <a:srgbClr val="173D2E"/>
          </a:solidFill>
          <a:ln w="15875">
            <a:solidFill>
              <a:srgbClr val="DE843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9" name="t"/>
          <p:cNvSpPr txBox="1"/>
          <p:nvPr/>
        </p:nvSpPr>
        <p:spPr>
          <a:xfrm>
            <a:off x="1016000" y="2743200"/>
            <a:ext cx="20447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EEF3EF"/>
                </a:solidFill>
                <a:latin typeface="Trebuchet MS"/>
              </a:rPr>
              <a:t>Three techniques</a:t>
            </a:r>
          </a:p>
        </p:txBody>
      </p:sp>
      <p:sp>
        <p:nvSpPr>
          <p:cNvPr id="30" name="t"/>
          <p:cNvSpPr txBox="1"/>
          <p:nvPr/>
        </p:nvSpPr>
        <p:spPr>
          <a:xfrm>
            <a:off x="1016000" y="3098800"/>
            <a:ext cx="2044700" cy="889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</a:pPr>
            <a:r>
              <a:rPr lang="en-US" sz="1300" dirty="0">
                <a:solidFill>
                  <a:srgbClr val="C2D2CA"/>
                </a:solidFill>
              </a:rPr>
              <a:t>Surface analysis, map algebra and suitability all turn cells into insight.</a:t>
            </a:r>
          </a:p>
        </p:txBody>
      </p:sp>
      <p:sp>
        <p:nvSpPr>
          <p:cNvPr id="31" name="tk1"/>
          <p:cNvSpPr/>
          <p:nvPr/>
        </p:nvSpPr>
        <p:spPr>
          <a:xfrm>
            <a:off x="3517900" y="1905000"/>
            <a:ext cx="2451100" cy="2235200"/>
          </a:xfrm>
          <a:prstGeom prst="roundRect">
            <a:avLst>
              <a:gd name="adj" fmla="val 5000"/>
            </a:avLst>
          </a:prstGeom>
          <a:solidFill>
            <a:srgbClr val="143A2C"/>
          </a:solidFill>
          <a:ln w="12700">
            <a:solidFill>
              <a:srgbClr val="2F584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2" name="tkchip1"/>
          <p:cNvSpPr/>
          <p:nvPr/>
        </p:nvSpPr>
        <p:spPr>
          <a:xfrm>
            <a:off x="3721100" y="2133600"/>
            <a:ext cx="431800" cy="431800"/>
          </a:xfrm>
          <a:prstGeom prst="roundRect">
            <a:avLst>
              <a:gd name="adj" fmla="val 20000"/>
            </a:avLst>
          </a:prstGeom>
          <a:solidFill>
            <a:srgbClr val="173D2E"/>
          </a:solidFill>
          <a:ln w="15875">
            <a:solidFill>
              <a:srgbClr val="2FB8B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3" name="t"/>
          <p:cNvSpPr txBox="1"/>
          <p:nvPr/>
        </p:nvSpPr>
        <p:spPr>
          <a:xfrm>
            <a:off x="3721100" y="2743200"/>
            <a:ext cx="20447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EEF3EF"/>
                </a:solidFill>
                <a:latin typeface="Trebuchet MS"/>
              </a:rPr>
              <a:t>Output is a raster</a:t>
            </a:r>
          </a:p>
        </p:txBody>
      </p:sp>
      <p:sp>
        <p:nvSpPr>
          <p:cNvPr id="34" name="t"/>
          <p:cNvSpPr txBox="1"/>
          <p:nvPr/>
        </p:nvSpPr>
        <p:spPr>
          <a:xfrm>
            <a:off x="3721100" y="3098800"/>
            <a:ext cx="2044700" cy="889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</a:pPr>
            <a:r>
              <a:rPr lang="en-US" sz="1300" dirty="0">
                <a:solidFill>
                  <a:srgbClr val="C2D2CA"/>
                </a:solidFill>
              </a:rPr>
              <a:t>Every tool reads cell values and writes a brand-new grid.</a:t>
            </a:r>
          </a:p>
        </p:txBody>
      </p:sp>
      <p:sp>
        <p:nvSpPr>
          <p:cNvPr id="35" name="tk2"/>
          <p:cNvSpPr/>
          <p:nvPr/>
        </p:nvSpPr>
        <p:spPr>
          <a:xfrm>
            <a:off x="6223000" y="1905000"/>
            <a:ext cx="2451100" cy="2235200"/>
          </a:xfrm>
          <a:prstGeom prst="roundRect">
            <a:avLst>
              <a:gd name="adj" fmla="val 5000"/>
            </a:avLst>
          </a:prstGeom>
          <a:solidFill>
            <a:srgbClr val="143A2C"/>
          </a:solidFill>
          <a:ln w="12700">
            <a:solidFill>
              <a:srgbClr val="2F584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6" name="tkchip2"/>
          <p:cNvSpPr/>
          <p:nvPr/>
        </p:nvSpPr>
        <p:spPr>
          <a:xfrm>
            <a:off x="6426200" y="2133600"/>
            <a:ext cx="431800" cy="431800"/>
          </a:xfrm>
          <a:prstGeom prst="roundRect">
            <a:avLst>
              <a:gd name="adj" fmla="val 20000"/>
            </a:avLst>
          </a:prstGeom>
          <a:solidFill>
            <a:srgbClr val="173D2E"/>
          </a:solidFill>
          <a:ln w="15875">
            <a:solidFill>
              <a:srgbClr val="B58AE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7" name="t"/>
          <p:cNvSpPr txBox="1"/>
          <p:nvPr/>
        </p:nvSpPr>
        <p:spPr>
          <a:xfrm>
            <a:off x="6426200" y="2743200"/>
            <a:ext cx="20447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EEF3EF"/>
                </a:solidFill>
                <a:latin typeface="Trebuchet MS"/>
              </a:rPr>
              <a:t>Free U.S. data</a:t>
            </a:r>
          </a:p>
        </p:txBody>
      </p:sp>
      <p:sp>
        <p:nvSpPr>
          <p:cNvPr id="38" name="t"/>
          <p:cNvSpPr txBox="1"/>
          <p:nvPr/>
        </p:nvSpPr>
        <p:spPr>
          <a:xfrm>
            <a:off x="6426200" y="3098800"/>
            <a:ext cx="2044700" cy="889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</a:pPr>
            <a:r>
              <a:rPr lang="en-US" sz="1300" dirty="0">
                <a:solidFill>
                  <a:srgbClr val="C2D2CA"/>
                </a:solidFill>
              </a:rPr>
              <a:t>3DEP, Landsat, NLCD and NREL cover the whole country.</a:t>
            </a:r>
          </a:p>
        </p:txBody>
      </p:sp>
      <p:sp>
        <p:nvSpPr>
          <p:cNvPr id="39" name="tk3"/>
          <p:cNvSpPr/>
          <p:nvPr/>
        </p:nvSpPr>
        <p:spPr>
          <a:xfrm>
            <a:off x="8928100" y="1905000"/>
            <a:ext cx="2451100" cy="2235200"/>
          </a:xfrm>
          <a:prstGeom prst="roundRect">
            <a:avLst>
              <a:gd name="adj" fmla="val 5000"/>
            </a:avLst>
          </a:prstGeom>
          <a:solidFill>
            <a:srgbClr val="143A2C"/>
          </a:solidFill>
          <a:ln w="12700">
            <a:solidFill>
              <a:srgbClr val="2F584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0" name="tkchip3"/>
          <p:cNvSpPr/>
          <p:nvPr/>
        </p:nvSpPr>
        <p:spPr>
          <a:xfrm>
            <a:off x="9131300" y="2133600"/>
            <a:ext cx="431800" cy="431800"/>
          </a:xfrm>
          <a:prstGeom prst="roundRect">
            <a:avLst>
              <a:gd name="adj" fmla="val 20000"/>
            </a:avLst>
          </a:prstGeom>
          <a:solidFill>
            <a:srgbClr val="1E3A2C"/>
          </a:solidFill>
          <a:ln w="15875">
            <a:solidFill>
              <a:srgbClr val="E3B24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1" name="t"/>
          <p:cNvSpPr txBox="1"/>
          <p:nvPr/>
        </p:nvSpPr>
        <p:spPr>
          <a:xfrm>
            <a:off x="9131300" y="2743200"/>
            <a:ext cx="20447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EEF3EF"/>
                </a:solidFill>
                <a:latin typeface="Trebuchet MS"/>
              </a:rPr>
              <a:t>One toolbox</a:t>
            </a:r>
          </a:p>
        </p:txBody>
      </p:sp>
      <p:sp>
        <p:nvSpPr>
          <p:cNvPr id="42" name="t"/>
          <p:cNvSpPr txBox="1"/>
          <p:nvPr/>
        </p:nvSpPr>
        <p:spPr>
          <a:xfrm>
            <a:off x="9131300" y="3098800"/>
            <a:ext cx="2044700" cy="889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</a:pPr>
            <a:r>
              <a:rPr lang="en-US" sz="1300" dirty="0">
                <a:solidFill>
                  <a:srgbClr val="C2D2CA"/>
                </a:solidFill>
              </a:rPr>
              <a:t>It all lives in ArcGIS Pro's Spatial Analyst extension.</a:t>
            </a:r>
          </a:p>
        </p:txBody>
      </p:sp>
      <p:sp>
        <p:nvSpPr>
          <p:cNvPr id="43" name="upnext"/>
          <p:cNvSpPr/>
          <p:nvPr/>
        </p:nvSpPr>
        <p:spPr>
          <a:xfrm>
            <a:off x="812800" y="4394200"/>
            <a:ext cx="10566400" cy="1905000"/>
          </a:xfrm>
          <a:prstGeom prst="roundRect">
            <a:avLst>
              <a:gd name="adj" fmla="val 4000"/>
            </a:avLst>
          </a:prstGeom>
          <a:solidFill>
            <a:srgbClr val="0A241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4" name="t"/>
          <p:cNvSpPr txBox="1"/>
          <p:nvPr/>
        </p:nvSpPr>
        <p:spPr>
          <a:xfrm>
            <a:off x="1168400" y="4673600"/>
            <a:ext cx="5080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50" b="1" dirty="0">
                <a:solidFill>
                  <a:srgbClr val="E3B24A"/>
                </a:solidFill>
                <a:latin typeface="Trebuchet MS"/>
              </a:rPr>
              <a:t>UP NEXT</a:t>
            </a:r>
          </a:p>
        </p:txBody>
      </p:sp>
      <p:sp>
        <p:nvSpPr>
          <p:cNvPr id="45" name="t"/>
          <p:cNvSpPr txBox="1"/>
          <p:nvPr/>
        </p:nvSpPr>
        <p:spPr>
          <a:xfrm>
            <a:off x="1168400" y="4927600"/>
            <a:ext cx="5969000" cy="431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2200" b="1" dirty="0">
                <a:solidFill>
                  <a:srgbClr val="EEF3EF"/>
                </a:solidFill>
                <a:latin typeface="Trebuchet MS"/>
              </a:rPr>
              <a:t>Interpolation &amp; Surfaces</a:t>
            </a:r>
          </a:p>
        </p:txBody>
      </p:sp>
      <p:sp>
        <p:nvSpPr>
          <p:cNvPr id="46" name="t"/>
          <p:cNvSpPr txBox="1"/>
          <p:nvPr/>
        </p:nvSpPr>
        <p:spPr>
          <a:xfrm>
            <a:off x="1168400" y="5486400"/>
            <a:ext cx="6096000" cy="660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4000"/>
              </a:lnSpc>
              <a:buNone/>
            </a:pPr>
            <a:r>
              <a:rPr lang="en-US" sz="1400" dirty="0">
                <a:solidFill>
                  <a:srgbClr val="EEF3EF"/>
                </a:solidFill>
              </a:rPr>
              <a:t>Turn scattered field measurements into continuous rasters — then feed them into the analyses you just learned.</a:t>
            </a:r>
          </a:p>
        </p:txBody>
      </p:sp>
      <p:sp>
        <p:nvSpPr>
          <p:cNvPr id="47" name="kd0"/>
          <p:cNvSpPr/>
          <p:nvPr/>
        </p:nvSpPr>
        <p:spPr>
          <a:xfrm>
            <a:off x="7620000" y="4787900"/>
            <a:ext cx="114300" cy="114300"/>
          </a:xfrm>
          <a:prstGeom prst="roundRect">
            <a:avLst>
              <a:gd name="adj" fmla="val 40000"/>
            </a:avLst>
          </a:prstGeom>
          <a:solidFill>
            <a:srgbClr val="E3B24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8" name="t"/>
          <p:cNvSpPr txBox="1"/>
          <p:nvPr/>
        </p:nvSpPr>
        <p:spPr>
          <a:xfrm>
            <a:off x="7874000" y="4724400"/>
            <a:ext cx="33782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350" dirty="0">
                <a:solidFill>
                  <a:srgbClr val="EEF3EF"/>
                </a:solidFill>
              </a:rPr>
              <a:t>Sample points → continuous grid</a:t>
            </a:r>
          </a:p>
        </p:txBody>
      </p:sp>
      <p:sp>
        <p:nvSpPr>
          <p:cNvPr id="49" name="kd1"/>
          <p:cNvSpPr/>
          <p:nvPr/>
        </p:nvSpPr>
        <p:spPr>
          <a:xfrm>
            <a:off x="7620000" y="5194300"/>
            <a:ext cx="114300" cy="114300"/>
          </a:xfrm>
          <a:prstGeom prst="roundRect">
            <a:avLst>
              <a:gd name="adj" fmla="val 40000"/>
            </a:avLst>
          </a:prstGeom>
          <a:solidFill>
            <a:srgbClr val="E3B24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" name="t"/>
          <p:cNvSpPr txBox="1"/>
          <p:nvPr/>
        </p:nvSpPr>
        <p:spPr>
          <a:xfrm>
            <a:off x="7874000" y="5130800"/>
            <a:ext cx="33782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350" dirty="0">
                <a:solidFill>
                  <a:srgbClr val="EEF3EF"/>
                </a:solidFill>
              </a:rPr>
              <a:t>IDW and Kriging methods</a:t>
            </a:r>
          </a:p>
        </p:txBody>
      </p:sp>
      <p:sp>
        <p:nvSpPr>
          <p:cNvPr id="51" name="kd2"/>
          <p:cNvSpPr/>
          <p:nvPr/>
        </p:nvSpPr>
        <p:spPr>
          <a:xfrm>
            <a:off x="7620000" y="5600700"/>
            <a:ext cx="114300" cy="114300"/>
          </a:xfrm>
          <a:prstGeom prst="roundRect">
            <a:avLst>
              <a:gd name="adj" fmla="val 40000"/>
            </a:avLst>
          </a:prstGeom>
          <a:solidFill>
            <a:srgbClr val="E3B24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" name="t"/>
          <p:cNvSpPr txBox="1"/>
          <p:nvPr/>
        </p:nvSpPr>
        <p:spPr>
          <a:xfrm>
            <a:off x="7874000" y="5537200"/>
            <a:ext cx="33782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350" dirty="0">
                <a:solidFill>
                  <a:srgbClr val="EEF3EF"/>
                </a:solidFill>
              </a:rPr>
              <a:t>Spatial Analyst ▸ Interpolation</a:t>
            </a:r>
          </a:p>
        </p:txBody>
      </p:sp>
      <p:pic>
        <p:nvPicPr>
          <p:cNvPr id="53" name="Graphic 53" descr="Three technique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4900" y="2222500"/>
            <a:ext cx="254000" cy="254000"/>
          </a:xfrm>
          <a:prstGeom prst="rect">
            <a:avLst/>
          </a:prstGeom>
        </p:spPr>
      </p:pic>
      <p:pic>
        <p:nvPicPr>
          <p:cNvPr id="54" name="Graphic 54" descr="Output raste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10000" y="2222500"/>
            <a:ext cx="254000" cy="254000"/>
          </a:xfrm>
          <a:prstGeom prst="rect">
            <a:avLst/>
          </a:prstGeom>
        </p:spPr>
      </p:pic>
      <p:pic>
        <p:nvPicPr>
          <p:cNvPr id="55" name="Graphic 55" descr="Free data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15100" y="2222500"/>
            <a:ext cx="254000" cy="254000"/>
          </a:xfrm>
          <a:prstGeom prst="rect">
            <a:avLst/>
          </a:prstGeom>
        </p:spPr>
      </p:pic>
      <p:pic>
        <p:nvPicPr>
          <p:cNvPr id="56" name="Graphic 56" descr="Toolbox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20200" y="2222500"/>
            <a:ext cx="254000" cy="25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5880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83342124873]">
  <a:themeElements>
    <a:clrScheme name="Office">
      <a:dk1>
        <a:srgbClr val="EEF3EF"/>
      </a:dk1>
      <a:lt1>
        <a:srgbClr val="0E3325"/>
      </a:lt1>
      <a:dk2>
        <a:srgbClr val="C2D2CA"/>
      </a:dk2>
      <a:lt2>
        <a:srgbClr val="071C16"/>
      </a:lt2>
      <a:accent1>
        <a:srgbClr val="DE843C"/>
      </a:accent1>
      <a:accent2>
        <a:srgbClr val="2FB8B0"/>
      </a:accent2>
      <a:accent3>
        <a:srgbClr val="B58AE0"/>
      </a:accent3>
      <a:accent4>
        <a:srgbClr val="E3B24A"/>
      </a:accent4>
      <a:accent5>
        <a:srgbClr val="8AA595"/>
      </a:accent5>
      <a:accent6>
        <a:srgbClr val="2F5847"/>
      </a:accent6>
      <a:hlink>
        <a:srgbClr val="467886"/>
      </a:hlink>
      <a:folHlink>
        <a:srgbClr val="96607D"/>
      </a:folHlink>
    </a:clrScheme>
    <a:fontScheme name="Office">
      <a:majorFont>
        <a:latin typeface="Trebuchet MS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B62A945-BF4F-4733-9BD3-13B0E6637CDD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bd60aaba-98f8-43f4-b400-b31ddc9781af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4864</TotalTime>
  <Words>2276</Words>
  <Application>Microsoft Office PowerPoint</Application>
  <PresentationFormat>Widescreen</PresentationFormat>
  <Paragraphs>341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Trebuchet MS</vt:lpstr>
      <vt:lpstr>Office Theme [1783342124873]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Shokran Rahiminezhad</dc:creator>
  <cp:lastModifiedBy>Shokran Rahiminezhad</cp:lastModifiedBy>
  <cp:revision>3</cp:revision>
  <dcterms:created xsi:type="dcterms:W3CDTF">2026-07-05T12:03:30Z</dcterms:created>
  <dcterms:modified xsi:type="dcterms:W3CDTF">2026-07-08T21:07:46Z</dcterms:modified>
</cp:coreProperties>
</file>