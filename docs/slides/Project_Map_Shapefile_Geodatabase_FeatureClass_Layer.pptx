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.xml"/><Relationship Id="rId4" Type="http://schemas.openxmlformats.org/officeDocument/2006/relationships/slide" Target="slide19.xml"/><Relationship Id="rId5" Type="http://schemas.openxmlformats.org/officeDocument/2006/relationships/slide" Target="slide27.xml"/><Relationship Id="rId6" Type="http://schemas.openxmlformats.org/officeDocument/2006/relationships/slide" Target="slide33.xml"/><Relationship Id="rId7" Type="http://schemas.openxmlformats.org/officeDocument/2006/relationships/slide" Target="slide4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" Target="slide3.xml"/><Relationship Id="rId9" Type="http://schemas.openxmlformats.org/officeDocument/2006/relationships/slide" Target="slide11.xml"/><Relationship Id="rId10" Type="http://schemas.openxmlformats.org/officeDocument/2006/relationships/slide" Target="slide19.xml"/><Relationship Id="rId11" Type="http://schemas.openxmlformats.org/officeDocument/2006/relationships/slide" Target="slide27.xml"/><Relationship Id="rId12" Type="http://schemas.openxmlformats.org/officeDocument/2006/relationships/slide" Target="slide33.xml"/><Relationship Id="rId13" Type="http://schemas.openxmlformats.org/officeDocument/2006/relationships/slide" Target="slide4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39.png"/><Relationship Id="rId6" Type="http://schemas.openxmlformats.org/officeDocument/2006/relationships/image" Target="../media/image4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800" y="1780000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2800" y="1746000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ARCGIS PRO · BUILDING BLOCKS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2320000"/>
            <a:ext cx="10566400" cy="1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Project, Map, Geodatabase, Feature Class,</a:t>
            </a:r>
          </a:p>
          <a:p>
            <a:r>
              <a:rPr sz="3000" b="1" i="0">
                <a:solidFill>
                  <a:srgbClr val="1E2522"/>
                </a:solidFill>
                <a:latin typeface="Segoe UI"/>
              </a:rPr>
              <a:t>Shapefile &amp; Layer Creation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3620000"/>
            <a:ext cx="10566400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4605A"/>
                </a:solidFill>
                <a:latin typeface="Segoe UI"/>
              </a:rPr>
              <a:t>From an empty folder to a fully populated geodatabase -- every container this course relies on, and the file-based format it grew out of, built and compared from scratch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4100000"/>
            <a:ext cx="105664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4230000"/>
            <a:ext cx="9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54605A"/>
                </a:solidFill>
                <a:latin typeface="Consolas"/>
              </a:rPr>
              <a:t>JUMP TO A SECTION</a:t>
            </a:r>
          </a:p>
        </p:txBody>
      </p:sp>
      <p:sp>
        <p:nvSpPr>
          <p:cNvPr id="29" name="Rectangle 28">
            <a:hlinkClick action="ppaction://hlinksldjump" r:id="rId2"/>
          </p:cNvPr>
          <p:cNvSpPr/>
          <p:nvPr/>
        </p:nvSpPr>
        <p:spPr>
          <a:xfrm>
            <a:off x="812800" y="4580000"/>
            <a:ext cx="1684866" cy="1650000"/>
          </a:xfrm>
          <a:prstGeom prst="rect">
            <a:avLst/>
          </a:prstGeom>
          <a:solidFill>
            <a:srgbClr val="ECE7D8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>
            <a:hlinkClick action="ppaction://hlinksldjump" r:id="rId2"/>
          </p:cNvPr>
          <p:cNvSpPr/>
          <p:nvPr/>
        </p:nvSpPr>
        <p:spPr>
          <a:xfrm>
            <a:off x="812800" y="4580000"/>
            <a:ext cx="1684866" cy="3048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>
            <a:hlinkClick action="ppaction://hlinksldjump" r:id="rId2"/>
          </p:cNvPr>
          <p:cNvSpPr txBox="1"/>
          <p:nvPr/>
        </p:nvSpPr>
        <p:spPr>
          <a:xfrm>
            <a:off x="904240" y="4680000"/>
            <a:ext cx="1501986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B5C8A"/>
                </a:solidFill>
                <a:latin typeface="Consolas"/>
              </a:rPr>
              <a:t>01</a:t>
            </a:r>
          </a:p>
        </p:txBody>
      </p:sp>
      <p:sp>
        <p:nvSpPr>
          <p:cNvPr id="32" name="TextBox 31">
            <a:hlinkClick action="ppaction://hlinksldjump" r:id="rId2"/>
          </p:cNvPr>
          <p:cNvSpPr txBox="1"/>
          <p:nvPr/>
        </p:nvSpPr>
        <p:spPr>
          <a:xfrm>
            <a:off x="904240" y="4980000"/>
            <a:ext cx="1501986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150" b="1" i="0">
                <a:solidFill>
                  <a:srgbClr val="1E2522"/>
                </a:solidFill>
                <a:latin typeface="Segoe UI"/>
              </a:rPr>
              <a:t>Project Creation</a:t>
            </a:r>
          </a:p>
        </p:txBody>
      </p:sp>
      <p:sp>
        <p:nvSpPr>
          <p:cNvPr id="33" name="TextBox 32">
            <a:hlinkClick action="ppaction://hlinksldjump" r:id="rId2"/>
          </p:cNvPr>
          <p:cNvSpPr txBox="1"/>
          <p:nvPr/>
        </p:nvSpPr>
        <p:spPr>
          <a:xfrm>
            <a:off x="904240" y="5440000"/>
            <a:ext cx="1501986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800" b="0" i="0">
                <a:solidFill>
                  <a:srgbClr val="54605A"/>
                </a:solidFill>
                <a:latin typeface="Segoe UI"/>
              </a:rPr>
              <a:t>What actually happens the moment you click New — and why an .aprx is a pointer, not a data container</a:t>
            </a:r>
          </a:p>
        </p:txBody>
      </p:sp>
      <p:sp>
        <p:nvSpPr>
          <p:cNvPr id="34" name="Rectangle 33">
            <a:hlinkClick action="ppaction://hlinksldjump" r:id="rId3"/>
          </p:cNvPr>
          <p:cNvSpPr/>
          <p:nvPr/>
        </p:nvSpPr>
        <p:spPr>
          <a:xfrm>
            <a:off x="2589106" y="4580000"/>
            <a:ext cx="1684866" cy="1650000"/>
          </a:xfrm>
          <a:prstGeom prst="rect">
            <a:avLst/>
          </a:prstGeom>
          <a:solidFill>
            <a:srgbClr val="ECE7D8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>
            <a:hlinkClick action="ppaction://hlinksldjump" r:id="rId3"/>
          </p:cNvPr>
          <p:cNvSpPr/>
          <p:nvPr/>
        </p:nvSpPr>
        <p:spPr>
          <a:xfrm>
            <a:off x="2589106" y="4580000"/>
            <a:ext cx="1684866" cy="3048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3"/>
          </p:cNvPr>
          <p:cNvSpPr txBox="1"/>
          <p:nvPr/>
        </p:nvSpPr>
        <p:spPr>
          <a:xfrm>
            <a:off x="2680546" y="4680000"/>
            <a:ext cx="1501986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3D7A5C"/>
                </a:solidFill>
                <a:latin typeface="Consolas"/>
              </a:rPr>
              <a:t>02</a:t>
            </a:r>
          </a:p>
        </p:txBody>
      </p:sp>
      <p:sp>
        <p:nvSpPr>
          <p:cNvPr id="37" name="TextBox 36">
            <a:hlinkClick action="ppaction://hlinksldjump" r:id="rId3"/>
          </p:cNvPr>
          <p:cNvSpPr txBox="1"/>
          <p:nvPr/>
        </p:nvSpPr>
        <p:spPr>
          <a:xfrm>
            <a:off x="2680546" y="4980000"/>
            <a:ext cx="1501986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150" b="1" i="0">
                <a:solidFill>
                  <a:srgbClr val="1E2522"/>
                </a:solidFill>
                <a:latin typeface="Segoe UI"/>
              </a:rPr>
              <a:t>Map Creation</a:t>
            </a:r>
          </a:p>
        </p:txBody>
      </p:sp>
      <p:sp>
        <p:nvSpPr>
          <p:cNvPr id="38" name="TextBox 37">
            <a:hlinkClick action="ppaction://hlinksldjump" r:id="rId3"/>
          </p:cNvPr>
          <p:cNvSpPr txBox="1"/>
          <p:nvPr/>
        </p:nvSpPr>
        <p:spPr>
          <a:xfrm>
            <a:off x="2680546" y="5440000"/>
            <a:ext cx="1501986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800" b="0" i="0">
                <a:solidFill>
                  <a:srgbClr val="54605A"/>
                </a:solidFill>
                <a:latin typeface="Segoe UI"/>
              </a:rPr>
              <a:t>New map, new scene, or new layout — and the properties worth setting before you add a single layer</a:t>
            </a:r>
          </a:p>
        </p:txBody>
      </p:sp>
      <p:sp>
        <p:nvSpPr>
          <p:cNvPr id="39" name="Rectangle 38">
            <a:hlinkClick action="ppaction://hlinksldjump" r:id="rId4"/>
          </p:cNvPr>
          <p:cNvSpPr/>
          <p:nvPr/>
        </p:nvSpPr>
        <p:spPr>
          <a:xfrm>
            <a:off x="4365413" y="4580000"/>
            <a:ext cx="1684866" cy="1650000"/>
          </a:xfrm>
          <a:prstGeom prst="rect">
            <a:avLst/>
          </a:prstGeom>
          <a:solidFill>
            <a:srgbClr val="ECE7D8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4"/>
          </p:cNvPr>
          <p:cNvSpPr/>
          <p:nvPr/>
        </p:nvSpPr>
        <p:spPr>
          <a:xfrm>
            <a:off x="4365413" y="4580000"/>
            <a:ext cx="1684866" cy="3048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>
            <a:hlinkClick action="ppaction://hlinksldjump" r:id="rId4"/>
          </p:cNvPr>
          <p:cNvSpPr txBox="1"/>
          <p:nvPr/>
        </p:nvSpPr>
        <p:spPr>
          <a:xfrm>
            <a:off x="4456853" y="4680000"/>
            <a:ext cx="1501986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A3492C"/>
                </a:solidFill>
                <a:latin typeface="Consolas"/>
              </a:rPr>
              <a:t>03</a:t>
            </a:r>
          </a:p>
        </p:txBody>
      </p:sp>
      <p:sp>
        <p:nvSpPr>
          <p:cNvPr id="42" name="TextBox 41">
            <a:hlinkClick action="ppaction://hlinksldjump" r:id="rId4"/>
          </p:cNvPr>
          <p:cNvSpPr txBox="1"/>
          <p:nvPr/>
        </p:nvSpPr>
        <p:spPr>
          <a:xfrm>
            <a:off x="4456853" y="4980000"/>
            <a:ext cx="1501986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150" b="1" i="0">
                <a:solidFill>
                  <a:srgbClr val="1E2522"/>
                </a:solidFill>
                <a:latin typeface="Segoe UI"/>
              </a:rPr>
              <a:t>Geodatabase Creation</a:t>
            </a:r>
          </a:p>
        </p:txBody>
      </p:sp>
      <p:sp>
        <p:nvSpPr>
          <p:cNvPr id="43" name="TextBox 42">
            <a:hlinkClick action="ppaction://hlinksldjump" r:id="rId4"/>
          </p:cNvPr>
          <p:cNvSpPr txBox="1"/>
          <p:nvPr/>
        </p:nvSpPr>
        <p:spPr>
          <a:xfrm>
            <a:off x="4456853" y="5440000"/>
            <a:ext cx="1501986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800" b="0" i="0">
                <a:solidFill>
                  <a:srgbClr val="54605A"/>
                </a:solidFill>
                <a:latin typeface="Segoe UI"/>
              </a:rPr>
              <a:t>File, mobile, or enterprise — building the empty container everything else in this deck lives inside</a:t>
            </a:r>
          </a:p>
        </p:txBody>
      </p:sp>
      <p:sp>
        <p:nvSpPr>
          <p:cNvPr id="44" name="Rectangle 43">
            <a:hlinkClick action="ppaction://hlinksldjump" r:id="rId5"/>
          </p:cNvPr>
          <p:cNvSpPr/>
          <p:nvPr/>
        </p:nvSpPr>
        <p:spPr>
          <a:xfrm>
            <a:off x="6141720" y="4580000"/>
            <a:ext cx="1684866" cy="1650000"/>
          </a:xfrm>
          <a:prstGeom prst="rect">
            <a:avLst/>
          </a:prstGeom>
          <a:solidFill>
            <a:srgbClr val="ECE7D8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>
            <a:hlinkClick action="ppaction://hlinksldjump" r:id="rId5"/>
          </p:cNvPr>
          <p:cNvSpPr/>
          <p:nvPr/>
        </p:nvSpPr>
        <p:spPr>
          <a:xfrm>
            <a:off x="6141720" y="4580000"/>
            <a:ext cx="1684866" cy="3048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>
            <a:hlinkClick action="ppaction://hlinksldjump" r:id="rId5"/>
          </p:cNvPr>
          <p:cNvSpPr txBox="1"/>
          <p:nvPr/>
        </p:nvSpPr>
        <p:spPr>
          <a:xfrm>
            <a:off x="6233160" y="4680000"/>
            <a:ext cx="1501986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6B4C8F"/>
                </a:solidFill>
                <a:latin typeface="Consolas"/>
              </a:rPr>
              <a:t>04</a:t>
            </a:r>
          </a:p>
        </p:txBody>
      </p:sp>
      <p:sp>
        <p:nvSpPr>
          <p:cNvPr id="47" name="TextBox 46">
            <a:hlinkClick action="ppaction://hlinksldjump" r:id="rId5"/>
          </p:cNvPr>
          <p:cNvSpPr txBox="1"/>
          <p:nvPr/>
        </p:nvSpPr>
        <p:spPr>
          <a:xfrm>
            <a:off x="6233160" y="4980000"/>
            <a:ext cx="1501986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150" b="1" i="0">
                <a:solidFill>
                  <a:srgbClr val="1E2522"/>
                </a:solidFill>
                <a:latin typeface="Segoe UI"/>
              </a:rPr>
              <a:t>Feature Class Fundamentals</a:t>
            </a:r>
          </a:p>
        </p:txBody>
      </p:sp>
      <p:sp>
        <p:nvSpPr>
          <p:cNvPr id="48" name="TextBox 47">
            <a:hlinkClick action="ppaction://hlinksldjump" r:id="rId5"/>
          </p:cNvPr>
          <p:cNvSpPr txBox="1"/>
          <p:nvPr/>
        </p:nvSpPr>
        <p:spPr>
          <a:xfrm>
            <a:off x="6233160" y="5440000"/>
            <a:ext cx="1501986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800" b="0" i="0">
                <a:solidFill>
                  <a:srgbClr val="54605A"/>
                </a:solidFill>
                <a:latin typeface="Segoe UI"/>
              </a:rPr>
              <a:t>The geodatabase's native concept for a set of features — and why it isn't the same thing as a shapefile</a:t>
            </a:r>
          </a:p>
        </p:txBody>
      </p:sp>
      <p:sp>
        <p:nvSpPr>
          <p:cNvPr id="49" name="Rectangle 48">
            <a:hlinkClick action="ppaction://hlinksldjump" r:id="rId6"/>
          </p:cNvPr>
          <p:cNvSpPr/>
          <p:nvPr/>
        </p:nvSpPr>
        <p:spPr>
          <a:xfrm>
            <a:off x="7918026" y="4580000"/>
            <a:ext cx="1684866" cy="1650000"/>
          </a:xfrm>
          <a:prstGeom prst="rect">
            <a:avLst/>
          </a:prstGeom>
          <a:solidFill>
            <a:srgbClr val="ECE7D8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>
            <a:hlinkClick action="ppaction://hlinksldjump" r:id="rId6"/>
          </p:cNvPr>
          <p:cNvSpPr/>
          <p:nvPr/>
        </p:nvSpPr>
        <p:spPr>
          <a:xfrm>
            <a:off x="7918026" y="4580000"/>
            <a:ext cx="1684866" cy="3048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action="ppaction://hlinksldjump" r:id="rId6"/>
          </p:cNvPr>
          <p:cNvSpPr txBox="1"/>
          <p:nvPr/>
        </p:nvSpPr>
        <p:spPr>
          <a:xfrm>
            <a:off x="8009466" y="4680000"/>
            <a:ext cx="1501986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C7C8C"/>
                </a:solidFill>
                <a:latin typeface="Consolas"/>
              </a:rPr>
              <a:t>05</a:t>
            </a:r>
          </a:p>
        </p:txBody>
      </p:sp>
      <p:sp>
        <p:nvSpPr>
          <p:cNvPr id="52" name="TextBox 51">
            <a:hlinkClick action="ppaction://hlinksldjump" r:id="rId6"/>
          </p:cNvPr>
          <p:cNvSpPr txBox="1"/>
          <p:nvPr/>
        </p:nvSpPr>
        <p:spPr>
          <a:xfrm>
            <a:off x="8009466" y="4980000"/>
            <a:ext cx="1501986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150" b="1" i="0">
                <a:solidFill>
                  <a:srgbClr val="1E2522"/>
                </a:solidFill>
                <a:latin typeface="Segoe UI"/>
              </a:rPr>
              <a:t>Shapefile Fundamentals</a:t>
            </a:r>
          </a:p>
        </p:txBody>
      </p:sp>
      <p:sp>
        <p:nvSpPr>
          <p:cNvPr id="53" name="TextBox 52">
            <a:hlinkClick action="ppaction://hlinksldjump" r:id="rId6"/>
          </p:cNvPr>
          <p:cNvSpPr txBox="1"/>
          <p:nvPr/>
        </p:nvSpPr>
        <p:spPr>
          <a:xfrm>
            <a:off x="8009466" y="5440000"/>
            <a:ext cx="1501986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800" b="0" i="0">
                <a:solidFill>
                  <a:srgbClr val="54605A"/>
                </a:solidFill>
                <a:latin typeface="Segoe UI"/>
              </a:rPr>
              <a:t>The older, file-based format that predates geodatabases — still worth knowing, still worth using sometimes</a:t>
            </a:r>
          </a:p>
        </p:txBody>
      </p:sp>
      <p:sp>
        <p:nvSpPr>
          <p:cNvPr id="54" name="Rectangle 53">
            <a:hlinkClick action="ppaction://hlinksldjump" r:id="rId7"/>
          </p:cNvPr>
          <p:cNvSpPr/>
          <p:nvPr/>
        </p:nvSpPr>
        <p:spPr>
          <a:xfrm>
            <a:off x="9694333" y="4580000"/>
            <a:ext cx="1684866" cy="1650000"/>
          </a:xfrm>
          <a:prstGeom prst="rect">
            <a:avLst/>
          </a:prstGeom>
          <a:solidFill>
            <a:srgbClr val="ECE7D8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>
            <a:hlinkClick action="ppaction://hlinksldjump" r:id="rId7"/>
          </p:cNvPr>
          <p:cNvSpPr/>
          <p:nvPr/>
        </p:nvSpPr>
        <p:spPr>
          <a:xfrm>
            <a:off x="9694333" y="4580000"/>
            <a:ext cx="1684866" cy="3048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>
            <a:hlinkClick action="ppaction://hlinksldjump" r:id="rId7"/>
          </p:cNvPr>
          <p:cNvSpPr txBox="1"/>
          <p:nvPr/>
        </p:nvSpPr>
        <p:spPr>
          <a:xfrm>
            <a:off x="9785773" y="4680000"/>
            <a:ext cx="1501986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B08328"/>
                </a:solidFill>
                <a:latin typeface="Consolas"/>
              </a:rPr>
              <a:t>06</a:t>
            </a:r>
          </a:p>
        </p:txBody>
      </p:sp>
      <p:sp>
        <p:nvSpPr>
          <p:cNvPr id="57" name="TextBox 56">
            <a:hlinkClick action="ppaction://hlinksldjump" r:id="rId7"/>
          </p:cNvPr>
          <p:cNvSpPr txBox="1"/>
          <p:nvPr/>
        </p:nvSpPr>
        <p:spPr>
          <a:xfrm>
            <a:off x="9785773" y="4980000"/>
            <a:ext cx="1501986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150" b="1" i="0">
                <a:solidFill>
                  <a:srgbClr val="1E2522"/>
                </a:solidFill>
                <a:latin typeface="Segoe UI"/>
              </a:rPr>
              <a:t>Layer Creation</a:t>
            </a:r>
          </a:p>
        </p:txBody>
      </p:sp>
      <p:sp>
        <p:nvSpPr>
          <p:cNvPr id="58" name="TextBox 57">
            <a:hlinkClick action="ppaction://hlinksldjump" r:id="rId7"/>
          </p:cNvPr>
          <p:cNvSpPr txBox="1"/>
          <p:nvPr/>
        </p:nvSpPr>
        <p:spPr>
          <a:xfrm>
            <a:off x="9785773" y="5440000"/>
            <a:ext cx="1501986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800" b="0" i="0">
                <a:solidFill>
                  <a:srgbClr val="54605A"/>
                </a:solidFill>
                <a:latin typeface="Segoe UI"/>
              </a:rPr>
              <a:t>Building a brand-new, empty feature class from scratch — geometry type, fields, and symbology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800" y="638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1">
                <a:solidFill>
                  <a:srgbClr val="2B5C8A"/>
                </a:solidFill>
                <a:latin typeface="Segoe UI"/>
              </a:rPr>
              <a:t>Click a card above to jump straight to that section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TABLE OF CONTENTS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Where to find everything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Six containers, built in the order you'll actually use them</a:t>
            </a:r>
          </a:p>
        </p:txBody>
      </p:sp>
      <p:sp>
        <p:nvSpPr>
          <p:cNvPr id="27" name="Rectangle 26">
            <a:hlinkClick action="ppaction://hlinksldjump" r:id="rId8"/>
          </p:cNvPr>
          <p:cNvSpPr/>
          <p:nvPr/>
        </p:nvSpPr>
        <p:spPr>
          <a:xfrm>
            <a:off x="812800" y="1905000"/>
            <a:ext cx="10566400" cy="73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8"/>
          </p:cNvPr>
          <p:cNvSpPr/>
          <p:nvPr/>
        </p:nvSpPr>
        <p:spPr>
          <a:xfrm>
            <a:off x="812800" y="1905000"/>
            <a:ext cx="38100" cy="7300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action="ppaction://hlinksldjump" r:id="rId8"/>
          </p:cNvPr>
          <p:cNvSpPr txBox="1"/>
          <p:nvPr/>
        </p:nvSpPr>
        <p:spPr>
          <a:xfrm>
            <a:off x="1072800" y="1905000"/>
            <a:ext cx="700000" cy="7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2B5C8A"/>
                </a:solidFill>
                <a:latin typeface="Consolas"/>
              </a:rPr>
              <a:t>01</a:t>
            </a:r>
          </a:p>
        </p:txBody>
      </p:sp>
      <p:sp>
        <p:nvSpPr>
          <p:cNvPr id="30" name="TextBox 29">
            <a:hlinkClick action="ppaction://hlinksldjump" r:id="rId8"/>
          </p:cNvPr>
          <p:cNvSpPr txBox="1"/>
          <p:nvPr/>
        </p:nvSpPr>
        <p:spPr>
          <a:xfrm>
            <a:off x="1802800" y="2021800"/>
            <a:ext cx="9056400" cy="2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Project Creation</a:t>
            </a:r>
          </a:p>
        </p:txBody>
      </p:sp>
      <p:sp>
        <p:nvSpPr>
          <p:cNvPr id="31" name="TextBox 30">
            <a:hlinkClick action="ppaction://hlinksldjump" r:id="rId8"/>
          </p:cNvPr>
          <p:cNvSpPr txBox="1"/>
          <p:nvPr/>
        </p:nvSpPr>
        <p:spPr>
          <a:xfrm>
            <a:off x="1802800" y="2291900"/>
            <a:ext cx="9056400" cy="30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What actually happens the moment you click New — and why an .aprx is a pointer, not a data container</a:t>
            </a:r>
          </a:p>
        </p:txBody>
      </p:sp>
      <p:sp>
        <p:nvSpPr>
          <p:cNvPr id="32" name="Rectangle 31">
            <a:hlinkClick action="ppaction://hlinksldjump" r:id="rId8"/>
          </p:cNvPr>
          <p:cNvSpPr/>
          <p:nvPr/>
        </p:nvSpPr>
        <p:spPr>
          <a:xfrm>
            <a:off x="10942600" y="2116700"/>
            <a:ext cx="306600" cy="306600"/>
          </a:xfrm>
          <a:prstGeom prst="rect">
            <a:avLst/>
          </a:prstGeom>
          <a:solidFill>
            <a:srgbClr val="F6F3EC"/>
          </a:solidFill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lue_buildings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751" y="2182851"/>
            <a:ext cx="174297" cy="174297"/>
          </a:xfrm>
          <a:prstGeom prst="rect">
            <a:avLst/>
          </a:prstGeom>
        </p:spPr>
      </p:pic>
      <p:sp>
        <p:nvSpPr>
          <p:cNvPr id="34" name="Rectangle 33">
            <a:hlinkClick action="ppaction://hlinksldjump" r:id="rId9"/>
          </p:cNvPr>
          <p:cNvSpPr/>
          <p:nvPr/>
        </p:nvSpPr>
        <p:spPr>
          <a:xfrm>
            <a:off x="812800" y="2655000"/>
            <a:ext cx="10566400" cy="73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>
            <a:hlinkClick action="ppaction://hlinksldjump" r:id="rId9"/>
          </p:cNvPr>
          <p:cNvSpPr/>
          <p:nvPr/>
        </p:nvSpPr>
        <p:spPr>
          <a:xfrm>
            <a:off x="812800" y="2655000"/>
            <a:ext cx="38100" cy="7300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9"/>
          </p:cNvPr>
          <p:cNvSpPr txBox="1"/>
          <p:nvPr/>
        </p:nvSpPr>
        <p:spPr>
          <a:xfrm>
            <a:off x="1072800" y="2655000"/>
            <a:ext cx="700000" cy="7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3D7A5C"/>
                </a:solidFill>
                <a:latin typeface="Consolas"/>
              </a:rPr>
              <a:t>02</a:t>
            </a:r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1802800" y="2771800"/>
            <a:ext cx="9056400" cy="2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Map Creation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1802800" y="3041900"/>
            <a:ext cx="9056400" cy="30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New map, new scene, or new layout — and the properties worth setting before you add a single layer</a:t>
            </a:r>
          </a:p>
        </p:txBody>
      </p:sp>
      <p:sp>
        <p:nvSpPr>
          <p:cNvPr id="39" name="Rectangle 38">
            <a:hlinkClick action="ppaction://hlinksldjump" r:id="rId9"/>
          </p:cNvPr>
          <p:cNvSpPr/>
          <p:nvPr/>
        </p:nvSpPr>
        <p:spPr>
          <a:xfrm>
            <a:off x="10942600" y="2866700"/>
            <a:ext cx="306600" cy="306600"/>
          </a:xfrm>
          <a:prstGeom prst="rect">
            <a:avLst/>
          </a:prstGeom>
          <a:solidFill>
            <a:srgbClr val="F6F3EC"/>
          </a:solidFill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green_globe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751" y="2932851"/>
            <a:ext cx="174297" cy="174297"/>
          </a:xfrm>
          <a:prstGeom prst="rect">
            <a:avLst/>
          </a:prstGeom>
        </p:spPr>
      </p:pic>
      <p:sp>
        <p:nvSpPr>
          <p:cNvPr id="41" name="Rectangle 40">
            <a:hlinkClick action="ppaction://hlinksldjump" r:id="rId10"/>
          </p:cNvPr>
          <p:cNvSpPr/>
          <p:nvPr/>
        </p:nvSpPr>
        <p:spPr>
          <a:xfrm>
            <a:off x="812800" y="3405000"/>
            <a:ext cx="10566400" cy="73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>
            <a:hlinkClick action="ppaction://hlinksldjump" r:id="rId10"/>
          </p:cNvPr>
          <p:cNvSpPr/>
          <p:nvPr/>
        </p:nvSpPr>
        <p:spPr>
          <a:xfrm>
            <a:off x="812800" y="3405000"/>
            <a:ext cx="38100" cy="7300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>
            <a:hlinkClick action="ppaction://hlinksldjump" r:id="rId10"/>
          </p:cNvPr>
          <p:cNvSpPr txBox="1"/>
          <p:nvPr/>
        </p:nvSpPr>
        <p:spPr>
          <a:xfrm>
            <a:off x="1072800" y="3405000"/>
            <a:ext cx="700000" cy="7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A3492C"/>
                </a:solidFill>
                <a:latin typeface="Consolas"/>
              </a:rPr>
              <a:t>03</a:t>
            </a:r>
          </a:p>
        </p:txBody>
      </p:sp>
      <p:sp>
        <p:nvSpPr>
          <p:cNvPr id="44" name="TextBox 43">
            <a:hlinkClick action="ppaction://hlinksldjump" r:id="rId10"/>
          </p:cNvPr>
          <p:cNvSpPr txBox="1"/>
          <p:nvPr/>
        </p:nvSpPr>
        <p:spPr>
          <a:xfrm>
            <a:off x="1802800" y="3521800"/>
            <a:ext cx="9056400" cy="2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Geodatabase Creation</a:t>
            </a:r>
          </a:p>
        </p:txBody>
      </p:sp>
      <p:sp>
        <p:nvSpPr>
          <p:cNvPr id="45" name="TextBox 44">
            <a:hlinkClick action="ppaction://hlinksldjump" r:id="rId10"/>
          </p:cNvPr>
          <p:cNvSpPr txBox="1"/>
          <p:nvPr/>
        </p:nvSpPr>
        <p:spPr>
          <a:xfrm>
            <a:off x="1802800" y="3791900"/>
            <a:ext cx="9056400" cy="30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File, mobile, or enterprise — building the empty container everything else in this deck lives inside</a:t>
            </a:r>
          </a:p>
        </p:txBody>
      </p:sp>
      <p:sp>
        <p:nvSpPr>
          <p:cNvPr id="46" name="Rectangle 45">
            <a:hlinkClick action="ppaction://hlinksldjump" r:id="rId10"/>
          </p:cNvPr>
          <p:cNvSpPr/>
          <p:nvPr/>
        </p:nvSpPr>
        <p:spPr>
          <a:xfrm>
            <a:off x="10942600" y="3616700"/>
            <a:ext cx="306600" cy="306600"/>
          </a:xfrm>
          <a:prstGeom prst="rect">
            <a:avLst/>
          </a:prstGeom>
          <a:solidFill>
            <a:srgbClr val="F6F3EC"/>
          </a:solidFill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ust_database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8751" y="3682851"/>
            <a:ext cx="174297" cy="174297"/>
          </a:xfrm>
          <a:prstGeom prst="rect">
            <a:avLst/>
          </a:prstGeom>
        </p:spPr>
      </p:pic>
      <p:sp>
        <p:nvSpPr>
          <p:cNvPr id="48" name="Rectangle 47">
            <a:hlinkClick action="ppaction://hlinksldjump" r:id="rId11"/>
          </p:cNvPr>
          <p:cNvSpPr/>
          <p:nvPr/>
        </p:nvSpPr>
        <p:spPr>
          <a:xfrm>
            <a:off x="812800" y="4155000"/>
            <a:ext cx="10566400" cy="73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>
            <a:hlinkClick action="ppaction://hlinksldjump" r:id="rId11"/>
          </p:cNvPr>
          <p:cNvSpPr/>
          <p:nvPr/>
        </p:nvSpPr>
        <p:spPr>
          <a:xfrm>
            <a:off x="812800" y="4155000"/>
            <a:ext cx="38100" cy="730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>
            <a:hlinkClick action="ppaction://hlinksldjump" r:id="rId11"/>
          </p:cNvPr>
          <p:cNvSpPr txBox="1"/>
          <p:nvPr/>
        </p:nvSpPr>
        <p:spPr>
          <a:xfrm>
            <a:off x="1072800" y="4155000"/>
            <a:ext cx="700000" cy="7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6B4C8F"/>
                </a:solidFill>
                <a:latin typeface="Consolas"/>
              </a:rPr>
              <a:t>04</a:t>
            </a:r>
          </a:p>
        </p:txBody>
      </p:sp>
      <p:sp>
        <p:nvSpPr>
          <p:cNvPr id="51" name="TextBox 50">
            <a:hlinkClick action="ppaction://hlinksldjump" r:id="rId11"/>
          </p:cNvPr>
          <p:cNvSpPr txBox="1"/>
          <p:nvPr/>
        </p:nvSpPr>
        <p:spPr>
          <a:xfrm>
            <a:off x="1802800" y="4271800"/>
            <a:ext cx="9056400" cy="2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Feature Class Fundamentals</a:t>
            </a:r>
          </a:p>
        </p:txBody>
      </p:sp>
      <p:sp>
        <p:nvSpPr>
          <p:cNvPr id="52" name="TextBox 51">
            <a:hlinkClick action="ppaction://hlinksldjump" r:id="rId11"/>
          </p:cNvPr>
          <p:cNvSpPr txBox="1"/>
          <p:nvPr/>
        </p:nvSpPr>
        <p:spPr>
          <a:xfrm>
            <a:off x="1802800" y="4541900"/>
            <a:ext cx="9056400" cy="30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geodatabase's native concept for a set of features — and why it isn't the same thing as a shapefile</a:t>
            </a:r>
          </a:p>
        </p:txBody>
      </p:sp>
      <p:sp>
        <p:nvSpPr>
          <p:cNvPr id="53" name="Rectangle 52">
            <a:hlinkClick action="ppaction://hlinksldjump" r:id="rId11"/>
          </p:cNvPr>
          <p:cNvSpPr/>
          <p:nvPr/>
        </p:nvSpPr>
        <p:spPr>
          <a:xfrm>
            <a:off x="10942600" y="4366700"/>
            <a:ext cx="306600" cy="306600"/>
          </a:xfrm>
          <a:prstGeom prst="rect">
            <a:avLst/>
          </a:prstGeom>
          <a:solidFill>
            <a:srgbClr val="F6F3EC"/>
          </a:solidFill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purple_layers.png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8751" y="4432851"/>
            <a:ext cx="174297" cy="174297"/>
          </a:xfrm>
          <a:prstGeom prst="rect">
            <a:avLst/>
          </a:prstGeom>
        </p:spPr>
      </p:pic>
      <p:sp>
        <p:nvSpPr>
          <p:cNvPr id="55" name="Rectangle 54">
            <a:hlinkClick action="ppaction://hlinksldjump" r:id="rId12"/>
          </p:cNvPr>
          <p:cNvSpPr/>
          <p:nvPr/>
        </p:nvSpPr>
        <p:spPr>
          <a:xfrm>
            <a:off x="812800" y="4905000"/>
            <a:ext cx="10566400" cy="73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>
            <a:hlinkClick action="ppaction://hlinksldjump" r:id="rId12"/>
          </p:cNvPr>
          <p:cNvSpPr/>
          <p:nvPr/>
        </p:nvSpPr>
        <p:spPr>
          <a:xfrm>
            <a:off x="812800" y="4905000"/>
            <a:ext cx="38100" cy="73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>
            <a:hlinkClick action="ppaction://hlinksldjump" r:id="rId12"/>
          </p:cNvPr>
          <p:cNvSpPr txBox="1"/>
          <p:nvPr/>
        </p:nvSpPr>
        <p:spPr>
          <a:xfrm>
            <a:off x="1072800" y="4905000"/>
            <a:ext cx="700000" cy="7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1C7C8C"/>
                </a:solidFill>
                <a:latin typeface="Consolas"/>
              </a:rPr>
              <a:t>05</a:t>
            </a:r>
          </a:p>
        </p:txBody>
      </p:sp>
      <p:sp>
        <p:nvSpPr>
          <p:cNvPr id="58" name="TextBox 57">
            <a:hlinkClick action="ppaction://hlinksldjump" r:id="rId12"/>
          </p:cNvPr>
          <p:cNvSpPr txBox="1"/>
          <p:nvPr/>
        </p:nvSpPr>
        <p:spPr>
          <a:xfrm>
            <a:off x="1802800" y="5021800"/>
            <a:ext cx="9056400" cy="2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Shapefile Fundamentals</a:t>
            </a:r>
          </a:p>
        </p:txBody>
      </p:sp>
      <p:sp>
        <p:nvSpPr>
          <p:cNvPr id="59" name="TextBox 58">
            <a:hlinkClick action="ppaction://hlinksldjump" r:id="rId12"/>
          </p:cNvPr>
          <p:cNvSpPr txBox="1"/>
          <p:nvPr/>
        </p:nvSpPr>
        <p:spPr>
          <a:xfrm>
            <a:off x="1802800" y="5291900"/>
            <a:ext cx="9056400" cy="30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older, file-based format that predates geodatabases — still worth knowing, still worth using sometimes</a:t>
            </a:r>
          </a:p>
        </p:txBody>
      </p:sp>
      <p:sp>
        <p:nvSpPr>
          <p:cNvPr id="60" name="Rectangle 59">
            <a:hlinkClick action="ppaction://hlinksldjump" r:id="rId12"/>
          </p:cNvPr>
          <p:cNvSpPr/>
          <p:nvPr/>
        </p:nvSpPr>
        <p:spPr>
          <a:xfrm>
            <a:off x="10942600" y="5116700"/>
            <a:ext cx="306600" cy="306600"/>
          </a:xfrm>
          <a:prstGeom prst="rect">
            <a:avLst/>
          </a:prstGeom>
          <a:solidFill>
            <a:srgbClr val="F6F3EC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teal_clipboard.png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8751" y="5182851"/>
            <a:ext cx="174297" cy="174297"/>
          </a:xfrm>
          <a:prstGeom prst="rect">
            <a:avLst/>
          </a:prstGeom>
        </p:spPr>
      </p:pic>
      <p:sp>
        <p:nvSpPr>
          <p:cNvPr id="62" name="Rectangle 61">
            <a:hlinkClick action="ppaction://hlinksldjump" r:id="rId13"/>
          </p:cNvPr>
          <p:cNvSpPr/>
          <p:nvPr/>
        </p:nvSpPr>
        <p:spPr>
          <a:xfrm>
            <a:off x="812800" y="5655000"/>
            <a:ext cx="10566400" cy="73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>
            <a:hlinkClick action="ppaction://hlinksldjump" r:id="rId13"/>
          </p:cNvPr>
          <p:cNvSpPr/>
          <p:nvPr/>
        </p:nvSpPr>
        <p:spPr>
          <a:xfrm>
            <a:off x="812800" y="5655000"/>
            <a:ext cx="38100" cy="7300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>
            <a:hlinkClick action="ppaction://hlinksldjump" r:id="rId13"/>
          </p:cNvPr>
          <p:cNvSpPr txBox="1"/>
          <p:nvPr/>
        </p:nvSpPr>
        <p:spPr>
          <a:xfrm>
            <a:off x="1072800" y="5655000"/>
            <a:ext cx="700000" cy="7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B08328"/>
                </a:solidFill>
                <a:latin typeface="Consolas"/>
              </a:rPr>
              <a:t>06</a:t>
            </a:r>
          </a:p>
        </p:txBody>
      </p:sp>
      <p:sp>
        <p:nvSpPr>
          <p:cNvPr id="65" name="TextBox 64">
            <a:hlinkClick action="ppaction://hlinksldjump" r:id="rId13"/>
          </p:cNvPr>
          <p:cNvSpPr txBox="1"/>
          <p:nvPr/>
        </p:nvSpPr>
        <p:spPr>
          <a:xfrm>
            <a:off x="1802800" y="5771800"/>
            <a:ext cx="9056400" cy="2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Layer Creation</a:t>
            </a:r>
          </a:p>
        </p:txBody>
      </p:sp>
      <p:sp>
        <p:nvSpPr>
          <p:cNvPr id="66" name="TextBox 65">
            <a:hlinkClick action="ppaction://hlinksldjump" r:id="rId13"/>
          </p:cNvPr>
          <p:cNvSpPr txBox="1"/>
          <p:nvPr/>
        </p:nvSpPr>
        <p:spPr>
          <a:xfrm>
            <a:off x="1802800" y="6041900"/>
            <a:ext cx="9056400" cy="30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Building a brand-new, empty feature class from scratch — geometry type, fields, and symbology</a:t>
            </a:r>
          </a:p>
        </p:txBody>
      </p:sp>
      <p:sp>
        <p:nvSpPr>
          <p:cNvPr id="67" name="Rectangle 66">
            <a:hlinkClick action="ppaction://hlinksldjump" r:id="rId13"/>
          </p:cNvPr>
          <p:cNvSpPr/>
          <p:nvPr/>
        </p:nvSpPr>
        <p:spPr>
          <a:xfrm>
            <a:off x="10942600" y="5866700"/>
            <a:ext cx="306600" cy="306600"/>
          </a:xfrm>
          <a:prstGeom prst="rect">
            <a:avLst/>
          </a:prstGeom>
          <a:solidFill>
            <a:srgbClr val="F6F3EC"/>
          </a:solidFill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gold_pinroute.png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8751" y="5932851"/>
            <a:ext cx="174297" cy="17429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12800" y="6445000"/>
            <a:ext cx="8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1">
                <a:solidFill>
                  <a:srgbClr val="3D7A5C"/>
                </a:solidFill>
                <a:latin typeface="Segoe UI"/>
              </a:rPr>
              <a:t>Click any section below to jump straight to it 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1810000"/>
            <a:ext cx="40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SECTION 01 OF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232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1E2522"/>
                </a:solidFill>
                <a:latin typeface="Segoe UI"/>
              </a:rPr>
              <a:t>Project Creation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335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4605A"/>
                </a:solidFill>
                <a:latin typeface="Segoe UI"/>
              </a:rPr>
              <a:t>What actually happens the moment you click New — and why an .aprx is a pointer, not a data container</a:t>
            </a:r>
          </a:p>
        </p:txBody>
      </p:sp>
      <p:sp>
        <p:nvSpPr>
          <p:cNvPr id="29" name="TextBox 28">
            <a:hlinkClick action="ppaction://hlinksldjump" r:id="rId2"/>
          </p:cNvPr>
          <p:cNvSpPr txBox="1"/>
          <p:nvPr/>
        </p:nvSpPr>
        <p:spPr>
          <a:xfrm>
            <a:off x="812800" y="64135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2B5C8A"/>
                </a:solidFill>
                <a:latin typeface="Segoe UI"/>
              </a:rPr>
              <a:t>◂  Table of Contents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PROJECT · MAP · GEODATABASE · FEATURE CLASS · SHAPEFILE · LAYER · PROJECT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What a project really 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An .aprx is a connection file, not a folder full of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136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lue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5937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Not a container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.aprx stores map layouts, layer references, and settings — the actual data it points to lives elsewhere, usually right next to 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795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7950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176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176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176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176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28586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lue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3387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319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A save point, not a copy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4976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Opening a project reopens exactly where you left off: same maps, same layout, same active pane arrangement.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540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5400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092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092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092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092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6036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lue_pin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0837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06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Portable only if paths hold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721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Move the data folder without the project and every layer breaks — the .aprx only stores a path, not the data itself.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800" y="51285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800" y="512850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800" y="51666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2800" y="51666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42040" y="51666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69675" y="51666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5200" y="543486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lue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06" y="5482870"/>
            <a:ext cx="320040" cy="3200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33652" y="52809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One project, many maps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33652" y="56466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single .aprx can hold several maps, scenes, and layouts side by side — you'll switch between them constantly.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PROJECT · MAP · GEODATABASE · FEATURE CLASS · SHAPEFILE · LAYER · PROJECT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Starting from Backstage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Project tab → New — the very first screen you see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1604772" cy="39952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800" y="2309800"/>
            <a:ext cx="1604772" cy="362652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800" y="2309800"/>
            <a:ext cx="40000" cy="362652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0075" y="2309800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0075" y="2672452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0075" y="3035104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Save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0075" y="3397756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Save 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0075" y="3760408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Share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0075" y="4123060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Print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0075" y="4485712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Options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0075" y="4848364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Add-Ins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0075" y="5211016"/>
            <a:ext cx="1154772" cy="3626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Licensing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17572" y="2309800"/>
            <a:ext cx="4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FFFFFF"/>
                </a:solidFill>
                <a:latin typeface="Segoe UI"/>
              </a:rPr>
              <a:t>New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17572" y="2689800"/>
            <a:ext cx="4000000" cy="3355200"/>
          </a:xfrm>
          <a:prstGeom prst="roundRect">
            <a:avLst>
              <a:gd name="adj" fmla="val 2000"/>
            </a:avLst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Backstage, not a dialog box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This full-window view is the same 'Project' tab you'll return to for Save As, Share, and Options — not a popup that closes when you look away.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Templates live here too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New screen offers a blank project or a template to start from — the next slide covers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PROJECT · MAP · GEODATABASE · FEATURE CLASS · SHAPEFILE · LAYER · PROJECT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Naming and placing your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Two fields decide your whole folder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Create a New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" y="265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9960" y="289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00" y="289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ZionTrailStudy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960" y="33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Location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9960" y="354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2800" y="35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C:/GIS_Projects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" y="395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Create a new folder for this project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9960" y="419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2800" y="419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Checked (recommended)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The checkbox that saves you later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Checked, ArcGIS Pro makes a ZionTrailStudy folder and puts everything inside it — unchecked, files land loose in Location.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Name it like you'll remember 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folder named ZionTrailStudy beats 'New Project1' the first time you have six projects open at once.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PROJECT · MAP · GEODATABASE · FEATURE CLASS · SHAPEFILE · LAYER · PROJECT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What a new project actually creates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Four items appear the moment you click OK — before you've added anything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2538730" cy="12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253873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800" y="2050000"/>
            <a:ext cx="229873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Consolas"/>
              </a:rPr>
              <a:t>MyProject.aprx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800" y="2550000"/>
            <a:ext cx="229873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54605A"/>
                </a:solidFill>
                <a:latin typeface="Segoe UI"/>
              </a:rPr>
              <a:t>the project (required)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88690" y="1905000"/>
            <a:ext cx="2538730" cy="12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88690" y="1905000"/>
            <a:ext cx="253873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8690" y="2050000"/>
            <a:ext cx="229873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Consolas"/>
              </a:rPr>
              <a:t>MyProject.gdb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8690" y="2550000"/>
            <a:ext cx="229873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54605A"/>
                </a:solidFill>
                <a:latin typeface="Segoe UI"/>
              </a:rPr>
              <a:t>default geodatabase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4580" y="1905000"/>
            <a:ext cx="2538730" cy="12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4580" y="1905000"/>
            <a:ext cx="253873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4580" y="2050000"/>
            <a:ext cx="229873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Consolas"/>
              </a:rPr>
              <a:t>MyProject.tbx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4580" y="2550000"/>
            <a:ext cx="229873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54605A"/>
                </a:solidFill>
                <a:latin typeface="Segoe UI"/>
              </a:rPr>
              <a:t>default toolbox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40470" y="1905000"/>
            <a:ext cx="2538730" cy="12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40470" y="1905000"/>
            <a:ext cx="253873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0470" y="2050000"/>
            <a:ext cx="229873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Consolas"/>
              </a:rPr>
              <a:t>Index/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0470" y="2550000"/>
            <a:ext cx="229873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54605A"/>
                </a:solidFill>
                <a:latin typeface="Segoe UI"/>
              </a:rPr>
              <a:t>project search index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800" y="3350000"/>
            <a:ext cx="10566400" cy="9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2800" y="335000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2800" y="3388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800" y="3388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42040" y="3388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69675" y="3388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5200" y="359197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blue_buil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3639980"/>
            <a:ext cx="320040" cy="32004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533652" y="3502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A blank slate, not an empty 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33652" y="3868160"/>
            <a:ext cx="9693148" cy="2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Even a brand-new project already owns a home for output data (the .gdb) and custom tools (the .tbx) before you do anything else.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800" y="4295720"/>
            <a:ext cx="10566400" cy="9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2800" y="429572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2800" y="433382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2800" y="433382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242040" y="433382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369675" y="433382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5200" y="453769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lue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4585700"/>
            <a:ext cx="320040" cy="32004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533652" y="4448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You'll use the default geodatabase constantly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33652" y="4813880"/>
            <a:ext cx="9693148" cy="2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Every geoprocessing tool suggests it as the output location unless you point somewhere else.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PROJECT · MAP · GEODATABASE · FEATURE CLASS · SHAPEFILE · LAYER · PROJECT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Where it all lives on disk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The exact folder the checkbox on the previous slide created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C:/GIS_Projects/ZionTrailStudy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240" y="2659800"/>
            <a:ext cx="5989320" cy="340000"/>
          </a:xfrm>
          <a:prstGeom prst="roundRect">
            <a:avLst>
              <a:gd name="adj" fmla="val 8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780" y="2659800"/>
            <a:ext cx="585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Segoe UI"/>
              </a:rPr>
              <a:t>ZionTrailStudy</a:t>
            </a:r>
          </a:p>
        </p:txBody>
      </p:sp>
      <p:pic>
        <p:nvPicPr>
          <p:cNvPr id="37" name="Picture 36" descr="blue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80" y="3074800"/>
            <a:ext cx="190000" cy="19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83780" y="2999800"/>
            <a:ext cx="52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ZionTrailStudy.aprx</a:t>
            </a:r>
          </a:p>
        </p:txBody>
      </p:sp>
      <p:pic>
        <p:nvPicPr>
          <p:cNvPr id="39" name="Picture 38" descr="blue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80" y="3414800"/>
            <a:ext cx="190000" cy="19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83780" y="3339800"/>
            <a:ext cx="52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ZionTrailStudy.gdb</a:t>
            </a:r>
          </a:p>
        </p:txBody>
      </p:sp>
      <p:pic>
        <p:nvPicPr>
          <p:cNvPr id="41" name="Picture 40" descr="blue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80" y="3754800"/>
            <a:ext cx="190000" cy="190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83780" y="3679800"/>
            <a:ext cx="52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ZionTrailStudy.tbx</a:t>
            </a:r>
          </a:p>
        </p:txBody>
      </p:sp>
      <p:pic>
        <p:nvPicPr>
          <p:cNvPr id="43" name="Picture 42" descr="blue_buil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80" y="4094800"/>
            <a:ext cx="190000" cy="190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583780" y="4019800"/>
            <a:ext cx="52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Index</a:t>
            </a:r>
          </a:p>
        </p:txBody>
      </p:sp>
      <p:pic>
        <p:nvPicPr>
          <p:cNvPr id="45" name="Picture 44" descr="blue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780" y="4434800"/>
            <a:ext cx="190000" cy="190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883780" y="4359800"/>
            <a:ext cx="49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Index.idx0</a:t>
            </a:r>
          </a:p>
        </p:txBody>
      </p:sp>
      <p:pic>
        <p:nvPicPr>
          <p:cNvPr id="47" name="Picture 46" descr="blue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780" y="4774800"/>
            <a:ext cx="190000" cy="190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83780" y="4699800"/>
            <a:ext cx="52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ImportLog.txt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The .gdb is a folder, not a file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File geodatabases look like a single icon in Windows Explorer but are really a folder full of internal files — covered fully in Section 3.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ImportLog.txt is worth a glance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Every import ArcGIS Pro runs gets logged here — useful the first time something looks like it silently failed.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PROJECT · MAP · GEODATABASE · FEATURE CLASS · SHAPEFILE · LAYER · PROJECT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Templates: starting from something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Five built-in starting points, not just 'blank'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79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09197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lue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139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17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Opens with one empty 2D map already in the Contents pane — the most common starting point.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740720"/>
            <a:ext cx="10566400" cy="79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74072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277882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277882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277882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277882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292769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lue_buil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2975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289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Catalog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258880"/>
            <a:ext cx="9693148" cy="17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No map at all — just Catalog and Geoprocessing panes, for pure data-management projects.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3576440"/>
            <a:ext cx="10566400" cy="79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357644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361454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361454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361454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361454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376341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lue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3811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372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Global Scene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094600"/>
            <a:ext cx="9693148" cy="17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3D globe view for whole-earth or large-region work.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800" y="4412160"/>
            <a:ext cx="10566400" cy="79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800" y="441216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800" y="44502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2800" y="44502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42040" y="44502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69675" y="44502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5200" y="459913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lue_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647140"/>
            <a:ext cx="320040" cy="3200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33652" y="456456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Local Scene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33652" y="4930320"/>
            <a:ext cx="9693148" cy="17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3D view anchored to a local area — what most terrain-focused projects start from.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2800" y="5247880"/>
            <a:ext cx="10566400" cy="79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2800" y="524788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2800" y="528598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2800" y="528598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242040" y="528598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369675" y="528598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5200" y="5434854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blue_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06" y="5482860"/>
            <a:ext cx="320040" cy="32004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533652" y="540028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Blank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33652" y="5766040"/>
            <a:ext cx="9693148" cy="17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No map, no scene — just an empty project shell you build up yourself.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PROJECT · MAP · GEODATABASE · FEATURE CLASS · SHAPEFILE · LAYER · PROJECT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One project, many 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Bridging to the next section — the project is the shell; maps are what you build inside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7329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lu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65335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Maps and scenes are project items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Every map you create lives inside this same .aprx, listed in the Catalog pane's Maps folder.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9143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9143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2953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2953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2953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2953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303759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lue_sw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51765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4383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Switching costs nothing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50959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Click between open map tabs the same way you'd switch browser tabs — no save-and-reopen required.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7786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77860"/>
            <a:ext cx="10566400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1159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1159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115960"/>
            <a:ext cx="137160" cy="9525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115960"/>
            <a:ext cx="9525" cy="75438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90189"/>
            <a:ext cx="416052" cy="416052"/>
          </a:xfrm>
          <a:prstGeom prst="rect">
            <a:avLst/>
          </a:prstGeom>
          <a:noFill/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lue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38195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3026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Next: building the map itself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9602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Section 2 covers creating a new map or scene, and the handful of properties worth setting before you add any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1810000"/>
            <a:ext cx="40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SECTION 02 OF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232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1E2522"/>
                </a:solidFill>
                <a:latin typeface="Segoe UI"/>
              </a:rPr>
              <a:t>Map Creation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335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4605A"/>
                </a:solidFill>
                <a:latin typeface="Segoe UI"/>
              </a:rPr>
              <a:t>New map, new scene, or new layout — and the properties worth setting before you add a single layer</a:t>
            </a:r>
          </a:p>
        </p:txBody>
      </p:sp>
      <p:sp>
        <p:nvSpPr>
          <p:cNvPr id="29" name="TextBox 28">
            <a:hlinkClick action="ppaction://hlinksldjump" r:id="rId2"/>
          </p:cNvPr>
          <p:cNvSpPr txBox="1"/>
          <p:nvPr/>
        </p:nvSpPr>
        <p:spPr>
          <a:xfrm>
            <a:off x="812800" y="64135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3D7A5C"/>
                </a:solidFill>
                <a:latin typeface="Segoe UI"/>
              </a:rPr>
              <a:t>◂  Table of Contents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PROJECT · MAP · GEODATABASE · FEATURE CLASS · SHAPEFILE · LAYER · MAP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Insert tab — where every new view starts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Four buttons, four different kinds of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2269800"/>
            <a:ext cx="62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8B4AC"/>
                </a:solidFill>
                <a:latin typeface="Segoe UI"/>
              </a:rPr>
              <a:t>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9960" y="2269800"/>
            <a:ext cx="62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8B4AC"/>
                </a:solidFill>
                <a:latin typeface="Segoe UI"/>
              </a:rPr>
              <a:t>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89960" y="2549800"/>
            <a:ext cx="620000" cy="400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89960" y="2269800"/>
            <a:ext cx="62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Insert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9960" y="2269800"/>
            <a:ext cx="62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8B4AC"/>
                </a:solidFill>
                <a:latin typeface="Segoe UI"/>
              </a:rPr>
              <a:t>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960" y="2269800"/>
            <a:ext cx="62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8B4AC"/>
                </a:solidFill>
                <a:latin typeface="Segoe UI"/>
              </a:rPr>
              <a:t>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9960" y="2269800"/>
            <a:ext cx="62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8B4AC"/>
                </a:solidFill>
                <a:latin typeface="Segoe UI"/>
              </a:rPr>
              <a:t>Edit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9960" y="2269800"/>
            <a:ext cx="62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8B4AC"/>
                </a:solidFill>
                <a:latin typeface="Segoe UI"/>
              </a:rPr>
              <a:t>Imagery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9960" y="2269800"/>
            <a:ext cx="62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8B4AC"/>
                </a:solidFill>
                <a:latin typeface="Segoe UI"/>
              </a:rPr>
              <a:t>Share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960" y="2669800"/>
            <a:ext cx="145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A8B4AC"/>
                </a:solidFill>
                <a:latin typeface="Segoe UI"/>
              </a:rPr>
              <a:t>New 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960" y="3289800"/>
            <a:ext cx="145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1">
                <a:solidFill>
                  <a:srgbClr val="8A94A8"/>
                </a:solidFill>
                <a:latin typeface="Segoe UI"/>
              </a:rPr>
              <a:t>Project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49960" y="2669800"/>
            <a:ext cx="145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A8B4AC"/>
                </a:solidFill>
                <a:latin typeface="Segoe UI"/>
              </a:rPr>
              <a:t>New Global Scene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49960" y="3289800"/>
            <a:ext cx="145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1">
                <a:solidFill>
                  <a:srgbClr val="8A94A8"/>
                </a:solidFill>
                <a:latin typeface="Segoe UI"/>
              </a:rPr>
              <a:t>Views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9960" y="2669800"/>
            <a:ext cx="145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A8B4AC"/>
                </a:solidFill>
                <a:latin typeface="Segoe UI"/>
              </a:rPr>
              <a:t>New Local Scene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49960" y="3289800"/>
            <a:ext cx="145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1">
                <a:solidFill>
                  <a:srgbClr val="8A94A8"/>
                </a:solidFill>
                <a:latin typeface="Segoe UI"/>
              </a:rPr>
              <a:t>Views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9960" y="2669800"/>
            <a:ext cx="145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A8B4AC"/>
                </a:solidFill>
                <a:latin typeface="Segoe UI"/>
              </a:rPr>
              <a:t>New Layout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9960" y="3289800"/>
            <a:ext cx="145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1">
                <a:solidFill>
                  <a:srgbClr val="8A94A8"/>
                </a:solidFill>
                <a:latin typeface="Segoe UI"/>
              </a:rPr>
              <a:t>Layouts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9960" y="3669800"/>
            <a:ext cx="5897880" cy="239804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2800" y="3729800"/>
            <a:ext cx="16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8A94A8"/>
                </a:solidFill>
                <a:latin typeface="Segoe UI"/>
              </a:rPr>
              <a:t>Contents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2800" y="4049800"/>
            <a:ext cx="16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Segoe UI"/>
              </a:rPr>
              <a:t>parks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2800" y="4309800"/>
            <a:ext cx="16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Segoe UI"/>
              </a:rPr>
              <a:t>boundaries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2800" y="4569800"/>
            <a:ext cx="16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Segoe UI"/>
              </a:rPr>
              <a:t>roads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00" y="4829800"/>
            <a:ext cx="160000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Segoe UI"/>
              </a:rPr>
              <a:t>basemap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12800" y="37298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Map vs. Scene, chosen up front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You can't quietly convert a 2D map into a 3D scene later — pick the right one from this tab before you invest time in it.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A project can hold all four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Nothing stops you from having two maps, a scene, and a layout side by side in the same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PROJECT · MAP · GEODATABASE · FEATURE CLASS · SHAPEFILE · LAYER · MAP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Map, Scene, or Layout?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Three different jobs, easy to mix up early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32197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reen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369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flat, 2D view for analysis and everyday editing — the default and most common choice.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20072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20072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238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238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238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238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61769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reen_buil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665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35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Scene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71888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3D view (Global or Local) for terrain, buildings, and anywhere elevation matters visually.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49644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49644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53454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53454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53454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53454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91341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gree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961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64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Layout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501460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Not a view of data at all — a print/export page that arranges one or more map frames, a legend, and a title.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PROJECT · MAP · GEODATABASE · FEATURE CLASS · SHAPEFILE · LAYER · MAP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Setting the coordinate system early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Map Properties → Coordinate Systems — the one setting worth checking on day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Map 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" y="265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9960" y="289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00" y="289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Zion Canyon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960" y="33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Coordinate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9960" y="354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2800" y="35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NAD 1983 UTM Zone 12N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" y="395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Extent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9960" y="419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2800" y="419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Same as first layer added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A new map has no coordinate system yet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It silently adopts whichever the first layer you add uses — set it deliberately instead of leaving it to chance.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Change it anytime, mostly for free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ArcGIS Pro reprojects on the fly for display; only exports and some tools need the underlying data reprojected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PROJECT · MAP · GEODATABASE · FEATURE CLASS · SHAPEFILE · LAYER · MAP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Renaming and organizing your 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Right-click a map in the Catalog pane's Maps folder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233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8A94A8"/>
                </a:solidFill>
                <a:latin typeface="Segoe UI"/>
              </a:rPr>
              <a:t>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800" y="2709800"/>
            <a:ext cx="3200000" cy="2100000"/>
          </a:xfrm>
          <a:prstGeom prst="rect">
            <a:avLst/>
          </a:prstGeom>
          <a:solidFill>
            <a:srgbClr val="1B243D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9960" y="273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Rename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9960" y="307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9960" y="341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Remove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32800" y="3759800"/>
            <a:ext cx="3160000" cy="3400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49960" y="375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Segoe UI"/>
              </a:rPr>
              <a:t>Duplicate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9960" y="409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Add To Current Project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9960" y="443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Delete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Rename before it multiplies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'Map' and 'Map1' are fine for a five-minute test — confusing the moment you have four of them open.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Duplicate, don't rebuild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Need a second version with different symbology? Duplicate keeps every layer and setting, ready to diverge from there.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PROJECT · MAP · GEODATABASE · FEATURE CLASS · SHAPEFILE · LAYER · MAP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Picking a starting basemap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Not required, but it gives every map immediate visual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6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49697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reen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544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It's just a reference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9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basemap is a normal layer at the bottom of the drawing order — remove or swap it anytime without touching your real data.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550720"/>
            <a:ext cx="10566400" cy="16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55072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588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588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58882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58882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414269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ree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4190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70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Pick imagery for anything outdoors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4068880"/>
            <a:ext cx="9693148" cy="9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Trail, terrain, and vegetation work reads far better over imagery than over a plain street map.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PROJECT · MAP · GEODATABASE · FEATURE CLASS · SHAPEFILE · LAYER · MAP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Map properties worth setting on day 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Small settings now save real confusion 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136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ree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5937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Reference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Fixes symbol and label sizes to a specific scale — without it, point symbols grow or shrink oddly as you zoom.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795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7950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176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176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176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176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28586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reen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3387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319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Time settings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4976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If any layer has a time field, enabling time here unlocks the time slider for animating change.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540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5400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092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092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092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092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6036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green_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0837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06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Illumination (scenes only)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721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Sun position and shadows — mostly cosmetic, but it can make slope and aspect genuinely easier to read.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800" y="51285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800" y="512850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800" y="51666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2800" y="51666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42040" y="51666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69675" y="51666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5200" y="5434864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green_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06" y="5482870"/>
            <a:ext cx="320040" cy="3200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33652" y="52809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Metadata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33652" y="56466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title and summary here is what shows up if you ever share this map as a web map.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PROJECT · MAP · GEODATABASE · FEATURE CLASS · SHAPEFILE · LAYER · MAP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From a blank map to a real container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Where Section 3 picks up — the map displays data; the geodatabase is where that data lives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7329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reen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65335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A map with nothing in it yet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Everything up to this point has been about views onto data — Section 3 is about building the container that data actually lives in.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9143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9143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2953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2953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2953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2953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303759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ree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51765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4383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Different from the layer itself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50959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map frame and a feature class are not the same thing — the map just displays layers that point at data stored in a geodatabase.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7786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77860"/>
            <a:ext cx="10566400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115960"/>
            <a:ext cx="137160" cy="9525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115960"/>
            <a:ext cx="9525" cy="75438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90189"/>
            <a:ext cx="416052" cy="416052"/>
          </a:xfrm>
          <a:prstGeom prst="rect">
            <a:avLst/>
          </a:prstGeom>
          <a:noFill/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green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38195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3026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Next: the geodatabase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9602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Section 3 builds that geodatabase deliberately, so Sections 4–6 have somewhere real to put a feature class.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1810000"/>
            <a:ext cx="40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SECTION 03 OF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232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1E2522"/>
                </a:solidFill>
                <a:latin typeface="Segoe UI"/>
              </a:rPr>
              <a:t>Geodatabase Creation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335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4605A"/>
                </a:solidFill>
                <a:latin typeface="Segoe UI"/>
              </a:rPr>
              <a:t>File, mobile, or enterprise — building the empty container everything else in this deck lives inside</a:t>
            </a:r>
          </a:p>
        </p:txBody>
      </p:sp>
      <p:sp>
        <p:nvSpPr>
          <p:cNvPr id="29" name="TextBox 28">
            <a:hlinkClick action="ppaction://hlinksldjump" r:id="rId2"/>
          </p:cNvPr>
          <p:cNvSpPr txBox="1"/>
          <p:nvPr/>
        </p:nvSpPr>
        <p:spPr>
          <a:xfrm>
            <a:off x="812800" y="64135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A3492C"/>
                </a:solidFill>
                <a:latin typeface="Segoe UI"/>
              </a:rPr>
              <a:t>◂  Table of Contents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PROJECT · MAP · GEODATABASE · FEATURE CLASS · SHAPEFILE · LAYER · GEODATABASE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Three kinds of geodatabase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Same concept, three very different deployments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32197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ust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369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File geodatabase (.gdb)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folder of files on disk — the default for almost every course project, single-user, no size drama under normal use.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20072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20072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23882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23882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23882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23882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61769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ust_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665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35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Mobile geodatabase (.geodatabase)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71888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single file, built for field data collection apps and offline editing on a phone or tablet.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49644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49644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53454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53454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53454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53454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91341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rust_build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961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64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Enterprise geodatabase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501460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Lives inside a real database server (SQL Server, PostgreSQL, Oracle) — supports many simultaneous editors and versioning.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PROJECT · MAP · GEODATABASE · FEATURE CLASS · SHAPEFILE · LAYER · GEODATABASE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Creating a new File Geodatabase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Catalog pane → right-click Folders → New → File Geodatabase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Add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" y="262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94A8"/>
                </a:solidFill>
                <a:latin typeface="Segoe UI"/>
              </a:rPr>
              <a:t>Catalog ▸ Folders ▸ ZionTrailStudy</a:t>
            </a:r>
          </a:p>
        </p:txBody>
      </p:sp>
      <p:pic>
        <p:nvPicPr>
          <p:cNvPr id="36" name="Picture 35" descr="rust_buil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0" y="3024800"/>
            <a:ext cx="190000" cy="19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83780" y="294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ZionTrailStudy</a:t>
            </a:r>
          </a:p>
        </p:txBody>
      </p:sp>
      <p:pic>
        <p:nvPicPr>
          <p:cNvPr id="38" name="Picture 37" descr="rust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80" y="3364800"/>
            <a:ext cx="190000" cy="19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83780" y="328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ZionTrailStudy.gdb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4240" y="3629800"/>
            <a:ext cx="5989320" cy="340000"/>
          </a:xfrm>
          <a:prstGeom prst="roundRect">
            <a:avLst>
              <a:gd name="adj" fmla="val 8000"/>
            </a:avLst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rust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80" y="3704800"/>
            <a:ext cx="190000" cy="190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83780" y="362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Segoe UI"/>
              </a:rPr>
              <a:t>TrailData.gdb</a:t>
            </a:r>
          </a:p>
        </p:txBody>
      </p:sp>
      <p:pic>
        <p:nvPicPr>
          <p:cNvPr id="43" name="Picture 42" descr="rust_buil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0" y="4044800"/>
            <a:ext cx="190000" cy="190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83780" y="396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Exports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5000" y="5705000"/>
            <a:ext cx="850000" cy="320000"/>
          </a:xfrm>
          <a:prstGeom prst="roundRect">
            <a:avLst>
              <a:gd name="adj" fmla="val 10000"/>
            </a:avLst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5000" y="5705000"/>
            <a:ext cx="8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Add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Named the moment it's created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Unlike the default geodatabase, a new one asks for a name up front — TrailData.gdb reads better than Untitled.gdb.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Separate from the default on purpose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Keeping survey output in its own TrailData.gdb, away from the project's default, makes it easy to hand off or archive independently.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PROJECT · MAP · GEODATABASE · FEATURE CLASS · SHAPEFILE · LAYER · GEODATABASE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What a fresh geodatabase contains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Empty, but not nothing — the Catalog pane shows its structure immediately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2269800"/>
            <a:ext cx="12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492C"/>
                </a:solidFill>
                <a:latin typeface="Segoe UI"/>
              </a:rPr>
              <a:t>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9960" y="2269800"/>
            <a:ext cx="12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8B4AC"/>
                </a:solidFill>
                <a:latin typeface="Segoe UI"/>
              </a:rPr>
              <a:t>Portal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9960" y="2269800"/>
            <a:ext cx="12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8B4AC"/>
                </a:solidFill>
                <a:latin typeface="Segoe UI"/>
              </a:rPr>
              <a:t>Computer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9960" y="2269800"/>
            <a:ext cx="125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8B4AC"/>
                </a:solidFill>
                <a:latin typeface="Segoe UI"/>
              </a:rPr>
              <a:t>Favorites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94A8"/>
                </a:solidFill>
                <a:latin typeface="Segoe UI"/>
              </a:rPr>
              <a:t>Search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780" y="2969800"/>
            <a:ext cx="585024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▸ Maps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780" y="3269800"/>
            <a:ext cx="585024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▸ Toolboxes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780" y="3569800"/>
            <a:ext cx="585024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▸ Databases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780" y="3869800"/>
            <a:ext cx="585024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▸ Styles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780" y="4169800"/>
            <a:ext cx="585024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▸ Folders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780" y="4469800"/>
            <a:ext cx="585024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▸ Locators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Empty until you say otherwise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brand-new file geodatabase holds zero feature classes — every one you'll see from Section 4 onward was created or imported deliberately.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Same Catalog pane as always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This is the identical pane used for browsing existing data — creating and browsing share the same tool.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PROJECT · MAP · GEODATABASE · FEATURE CLASS · SHAPEFILE · LAYER · GEODATABASE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Feature datasets: grouping related layers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An optional folder-like layer inside the geodatabase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32197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ust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369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Same coordinate system, guaranteed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Every feature class inside one feature dataset is forced to share a single coordinate system — no silent mismatches.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20072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20072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23882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23882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23882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23882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61769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ust_pin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665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35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Built for topology and networks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71888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Feature datasets are required if you plan to build a topology or a network dataset spanning several feature classes.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49644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49644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53454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53454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53454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53454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91341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rust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961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64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Skip it for simple projects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501460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handful of unrelated feature classes don't need one — feature datasets earn their keep once relationships matter.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PROJECT · MAP · GEODATABASE · FEATURE CLASS · SHAPEFILE · LAYER · GEODATABASE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Domains and subtypes, briefly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Two ways a geodatabase enforces data quality for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32197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ust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369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Domains constrain valid values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Attach a domain to a field and typos like 'Modarate' become impossible to enter in the first place — Section 4 shows exactly where a domain attaches.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20072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20072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23882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23882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23882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23882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61769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ust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665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35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Subtypes split one feature class into categories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71888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single feature class can behave as 'Paved' vs 'Unpaved' subtypes, each with its own default values and rules.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49644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49644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53454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53454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53454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53454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913414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rust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961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64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Both optional, both powerful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501460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Small course projects can skip both entirely — they start paying off once several people edit the same geodatabase.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PROJECT · MAP · GEODATABASE · FEATURE CLASS · SHAPEFILE · LAYER · GEODATABASE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Anatomy of a file geodatabase on disk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One Windows icon, dozens of files underneath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TrailData.gdb</a:t>
            </a:r>
          </a:p>
        </p:txBody>
      </p:sp>
      <p:pic>
        <p:nvPicPr>
          <p:cNvPr id="35" name="Picture 34" descr="rust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0" y="2734800"/>
            <a:ext cx="190000" cy="19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83780" y="265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a00000001.gdbtable</a:t>
            </a:r>
          </a:p>
        </p:txBody>
      </p:sp>
      <p:pic>
        <p:nvPicPr>
          <p:cNvPr id="37" name="Picture 36" descr="rust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0" y="3074800"/>
            <a:ext cx="190000" cy="19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83780" y="299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a00000001.gdbtablx</a:t>
            </a:r>
          </a:p>
        </p:txBody>
      </p:sp>
      <p:pic>
        <p:nvPicPr>
          <p:cNvPr id="39" name="Picture 38" descr="rust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0" y="3414800"/>
            <a:ext cx="190000" cy="19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83780" y="333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a00000004.spx</a:t>
            </a:r>
          </a:p>
        </p:txBody>
      </p:sp>
      <p:pic>
        <p:nvPicPr>
          <p:cNvPr id="41" name="Picture 40" descr="rust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80" y="3754800"/>
            <a:ext cx="190000" cy="190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83780" y="367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gdb</a:t>
            </a:r>
          </a:p>
        </p:txBody>
      </p:sp>
      <p:pic>
        <p:nvPicPr>
          <p:cNvPr id="43" name="Picture 42" descr="rust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80" y="4094800"/>
            <a:ext cx="190000" cy="190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83780" y="4019800"/>
            <a:ext cx="554024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timestamps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Never rename these files by hand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cryptic internal names are how ArcGIS Pro tracks every feature class — renaming them outside the software corrupts the geodatabase.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Copy the whole folder, or none of 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Move a .gdb the same way you'd move any folder — copy the entire thing, never just a few files from inside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PROJECT · MAP · GEODATABASE · FEATURE CLASS · SHAPEFILE · LAYER · GEODATABASE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You have a container — now fill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Sections 4 and 5 cover exactly what goes inside, and how that differs from an older alternative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7329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ust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65335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Project holds the connection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.aprx from Section 1 is what remembers where this geodatabase lives — nothing about it changes as you add data.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9143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9143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2953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2953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2953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2953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303759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rust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51765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4383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Next: what actually goes inside 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50959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Section 4 covers the feature class — the geodatabase's native concept for a set of features, and how it compares to a shapefile.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7786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77860"/>
            <a:ext cx="10566400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11596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11596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115960"/>
            <a:ext cx="137160" cy="9525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115960"/>
            <a:ext cx="9525" cy="75438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90189"/>
            <a:ext cx="416052" cy="416052"/>
          </a:xfrm>
          <a:prstGeom prst="rect">
            <a:avLst/>
          </a:prstGeom>
          <a:noFill/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rust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38195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3026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Then: the format it replaced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9602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Section 5 covers the shapefile itself — still common, still worth understanding on its own terms.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1810000"/>
            <a:ext cx="40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6B4C8F"/>
                </a:solidFill>
                <a:latin typeface="Consolas"/>
              </a:rPr>
              <a:t>SECTION 04 OF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232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1E2522"/>
                </a:solidFill>
                <a:latin typeface="Segoe UI"/>
              </a:rPr>
              <a:t>Feature Class Fundamentals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335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4605A"/>
                </a:solidFill>
                <a:latin typeface="Segoe UI"/>
              </a:rPr>
              <a:t>The geodatabase's native concept for a set of features — and why it isn't the same thing as a shapefile</a:t>
            </a:r>
          </a:p>
        </p:txBody>
      </p:sp>
      <p:sp>
        <p:nvSpPr>
          <p:cNvPr id="29" name="TextBox 28">
            <a:hlinkClick action="ppaction://hlinksldjump" r:id="rId2"/>
          </p:cNvPr>
          <p:cNvSpPr txBox="1"/>
          <p:nvPr/>
        </p:nvSpPr>
        <p:spPr>
          <a:xfrm>
            <a:off x="812800" y="64135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6B4C8F"/>
                </a:solidFill>
                <a:latin typeface="Segoe UI"/>
              </a:rPr>
              <a:t>◂  Table of Contents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B4C8F"/>
                </a:solidFill>
                <a:latin typeface="Consolas"/>
              </a:rPr>
              <a:t>PROJECT · MAP · GEODATABASE · FEATURE CLASS · SHAPEFILE · LAYER · FEATURE CLASS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What is a feature class?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The geodatabase's native way to store one set of same-geometry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1364"/>
            <a:ext cx="416052" cy="416052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urple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5937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Not a file — a set of rows in the geodatabase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feature class lives inside a geodatabase's internal tables. There's no standalone .shp-like file sitting next to it on disk — the whole geodatabase is one unit.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795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79500"/>
            <a:ext cx="105664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176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176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176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176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285864"/>
            <a:ext cx="416052" cy="416052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urple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3387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319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One geometry type per class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4976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Just like the file-based format it grew out of, a single feature class holds points, lines, OR polygons — never a mix. Section 5 covers that older format directly.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540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54000"/>
            <a:ext cx="105664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092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092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092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092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60364"/>
            <a:ext cx="416052" cy="416052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urple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0837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06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Geometry plus attributes, in one row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721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Every feature is a row: an internal Shape column holds the coordinates, and your own fields — name, type, date — fill out the rest, exactly like any database table.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800" y="51285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800" y="5128500"/>
            <a:ext cx="105664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800" y="51666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2800" y="51666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42040" y="51666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69675" y="51666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5200" y="5434864"/>
            <a:ext cx="416052" cy="416052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purple_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06" y="5482870"/>
            <a:ext cx="320040" cy="3200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33652" y="52809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The term you'll hear constantly from here 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33652" y="56466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"Feature class" is the word ArcGIS Pro uses everywhere a geodatabase holds geographic features — Section 6 walks through building one step by step.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B4C8F"/>
                </a:solidFill>
                <a:latin typeface="Consolas"/>
              </a:rPr>
              <a:t>PROJECT · MAP · GEODATABASE · FEATURE CLASS · SHAPEFILE · LAYER · FEATURE CLASS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Feature classes vs.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Not everything inside a geodatabase has geometry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TrailData.gdb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" y="2659800"/>
            <a:ext cx="2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8A94A8"/>
                </a:solidFill>
                <a:latin typeface="Segoe UI"/>
              </a:rPr>
              <a:t>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9960" y="2659800"/>
            <a:ext cx="17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8A94A8"/>
                </a:solidFill>
                <a:latin typeface="Segoe UI"/>
              </a:rPr>
              <a:t>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9960" y="2659800"/>
            <a:ext cx="18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8A94A8"/>
                </a:solidFill>
                <a:latin typeface="Segoe UI"/>
              </a:rPr>
              <a:t>Has Geometry?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960" y="2999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Trail_Segments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9960" y="299980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Feature Class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9960" y="2999800"/>
            <a:ext cx="18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Yes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" y="3339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Trailheads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49960" y="333980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Feature Class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9960" y="3339800"/>
            <a:ext cx="18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960" y="3679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Survey_Log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9960" y="367980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9960" y="3679800"/>
            <a:ext cx="18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960" y="40198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Difficulty_Domain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9960" y="401980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Domain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9960" y="4019800"/>
            <a:ext cx="18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Tables hold pure attribute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Survey_Log can join to Trail_Segments by an ID field without ever having its own geometry — no Shape column at all.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Domains live in the geodatabase too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Difficulty_Domain isn't a feature class or table — it's a validation rule, covered in Section 3.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B4C8F"/>
                </a:solidFill>
                <a:latin typeface="Consolas"/>
              </a:rPr>
              <a:t>PROJECT · MAP · GEODATABASE · FEATURE CLASS · SHAPEFILE · LAYER · FEATURE CLASS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Three geometry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Every feature class holds exactly one — point, line, or polygon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3430693" cy="42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3430693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5200" y="2065000"/>
            <a:ext cx="500000" cy="500000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urple_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00" y="2155000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5200" y="2665000"/>
            <a:ext cx="312589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200" y="3035000"/>
            <a:ext cx="3125893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single X, Y location.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200" y="3605000"/>
            <a:ext cx="3125893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B4C8F"/>
                </a:solidFill>
                <a:latin typeface="Consolas"/>
              </a:rPr>
              <a:t>COMMON USES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200" y="390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Wells &amp; sample sites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200" y="424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Trees &amp; light poles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200" y="458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GPS pins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200" y="492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Address 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0653" y="1905000"/>
            <a:ext cx="3430693" cy="42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0653" y="1905000"/>
            <a:ext cx="3430693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33053" y="2065000"/>
            <a:ext cx="500000" cy="500000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urple_pin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053" y="2155000"/>
            <a:ext cx="320040" cy="3200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33053" y="2665000"/>
            <a:ext cx="312589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3053" y="3035000"/>
            <a:ext cx="3125893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An ordered path of connected vertices.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3053" y="3605000"/>
            <a:ext cx="3125893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B4C8F"/>
                </a:solidFill>
                <a:latin typeface="Consolas"/>
              </a:rPr>
              <a:t>COMMON USES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3053" y="390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Roads &amp; streets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33053" y="424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Rivers &amp; streams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3053" y="458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Pipelines &amp; cables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33053" y="492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Trails &amp; routes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8506" y="1905000"/>
            <a:ext cx="3430693" cy="42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48506" y="1905000"/>
            <a:ext cx="3430693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00906" y="2065000"/>
            <a:ext cx="500000" cy="500000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purple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906" y="2155000"/>
            <a:ext cx="320040" cy="32004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100906" y="2665000"/>
            <a:ext cx="3125893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Polygon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0906" y="3035000"/>
            <a:ext cx="3125893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closed area enclosed by a ring of vertices.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00906" y="3605000"/>
            <a:ext cx="3125893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6B4C8F"/>
                </a:solidFill>
                <a:latin typeface="Consolas"/>
              </a:rPr>
              <a:t>COMMON USES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00906" y="390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Lakes &amp; parks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0906" y="424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Land parcels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00906" y="458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Countries &amp; zones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00906" y="4925000"/>
            <a:ext cx="31258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4605A"/>
                </a:solidFill>
                <a:latin typeface="Segoe UI"/>
              </a:rPr>
              <a:t>•  Building footprints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B4C8F"/>
                </a:solidFill>
                <a:latin typeface="Consolas"/>
              </a:rPr>
              <a:t>PROJECT · MAP · GEODATABASE · FEATURE CLASS · SHAPEFILE · LAYER · FEATURE CLASS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Feature class vs. shapefile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Conceptually analogous, technically distinct — and not interchangeable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20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82720" y="1905000"/>
            <a:ext cx="3698239" cy="285714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82720" y="1905000"/>
            <a:ext cx="349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SHAPEFILE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1905000"/>
            <a:ext cx="3698239" cy="285714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80960" y="1905000"/>
            <a:ext cx="349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FEATURE CLASS (in a Geodatabase)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2190714"/>
            <a:ext cx="10566400" cy="285714"/>
          </a:xfrm>
          <a:prstGeom prst="rect">
            <a:avLst/>
          </a:prstGeom>
          <a:solidFill>
            <a:srgbClr val="ECE7D8"/>
          </a:solidFill>
          <a:ln w="635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800" y="2190714"/>
            <a:ext cx="3019920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1">
                <a:solidFill>
                  <a:srgbClr val="54605A"/>
                </a:solidFill>
                <a:latin typeface="Segoe UI"/>
              </a:rPr>
              <a:t>What it 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2720" y="2190714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E2522"/>
                </a:solidFill>
                <a:latin typeface="Segoe UI"/>
              </a:rPr>
              <a:t>A standalone file set for one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80960" y="2190714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1E2522"/>
                </a:solidFill>
                <a:latin typeface="Segoe UI"/>
              </a:rPr>
              <a:t>A row-set living inside a geodatabase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2476428"/>
            <a:ext cx="10566400" cy="285714"/>
          </a:xfrm>
          <a:prstGeom prst="rect">
            <a:avLst/>
          </a:prstGeom>
          <a:solidFill>
            <a:srgbClr val="F6F3EC"/>
          </a:solidFill>
          <a:ln w="635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800" y="2476428"/>
            <a:ext cx="3019920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1">
                <a:solidFill>
                  <a:srgbClr val="54605A"/>
                </a:solidFill>
                <a:latin typeface="Segoe UI"/>
              </a:rPr>
              <a:t>Field names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82720" y="2476428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E2522"/>
                </a:solidFill>
                <a:latin typeface="Segoe UI"/>
              </a:rPr>
              <a:t>Limited to 10 characters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80960" y="2476428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1E2522"/>
                </a:solidFill>
                <a:latin typeface="Segoe UI"/>
              </a:rPr>
              <a:t>Long, descriptive names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800" y="2762142"/>
            <a:ext cx="10566400" cy="285714"/>
          </a:xfrm>
          <a:prstGeom prst="rect">
            <a:avLst/>
          </a:prstGeom>
          <a:solidFill>
            <a:srgbClr val="ECE7D8"/>
          </a:solidFill>
          <a:ln w="635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800" y="2762142"/>
            <a:ext cx="3019920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1">
                <a:solidFill>
                  <a:srgbClr val="54605A"/>
                </a:solidFill>
                <a:latin typeface="Segoe UI"/>
              </a:rPr>
              <a:t>Nulls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2720" y="2762142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E2522"/>
                </a:solidFill>
                <a:latin typeface="Segoe UI"/>
              </a:rPr>
              <a:t>No true NULL values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80960" y="2762142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1E2522"/>
                </a:solidFill>
                <a:latin typeface="Segoe UI"/>
              </a:rPr>
              <a:t>True nulls, domains &amp; validation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3047857"/>
            <a:ext cx="10566400" cy="285714"/>
          </a:xfrm>
          <a:prstGeom prst="rect">
            <a:avLst/>
          </a:prstGeom>
          <a:solidFill>
            <a:srgbClr val="F6F3EC"/>
          </a:solidFill>
          <a:ln w="635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800" y="3047857"/>
            <a:ext cx="3019920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1">
                <a:solidFill>
                  <a:srgbClr val="54605A"/>
                </a:solidFill>
                <a:latin typeface="Segoe UI"/>
              </a:rPr>
              <a:t>Size limit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82720" y="3047857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E2522"/>
                </a:solidFill>
                <a:latin typeface="Segoe UI"/>
              </a:rPr>
              <a:t>About 2 GB per 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80960" y="3047857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1E2522"/>
                </a:solidFill>
                <a:latin typeface="Segoe UI"/>
              </a:rPr>
              <a:t>Up to ~1 TB per dataset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2800" y="3333571"/>
            <a:ext cx="10566400" cy="285714"/>
          </a:xfrm>
          <a:prstGeom prst="rect">
            <a:avLst/>
          </a:prstGeom>
          <a:solidFill>
            <a:srgbClr val="ECE7D8"/>
          </a:solidFill>
          <a:ln w="635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800" y="3333571"/>
            <a:ext cx="3019920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1">
                <a:solidFill>
                  <a:srgbClr val="54605A"/>
                </a:solidFill>
                <a:latin typeface="Segoe UI"/>
              </a:rPr>
              <a:t>Exists independent of a database?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82720" y="3333571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E2522"/>
                </a:solidFill>
                <a:latin typeface="Segoe UI"/>
              </a:rPr>
              <a:t>Yes — that's the whole point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0960" y="3333571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1E2522"/>
                </a:solidFill>
                <a:latin typeface="Segoe UI"/>
              </a:rPr>
              <a:t>No — always lives inside a geodatabase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800" y="3619285"/>
            <a:ext cx="10566400" cy="285714"/>
          </a:xfrm>
          <a:prstGeom prst="rect">
            <a:avLst/>
          </a:prstGeom>
          <a:solidFill>
            <a:srgbClr val="F6F3EC"/>
          </a:solidFill>
          <a:ln w="635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2800" y="3619285"/>
            <a:ext cx="3019920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1">
                <a:solidFill>
                  <a:srgbClr val="54605A"/>
                </a:solidFill>
                <a:latin typeface="Segoe UI"/>
              </a:rPr>
              <a:t>Predates the other?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82720" y="3619285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1E2522"/>
                </a:solidFill>
                <a:latin typeface="Segoe UI"/>
              </a:rPr>
              <a:t>Yes — the older, 1990s-era format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80960" y="3619285"/>
            <a:ext cx="3548239" cy="285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1E2522"/>
                </a:solidFill>
                <a:latin typeface="Segoe UI"/>
              </a:rPr>
              <a:t>Newer, geodatabase-native concept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2800" y="4005000"/>
            <a:ext cx="10566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1">
                <a:solidFill>
                  <a:srgbClr val="54605A"/>
                </a:solidFill>
                <a:latin typeface="Segoe UI"/>
              </a:rPr>
              <a:t>A feature class is the geodatabase's equivalent of a shapefile layer — same job (one geometry type, with attributes), but a shapefile is an older, file-based format that predates geodatabases and can exist entirely on its own, while a feature class only exists inside a geodatabase and inherits its size, field-name, and null-value advantages.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6B4C8F"/>
                </a:solidFill>
                <a:latin typeface="Consolas"/>
              </a:rPr>
              <a:t>PROJECT · MAP · GEODATABASE · FEATURE CLASS · SHAPEFILE · LAYER · FEATURE CLASS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Where feature classes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Bridging to Section 5 — the file-based format this concept grew out 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7329"/>
            <a:ext cx="416052" cy="416052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urple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65335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Always inside a geodatabase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Every feature class you'll ever create lives inside a File, Mobile, or Enterprise geodatabase — never loose on disk by itself.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9143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91430"/>
            <a:ext cx="105664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2953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2953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2953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2953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303759"/>
            <a:ext cx="416052" cy="416052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urple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51765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4383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The shapefile came first, historically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50959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Before geodatabases existed, the shapefile was the standard way to store one geometry type with attributes — Section 5 covers it on its own terms.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7786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77860"/>
            <a:ext cx="10566400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11596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11596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115960"/>
            <a:ext cx="137160" cy="9525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115960"/>
            <a:ext cx="9525" cy="75438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90189"/>
            <a:ext cx="416052" cy="416052"/>
          </a:xfrm>
          <a:prstGeom prst="rect">
            <a:avLst/>
          </a:prstGeom>
          <a:noFill/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urple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38195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3026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Next: the format it replaced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9602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Understanding shapefiles makes feature classes easier to appreciate — you'll see exactly which limitations a geodatabase removes.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1810000"/>
            <a:ext cx="40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SECTION 05 OF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232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1E2522"/>
                </a:solidFill>
                <a:latin typeface="Segoe UI"/>
              </a:rPr>
              <a:t>Shapefile Fundamentals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335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4605A"/>
                </a:solidFill>
                <a:latin typeface="Segoe UI"/>
              </a:rPr>
              <a:t>The older, file-based format that predates geodatabases — still worth knowing, still worth using sometimes</a:t>
            </a:r>
          </a:p>
        </p:txBody>
      </p:sp>
      <p:sp>
        <p:nvSpPr>
          <p:cNvPr id="29" name="TextBox 28">
            <a:hlinkClick action="ppaction://hlinksldjump" r:id="rId2"/>
          </p:cNvPr>
          <p:cNvSpPr txBox="1"/>
          <p:nvPr/>
        </p:nvSpPr>
        <p:spPr>
          <a:xfrm>
            <a:off x="812800" y="64135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1C7C8C"/>
                </a:solidFill>
                <a:latin typeface="Segoe UI"/>
              </a:rPr>
              <a:t>◂  Table of Contents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PROJECT · MAP · GEODATABASE · FEATURE CLASS · SHAPEFILE · LAYER · SHAPEFILE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Anatomy: the shapefile trinity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Three mandatory files that always travel together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9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15697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eal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04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.shp — Geometry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30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raw coordinates: every point, line, and polygon vertex. REQUIRED.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870720"/>
            <a:ext cx="10566400" cy="9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87072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290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290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290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290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12269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eal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170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02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.shx — Index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388880"/>
            <a:ext cx="9693148" cy="30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positional index linking features back to the .shp for fast access. REQUIRED.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3836440"/>
            <a:ext cx="10566400" cy="9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383644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3874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3874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3874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3874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08841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eal_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136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398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.dbf — Attributes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354600"/>
            <a:ext cx="9693148" cy="30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dBASE table, one row per feature — the data table describing each feature. REQUIRED.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2800" y="4865000"/>
            <a:ext cx="8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C7C8C"/>
                </a:solidFill>
                <a:latin typeface="Consolas"/>
              </a:rPr>
              <a:t>OPTIONAL COMPANIONS — NICE TO HAVE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2800" y="5205000"/>
            <a:ext cx="3430693" cy="700000"/>
          </a:xfrm>
          <a:prstGeom prst="rect">
            <a:avLst/>
          </a:prstGeom>
          <a:solidFill>
            <a:srgbClr val="F6F3EC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2800" y="5285000"/>
            <a:ext cx="3170693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E2522"/>
                </a:solidFill>
                <a:latin typeface="Consolas"/>
              </a:rPr>
              <a:t>.prj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2800" y="5565000"/>
            <a:ext cx="31706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4605A"/>
                </a:solidFill>
                <a:latin typeface="Segoe UI"/>
              </a:rPr>
              <a:t>Coordinate system definition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0653" y="5205000"/>
            <a:ext cx="3430693" cy="700000"/>
          </a:xfrm>
          <a:prstGeom prst="rect">
            <a:avLst/>
          </a:prstGeom>
          <a:solidFill>
            <a:srgbClr val="F6F3EC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10653" y="5285000"/>
            <a:ext cx="3170693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E2522"/>
                </a:solidFill>
                <a:latin typeface="Consolas"/>
              </a:rPr>
              <a:t>.cpg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10653" y="5565000"/>
            <a:ext cx="31706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4605A"/>
                </a:solidFill>
                <a:latin typeface="Segoe UI"/>
              </a:rPr>
              <a:t>Character encoding for the .dbf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48506" y="5205000"/>
            <a:ext cx="3430693" cy="700000"/>
          </a:xfrm>
          <a:prstGeom prst="rect">
            <a:avLst/>
          </a:prstGeom>
          <a:solidFill>
            <a:srgbClr val="F6F3EC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8506" y="5285000"/>
            <a:ext cx="3170693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E2522"/>
                </a:solidFill>
                <a:latin typeface="Consolas"/>
              </a:rPr>
              <a:t>.sbn / .sbx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78506" y="5565000"/>
            <a:ext cx="3170693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4605A"/>
                </a:solidFill>
                <a:latin typeface="Segoe UI"/>
              </a:rPr>
              <a:t>Spatial index for faster queries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PROJECT · MAP · GEODATABASE · FEATURE CLASS · SHAPEFILE · LAYER · SHAPEFILE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Coordinate systems &amp; the .prj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Why beginners put points in the wrong hemisphere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5214620" cy="13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521462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00" y="2055000"/>
            <a:ext cx="49146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Web maps &amp; GPS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00" y="2405000"/>
            <a:ext cx="49146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54605A"/>
                </a:solidFill>
                <a:latin typeface="Segoe UI"/>
              </a:rPr>
              <a:t>(Latitude, Longitude)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00" y="2755000"/>
            <a:ext cx="49146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C7C8C"/>
                </a:solidFill>
                <a:latin typeface="Consolas"/>
              </a:rPr>
              <a:t>40.71, -74.01  =  (Y, X) order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4580" y="1905000"/>
            <a:ext cx="5214620" cy="13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4580" y="1905000"/>
            <a:ext cx="521462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4580" y="2055000"/>
            <a:ext cx="49146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GIS software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4580" y="2405000"/>
            <a:ext cx="49146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54605A"/>
                </a:solidFill>
                <a:latin typeface="Segoe UI"/>
              </a:rPr>
              <a:t>(Longitude, Latitude)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4580" y="2755000"/>
            <a:ext cx="49146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C7C8C"/>
                </a:solidFill>
                <a:latin typeface="Consolas"/>
              </a:rPr>
              <a:t>-74.01, 40.71  =  (X, Y) order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405000"/>
            <a:ext cx="10566400" cy="9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40500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4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4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4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4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64697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eal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369498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5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The .prj file — your coordinate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923160"/>
            <a:ext cx="9693148" cy="2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.prj records the Coordinate Reference System: the datum and projection used to place features on Earth. Without it, ArcGIS cannot reliably position your data.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350720"/>
            <a:ext cx="10566400" cy="9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35072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38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38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38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38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59269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eal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464070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50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Swap the order and you're in the wrong hemisphere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868880"/>
            <a:ext cx="9693148" cy="2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Mixing up X-Y (GIS) and Lat-Long (web/GPS) order sends features to the wrong location entirely — a different failure mode than the Map Properties CRS setting in Section 2, which controls display, not storage order.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PROJECT · MAP · GEODATABASE · FEATURE CLASS · SHAPEFILE · LAYER · SHAPEFILE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Creating a new shapefile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Four steps in ArcGIS Pro's Catalog pane — the same wizard, a plain folder 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Catalog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" y="262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8A94A8"/>
                </a:solidFill>
                <a:latin typeface="Segoe UI"/>
              </a:rPr>
              <a:t>Catalog ▸ Folders ▸ ZionTrailStudy  (plain folder)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12800" y="3029800"/>
            <a:ext cx="3400000" cy="1760000"/>
          </a:xfrm>
          <a:prstGeom prst="rect">
            <a:avLst/>
          </a:prstGeom>
          <a:solidFill>
            <a:srgbClr val="1B243D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32800" y="3059800"/>
            <a:ext cx="3360000" cy="34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49960" y="3059800"/>
            <a:ext cx="31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Segoe UI"/>
              </a:rPr>
              <a:t>New ▸ Shapefile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9960" y="3399800"/>
            <a:ext cx="31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New ▸ File Geodatabase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9960" y="3739800"/>
            <a:ext cx="31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New ▸ Folder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9960" y="4079800"/>
            <a:ext cx="31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Paste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9960" y="4419800"/>
            <a:ext cx="31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Properties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A folder, not a geodatabase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Right-click a plain folder (not a .gdb) and choose New → Shapefile — this launches the same Create Feature Class-style wizard Section 6 covers in depth.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Geometry type is locked in immediately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Point, line, or polygon plus the coordinate system get set right here and can't be changed later — same rule as a feature class.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PROJECT · MAP · GEODATABASE · FEATURE CLASS · SHAPEFILE · LAYER · SHAPEFILE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When you'd still reach for a shapefile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Section 4 covered the trade-offs — here's when they still tip in the shapefile's favor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32197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eal_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369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Sharing with tools outside the Esri ecosystem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Some older or third-party GIS tools read shapefiles natively but don't handle geodatabases at all — for maximum compatibility, a shapefile still travels furthest.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20072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20072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23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23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23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23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61769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eal_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665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35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A single, self-contained layer to hand off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71888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Emailing or archiving one simple layer? A shapefile's handful of files is easier to zip and send than exporting a whole geodatabase.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49644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49644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534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534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534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534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91341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eal_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961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64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Small, simple, single-user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501460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For a quick field boundary or a one-off point layer well under 2 GB, the extra structure a geodatabase offers may just be overhead.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PROJECT · MAP · GEODATABASE · FEATURE CLASS · SHAPEFILE · LAYER · SHAPEFILE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Common pitfalls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The gotchas that trip up newcomers — and how to avoid them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5214620" cy="10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521462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026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17895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19697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eal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44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4341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Missing sidecar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4341368" cy="3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Copy or email only the .shp and the dataset breaks. Move all files together.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4580" y="1905000"/>
            <a:ext cx="5214620" cy="10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4580" y="1905000"/>
            <a:ext cx="521462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6458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4580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16980" y="219697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eal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86" y="224498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85432" y="2057400"/>
            <a:ext cx="4341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10-character field names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432" y="2423160"/>
            <a:ext cx="4341368" cy="3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Longer attribute field names are silently truncated on save.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2950720"/>
            <a:ext cx="5214620" cy="10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2950720"/>
            <a:ext cx="521462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298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298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90260" y="298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17895" y="298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324269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eal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29070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3103120"/>
            <a:ext cx="4341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No true NULL values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3468880"/>
            <a:ext cx="4341368" cy="3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Empty numbers become 0 and empty text goes blank — never null.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64580" y="2950720"/>
            <a:ext cx="5214620" cy="10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64580" y="2950720"/>
            <a:ext cx="521462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64580" y="298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64580" y="298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42040" y="298882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69675" y="298882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16980" y="324269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teal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986" y="3290700"/>
            <a:ext cx="320040" cy="3200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885432" y="3103120"/>
            <a:ext cx="4341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One geometry type only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85432" y="3468880"/>
            <a:ext cx="4341368" cy="3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single shapefile can't mix points, lines, and polygons.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2800" y="3996440"/>
            <a:ext cx="5214620" cy="10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2800" y="3996440"/>
            <a:ext cx="521462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2800" y="4034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2800" y="4034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90260" y="4034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17895" y="4034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5200" y="428841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teal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06" y="4336420"/>
            <a:ext cx="320040" cy="32004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533652" y="4148840"/>
            <a:ext cx="4341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Wrong or missing .prj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33652" y="4514600"/>
            <a:ext cx="4341368" cy="3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Without a defined CRS, features land in the wrong location.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64580" y="3996440"/>
            <a:ext cx="5214620" cy="10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64580" y="3996440"/>
            <a:ext cx="521462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64580" y="4034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64580" y="4034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242040" y="403454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369675" y="403454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316980" y="4288414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teal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986" y="4336420"/>
            <a:ext cx="320040" cy="3200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85432" y="4148840"/>
            <a:ext cx="43413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2 GB size ceiling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85432" y="4514600"/>
            <a:ext cx="4341368" cy="38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Large datasets hit the limit and can corrupt — use a geodatabase instead.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PROJECT · MAP · GEODATABASE · FEATURE CLASS · SHAPEFILE · LAYER · SHAPEFILE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Hands-on lab: build a Sites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Create a point shapefile of field sample sites, with attributes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1905000"/>
            <a:ext cx="52146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YOUR TASK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800" y="2285000"/>
            <a:ext cx="420000" cy="42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800" y="22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2800" y="23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In Catalog, browse to your project folder.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785000"/>
            <a:ext cx="420000" cy="42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800" y="27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2800" y="28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Right-click the folder → New → Shapefile.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" y="3285000"/>
            <a:ext cx="420000" cy="42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800" y="32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2800" y="33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Name it Sites; geometry Point; CRS WGS 1984.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785000"/>
            <a:ext cx="420000" cy="42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2800" y="37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2800" y="38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Add fields: SiteID (text) and SampleDate (date).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800" y="4285000"/>
            <a:ext cx="420000" cy="4200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800" y="42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32800" y="43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Digitize 5 points and fill the attribute table.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4580" y="1905000"/>
            <a:ext cx="52146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CHECK YOUR WORK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4580" y="2285000"/>
            <a:ext cx="420000" cy="4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4580" y="22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C7C8C"/>
                </a:solidFill>
                <a:latin typeface="Segoe U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4580" y="23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Four files: Sites.shp / .shx / .dbf / .prj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64580" y="2785000"/>
            <a:ext cx="420000" cy="4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64580" y="27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C7C8C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4580" y="28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Attribute table shows SiteID + SampleDate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4580" y="3285000"/>
            <a:ext cx="420000" cy="4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4580" y="32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C7C8C"/>
                </a:solidFill>
                <a:latin typeface="Segoe U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84580" y="33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Five point features appear on the 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64580" y="3785000"/>
            <a:ext cx="420000" cy="4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4580" y="3785000"/>
            <a:ext cx="420000" cy="4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C7C8C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4580" y="3825000"/>
            <a:ext cx="46946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>
                <a:solidFill>
                  <a:srgbClr val="1E2522"/>
                </a:solidFill>
                <a:latin typeface="Segoe UI"/>
              </a:rPr>
              <a:t>.prj reads GCS_WGS_1984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2800" y="4600000"/>
            <a:ext cx="10566400" cy="700000"/>
          </a:xfrm>
          <a:prstGeom prst="rect">
            <a:avLst/>
          </a:prstGeom>
          <a:solidFill>
            <a:srgbClr val="F6F3EC"/>
          </a:solidFill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2800" y="4780000"/>
            <a:ext cx="10166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54605A"/>
                </a:solidFill>
                <a:latin typeface="Segoe UI"/>
              </a:rPr>
              <a:t>Note: field names max 10 characters — 'SampleDate' fits; 'SampleDateTime' would be truncated.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C7C8C"/>
                </a:solidFill>
                <a:latin typeface="Consolas"/>
              </a:rPr>
              <a:t>PROJECT · MAP · GEODATABASE · FEATURE CLASS · SHAPEFILE · LAYER · SHAPEFILE FUNDAMENTALS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From file to feature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Bridging to Section 6 — the same wizard, aimed at a geodatabase instead of a folder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7329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eal_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65335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Same wizard, different destination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Create Feature Class wizard you just used for a shapefile is the exact same dialog Section 6 uses — point it at a geodatabase instead of a folder.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9143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9143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2953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2953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2953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2953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303759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teal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51765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4383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Every limitation you just learned goes away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50959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Long field names, true nulls, no 2 GB ceiling — everything Section 4 compared now applies the moment you're inside a geodatabase.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7786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77860"/>
            <a:ext cx="10566400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11596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11596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115960"/>
            <a:ext cx="137160" cy="952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115960"/>
            <a:ext cx="9525" cy="7543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90189"/>
            <a:ext cx="416052" cy="416052"/>
          </a:xfrm>
          <a:prstGeom prst="rect">
            <a:avLst/>
          </a:prstGeom>
          <a:noFill/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eal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38195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3026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Next: building a feature class step by step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9602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Section 6 walks through the wizard in full — geometry type, field schema, and the symbology a new layer starts with.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800" y="1780000"/>
            <a:ext cx="603504" cy="402336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18000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1810000"/>
            <a:ext cx="40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SECTION 06 OF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232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1E2522"/>
                </a:solidFill>
                <a:latin typeface="Segoe UI"/>
              </a:rPr>
              <a:t>Layer Creation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3160000"/>
            <a:ext cx="9000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3350000"/>
            <a:ext cx="95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4605A"/>
                </a:solidFill>
                <a:latin typeface="Segoe UI"/>
              </a:rPr>
              <a:t>Building a brand-new, empty feature class from scratch — geometry type, fields, and symbology</a:t>
            </a:r>
          </a:p>
        </p:txBody>
      </p:sp>
      <p:sp>
        <p:nvSpPr>
          <p:cNvPr id="29" name="TextBox 28">
            <a:hlinkClick action="ppaction://hlinksldjump" r:id="rId2"/>
          </p:cNvPr>
          <p:cNvSpPr txBox="1"/>
          <p:nvPr/>
        </p:nvSpPr>
        <p:spPr>
          <a:xfrm>
            <a:off x="812800" y="64135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B08328"/>
                </a:solidFill>
                <a:latin typeface="Segoe UI"/>
              </a:rPr>
              <a:t>◂  Table of Contents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PROJECT · MAP · GEODATABASE · FEATURE CLASS · SHAPEFILE · LAYER · LAYER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Creating vs. adding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A different problem than bringing in data that already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32197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old_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369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Adding: the data already exists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Add Data, Add XY Data, drag-and-drop — every method for adding data brings in a file that was already sitting somewhere.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20072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20072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23882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23882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23882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23882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61769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old_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665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35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Creating: the data doesn't exist yet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71888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field survey with no template, a new boundary nobody has drawn — sometimes you're the first one to put geometry down.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49644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49644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53454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53454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53454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53454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91341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gold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961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64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Same destination either way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501460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Created or added, every layer ends up as a normal item in the Contents pane, symbolized and used the same way.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PROJECT · MAP · GEODATABASE · FEATURE CLASS · SHAPEFILE · LAYER · LAYER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Create Feature Class, step 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Geoprocessing pane → Create Feature Class — name and location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Create Feature Class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" y="265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Feature Class 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9960" y="289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2800" y="289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Trail_Segments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960" y="33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Feature Class Alias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9960" y="354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2800" y="35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Trail Segments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" y="395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Feature Class 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9960" y="4199800"/>
            <a:ext cx="5897880" cy="2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2800" y="419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Alias is what people actually read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Name field can't have spaces; the Alias can — set both so the Contents pane shows something readable.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Type can't change later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Point, line, or polygon is locked in at creation — picking wrong means starting over, not editing a setting.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PROJECT · MAP · GEODATABASE · FEATURE CLASS · SHAPEFILE · LAYER · LAYER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Choosing a geometry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The wizard step where Section 4's three geometry types become a real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Geometry 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780" y="2679800"/>
            <a:ext cx="585024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Point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4240" y="3039800"/>
            <a:ext cx="5989320" cy="360000"/>
          </a:xfrm>
          <a:prstGeom prst="roundRect">
            <a:avLst>
              <a:gd name="adj" fmla="val 8000"/>
            </a:avLst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780" y="3039800"/>
            <a:ext cx="585024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Segoe UI"/>
              </a:rPr>
              <a:t>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780" y="3399800"/>
            <a:ext cx="585024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Polygon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780" y="3759800"/>
            <a:ext cx="585024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Multipoint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Match the geometry to the real-world thing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 trailhead is a point; a trail is a line; a park boundary is a polygon — the same three types Section 4 introduced, now a wizard field.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Multipoint is rare on purpose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Reserved for cases like LIDAR returns where thousands of points share one attribute row — most projects never need it.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PROJECT · MAP · GEODATABASE · FEATURE CLASS · SHAPEFILE · LAYER · LAYER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Designing the field schema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Every column your future self will filter, join, or symbolize 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" y="2659800"/>
            <a:ext cx="19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8A94A8"/>
                </a:solidFill>
                <a:latin typeface="Segoe UI"/>
              </a:rPr>
              <a:t>Field 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9960" y="2659800"/>
            <a:ext cx="19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8A94A8"/>
                </a:solidFill>
                <a:latin typeface="Segoe UI"/>
              </a:rPr>
              <a:t>Data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9960" y="2659800"/>
            <a:ext cx="12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8A94A8"/>
                </a:solidFill>
                <a:latin typeface="Segoe UI"/>
              </a:rPr>
              <a:t>Length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960" y="29798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TrailName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49960" y="29798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9960" y="29798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" y="32998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Difficulty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9960" y="32998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Short Integer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9960" y="32998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960" y="36198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LengthMiles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9960" y="36198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Double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49960" y="36198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960" y="39398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DateSurveyed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49960" y="39398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>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49960" y="3939800"/>
            <a:ext cx="12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A8B4AC"/>
                </a:solidFill>
                <a:latin typeface="Consolas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Add fields before you edit, not after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Adding a field later is easy; re-entering values for 200 existing features because you forgot one is not.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Short, consistent names now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TrailName beats 'Trail Name (official)' — the same naming discipline a shapefile forces on you by its 10-character limit.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PROJECT · MAP · GEODATABASE · FEATURE CLASS · SHAPEFILE · LAYER · LAYER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Field types you'll use most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Pick the narrowest type that actually fits the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136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old_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5937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Names, categories, free-form notes — anything that isn't fundamentally a number.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795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7950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176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176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176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176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28586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old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3387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319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Short / Long Integer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4976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Whole numbers with no decimal — counts, IDs, simple ranked categories like difficulty.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540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5400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092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092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092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092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6036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gold_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0837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06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Double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721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Any measurement that needs a decimal — length, area, elevation, coordinates stored as attributes.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800" y="5128500"/>
            <a:ext cx="10566400" cy="102878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800" y="512850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800" y="51666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2800" y="51666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42040" y="51666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69675" y="51666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5200" y="543486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gold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206" y="5482870"/>
            <a:ext cx="320040" cy="3200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33652" y="52809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33652" y="5646660"/>
            <a:ext cx="9693148" cy="410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Stores date and/or time together — enables the time slider and any date-based query.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PROJECT · MAP · GEODATABASE · FEATURE CLASS · SHAPEFILE · LAYER · LAYER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Group layers keep the Contents pane sane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Right-click any layer →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960" y="233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A8B4AC"/>
                </a:solidFill>
                <a:latin typeface="Segoe UI"/>
              </a:rPr>
              <a:t>Trail_Segments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800" y="2709800"/>
            <a:ext cx="3200000" cy="2100000"/>
          </a:xfrm>
          <a:prstGeom prst="rect">
            <a:avLst/>
          </a:prstGeom>
          <a:solidFill>
            <a:srgbClr val="1B243D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9960" y="273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Zoom 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9960" y="307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Symbology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9960" y="341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Selection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32800" y="3759800"/>
            <a:ext cx="3160000" cy="3400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49960" y="375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Segoe UI"/>
              </a:rPr>
              <a:t>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9960" y="409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Ungroup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9960" y="4439800"/>
            <a:ext cx="292568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A8B4AC"/>
                </a:solidFill>
                <a:latin typeface="Segoe UI"/>
              </a:rPr>
              <a:t>Properties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7400" y="190500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7400" y="1905000"/>
            <a:ext cx="4487672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740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7400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87912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15547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2660" y="223556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One toggle, many layers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2660" y="265153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Turn a whole group's visibility on or off with a single checkbox instead of hunting down each layer.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7400" y="4077860"/>
            <a:ext cx="4487672" cy="212714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7400" y="4077860"/>
            <a:ext cx="4487672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7400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37400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87912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615547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2660" y="4408425"/>
            <a:ext cx="41371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522"/>
                </a:solidFill>
                <a:latin typeface="Segoe UI"/>
              </a:rPr>
              <a:t>Group symbology, one exception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2660" y="4824399"/>
            <a:ext cx="4137152" cy="1280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Grouped layers can share a single renderer, unless you specifically override one layer inside the group.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PROJECT · MAP · GEODATABASE · FEATURE CLASS · SHAPEFILE · LAYER · LAYER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A new layer already has symbology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A brand-new layer isn't blank — it already has a default 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32197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old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369980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Single symbol by default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Every feature draws identically until you tell ArcGIS Pro to symbolize by an attribute instead.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320072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320072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23882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23882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23882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23882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61769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old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665700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35312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Unique Values for categories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71888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Difficulty, trail type, surface material — anything with a handful of discrete values reads best this way.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496440"/>
            <a:ext cx="10566400" cy="125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49644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53454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53454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53454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53454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913414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gold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961420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64884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Graduated for a range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5014600"/>
            <a:ext cx="9693148" cy="63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Length, elevation gain, visitor counts — anything continuous is better shown as a gradient than discrete categories.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B08328"/>
                </a:solidFill>
                <a:latin typeface="Consolas"/>
              </a:rPr>
              <a:t>PROJECT · MAP · GEODATABASE · FEATURE CLASS · SHAPEFILE · LAYER · LAYER CREATION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That's every container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From shapefile to feature class, empty folder to full geodatabase — up next: a quick reference and knowledge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190500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800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42040" y="194310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69675" y="194310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" y="2217329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old_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06" y="2265335"/>
            <a:ext cx="320040" cy="3200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3652" y="205740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A .lyrx is symbology, not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52" y="242316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Sharing a layer file shares how it's drawn, not the features themselves — the recipient still needs the source data.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800" y="299143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" y="299143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302953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302953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42040" y="302953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69675" y="302953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5200" y="3303759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old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06" y="3351765"/>
            <a:ext cx="320040" cy="320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3652" y="314383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The features live in the geodatabase you built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3652" y="350959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Trail_Segments physically exists inside whichever geodatabase Section 3 built and the Create Feature Class wizard pointed at.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2800" y="4077860"/>
            <a:ext cx="10566400" cy="104071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2800" y="4077860"/>
            <a:ext cx="10566400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2800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42040" y="4115960"/>
            <a:ext cx="137160" cy="9525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69675" y="4115960"/>
            <a:ext cx="9525" cy="75438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5200" y="4390189"/>
            <a:ext cx="416052" cy="416052"/>
          </a:xfrm>
          <a:prstGeom prst="rect">
            <a:avLst/>
          </a:prstGeom>
          <a:noFill/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gold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206" y="4438195"/>
            <a:ext cx="320040" cy="3200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533652" y="4230260"/>
            <a:ext cx="96931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522"/>
                </a:solidFill>
                <a:latin typeface="Segoe UI"/>
              </a:rPr>
              <a:t>Every concept in this deck now connects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3652" y="4596020"/>
            <a:ext cx="9693148" cy="42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Project holds it, the map displays it, the geodatabase stores it, the feature class is the format, the shapefile is the alternative — and the layer is what you just built.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B5C8A"/>
                </a:solidFill>
                <a:latin typeface="Consolas"/>
              </a:rPr>
              <a:t>BUILDING BLOCKS · QUICK REFERENCE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Quick reference — which container do I need?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From 'I need...' to the exact menu to open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1905000"/>
            <a:ext cx="10566400" cy="372727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9500" y="1905000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...a completely blank starting 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0512" y="1979545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31840" y="1905000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Project tab → New → Blank template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800" y="2302727"/>
            <a:ext cx="10566400" cy="372727"/>
          </a:xfrm>
          <a:prstGeom prst="rect">
            <a:avLst/>
          </a:prstGeom>
          <a:solidFill>
            <a:srgbClr val="F6F3EC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800" y="2302727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9500" y="2302727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...everything kept in one organized folder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0512" y="2377272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1840" y="2302727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Check 'Create a new folder for this project' when naming 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800" y="2700454"/>
            <a:ext cx="10566400" cy="372727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2800" y="2700454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9500" y="2700454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...a fresh 2D view to build a map 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0512" y="2774999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1840" y="2700454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Insert tab → New 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800" y="3098181"/>
            <a:ext cx="10566400" cy="372727"/>
          </a:xfrm>
          <a:prstGeom prst="rect">
            <a:avLst/>
          </a:prstGeom>
          <a:solidFill>
            <a:srgbClr val="F6F3EC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2800" y="3098181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9500" y="3098181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...a 3D view for terrain or buildings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20512" y="3172727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31840" y="3098181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Insert tab → New Global Scene or New Local Scene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800" y="3495909"/>
            <a:ext cx="10566400" cy="372727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800" y="3495909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9500" y="3495909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...a print-ready page with a legend and title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0512" y="3570454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31840" y="3495909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Insert tab → New Layout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2800" y="3893636"/>
            <a:ext cx="10566400" cy="372727"/>
          </a:xfrm>
          <a:prstGeom prst="rect">
            <a:avLst/>
          </a:prstGeom>
          <a:solidFill>
            <a:srgbClr val="F6F3EC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2800" y="3893636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9500" y="3893636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...a container for many feature classes at once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0512" y="3968181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31840" y="3893636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New File Geodatabase, or a Feature Dataset inside 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2800" y="4291363"/>
            <a:ext cx="10566400" cy="372727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2800" y="4291363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9500" y="4291363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...many simultaneous editors on one geodatabase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20512" y="4365909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31840" y="4291363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An enterprise geodatabase, not a file geodatabase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2800" y="4689090"/>
            <a:ext cx="10566400" cy="372727"/>
          </a:xfrm>
          <a:prstGeom prst="rect">
            <a:avLst/>
          </a:prstGeom>
          <a:solidFill>
            <a:srgbClr val="F6F3EC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2800" y="4689090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9500" y="4689090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...to enforce valid values on a field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20512" y="4763636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31840" y="4689090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Create a domain, then attach it to that field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2800" y="5086818"/>
            <a:ext cx="10566400" cy="372727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2800" y="5086818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9500" y="5086818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...a brand-new, empty feature class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20512" y="5161363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31840" y="5086818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Geoprocessing pane → Create Feature Class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2800" y="5484545"/>
            <a:ext cx="10566400" cy="372727"/>
          </a:xfrm>
          <a:prstGeom prst="rect">
            <a:avLst/>
          </a:prstGeom>
          <a:solidFill>
            <a:srgbClr val="F6F3EC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2800" y="5484545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79500" y="5484545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...a single portable layer to email or archive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20512" y="5559090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31840" y="5484545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Catalog pane → right-click a folder → New → Shapefile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2800" y="5882272"/>
            <a:ext cx="10566400" cy="372727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2800" y="5882272"/>
            <a:ext cx="38100" cy="372727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9500" y="5882272"/>
            <a:ext cx="4437888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...to compare a shapefile against a feature class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20512" y="5956818"/>
            <a:ext cx="0" cy="223636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31840" y="5882272"/>
            <a:ext cx="5283200" cy="37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See Section 4 — feature class vs. shapefile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3D7A5C"/>
                </a:solidFill>
                <a:latin typeface="Consolas"/>
              </a:rPr>
              <a:t>BUILDING BLOCKS · KNOWLEDGE 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Quick check: building every container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Click each card's “Click to reveal” box to see the answer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1905000"/>
            <a:ext cx="3369733" cy="20357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3369733" cy="3810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060" y="2027142"/>
            <a:ext cx="3019213" cy="7328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50" b="1" i="0">
                <a:solidFill>
                  <a:srgbClr val="1E2522"/>
                </a:solidFill>
                <a:latin typeface="Segoe UI"/>
              </a:rPr>
              <a:t>New project, no data added yet. Which two items already exist in your project folder?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060" y="28414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0" i="0">
                <a:solidFill>
                  <a:srgbClr val="1E2522"/>
                </a:solidFill>
                <a:latin typeface="Segoe UI"/>
              </a:rPr>
              <a:t>The default geodatabase (.gdb) and default toolbox (.tbx) — ArcGIS Pro creates both automatically alongside the .aprx.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8060" y="2841422"/>
            <a:ext cx="3019213" cy="977136"/>
          </a:xfrm>
          <a:prstGeom prst="rect">
            <a:avLst/>
          </a:prstGeom>
          <a:solidFill>
            <a:srgbClr val="F6F3EC"/>
          </a:solidFill>
          <a:ln w="1270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8060" y="28414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B5C8A"/>
                </a:solidFill>
                <a:latin typeface="Segoe UI"/>
              </a:rPr>
              <a:t>Click to reveal answer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1133" y="1905000"/>
            <a:ext cx="3369733" cy="20357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11133" y="1905000"/>
            <a:ext cx="3369733" cy="38100"/>
          </a:xfrm>
          <a:prstGeom prst="rect">
            <a:avLst/>
          </a:prstGeom>
          <a:solidFill>
            <a:srgbClr val="3D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6393" y="2027142"/>
            <a:ext cx="3019213" cy="7328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50" b="1" i="0">
                <a:solidFill>
                  <a:srgbClr val="1E2522"/>
                </a:solidFill>
                <a:latin typeface="Segoe UI"/>
              </a:rPr>
              <a:t>You need a 3D view of one canyon's slope and aspect. What do you create instead of a New Map?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6393" y="28414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0" i="0">
                <a:solidFill>
                  <a:srgbClr val="1E2522"/>
                </a:solidFill>
                <a:latin typeface="Segoe UI"/>
              </a:rPr>
              <a:t>A New Local Scene — Global Scene is for whole-earth work; Local Scene is anchored to one area like this.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86393" y="2841422"/>
            <a:ext cx="3019213" cy="977136"/>
          </a:xfrm>
          <a:prstGeom prst="rect">
            <a:avLst/>
          </a:prstGeom>
          <a:solidFill>
            <a:srgbClr val="F6F3EC"/>
          </a:solidFill>
          <a:ln w="12700">
            <a:solidFill>
              <a:srgbClr val="3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86393" y="28414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D7A5C"/>
                </a:solidFill>
                <a:latin typeface="Segoe UI"/>
              </a:rPr>
              <a:t>Click to reveal answer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9466" y="1905000"/>
            <a:ext cx="3369733" cy="20357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9466" y="1905000"/>
            <a:ext cx="3369733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4726" y="2027142"/>
            <a:ext cx="3019213" cy="7328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50" b="1" i="0">
                <a:solidFill>
                  <a:srgbClr val="1E2522"/>
                </a:solidFill>
                <a:latin typeface="Segoe UI"/>
              </a:rPr>
              <a:t>You create a brand-new File Geodatabase. How many feature classes does it contain at first?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4726" y="28414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0" i="0">
                <a:solidFill>
                  <a:srgbClr val="1E2522"/>
                </a:solidFill>
                <a:latin typeface="Segoe UI"/>
              </a:rPr>
              <a:t>Zero — a fresh geodatabase stays empty until you create or import something into it deliberately.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4726" y="2841422"/>
            <a:ext cx="3019213" cy="977136"/>
          </a:xfrm>
          <a:prstGeom prst="rect">
            <a:avLst/>
          </a:prstGeom>
          <a:solidFill>
            <a:srgbClr val="F6F3EC"/>
          </a:solidFill>
          <a:ln w="12700">
            <a:solidFill>
              <a:srgbClr val="A3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4726" y="28414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A3492C"/>
                </a:solidFill>
                <a:latin typeface="Segoe UI"/>
              </a:rPr>
              <a:t>Click to reveal answer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2800" y="4169300"/>
            <a:ext cx="3369733" cy="20357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2800" y="4169300"/>
            <a:ext cx="3369733" cy="38100"/>
          </a:xfrm>
          <a:prstGeom prst="rect">
            <a:avLst/>
          </a:prstGeom>
          <a:solidFill>
            <a:srgbClr val="6B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8060" y="4291442"/>
            <a:ext cx="3019213" cy="7328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50" b="1" i="0">
                <a:solidFill>
                  <a:srgbClr val="1E2522"/>
                </a:solidFill>
                <a:latin typeface="Segoe UI"/>
              </a:rPr>
              <a:t>What can a feature class store that a shapefile fundamentally cannot?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8060" y="51057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0" i="0">
                <a:solidFill>
                  <a:srgbClr val="1E2522"/>
                </a:solidFill>
                <a:latin typeface="Segoe UI"/>
              </a:rPr>
              <a:t>True NULL values, field names longer than 10 characters, and domains/subtypes — all thanks to living inside a geodatabase.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8060" y="5105722"/>
            <a:ext cx="3019213" cy="977136"/>
          </a:xfrm>
          <a:prstGeom prst="rect">
            <a:avLst/>
          </a:prstGeom>
          <a:solidFill>
            <a:srgbClr val="F6F3EC"/>
          </a:solidFill>
          <a:ln w="12700">
            <a:solidFill>
              <a:srgbClr val="6B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8060" y="51057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6B4C8F"/>
                </a:solidFill>
                <a:latin typeface="Segoe UI"/>
              </a:rPr>
              <a:t>Click to reveal answer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11133" y="4169300"/>
            <a:ext cx="3369733" cy="20357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11133" y="4169300"/>
            <a:ext cx="3369733" cy="3810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86393" y="4291442"/>
            <a:ext cx="3019213" cy="7328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50" b="1" i="0">
                <a:solidFill>
                  <a:srgbClr val="1E2522"/>
                </a:solidFill>
                <a:latin typeface="Segoe UI"/>
              </a:rPr>
              <a:t>You email a colleague only the .shp file. What happens when they try to open it?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86393" y="51057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0" i="0">
                <a:solidFill>
                  <a:srgbClr val="1E2522"/>
                </a:solidFill>
                <a:latin typeface="Segoe UI"/>
              </a:rPr>
              <a:t>It won't open — the .shx and .dbf must travel with it; a shapefile is really 3+ files, not one.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86393" y="5105722"/>
            <a:ext cx="3019213" cy="977136"/>
          </a:xfrm>
          <a:prstGeom prst="rect">
            <a:avLst/>
          </a:prstGeom>
          <a:solidFill>
            <a:srgbClr val="F6F3EC"/>
          </a:solidFill>
          <a:ln w="12700">
            <a:solidFill>
              <a:srgbClr val="1C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86393" y="51057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C7C8C"/>
                </a:solidFill>
                <a:latin typeface="Segoe UI"/>
              </a:rPr>
              <a:t>Click to reveal answer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09466" y="4169300"/>
            <a:ext cx="3369733" cy="20357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9466" y="4169300"/>
            <a:ext cx="3369733" cy="38100"/>
          </a:xfrm>
          <a:prstGeom prst="rect">
            <a:avLst/>
          </a:prstGeom>
          <a:solidFill>
            <a:srgbClr val="B08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4726" y="4291442"/>
            <a:ext cx="3019213" cy="7328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50" b="1" i="0">
                <a:solidFill>
                  <a:srgbClr val="1E2522"/>
                </a:solidFill>
                <a:latin typeface="Segoe UI"/>
              </a:rPr>
              <a:t>Halfway through digitizing 200 trail segments, you realize you forgot a Difficulty field. Fix?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4726" y="51057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0" i="0">
                <a:solidFill>
                  <a:srgbClr val="1E2522"/>
                </a:solidFill>
                <a:latin typeface="Segoe UI"/>
              </a:rPr>
              <a:t>Add the field now and fill in each existing feature by hand — no shortcut, which is why finishing the schema first matters.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4726" y="5105722"/>
            <a:ext cx="3019213" cy="977136"/>
          </a:xfrm>
          <a:prstGeom prst="rect">
            <a:avLst/>
          </a:prstGeom>
          <a:solidFill>
            <a:srgbClr val="F6F3EC"/>
          </a:solidFill>
          <a:ln w="12700">
            <a:solidFill>
              <a:srgbClr val="B08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84726" y="5105722"/>
            <a:ext cx="3019213" cy="9771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08328"/>
                </a:solidFill>
                <a:latin typeface="Segoe UI"/>
              </a:rPr>
              <a:t>Click to reveal answer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6" restart="whenNotActive" fill="hold" nodeType="interactiveSeq">
                <p:stCondLst>
                  <p:cond evt="onClick" delay="0">
                    <p:tgtEl>
                      <p:spTgt spid="27"/>
                    </p:tgtEl>
                  </p:cond>
                  <p:cond evt="onClick" delay="0">
                    <p:tgtEl>
                      <p:spTgt spid="31"/>
                    </p:tgtEl>
                  </p:cond>
                  <p:cond evt="onClick" delay="0">
                    <p:tgtEl>
                      <p:spTgt spid="32"/>
                    </p:tgtEl>
                  </p:cond>
                </p:stCondLst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0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2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4" restart="whenNotActive" fill="hold" nodeType="interactiveSeq">
                <p:stCondLst>
                  <p:cond evt="onClick" delay="0">
                    <p:tgtEl>
                      <p:spTgt spid="33"/>
                    </p:tgtEl>
                  </p:cond>
                  <p:cond evt="onClick" delay="0">
                    <p:tgtEl>
                      <p:spTgt spid="37"/>
                    </p:tgtEl>
                  </p:cond>
                  <p:cond evt="onClick" delay="0">
                    <p:tgtEl>
                      <p:spTgt spid="38"/>
                    </p:tgtEl>
                  </p:cond>
                </p:stCondLst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08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10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1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2" restart="whenNotActive" fill="hold" nodeType="interactiveSeq">
                <p:stCondLst>
                  <p:cond evt="onClick" delay="0">
                    <p:tgtEl>
                      <p:spTgt spid="39"/>
                    </p:tgtEl>
                  </p:cond>
                  <p:cond evt="onClick" delay="0">
                    <p:tgtEl>
                      <p:spTgt spid="43"/>
                    </p:tgtEl>
                  </p:cond>
                  <p:cond evt="onClick" delay="0">
                    <p:tgtEl>
                      <p:spTgt spid="44"/>
                    </p:tgtEl>
                  </p:cond>
                </p:stCondLst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16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18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0" restart="whenNotActive" fill="hold" nodeType="interactiveSeq">
                <p:stCondLst>
                  <p:cond evt="onClick" delay="0">
                    <p:tgtEl>
                      <p:spTgt spid="45"/>
                    </p:tgtEl>
                  </p:cond>
                  <p:cond evt="onClick" delay="0">
                    <p:tgtEl>
                      <p:spTgt spid="49"/>
                    </p:tgtEl>
                  </p:cond>
                  <p:cond evt="onClick" delay="0">
                    <p:tgtEl>
                      <p:spTgt spid="50"/>
                    </p:tgtEl>
                  </p:cond>
                </p:stCondLst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24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6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8" restart="whenNotActive" fill="hold" nodeType="interactiveSeq">
                <p:stCondLst>
                  <p:cond evt="onClick" delay="0">
                    <p:tgtEl>
                      <p:spTgt spid="51"/>
                    </p:tgtEl>
                  </p:cond>
                  <p:cond evt="onClick" delay="0">
                    <p:tgtEl>
                      <p:spTgt spid="55"/>
                    </p:tgtEl>
                  </p:cond>
                  <p:cond evt="onClick" delay="0">
                    <p:tgtEl>
                      <p:spTgt spid="56"/>
                    </p:tgtEl>
                  </p:cond>
                </p:stCondLst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3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4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6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6" restart="whenNotActive" fill="hold" nodeType="interactiveSeq">
                <p:stCondLst>
                  <p:cond evt="onClick" delay="0">
                    <p:tgtEl>
                      <p:spTgt spid="57"/>
                    </p:tgtEl>
                  </p:cond>
                  <p:cond evt="onClick" delay="0">
                    <p:tgtEl>
                      <p:spTgt spid="61"/>
                    </p:tgtEl>
                  </p:cond>
                  <p:cond evt="onClick" delay="0">
                    <p:tgtEl>
                      <p:spTgt spid="62"/>
                    </p:tgtEl>
                  </p:cond>
                </p:stCondLst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0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2" presetID="1" presetClass="exit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8000" y="0"/>
            <a:ext cx="0" cy="685800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524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048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96000"/>
            <a:ext cx="12192000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3400" y="2286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63400" y="2286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3400" y="6629400"/>
            <a:ext cx="260000" cy="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963400" y="6369400"/>
            <a:ext cx="0" cy="260000"/>
          </a:xfrm>
          <a:prstGeom prst="rect">
            <a:avLst/>
          </a:prstGeom>
          <a:noFill/>
          <a:ln w="9525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4424"/>
            <a:ext cx="137160" cy="13716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648" y="310896"/>
            <a:ext cx="87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3492C"/>
                </a:solidFill>
                <a:latin typeface="Consolas"/>
              </a:rPr>
              <a:t>BUILDING BLOCKS · RECAP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6350">
            <a:solidFill>
              <a:srgbClr val="D9D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522"/>
                </a:solidFill>
                <a:latin typeface="Segoe UI"/>
              </a:rPr>
              <a:t>From empty folder to full geodatabase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54605A"/>
                </a:solidFill>
                <a:latin typeface="Segoe UI"/>
              </a:rPr>
              <a:t>You now know how to build every container this course relies on — and the format it replaced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800" y="1905000"/>
            <a:ext cx="6172200" cy="8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800" y="1905000"/>
            <a:ext cx="38100" cy="8200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9500" y="2003400"/>
            <a:ext cx="5638800" cy="3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E2522"/>
                </a:solidFill>
                <a:latin typeface="Segoe UI"/>
              </a:rPr>
              <a:t>A project is a pointer, not a copy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9500" y="2315000"/>
            <a:ext cx="5638800" cy="3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The .aprx remembers where your maps, layers, and geodatabases live — move the data without it and everything breaks.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2775000"/>
            <a:ext cx="6172200" cy="8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2800" y="2775000"/>
            <a:ext cx="38100" cy="8200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9500" y="2873400"/>
            <a:ext cx="5638800" cy="3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E2522"/>
                </a:solidFill>
                <a:latin typeface="Segoe UI"/>
              </a:rPr>
              <a:t>Map, scene, or layout — pick deliberately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9500" y="3185000"/>
            <a:ext cx="5638800" cy="3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Each does a different job, and you can't quietly convert one into another after the fact.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" y="3645000"/>
            <a:ext cx="6172200" cy="8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800" y="3645000"/>
            <a:ext cx="38100" cy="8200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500" y="3743400"/>
            <a:ext cx="5638800" cy="3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E2522"/>
                </a:solidFill>
                <a:latin typeface="Segoe UI"/>
              </a:rPr>
              <a:t>The geodatabase comes before what fills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9500" y="4055000"/>
            <a:ext cx="5638800" cy="3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Build the empty container first — then feature classes, domains, and feature datasets all have somewhere real to go.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800" y="4515000"/>
            <a:ext cx="6172200" cy="8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" y="4515000"/>
            <a:ext cx="38100" cy="8200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9500" y="4613400"/>
            <a:ext cx="5638800" cy="3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E2522"/>
                </a:solidFill>
                <a:latin typeface="Segoe UI"/>
              </a:rPr>
              <a:t>A feature class isn't a shapefile, but it plays the same role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9500" y="4925000"/>
            <a:ext cx="5638800" cy="3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Same job — one geometry type plus attributes — but only a feature class gets true nulls, long field names, and no 2 GB ceiling.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800" y="5385000"/>
            <a:ext cx="6172200" cy="82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2800" y="5385000"/>
            <a:ext cx="38100" cy="8200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9500" y="5483400"/>
            <a:ext cx="5638800" cy="3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E2522"/>
                </a:solidFill>
                <a:latin typeface="Segoe UI"/>
              </a:rPr>
              <a:t>Geometry type and fields lock in at creation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9500" y="5795000"/>
            <a:ext cx="5638800" cy="37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0" i="0">
                <a:solidFill>
                  <a:srgbClr val="54605A"/>
                </a:solidFill>
                <a:latin typeface="Segoe UI"/>
              </a:rPr>
              <a:t>Point vs. line vs. polygon, and every field you'll ever filter or join by, are worth deciding before you start editing.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13600" y="1905000"/>
            <a:ext cx="4411472" cy="4300000"/>
          </a:xfrm>
          <a:prstGeom prst="rect">
            <a:avLst/>
          </a:prstGeom>
          <a:solidFill>
            <a:srgbClr val="ECE7D8"/>
          </a:solidFill>
          <a:ln w="12700">
            <a:solidFill>
              <a:srgbClr val="CEC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13600" y="1905000"/>
            <a:ext cx="4411472" cy="38100"/>
          </a:xfrm>
          <a:prstGeom prst="rect">
            <a:avLst/>
          </a:prstGeom>
          <a:solidFill>
            <a:srgbClr val="A3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42200" y="2155000"/>
            <a:ext cx="3954272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E2522"/>
                </a:solidFill>
                <a:latin typeface="Segoe UI"/>
              </a:rPr>
              <a:t>Up next: Coordinate &amp; Projection Systems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2200" y="2755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A3492C"/>
                </a:solidFill>
                <a:latin typeface="Segoe UI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33600" y="2755000"/>
            <a:ext cx="3561472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New question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33600" y="3105000"/>
            <a:ext cx="3561472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54605A"/>
                </a:solidFill>
                <a:latin typeface="Segoe UI"/>
              </a:rPr>
              <a:t>how do you make sure every layer actually lines up with every other one on the map?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2200" y="35425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A3492C"/>
                </a:solidFill>
                <a:latin typeface="Segoe UI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33600" y="3542500"/>
            <a:ext cx="3561472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New vocabulary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33600" y="3892500"/>
            <a:ext cx="3561472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54605A"/>
                </a:solidFill>
                <a:latin typeface="Segoe UI"/>
              </a:rPr>
              <a:t>datums, projections, and transformations — the machinery behind every coordinate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42200" y="43300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A3492C"/>
                </a:solidFill>
                <a:latin typeface="Segoe UI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33600" y="4330000"/>
            <a:ext cx="3561472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Same habit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33600" y="4680000"/>
            <a:ext cx="3561472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54605A"/>
                </a:solidFill>
                <a:latin typeface="Segoe UI"/>
              </a:rPr>
              <a:t>the CRS choices from Map Creation and the .prj file from Shapefile Fundamentals come back into full focus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42200" y="5117500"/>
            <a:ext cx="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A3492C"/>
                </a:solidFill>
                <a:latin typeface="Segoe UI"/>
              </a:rPr>
              <a:t>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3600" y="5117500"/>
            <a:ext cx="3561472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E2522"/>
                </a:solidFill>
                <a:latin typeface="Segoe UI"/>
              </a:rPr>
              <a:t>Carry it over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33600" y="5467500"/>
            <a:ext cx="3561472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54605A"/>
                </a:solidFill>
                <a:latin typeface="Segoe UI"/>
              </a:rPr>
              <a:t>the same Map Properties dialog and Catalog pane, now used to fix mismatches instead of just avoid them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2800" y="6265000"/>
            <a:ext cx="10566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54605A"/>
                </a:solidFill>
                <a:latin typeface="Segoe UI"/>
              </a:rPr>
              <a:t>From an empty folder to a fully structured, schema-designed geodatabase — and the file-based format that came before it — every container is now yours to build.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8C968F"/>
                </a:solidFill>
                <a:latin typeface="Segoe UI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