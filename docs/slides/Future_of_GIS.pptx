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68444" y="25838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71324" y="500747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80935" y="30359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884783" y="410998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8023" y="477286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4676" y="194839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73351" y="236265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83809" y="233824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52623" y="574856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1880" y="496248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74737" y="261820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49332" y="422013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50580" y="39732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920080" y="580078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8811" y="433470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35859" y="148992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04710" y="123381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3262" y="262435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10967" y="571757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958061" y="546521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105" y="618673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44249" y="342386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806766" y="10234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60141" y="295128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37595" y="674870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82904" y="40594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24602" y="537866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10984" y="406906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750276" y="583724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76103" y="367578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430743" y="299355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543022" y="593786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186702" y="80174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96582" y="348015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80676" y="116979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82411" y="335294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41438" y="564290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86893" y="595225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878775" y="553849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632917" y="326400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273728" y="591503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44042" y="513292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651156" y="275476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351301" y="354632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789172" y="234820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156294" y="13943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2840131" y="613522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264435" y="195030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6565521" y="491990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008882" y="324859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223922" y="449022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027163" y="585765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19160" y="495235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91684" y="367121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294410" y="317953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792613" y="580512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921138" y="369992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213468" y="575658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922082" y="151822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068085" y="10582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215282" y="533227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54767" y="496765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949941" y="207200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071688" y="4730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128697" y="578344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626620" y="62619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235474" y="459856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530807" y="603421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527779" y="288981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313590" y="145489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957120" y="273335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580911" y="629274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5593648" y="675624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546317" y="346828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667158" y="596067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985359" y="565678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7435287" y="668133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109853" y="379347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364301" y="98784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004948" y="112907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8707143" y="145047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159417" y="176770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7706704" y="562743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096143" y="96467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8990711" y="377397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34605" y="639976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6641836" y="566246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5251490" y="37065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0883993" y="149372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4337731" y="382872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206227" y="167169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673786" y="25689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9484828" y="283967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3294728" y="534725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0562737" y="582265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9895437" y="316401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767876" y="449724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3436368" y="55483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7793115" y="275934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1367988" y="86136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7062042" y="665675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7253917" y="239894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7369627" y="350525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3149656" y="482266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4464309" y="55852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573088" y="451963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6179989" y="454303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462174" y="379220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074630" y="26222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7481356" y="210031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3739784" y="149443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674121" y="304290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9621084" y="649843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8001649" y="198574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212653" y="644615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2788492" y="142065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3031037" y="326303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067248" y="429519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6026967" y="172006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0808778" y="583498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8988552" y="0"/>
            <a:ext cx="12801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9144000" y="0"/>
            <a:ext cx="128016" cy="6858000"/>
          </a:xfrm>
          <a:prstGeom prst="rect">
            <a:avLst/>
          </a:prstGeom>
          <a:solidFill>
            <a:srgbClr val="00D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299448" y="0"/>
            <a:ext cx="128016" cy="6858000"/>
          </a:xfrm>
          <a:prstGeom prst="rect">
            <a:avLst/>
          </a:prstGeom>
          <a:solidFill>
            <a:srgbClr val="00C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9454896" y="0"/>
            <a:ext cx="128016" cy="6858000"/>
          </a:xfrm>
          <a:prstGeom prst="rect">
            <a:avLst/>
          </a:prstGeom>
          <a:solidFill>
            <a:srgbClr val="00C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610344" y="0"/>
            <a:ext cx="128016" cy="6858000"/>
          </a:xfrm>
          <a:prstGeom prst="rect">
            <a:avLst/>
          </a:prstGeom>
          <a:solidFill>
            <a:srgbClr val="00B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9765792" y="0"/>
            <a:ext cx="128016" cy="6858000"/>
          </a:xfrm>
          <a:prstGeom prst="rect">
            <a:avLst/>
          </a:prstGeom>
          <a:solidFill>
            <a:srgbClr val="00A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9921240" y="0"/>
            <a:ext cx="128016" cy="6858000"/>
          </a:xfrm>
          <a:prstGeom prst="rect">
            <a:avLst/>
          </a:prstGeom>
          <a:solidFill>
            <a:srgbClr val="00A3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0076688" y="0"/>
            <a:ext cx="128016" cy="6858000"/>
          </a:xfrm>
          <a:prstGeom prst="rect">
            <a:avLst/>
          </a:prstGeom>
          <a:solidFill>
            <a:srgbClr val="00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0232136" y="0"/>
            <a:ext cx="128016" cy="6858000"/>
          </a:xfrm>
          <a:prstGeom prst="rect">
            <a:avLst/>
          </a:prstGeom>
          <a:solidFill>
            <a:srgbClr val="008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0387584" y="0"/>
            <a:ext cx="128016" cy="6858000"/>
          </a:xfrm>
          <a:prstGeom prst="rect">
            <a:avLst/>
          </a:prstGeom>
          <a:solidFill>
            <a:srgbClr val="008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0543032" y="0"/>
            <a:ext cx="128016" cy="6858000"/>
          </a:xfrm>
          <a:prstGeom prst="rect">
            <a:avLst/>
          </a:prstGeom>
          <a:solidFill>
            <a:srgbClr val="007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0698480" y="0"/>
            <a:ext cx="128016" cy="6858000"/>
          </a:xfrm>
          <a:prstGeom prst="rect">
            <a:avLst/>
          </a:prstGeom>
          <a:solidFill>
            <a:srgbClr val="00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853928" y="0"/>
            <a:ext cx="128016" cy="6858000"/>
          </a:xfrm>
          <a:prstGeom prst="rect">
            <a:avLst/>
          </a:prstGeom>
          <a:solidFill>
            <a:srgbClr val="0061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1009376" y="0"/>
            <a:ext cx="128016" cy="6858000"/>
          </a:xfrm>
          <a:prstGeom prst="rect">
            <a:avLst/>
          </a:prstGeom>
          <a:solidFill>
            <a:srgbClr val="005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1164824" y="0"/>
            <a:ext cx="128016" cy="6858000"/>
          </a:xfrm>
          <a:prstGeom prst="rect">
            <a:avLst/>
          </a:prstGeom>
          <a:solidFill>
            <a:srgbClr val="004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1320272" y="0"/>
            <a:ext cx="128016" cy="6858000"/>
          </a:xfrm>
          <a:prstGeom prst="rect">
            <a:avLst/>
          </a:prstGeom>
          <a:solidFill>
            <a:srgbClr val="004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1475720" y="0"/>
            <a:ext cx="128016" cy="6858000"/>
          </a:xfrm>
          <a:prstGeom prst="rect">
            <a:avLst/>
          </a:prstGeom>
          <a:solidFill>
            <a:srgbClr val="003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1631168" y="0"/>
            <a:ext cx="128016" cy="6858000"/>
          </a:xfrm>
          <a:prstGeom prst="rect">
            <a:avLst/>
          </a:prstGeom>
          <a:solidFill>
            <a:srgbClr val="00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1786616" y="0"/>
            <a:ext cx="128016" cy="6858000"/>
          </a:xfrm>
          <a:prstGeom prst="rect">
            <a:avLst/>
          </a:prstGeom>
          <a:solidFill>
            <a:srgbClr val="00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1942064" y="0"/>
            <a:ext cx="128016" cy="6858000"/>
          </a:xfrm>
          <a:prstGeom prst="rect">
            <a:avLst/>
          </a:prstGeom>
          <a:solidFill>
            <a:srgbClr val="00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274320" y="128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SRS: EPSG:4326  |  EPOCH: 2035.0  |  STATUS: ONLINE</a:t>
            </a:r>
          </a:p>
        </p:txBody>
      </p:sp>
      <p:sp>
        <p:nvSpPr>
          <p:cNvPr id="145" name="Oval 144"/>
          <p:cNvSpPr/>
          <p:nvPr/>
        </p:nvSpPr>
        <p:spPr>
          <a:xfrm>
            <a:off x="1051560" y="960120"/>
            <a:ext cx="182880" cy="182880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97280" y="100584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3154680" y="777240"/>
            <a:ext cx="182880" cy="182880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3200400" y="822960"/>
            <a:ext cx="91440" cy="91440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2514600" y="1600200"/>
            <a:ext cx="182880" cy="182880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2560320" y="1645920"/>
            <a:ext cx="91440" cy="91440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777240" y="2240280"/>
            <a:ext cx="182880" cy="182880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822960" y="2286000"/>
            <a:ext cx="91440" cy="9144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3611880" y="1965960"/>
            <a:ext cx="182880" cy="182880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3657600" y="2011680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5" name="Connector 154"/>
          <p:cNvCxnSpPr/>
          <p:nvPr/>
        </p:nvCxnSpPr>
        <p:spPr>
          <a:xfrm flipV="1">
            <a:off x="1097280" y="822960"/>
            <a:ext cx="2103120" cy="182880"/>
          </a:xfrm>
          <a:prstGeom prst="line">
            <a:avLst/>
          </a:prstGeom>
          <a:ln w="6350">
            <a:solidFill>
              <a:srgbClr val="15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H="1">
            <a:off x="2560320" y="822960"/>
            <a:ext cx="640080" cy="822960"/>
          </a:xfrm>
          <a:prstGeom prst="line">
            <a:avLst/>
          </a:prstGeom>
          <a:ln w="6350">
            <a:solidFill>
              <a:srgbClr val="15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822960" y="1645920"/>
            <a:ext cx="1737360" cy="640080"/>
          </a:xfrm>
          <a:prstGeom prst="line">
            <a:avLst/>
          </a:prstGeom>
          <a:ln w="6350">
            <a:solidFill>
              <a:srgbClr val="15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274320" y="914400"/>
            <a:ext cx="9144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The Future of
GIS &amp; Spatial
Data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74320" y="4498848"/>
            <a:ext cx="2560320" cy="91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944368" y="4498848"/>
            <a:ext cx="1005840" cy="9144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4059936" y="4498848"/>
            <a:ext cx="502920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672584" y="4498848"/>
            <a:ext cx="256032" cy="9144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274320" y="470001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06090"/>
                </a:solidFill>
                <a:latin typeface="Calibri"/>
              </a:rPr>
              <a:t>Geo-streaming  |  GeoAI  |  IoT  |  Digital Twins  |  AR/VR  |  Autonomous Systems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982712" y="4937760"/>
            <a:ext cx="3886200" cy="1682496"/>
          </a:xfrm>
          <a:prstGeom prst="rect">
            <a:avLst/>
          </a:prstGeom>
          <a:solidFill>
            <a:srgbClr val="020008"/>
          </a:solidFill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165592" y="50292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// live_spatial_feed.py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165592" y="53218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stream connected  [NYC]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165592" y="55961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847,291 pts/sec ingested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165592" y="587044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GeoAI model: ACTIVE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65592" y="61447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FF14"/>
                </a:solidFill>
                <a:latin typeface="Courier New"/>
              </a:rPr>
              <a:t>&gt; prediction accuracy: 94.7%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165592" y="64190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&gt; SYSTEM NOMINAL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74320" y="647395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035"/>
                </a:solidFill>
                <a:latin typeface="Calibri"/>
              </a:rPr>
              <a:t>GEP 205 / 505  |  Prof. Hoeyun Kwon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18862" y="545896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4365" y="175486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692318" y="31929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97683" y="604181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63313" y="374855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95009" y="510964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85854" y="357117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388276" y="60865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353671" y="222553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52768" y="163513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72759" y="52017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06068" y="286678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67526" y="522991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77426" y="520187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2228" y="243947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53354" y="499521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53158" y="191331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60087" y="455625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82611" y="622949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80093" y="404239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9319" y="295248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95160" y="262200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015574" y="517273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20124" y="564463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37977" y="509126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783467" y="54947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6818" y="643021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51240" y="168375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62499" y="154637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98873" y="121145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429665" y="118459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039170" y="629187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853701" y="486424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314874" y="524784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51001" y="386910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87617" y="450717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43342" y="289538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296353" y="250908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319930" y="498961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486128" y="622999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20978" y="497112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317169" y="563666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676367" y="171925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30242" y="339099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944999" y="245993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449039" y="407084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294103" y="136676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957340" y="515228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846196" y="336773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3624053" y="279086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062991" y="255469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200069" y="507064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529967" y="189983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540043" y="137696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91094" y="50217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63521" y="564933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424204" y="210911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3384841" y="659497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464683" y="93437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0569375" y="392338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0"/>
            <a:ext cx="164592" cy="6858000"/>
          </a:xfrm>
          <a:prstGeom prst="rect">
            <a:avLst/>
          </a:prstGeom>
          <a:solidFill>
            <a:srgbClr val="007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0"/>
            <a:ext cx="164592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030968" y="0"/>
            <a:ext cx="164592" cy="6858000"/>
          </a:xfrm>
          <a:prstGeom prst="rect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32136" y="0"/>
            <a:ext cx="164592" cy="6858000"/>
          </a:xfrm>
          <a:prstGeom prst="rect">
            <a:avLst/>
          </a:prstGeom>
          <a:solidFill>
            <a:srgbClr val="00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304" y="0"/>
            <a:ext cx="164592" cy="6858000"/>
          </a:xfrm>
          <a:prstGeom prst="rect">
            <a:avLst/>
          </a:prstGeom>
          <a:solidFill>
            <a:srgbClr val="00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634472" y="0"/>
            <a:ext cx="164592" cy="6858000"/>
          </a:xfrm>
          <a:prstGeom prst="rect">
            <a:avLst/>
          </a:prstGeom>
          <a:solidFill>
            <a:srgbClr val="00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835640" y="0"/>
            <a:ext cx="164592" cy="6858000"/>
          </a:xfrm>
          <a:prstGeom prst="rect">
            <a:avLst/>
          </a:prstGeom>
          <a:solidFill>
            <a:srgbClr val="00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36808" y="0"/>
            <a:ext cx="164592" cy="6858000"/>
          </a:xfrm>
          <a:prstGeom prst="rect">
            <a:avLst/>
          </a:prstGeom>
          <a:solidFill>
            <a:srgbClr val="00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237976" y="0"/>
            <a:ext cx="164592" cy="6858000"/>
          </a:xfrm>
          <a:prstGeom prst="rect">
            <a:avLst/>
          </a:prstGeom>
          <a:solidFill>
            <a:srgbClr val="00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439144" y="0"/>
            <a:ext cx="164592" cy="68580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640312" y="0"/>
            <a:ext cx="164592" cy="6858000"/>
          </a:xfrm>
          <a:prstGeom prst="rect">
            <a:avLst/>
          </a:prstGeom>
          <a:solidFill>
            <a:srgbClr val="0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841480" y="0"/>
            <a:ext cx="164592" cy="6858000"/>
          </a:xfrm>
          <a:prstGeom prst="rect">
            <a:avLst/>
          </a:prstGeom>
          <a:solidFill>
            <a:srgbClr val="00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30175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0C0522"/>
                </a:solidFill>
                <a:latin typeface="Calibri"/>
              </a:rPr>
              <a:t>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600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PART 1  OF 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1965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The Spatial
Revolution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913632"/>
            <a:ext cx="3657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4078224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6090"/>
                </a:solidFill>
                <a:latin typeface="Calibri"/>
              </a:rPr>
              <a:t>Location data has moved from static maps to living, breathing real-time intelligence.</a:t>
            </a:r>
          </a:p>
        </p:txBody>
      </p:sp>
      <p:sp>
        <p:nvSpPr>
          <p:cNvPr id="82" name="Oval 81"/>
          <p:cNvSpPr/>
          <p:nvPr/>
        </p:nvSpPr>
        <p:spPr>
          <a:xfrm>
            <a:off x="219456" y="2048255"/>
            <a:ext cx="219456" cy="219456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4320" y="2103120"/>
            <a:ext cx="109728" cy="10972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79740" y="132208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89917" y="328033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995384" y="394312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913085" y="550591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024492" y="88211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04472" y="263050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18662" y="670001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10712" y="503162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8800" y="63337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18698" y="113631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68079" y="322816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50448" y="197861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44232" y="625865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95689" y="372645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97893" y="560930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083520" y="214478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3947" y="322005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09278" y="343215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7230" y="35751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39669" y="26409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092378" y="457900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53381" y="126085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89875" y="130290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12711" y="337376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269085" y="231631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89445" y="229291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51803" y="640072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552112" y="219087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739547" y="278935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87357" y="371331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343569" y="250636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15941" y="145021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229145" y="301591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549290" y="658731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13143" y="216573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10516" y="671487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461919" y="441497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88939" y="20396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79846" y="331218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575651" y="105694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SPATIAL REVOLUTION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GIS: Then vs Now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tools have changed. The questions are bigger. The stakes are higher.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303520" cy="4645152"/>
          </a:xfrm>
          <a:prstGeom prst="rect">
            <a:avLst/>
          </a:prstGeom>
          <a:solidFill>
            <a:srgbClr val="020008"/>
          </a:solidFill>
          <a:ln w="10160">
            <a:solidFill>
              <a:srgbClr val="6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THEN  --  1990s to 2010s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468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Desktop software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27249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ArcGIS, MapInfo -- expensive licenses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30906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Static output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334670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Paper maps, PDFs, image exports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37124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Batch processing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39684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Overnight runs on workstations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43342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Siloed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45902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Shapefiles emailed between departments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495604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Specialist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52120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GIS analysts -- dedicated role, rare skill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55778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Days to answers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58338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Data collection to map: weeks or months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1956816"/>
            <a:ext cx="5925312" cy="4645152"/>
          </a:xfrm>
          <a:prstGeom prst="rect">
            <a:avLst/>
          </a:prstGeom>
          <a:solidFill>
            <a:srgbClr val="0A05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08192" y="2066543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NOW  --  2020s onward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08192" y="24688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Cloud platforms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08192" y="27249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Earth Engine, ArcGIS Online -- any browser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8192" y="30906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Real-time streams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8192" y="334670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Live dashboards updating every second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08192" y="37124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AI pipelines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08192" y="39684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Satellite imagery analyzed automatically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08192" y="433425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Open ecosystems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08192" y="45902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GitHub, APIs, open data -- everything connected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08192" y="4956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Democratized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08192" y="521208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Python, QGIS -- students, journalists, citizens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08192" y="55778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Seconds to answers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08192" y="5833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0FF"/>
                </a:solidFill>
                <a:latin typeface="Calibri"/>
              </a:rPr>
              <a:t>Live queries over billions of spatial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465009" y="193542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08093" y="348064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08460" y="568169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79820" y="307219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082738" y="518370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91331" y="589613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6483" y="165049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11487" y="324861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58409" y="538076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38391" y="3385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33124" y="592676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6046" y="314148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13672" y="446218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728177" y="656099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93425" y="577707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46908" y="427539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04702" y="165855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066607" y="507619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20493" y="478999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8827" y="209041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985905" y="46604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62296" y="172148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132275" y="61856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66468" y="398408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50168" y="315912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83800" y="319706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78231" y="640100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62584" y="292375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240219" y="142123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371926" y="263709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2009772" y="206214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86871" y="386908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024372" y="506555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79906" y="244322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45904" y="461559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634231" y="612176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00510" y="303398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884204" y="69309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065749" y="126385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464891" y="618907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SPATIAL REVOLUTION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Spatial Data Explosion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80% of all data has a location component. The challenge is no longer collection -- it's sense-making.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93392"/>
            <a:ext cx="5596128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49224" y="2432304"/>
            <a:ext cx="256032" cy="256032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13232" y="2496312"/>
            <a:ext cx="128016" cy="1280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4128" y="219456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Calibri"/>
              </a:rPr>
              <a:t>5.4 billion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" y="29077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smartphone GPS pings per day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7648" y="1993392"/>
            <a:ext cx="5596128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611112" y="2432304"/>
            <a:ext cx="256032" cy="256032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675120" y="2496312"/>
            <a:ext cx="128016" cy="128016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86016" y="219456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00E5"/>
                </a:solidFill>
                <a:latin typeface="Calibri"/>
              </a:rPr>
              <a:t>700 TB+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86016" y="29077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satellite imagery generated daily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187952"/>
            <a:ext cx="5596128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9224" y="4626864"/>
            <a:ext cx="256032" cy="256032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13232" y="4690872"/>
            <a:ext cx="128016" cy="128016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24128" y="438912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60A"/>
                </a:solidFill>
                <a:latin typeface="Calibri"/>
              </a:rPr>
              <a:t>75 billion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510235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IoT devices expected by 2030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7648" y="4187952"/>
            <a:ext cx="5596128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611112" y="4626864"/>
            <a:ext cx="256032" cy="256032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6675120" y="4690872"/>
            <a:ext cx="128016" cy="128016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986016" y="438912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D4EDD"/>
                </a:solidFill>
                <a:latin typeface="Calibri"/>
              </a:rPr>
              <a:t>2.5 quintillion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86016" y="510235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FF"/>
                </a:solidFill>
                <a:latin typeface="Calibri"/>
              </a:rPr>
              <a:t>bytes of data created every day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6291072"/>
            <a:ext cx="11457432" cy="475488"/>
          </a:xfrm>
          <a:prstGeom prst="rect">
            <a:avLst/>
          </a:prstGeom>
          <a:solidFill>
            <a:srgbClr val="020008"/>
          </a:solidFill>
          <a:ln w="762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E5FF"/>
                </a:solidFill>
                <a:latin typeface="Calibri"/>
              </a:rPr>
              <a:t>The bottleneck is no longer data -- it is analysis. GeoAI, streaming pipelines, and real-time systems exist to close this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65577" y="639400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47113" y="321760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5837" y="159744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550" y="546215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84424" y="18434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551633" y="45826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9710" y="558117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3576" y="323860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80068" y="156909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9613" y="210859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69612" y="640784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85590" y="165875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57549" y="256798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43090" y="494157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00819" y="420099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78999" y="154174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62036" y="75464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8336" y="661865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71533" y="135843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92077" y="150727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8689" y="231765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5178" y="519895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53012" y="164673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20421" y="665994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78454" y="82521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69854" y="536468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0908" y="186279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07660" y="506884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32368" y="351736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40563" y="640220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590731" y="652643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64167" y="293686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644581" y="305227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394702" y="52987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664605" y="407910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61122" y="296307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30131" y="443638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254890" y="601955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025494" y="275301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843917" y="217757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SPATIAL REVOLUTION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Location is Everything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Location is the universal key that connects disparate datasets into coherent insight.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93392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2121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Calibri"/>
              </a:rPr>
              <a:t>Context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25603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Where something happens changes what it means.
A disease spike in a dense city vs. rural area = different responses.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93392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28816" y="21214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00E5"/>
                </a:solidFill>
                <a:latin typeface="Calibri"/>
              </a:rPr>
              <a:t>Connection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8816" y="25603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Location links datasets with no shared ID.
Hospitals + flood zones + demographics -- joined only by geography.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97680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6928" y="4425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A"/>
                </a:solidFill>
                <a:latin typeface="Calibri"/>
              </a:rPr>
              <a:t>Prediction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86460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Where things happened predicts where they'll happen next.
Crime, disease, economic growth -- all spatially autocorrelated.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297680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28816" y="44256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D4EDD"/>
                </a:solidFill>
                <a:latin typeface="Calibri"/>
              </a:rPr>
              <a:t>Equity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8816" y="486460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Space reveals inequality invisible in tables.
Redlining, food deserts, pollution burden -- maps expose what numbers hide.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540340" y="467605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86691" y="66125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31028" y="257890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32582" y="384009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3638" y="592287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18103" y="409924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29971" y="151149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83740" y="81381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70761" y="195091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38433" y="659665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03076" y="448254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9053" y="191555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05852" y="130234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6887" y="503749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49311" y="152747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84261" y="256158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18184" y="388019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59343" y="512739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58326" y="450996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64159" y="153038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35610" y="83164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17848" y="215017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910765" y="45711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441069" y="521359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030900" y="14303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00844" y="262937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097625" y="565417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58705" y="504465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611282" y="61118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975717" y="482743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474219" y="23066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712171" y="421750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49533" y="572847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161471" y="358895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045626" y="157046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220339" y="85258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968013" y="242356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928100" y="106897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323885" y="516596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18269" y="525029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149370" y="516371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467650" y="427819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11289" y="304323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192068" y="244069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635153" y="34247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12677" y="586041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646789" y="379156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490975" y="549705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3951713" y="326632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500452" y="550474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149091" y="124329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989289" y="358966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460425" y="621877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389720" y="462316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82782" y="72227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502929" y="492244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4093808" y="398129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3816104" y="447068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639642" y="482299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01898" y="438683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0"/>
            <a:ext cx="164592" cy="6858000"/>
          </a:xfrm>
          <a:prstGeom prst="rect">
            <a:avLst/>
          </a:prstGeom>
          <a:solidFill>
            <a:srgbClr val="7F0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0"/>
            <a:ext cx="164592" cy="6858000"/>
          </a:xfrm>
          <a:prstGeom prst="rect">
            <a:avLst/>
          </a:prstGeom>
          <a:solidFill>
            <a:srgbClr val="55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030968" y="0"/>
            <a:ext cx="164592" cy="6858000"/>
          </a:xfrm>
          <a:prstGeom prst="rect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32136" y="0"/>
            <a:ext cx="164592" cy="6858000"/>
          </a:xfrm>
          <a:prstGeom prst="rect">
            <a:avLst/>
          </a:prstGeom>
          <a:solidFill>
            <a:srgbClr val="33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304" y="0"/>
            <a:ext cx="164592" cy="6858000"/>
          </a:xfrm>
          <a:prstGeom prst="rect">
            <a:avLst/>
          </a:prstGeom>
          <a:solidFill>
            <a:srgbClr val="2A0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634472" y="0"/>
            <a:ext cx="164592" cy="6858000"/>
          </a:xfrm>
          <a:prstGeom prst="rect">
            <a:avLst/>
          </a:prstGeom>
          <a:solidFill>
            <a:srgbClr val="24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835640" y="0"/>
            <a:ext cx="164592" cy="6858000"/>
          </a:xfrm>
          <a:prstGeom prst="rect">
            <a:avLst/>
          </a:prstGeom>
          <a:solidFill>
            <a:srgbClr val="1F0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36808" y="0"/>
            <a:ext cx="164592" cy="6858000"/>
          </a:xfrm>
          <a:prstGeom prst="rect">
            <a:avLst/>
          </a:prstGeom>
          <a:solidFill>
            <a:srgbClr val="1C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237976" y="0"/>
            <a:ext cx="164592" cy="6858000"/>
          </a:xfrm>
          <a:prstGeom prst="rect">
            <a:avLst/>
          </a:prstGeom>
          <a:solidFill>
            <a:srgbClr val="190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439144" y="0"/>
            <a:ext cx="164592" cy="6858000"/>
          </a:xfrm>
          <a:prstGeom prst="rect">
            <a:avLst/>
          </a:prstGeom>
          <a:solidFill>
            <a:srgbClr val="17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640312" y="0"/>
            <a:ext cx="164592" cy="6858000"/>
          </a:xfrm>
          <a:prstGeom prst="rect">
            <a:avLst/>
          </a:prstGeom>
          <a:solidFill>
            <a:srgbClr val="150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841480" y="0"/>
            <a:ext cx="164592" cy="6858000"/>
          </a:xfrm>
          <a:prstGeom prst="rect">
            <a:avLst/>
          </a:prstGeom>
          <a:solidFill>
            <a:srgbClr val="13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30175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0C0522"/>
                </a:solidFill>
                <a:latin typeface="Calibri"/>
              </a:rPr>
              <a:t>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600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PART 2  OF 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1965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Geo-Streaming
&amp; Real-Time Data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913632"/>
            <a:ext cx="365760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4078224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6090"/>
                </a:solidFill>
                <a:latin typeface="Calibri"/>
              </a:rPr>
              <a:t>The world doesn't stop moving. Neither does the data.</a:t>
            </a:r>
          </a:p>
        </p:txBody>
      </p:sp>
      <p:sp>
        <p:nvSpPr>
          <p:cNvPr id="82" name="Oval 81"/>
          <p:cNvSpPr/>
          <p:nvPr/>
        </p:nvSpPr>
        <p:spPr>
          <a:xfrm>
            <a:off x="219456" y="2048255"/>
            <a:ext cx="219456" cy="219456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4320" y="2103120"/>
            <a:ext cx="109728" cy="109728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6905" y="562484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847660" y="291772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444813" y="129471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69213" y="333735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51722" y="206588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38610" y="594146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62023" y="112109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50014" y="38309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32390" y="416723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00896" y="168791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07765" y="641364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9374" y="528551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692525" y="554428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72763" y="43974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49296" y="7762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13927" y="518533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60611" y="107500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54145" y="157357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62752" y="286092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22208" y="673001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9861" y="630481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92812" y="10099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48530" y="101789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77381" y="12649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164081" y="566491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426357" y="201455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4723" y="28938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5507" y="567643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78736" y="392995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588472" y="10188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42869" y="134178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76433" y="249851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779255" y="322964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869869" y="178458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58468" y="23930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354141" y="499890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23737" y="373614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061085" y="466177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676106" y="550828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5470" y="143708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GEO-STREAMING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Geo-Streaming?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A geo-stream is a continuous, never-ending flow of spatial data -- generated faster than humans can read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834640"/>
            <a:ext cx="2286000" cy="1554480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" y="3310128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A"/>
                </a:solidFill>
                <a:latin typeface="Calibri"/>
              </a:rPr>
              <a:t>SENSOR
/ SOURCE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340156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2834640"/>
            <a:ext cx="2286000" cy="1554480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99232" y="3310128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00E5"/>
                </a:solidFill>
                <a:latin typeface="Calibri"/>
              </a:rPr>
              <a:t>INGEST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340156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2834640"/>
            <a:ext cx="2286000" cy="1554480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68112" y="3310128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FF"/>
                </a:solidFill>
                <a:latin typeface="Calibri"/>
              </a:rPr>
              <a:t>PROCESS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340156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2834640"/>
            <a:ext cx="2286000" cy="1554480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36992" y="3310128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D4EDD"/>
                </a:solidFill>
                <a:latin typeface="Calibri"/>
              </a:rPr>
              <a:t>ANALYZE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3401568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41280" y="2834640"/>
            <a:ext cx="2286000" cy="1554480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05872" y="3310128"/>
            <a:ext cx="1956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60A"/>
                </a:solidFill>
                <a:latin typeface="Calibri"/>
              </a:rPr>
              <a:t>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4526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90"/>
                </a:solidFill>
                <a:latin typeface="Calibri"/>
              </a:rPr>
              <a:t>GPS, satellites
weather stations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4526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90"/>
                </a:solidFill>
                <a:latin typeface="Calibri"/>
              </a:rPr>
              <a:t>Kafka, Kinesis
MQTT brokers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0" y="4526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90"/>
                </a:solidFill>
                <a:latin typeface="Calibri"/>
              </a:rPr>
              <a:t>Spark, Flink
real-time filter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4526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90"/>
                </a:solidFill>
                <a:latin typeface="Calibri"/>
              </a:rPr>
              <a:t>GeoAI, anomaly
detection, alerts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526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90"/>
                </a:solidFill>
                <a:latin typeface="Calibri"/>
              </a:rPr>
              <a:t>Alert, reroute
update map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321808"/>
            <a:ext cx="3703320" cy="1280160"/>
          </a:xfrm>
          <a:prstGeom prst="rect">
            <a:avLst/>
          </a:prstGeom>
          <a:solidFill>
            <a:srgbClr val="0A0522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8640" y="54315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Continuous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797296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Data never stops arriving.
You can join or leave the stream.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79392" y="5321808"/>
            <a:ext cx="3703320" cy="1280160"/>
          </a:xfrm>
          <a:prstGeom prst="rect">
            <a:avLst/>
          </a:prstGeom>
          <a:solidFill>
            <a:srgbClr val="0A0522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62272" y="54315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Geospatial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62272" y="5797296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Every record carries a location.
Where is as important as what.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93024" y="5321808"/>
            <a:ext cx="3703320" cy="1280160"/>
          </a:xfrm>
          <a:prstGeom prst="rect">
            <a:avLst/>
          </a:prstGeom>
          <a:solidFill>
            <a:srgbClr val="0A0522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375904" y="54315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Time-stamped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75904" y="5797296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Order matters -- sequences
reveal movement, change,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80506" y="21612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32743" y="511974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377297" y="530365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371698" y="542714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015645" y="606325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82035" y="340365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88778" y="355766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9043" y="411288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947927" y="62590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71251" y="411401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72805" y="243805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73391" y="299472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2389" y="434691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30698" y="104451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9238" y="54023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39445" y="642924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44307" y="642495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53087" y="392243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70265" y="442733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02557" y="133333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59497" y="87750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67587" y="417579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94795" y="99744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164364" y="485326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09572" y="482770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792832" y="577438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20615" y="348744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037" y="167168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24389" y="391146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38536" y="66693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2092650" y="488998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26084" y="558732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765901" y="437912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56877" y="239111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09481" y="95275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073177" y="354983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036026" y="633092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466990" y="355514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100225" y="433052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594243" y="211283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GEO-STREAMING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Sources of Big Geo-Streaming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Everything that moves -- and many things that don't -- now broadcasts its location.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482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Social Media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43230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Twitter/X, Instagram -- 500M geo-tagged posts per day. Disasters, events, sentiment -- all spatially indexed.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56816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20482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GPS Tracking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243230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Navigation apps, fleet management, fitness trackers. Every route is a spatial time-series.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529584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36210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Satellites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00507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250+ commercial satellites imaging every point on Earth every 1-3 days. Planet, Maxar, Sentinel.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3529584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10528" y="36210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Weather Sensors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400507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70,000+ airport METAR stations + radar + ocean buoys. Real-time environmental grid.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102352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5193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Traffic Sensors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5778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Embedded road sensors, cameras, probe vehicles. Uber, Google, HERE -- anonymized movement.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7648" y="5102352"/>
            <a:ext cx="5596128" cy="142646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10528" y="51937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IoT Devices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0528" y="55778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Smart meters, air quality nodes, seismic sensors. Cities generating hyperlocal spatial streams.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125369" y="121710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146887" y="425991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06915" y="385365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37257" y="437322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08953" y="521098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070920" y="427783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889710" y="546282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62452" y="57854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69375" y="332387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75046" y="217796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06295" y="583723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24038" y="352899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993762" y="90928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782827" y="42923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72190" y="586747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02128" y="490505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73651" y="352729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62903" y="69252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97549" y="152755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8231" y="339491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22155" y="14602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699472" y="185682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84910" y="276537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443926" y="201789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68930" y="195860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36181" y="73680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88809" y="253190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324653" y="277074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58643" y="485475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879632" y="605320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273520" y="221766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19740" y="347782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600621" y="209257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068326" y="82306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57335" y="493306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57979" y="186388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752621" y="398652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865645" y="463537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382010" y="303542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49468" y="145244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GEO-STREAMING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Real-Time Movement Data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Billions of daily GPS traces are reshaping how we understand cities, behavior, and infrastructure.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6583680" cy="4279392"/>
          </a:xfrm>
          <a:prstGeom prst="rect">
            <a:avLst/>
          </a:prstGeom>
          <a:solidFill>
            <a:srgbClr val="02000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1956816"/>
            <a:ext cx="6583680" cy="256032"/>
          </a:xfrm>
          <a:prstGeom prst="rect">
            <a:avLst/>
          </a:prstGeom>
          <a:solidFill>
            <a:srgbClr val="0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57200" y="202996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202996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22960" y="2029968"/>
            <a:ext cx="100584" cy="100584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4128" y="199339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Python -- Kafka + GeoPandas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" y="2258568"/>
            <a:ext cx="630936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9FF14"/>
                </a:solidFill>
                <a:latin typeface="Courier New"/>
              </a:rPr>
              <a:t>import geopandas as gpd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from kafka import KafkaConsumer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import json, shapely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Connect to a real-time GPS stream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consumer = KafkaConsumer(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'gps_pings',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bootstrap_servers='broker:9092',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value_deserializer=lambda m: json.loads(m))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points = []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for msg in consumer: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ping = msg.value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# {vehicle_id, lat, lon, speed, timestamp}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pt = shapely.Point(ping['lon'], ping['lat'])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points.append({'geom': pt, **ping})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# Flag: speeding in school zone?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if in_school_zone(pt) and ping['speed'] &gt; 20: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    send_alert(ping['vehicle_id'])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14032" y="1956816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96912" y="2029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Uber / Lyft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96912" y="2414016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ETA prediction, surge pricing,
real-time driver dispatch.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14032" y="3035808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6912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Smart Cities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6912" y="3493008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Traffic signal adaptation,
congestion management live.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14032" y="4114800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96912" y="41879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Emergency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6912" y="457200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Ambulance routing around
actual real-time congestion.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14032" y="5193792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96912" y="52669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Urban Science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6912" y="5650992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Mobility patterns, equity
of transit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70552" y="500324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318787" y="383542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356" y="218577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42468" y="237651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16063" y="137482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91868" y="159245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54531" y="469887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51994" y="383276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46659" y="391946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46004" y="272499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8635" y="201140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49905" y="304435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60581" y="561811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739548" y="420115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02408" y="456266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50648" y="44182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04092" y="76258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71521" y="661911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930117" y="596986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01854" y="513723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18157" y="48635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16516" y="491833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108597" y="568255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51752" y="133509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17681" y="15329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238535" y="232788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67959" y="98724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67141" y="549036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69310" y="441882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60535" y="234170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98444" y="580632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277936" y="67042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09936" y="103004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73442" y="265184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545650" y="210696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231665" y="249149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08928" y="319800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328489" y="625328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379115" y="43549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470677" y="155414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GEO-STREAMING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Environmental Geo-Streams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Sensors woven into the planet's surface are creating a living environmental intelligence layer.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669280" cy="170078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482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Air Quality
Networks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825496"/>
            <a:ext cx="5303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Purple Air, EPA AQI -- thousands of sensors
streaming PM2.5, ozone, NO2 in real time.
Exposed: pollution hotspots near highways.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956816"/>
            <a:ext cx="5669280" cy="1700784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20482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alibri"/>
              </a:rPr>
              <a:t>Wildfire
Detection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825496"/>
            <a:ext cx="53035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GOES-R satellites scan North America
every 5 minutes. AI detects smoke signatures
before ground crews know.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06240"/>
            <a:ext cx="5669280" cy="170078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2976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E5"/>
                </a:solidFill>
                <a:latin typeface="Calibri"/>
              </a:rPr>
              <a:t>Flood
Monitoring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19"/>
            <a:ext cx="5303520" cy="78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USGS stream gauges: 8,000+ stations
streaming water levels 24/7. Flash flood
alerts fire before water crests.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206240"/>
            <a:ext cx="5669280" cy="1700784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429767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4EDD"/>
                </a:solidFill>
                <a:latin typeface="Calibri"/>
              </a:rPr>
              <a:t>Earthquake
Sensing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074919"/>
            <a:ext cx="5303520" cy="78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USGS ShakeAlert: seismic P-waves detected,
alert sent to phones ahead of S-wave arrival.
Seconds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930596" y="508265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84112" y="375764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38381" y="463280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710" y="361705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03945" y="84044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967337" y="109172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87026" y="146251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3291" y="349825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75573" y="286444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00399" y="458224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45228" y="554136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34686" y="39375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8687" y="49365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2451" y="282067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87244" y="604119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01467" y="464874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37817" y="241284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40761" y="494998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70184" y="662298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77873" y="558746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47458" y="193143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78243" y="44983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80896" y="54061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51443" y="457727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82429" y="277660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8649" y="527175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902800" y="620850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24644" y="524822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14445" y="104772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56673" y="192812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07158" y="294305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764826" y="637664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25866" y="221903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882957" y="260435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984521" y="159564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765646" y="619744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710750" y="381139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007216" y="144873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63753" y="574615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10192" y="260908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580190" y="134745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847081" y="589528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581488" y="19379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058525" y="512668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853433" y="168900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661692" y="365361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231767" y="351455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75337" y="664185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068957" y="256593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45152" y="156847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222312" y="633106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635539" y="140104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932373" y="173171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180923" y="557566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624186" y="498278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771792" y="373970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81954" y="569232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268147" y="284420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07468" y="109958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572114" y="421556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0"/>
            <a:ext cx="164592" cy="6858000"/>
          </a:xfrm>
          <a:prstGeom prst="rect">
            <a:avLst/>
          </a:prstGeom>
          <a:solidFill>
            <a:srgbClr val="7F6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0"/>
            <a:ext cx="164592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030968" y="0"/>
            <a:ext cx="164592" cy="6858000"/>
          </a:xfrm>
          <a:prstGeom prst="rect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32136" y="0"/>
            <a:ext cx="164592" cy="6858000"/>
          </a:xfrm>
          <a:prstGeom prst="rect">
            <a:avLst/>
          </a:prstGeom>
          <a:solidFill>
            <a:srgbClr val="332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304" y="0"/>
            <a:ext cx="164592" cy="6858000"/>
          </a:xfrm>
          <a:prstGeom prst="rect">
            <a:avLst/>
          </a:prstGeom>
          <a:solidFill>
            <a:srgbClr val="2A2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634472" y="0"/>
            <a:ext cx="164592" cy="6858000"/>
          </a:xfrm>
          <a:prstGeom prst="rect">
            <a:avLst/>
          </a:prstGeom>
          <a:solidFill>
            <a:srgbClr val="241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835640" y="0"/>
            <a:ext cx="164592" cy="6858000"/>
          </a:xfrm>
          <a:prstGeom prst="rect">
            <a:avLst/>
          </a:prstGeom>
          <a:solidFill>
            <a:srgbClr val="1F1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36808" y="0"/>
            <a:ext cx="164592" cy="6858000"/>
          </a:xfrm>
          <a:prstGeom prst="rect">
            <a:avLst/>
          </a:prstGeom>
          <a:solidFill>
            <a:srgbClr val="1C1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237976" y="0"/>
            <a:ext cx="164592" cy="6858000"/>
          </a:xfrm>
          <a:prstGeom prst="rect">
            <a:avLst/>
          </a:prstGeom>
          <a:solidFill>
            <a:srgbClr val="1915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439144" y="0"/>
            <a:ext cx="164592" cy="6858000"/>
          </a:xfrm>
          <a:prstGeom prst="rect">
            <a:avLst/>
          </a:prstGeom>
          <a:solidFill>
            <a:srgbClr val="17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640312" y="0"/>
            <a:ext cx="164592" cy="6858000"/>
          </a:xfrm>
          <a:prstGeom prst="rect">
            <a:avLst/>
          </a:prstGeom>
          <a:solidFill>
            <a:srgbClr val="15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841480" y="0"/>
            <a:ext cx="164592" cy="6858000"/>
          </a:xfrm>
          <a:prstGeom prst="rect">
            <a:avLst/>
          </a:prstGeom>
          <a:solidFill>
            <a:srgbClr val="13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30175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0C0522"/>
                </a:solidFill>
                <a:latin typeface="Calibri"/>
              </a:rPr>
              <a:t>03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600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PART 3  OF 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1965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GeoAI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913632"/>
            <a:ext cx="365760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4078224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6090"/>
                </a:solidFill>
                <a:latin typeface="Calibri"/>
              </a:rPr>
              <a:t>Artificial intelligence that understands space -- where things are, why they're there, and what comes next.</a:t>
            </a:r>
          </a:p>
        </p:txBody>
      </p:sp>
      <p:sp>
        <p:nvSpPr>
          <p:cNvPr id="82" name="Oval 81"/>
          <p:cNvSpPr/>
          <p:nvPr/>
        </p:nvSpPr>
        <p:spPr>
          <a:xfrm>
            <a:off x="219456" y="2048255"/>
            <a:ext cx="219456" cy="219456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4320" y="2103120"/>
            <a:ext cx="109728" cy="10972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06855" y="19645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33723" y="362536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97255" y="551936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70347" y="616428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87248" y="169993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8962" y="187586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0324" y="280172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80249" y="159906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940238" y="582015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57240" y="260909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36283" y="478301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0530" y="439627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34367" y="622689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12188" y="471254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346226" y="626031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88640" y="385293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42275" y="219066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23061" y="484887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84579" y="385592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19970" y="369975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82216" y="469267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6123" y="300905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57139" y="418906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724369" y="227004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98775" y="309891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731250" y="259746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0289" y="422077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6394" y="112088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71794" y="220530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3814" y="214916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318837" y="67415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778642" y="351204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67410" y="379092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461302" y="17381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446200" y="492985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958438" y="122342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758363" y="210152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51029" y="299295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05156" y="60489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746610" y="34009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is GeoAI?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GeoAI applies machine learning and deep learning to spatial data -- at scales no human analyst can match.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11457432" cy="1371600"/>
          </a:xfrm>
          <a:prstGeom prst="rect">
            <a:avLst/>
          </a:prstGeom>
          <a:solidFill>
            <a:srgbClr val="100530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6654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A"/>
                </a:solidFill>
                <a:latin typeface="Calibri"/>
              </a:rPr>
              <a:t>DEFINITION: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340864"/>
            <a:ext cx="10972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0E0FF"/>
                </a:solidFill>
                <a:latin typeface="Calibri"/>
              </a:rPr>
              <a:t>GeoAI advances and applies mathematical, computational, and geospatial methods for integrating,
analyzing, and visualizing spatial data -- usually through machine learning techniques applied to
location, movement, imagery, and spatial relationships.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511296"/>
            <a:ext cx="2816352" cy="309067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3621024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Computer Vision
+ Imagery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4315968"/>
            <a:ext cx="250545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Detect objects in satellite images:
buildings, roads, deforestation,
crops, ships, vehicles.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46703" y="3511296"/>
            <a:ext cx="2816352" cy="309067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11296" y="3621024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Spatial ML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1296" y="4315968"/>
            <a:ext cx="250545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Predict spatial outcomes:
property value, crime risk,
disease spread, flood extent.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3511296"/>
            <a:ext cx="2816352" cy="3090672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3621024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Natural Language
+ Geography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315968"/>
            <a:ext cx="250545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Extract place names and events
from text: news, social media,
scientific papers.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8592" y="3511296"/>
            <a:ext cx="2816352" cy="3090672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73184" y="3621024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Generative AI
+ Maps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73184" y="4315968"/>
            <a:ext cx="2505456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Synthesize spatial data, generate
missing imagery, create scenario
simulations.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588559" y="99584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080063" y="423129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10307" y="553483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698487" y="411794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42465" y="127719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90587" y="473036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04053" y="196247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58785" y="385520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76130" y="376341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412864" y="149086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923999" y="5402544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62434" y="211288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78619" y="535862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985862" y="329038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18483" y="536959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04537" y="174841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88511" y="418113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99044" y="230488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8077" y="181854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43489" y="270230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33143" y="25539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85670" y="651108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3498" y="238145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273158" y="74308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920290" y="20957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2598" y="238152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56155" y="503429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17714" y="230083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875114" y="279518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81075" y="297598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489069" y="295875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62103" y="511330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90322" y="367523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457527" y="85210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27224" y="435756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430852" y="400976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242787" y="421240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121209" y="403088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51570" y="168394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73379" y="103502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Computer Vision + Satellite Imagery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Neural networks trained on pixels can now read the Earth's surface faster than any human team.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6583680" cy="4279392"/>
          </a:xfrm>
          <a:prstGeom prst="rect">
            <a:avLst/>
          </a:prstGeom>
          <a:solidFill>
            <a:srgbClr val="02000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1956816"/>
            <a:ext cx="6583680" cy="256032"/>
          </a:xfrm>
          <a:prstGeom prst="rect">
            <a:avLst/>
          </a:prstGeom>
          <a:solidFill>
            <a:srgbClr val="0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57200" y="2029968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2029968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22960" y="2029968"/>
            <a:ext cx="100584" cy="100584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4128" y="199339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Python -- PyTorch + Rasterio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" y="2258568"/>
            <a:ext cx="630936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9FF14"/>
                </a:solidFill>
                <a:latin typeface="Courier New"/>
              </a:rPr>
              <a:t>import torch, rasterio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import segmentation_models_pytorch as smp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Load a Sentinel-2 tile (10m resolution)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with rasterio.open("sentinel2_tile.tif") as src: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image = src.read([3,2,1,8])  # RGB + NIR bands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Pre-trained semantic segmentation model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model = smp.Unet(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encoder_name="resnet34",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encoder_weights="imagenet",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in_channels=4,        # R, G, B, NIR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classes=6,            # land-use categories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model.eval()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Predict land-use for entire tile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with torch.no_grad():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tensor = torch.tensor(image).float().unsqueeze(0)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pred   = model(tensor)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labels = pred.argmax(dim=1)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labels: 0=water, 1=urban, 2=forest, 3=crops...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14032" y="1956816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96912" y="2029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Building Detection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96912" y="2414016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Map every structure from orbit.
Used for census, insurance, disaster.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14032" y="3035808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6912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Deforestation Alert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6912" y="3493008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Compare imagery week-over-week.
Flag new clearing within 48 hours.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14032" y="4114800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96912" y="418795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Crop Classification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6912" y="4572000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Identify crop types + stress levels
for precision agriculture.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14032" y="5193792"/>
            <a:ext cx="4709160" cy="969264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96912" y="52669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Road Extraction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6912" y="5650992"/>
            <a:ext cx="4389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Auto-generate road networks for
nav maps in unmapped regions.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252171" y="392833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34437" y="367851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753760" y="335985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868310" y="310192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19322" y="332626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63241" y="346529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311957" y="286582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099497" y="386553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3979" y="159229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465063" y="386722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67486" y="187963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99251" y="514307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50996" y="669831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65754" y="676197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276480" y="554320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03729" y="167308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9252" y="416501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88995" y="533040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35793" y="364447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77248" y="479108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525991" y="352522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719330" y="509840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007301" y="587908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089082" y="484008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967916" y="3945824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95785" y="59552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81932" y="194862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500258" y="227613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67061" y="315164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97876" y="540268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14861" y="559739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967782" y="198445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88582" y="333112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3034" y="427126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83040" y="581636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9555" y="648641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82569" y="210642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50470" y="176281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13201" y="426742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244817" y="70020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Predictive Mapping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Where did it happen? Where is it happening? Where will it happen next?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1993392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Crime Hotspot
Prediction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75234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PredPol, HunchLab -- predict crime locations
before incidents occur. Contested: raises
bias and civil liberties concerns.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20240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1993392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Disease Spread
Modeling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275234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COVID, dengue, Zika -- spatial ML models
predict spread from mobility data, climate,
population density. WHO uses daily.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493008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356616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Wildfire Risk
Mapping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32511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Cal Fire uses vegetation indices, slope,
wind + historical data to generate
dynamic fire-risk maps updated hourly.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3493008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10528" y="356616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Property Value
Forecasting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432511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Zillow Zestimate -- location features,
transit access, school ratings, flood risk.
AI estimates 100M+ properties.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065776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513892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Infrastructure
Failure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97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Water utility AI: leak prediction from
pipe material, age, pressure data,
soil type, frost cycles.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7648" y="5065776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10528" y="513892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Flood Extent
Prediction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0528" y="58978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Google Flood Hub: AI model predicts
flood extent 7 days ahead. Deployed in
80+ countries via Google Maps.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53790" y="61169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327925" y="306231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01709" y="668749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826743" y="161968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30485" y="254495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686416" y="552076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2794" y="385147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75305" y="491376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35755" y="420382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32222" y="76205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12002" y="295766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16733" y="65381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43805" y="47004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558036" y="414274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39739" y="45569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24409" y="170068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4085" y="661768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676035" y="583747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78608" y="465016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91814" y="54222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9604" y="49507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38105" y="343600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17429" y="64165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22737" y="216010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789116" y="112860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32246" y="518605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815357" y="301171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026681" y="626344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442719" y="45876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25481" y="481676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058426" y="645293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096009" y="93871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53287" y="28739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380871" y="184666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048223" y="350097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408975" y="120539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376083" y="606078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33679" y="348790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027542" y="324052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240057" y="650183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Limits &amp; Risks of GeoAI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Powerful tools demand critical thinking. Spatial AI inherits -- and amplifies -- human biases.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1956816"/>
            <a:ext cx="5596128" cy="329184"/>
          </a:xfrm>
          <a:prstGeom prst="rect">
            <a:avLst/>
          </a:prstGeom>
          <a:solidFill>
            <a:srgbClr val="02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201168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A"/>
                </a:solidFill>
                <a:latin typeface="Courier New"/>
              </a:rPr>
              <a:t>// WARNING: Biased Training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414016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If historical crime data reflects biased policing,
the AI learns and amplifies that bias --
directing more surveillance to the same communities.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1956816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27648" y="1956816"/>
            <a:ext cx="5596128" cy="329184"/>
          </a:xfrm>
          <a:prstGeom prst="rect">
            <a:avLst/>
          </a:prstGeom>
          <a:solidFill>
            <a:srgbClr val="02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0528" y="201168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00E5"/>
                </a:solidFill>
                <a:latin typeface="Courier New"/>
              </a:rPr>
              <a:t>// WARNING: Spurious Correlations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2414016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Spatial autocorrelation makes it easy to find
patterns that are statistically real but
causally meaningless. Correlation is not causation.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261104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65760" y="4261104"/>
            <a:ext cx="5596128" cy="329184"/>
          </a:xfrm>
          <a:prstGeom prst="rect">
            <a:avLst/>
          </a:prstGeom>
          <a:solidFill>
            <a:srgbClr val="02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3159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ourier New"/>
              </a:rPr>
              <a:t>// WARNING: Privacy Erosion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718304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Mobility traces de-anonymize individuals even
when IDs are removed. 4 GPS pings are enough
to uniquely identify 95% of people.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4261104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327648" y="4261104"/>
            <a:ext cx="5596128" cy="329184"/>
          </a:xfrm>
          <a:prstGeom prst="rect">
            <a:avLst/>
          </a:prstGeom>
          <a:solidFill>
            <a:srgbClr val="02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510528" y="43159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4EDD"/>
                </a:solidFill>
                <a:latin typeface="Courier New"/>
              </a:rPr>
              <a:t>// WARNING: Accountability Gap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4718304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When an AI decides where police patrol or
who gets a loan, who is responsible for errors?
Black-box models make audit impossible.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86987" y="174862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348182" y="61134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118979" y="611200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48380" y="664249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20659" y="587230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8590" y="314027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92351" y="532811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1377" y="404104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885447" y="373978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68013" y="282848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26603" y="472037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993" y="447902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39459" y="362801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98774" y="49124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08324" y="624105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5858" y="257786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64213" y="346523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9860" y="388171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34138" y="183358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4402" y="500000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56561" y="58998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55419" y="399443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064937" y="320241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5788" y="653049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93004" y="186039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983781" y="46709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72995" y="580916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29646" y="655562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21752" y="182808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522380" y="579600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228718" y="77168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34995" y="563427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70239" y="276537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082861" y="181909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063431" y="141144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807938" y="70540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04055" y="316863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56654" y="272810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94143" y="124494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392890" y="306861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464447" y="420983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081168" y="598409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44631" y="264811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807172" y="541283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970291" y="531082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628959" y="332673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754373" y="129173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43259" y="550288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800196" y="323998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785112" y="75984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3291382" y="554024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264675" y="641813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351249" y="569334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931489" y="221415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064749" y="27972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467898" y="38535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136882" y="550096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199187" y="34485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315046" y="22446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4074262" y="419086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0"/>
            <a:ext cx="164592" cy="6858000"/>
          </a:xfrm>
          <a:prstGeom prst="rect">
            <a:avLst/>
          </a:prstGeom>
          <a:solidFill>
            <a:srgbClr val="4E2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0"/>
            <a:ext cx="164592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030968" y="0"/>
            <a:ext cx="164592" cy="6858000"/>
          </a:xfrm>
          <a:prstGeom prst="rect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32136" y="0"/>
            <a:ext cx="164592" cy="6858000"/>
          </a:xfrm>
          <a:prstGeom prst="rect">
            <a:avLst/>
          </a:prstGeom>
          <a:solidFill>
            <a:srgbClr val="1F0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304" y="0"/>
            <a:ext cx="164592" cy="6858000"/>
          </a:xfrm>
          <a:prstGeom prst="rect">
            <a:avLst/>
          </a:prstGeom>
          <a:solidFill>
            <a:srgbClr val="1A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634472" y="0"/>
            <a:ext cx="164592" cy="6858000"/>
          </a:xfrm>
          <a:prstGeom prst="rect">
            <a:avLst/>
          </a:prstGeom>
          <a:solidFill>
            <a:srgbClr val="160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835640" y="0"/>
            <a:ext cx="164592" cy="6858000"/>
          </a:xfrm>
          <a:prstGeom prst="rect">
            <a:avLst/>
          </a:prstGeom>
          <a:solidFill>
            <a:srgbClr val="130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36808" y="0"/>
            <a:ext cx="164592" cy="6858000"/>
          </a:xfrm>
          <a:prstGeom prst="rect">
            <a:avLst/>
          </a:prstGeom>
          <a:solidFill>
            <a:srgbClr val="11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237976" y="0"/>
            <a:ext cx="164592" cy="6858000"/>
          </a:xfrm>
          <a:prstGeom prst="rect">
            <a:avLst/>
          </a:prstGeom>
          <a:solidFill>
            <a:srgbClr val="0F0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439144" y="0"/>
            <a:ext cx="164592" cy="6858000"/>
          </a:xfrm>
          <a:prstGeom prst="rect">
            <a:avLst/>
          </a:prstGeom>
          <a:solidFill>
            <a:srgbClr val="0E0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640312" y="0"/>
            <a:ext cx="164592" cy="6858000"/>
          </a:xfrm>
          <a:prstGeom prst="rect">
            <a:avLst/>
          </a:prstGeom>
          <a:solidFill>
            <a:srgbClr val="0D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841480" y="0"/>
            <a:ext cx="164592" cy="6858000"/>
          </a:xfrm>
          <a:prstGeom prst="rect">
            <a:avLst/>
          </a:prstGeom>
          <a:solidFill>
            <a:srgbClr val="0C06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30175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0C0522"/>
                </a:solidFill>
                <a:latin typeface="Calibri"/>
              </a:rPr>
              <a:t>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600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PART 4  OF 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1965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Emerging
Platforms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913632"/>
            <a:ext cx="3657600" cy="54864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4078224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6090"/>
                </a:solidFill>
                <a:latin typeface="Calibri"/>
              </a:rPr>
              <a:t>IoT, Digital Twins, AR/VR, Autonomous Systems -- the new infrastructure of spatial intelligence.</a:t>
            </a:r>
          </a:p>
        </p:txBody>
      </p:sp>
      <p:sp>
        <p:nvSpPr>
          <p:cNvPr id="82" name="Oval 81"/>
          <p:cNvSpPr/>
          <p:nvPr/>
        </p:nvSpPr>
        <p:spPr>
          <a:xfrm>
            <a:off x="219456" y="2048255"/>
            <a:ext cx="219456" cy="219456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4320" y="2103120"/>
            <a:ext cx="109728" cy="109728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99044" y="622441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54527" y="400712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54350" y="583651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50174" y="451130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32216" y="224485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598358" y="650397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82929" y="655791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71642" y="402275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75181" y="468724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41836" y="642471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05689" y="523682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77526" y="221557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1085" y="78638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067471" y="61080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107108" y="600105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53711" y="186176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99342" y="534489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9501" y="301661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11434" y="338282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47043" y="76848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44305" y="58345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2497" y="183449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195213" y="601848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659316" y="608652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23413" y="418759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269939" y="445453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977639" y="76734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05283" y="379020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22625" y="207662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08652" y="376050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45829" y="11690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83210" y="426399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55871" y="147287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822065" y="325258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14724" y="32350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85635" y="372354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722729" y="255724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252590" y="319575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865825" y="110025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448" y="238628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Internet of Things &amp; Spatial Sensors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75 billion connected devices by 2030 -- each one a spatial data point with a heartbeat.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4EDD"/>
                </a:solidFill>
                <a:latin typeface="Calibri"/>
              </a:rPr>
              <a:t>Smart City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65760" y="2176272"/>
            <a:ext cx="3566160" cy="0"/>
          </a:xfrm>
          <a:prstGeom prst="line">
            <a:avLst/>
          </a:prstGeom>
          <a:ln w="8890">
            <a:solidFill>
              <a:srgbClr val="9D4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65760" y="2267712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30352" y="2505456"/>
            <a:ext cx="146304" cy="146304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66928" y="2542032"/>
            <a:ext cx="73152" cy="73152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8096" y="2377440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Traffic light sensors -- adapt to real-time flow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291840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30352" y="3529584"/>
            <a:ext cx="146304" cy="146304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566928" y="3566160"/>
            <a:ext cx="73152" cy="73152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" y="3401568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Noise sensors -- map urban sound pollution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315968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30352" y="4553712"/>
            <a:ext cx="146304" cy="146304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66928" y="4590288"/>
            <a:ext cx="73152" cy="73152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8096" y="4425696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Parking occupancy -- live availability feeds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340096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30352" y="5577840"/>
            <a:ext cx="146304" cy="146304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66928" y="5614416"/>
            <a:ext cx="73152" cy="73152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8096" y="5449824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Waste bin fill levels -- optimize collection routes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19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Environment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251960" y="2176272"/>
            <a:ext cx="3566160" cy="0"/>
          </a:xfrm>
          <a:prstGeom prst="line">
            <a:avLst/>
          </a:prstGeom>
          <a:ln w="889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251960" y="2267712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416552" y="2505456"/>
            <a:ext cx="146304" cy="146304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4453128" y="2542032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54296" y="2377440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Air quality micro-sensors -- hyperlocal grids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0" y="3291840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416552" y="3529584"/>
            <a:ext cx="146304" cy="146304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453128" y="3566160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54296" y="3401568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Soil moisture probes -- precision irrigation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60" y="4315968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416552" y="4553712"/>
            <a:ext cx="146304" cy="146304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453128" y="4590288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654296" y="4425696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River level gauges -- flash flood early warning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51960" y="5340096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4416552" y="5577840"/>
            <a:ext cx="146304" cy="146304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4453128" y="5614416"/>
            <a:ext cx="73152" cy="73152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654296" y="5449824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Wildlife GPS collars -- migration tracking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381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A"/>
                </a:solidFill>
                <a:latin typeface="Calibri"/>
              </a:rPr>
              <a:t>Infrastructure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138160" y="2176272"/>
            <a:ext cx="3566160" cy="0"/>
          </a:xfrm>
          <a:prstGeom prst="line">
            <a:avLst/>
          </a:prstGeom>
          <a:ln w="8890">
            <a:solidFill>
              <a:srgbClr val="FFD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8138160" y="2267712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302752" y="2505456"/>
            <a:ext cx="146304" cy="146304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339328" y="2542032"/>
            <a:ext cx="73152" cy="73152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0496" y="2377440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Bridge vibration sensors -- structural health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38160" y="3291840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8302752" y="3529584"/>
            <a:ext cx="146304" cy="146304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8339328" y="3566160"/>
            <a:ext cx="73152" cy="73152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540496" y="3401568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Pipeline pressure monitors -- leak detection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4315968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8302752" y="4553712"/>
            <a:ext cx="146304" cy="146304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8339328" y="4590288"/>
            <a:ext cx="73152" cy="73152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540496" y="4425696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Power grid sensors -- outage prediction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60" y="5340096"/>
            <a:ext cx="3584448" cy="914400"/>
          </a:xfrm>
          <a:prstGeom prst="rect">
            <a:avLst/>
          </a:prstGeom>
          <a:solidFill>
            <a:srgbClr val="100530"/>
          </a:solidFill>
          <a:ln w="889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8302752" y="5577840"/>
            <a:ext cx="146304" cy="146304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8339328" y="5614416"/>
            <a:ext cx="73152" cy="73152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540496" y="5449824"/>
            <a:ext cx="3145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Water quality probes -- contamination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45800" y="402793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86111" y="555439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67489" y="166437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31489" y="579159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35552" y="514576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63321" y="548801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174509" y="668832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064726" y="42782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930375" y="494493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0986" y="274383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30853" y="621360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42349" y="109032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196194" y="384742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06410" y="596645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90287" y="333277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1255" y="192986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7065" y="602945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3231" y="326357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4357" y="554758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57302" y="337305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767304" y="161308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84510" y="223327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54863" y="68744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058180" y="280935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48633" y="353092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826806" y="347435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77343" y="593337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086838" y="313828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380833" y="558844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20215" y="91830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63302" y="405675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137566" y="242612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83521" y="468960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732575" y="117886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381978" y="441277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322076" y="282494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83485" y="97465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778039" y="415220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79694" y="260445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16954" y="320670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Digital Twins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A real-time, physics-aware virtual replica of a physical place -- updated continuously from sensor feeds.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11457432" cy="1371600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299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4EDD"/>
                </a:solidFill>
                <a:latin typeface="Calibri"/>
              </a:rPr>
              <a:t>CONCEPT: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304288"/>
            <a:ext cx="109728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Physical world  &lt;--&gt;  sensor network  &lt;--&gt;  GIS / 3D model  &lt;--&gt;  simulation engine  &lt;--&gt;  decision makers
Changes in the real world update the model. Simulations in the model predict the future of the real world.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493008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5661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Singapore
Virtual Singapore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270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First national-scale 3D city model.
Every building, utility, tree modeled.
Used for urban planning, emergency response.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3493008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10528" y="356616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Rotterdam
Flood Twin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4270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Real-time sea-level + rainfall data feeds
a hydraulic model. Simulates flood scenarios
before they happen.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065776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1389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NASA
Lunar Twin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4301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Digital twin of Moon surface for
Artemis mission planning -- rover routes,
landing zones, shadow mapping.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5065776"/>
            <a:ext cx="5596128" cy="1444752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10528" y="51389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Tesla
Factory Twin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0528" y="584301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Real-time replica of production line.
Simulates machine failures and supply
chain scenarios before acting.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108834" y="14048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32334" y="405494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08553" y="330710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82466" y="584199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52904" y="354443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61488" y="544731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21814" y="463556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60226" y="674966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49083" y="500921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11528" y="485326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5262" y="457624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41604" y="570280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18632" y="323395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98082" y="382304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48629" y="157500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39663" y="601122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21843" y="318709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5889" y="432611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60943" y="139004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52719" y="284898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005639" y="237880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810999" y="584802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945370" y="430365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09280" y="12290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30381" y="121690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18738" y="529638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97137" y="278413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47498" y="365450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498032" y="604568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06542" y="11896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808002" y="594542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324562" y="345127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75280" y="39661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829842" y="407228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52520" y="673633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04632" y="134920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833846" y="494537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904816" y="402771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92763" y="443387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615292" y="179886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Augmented Reality &amp; GIS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Spatial data projected onto the physical world -- GIS layers you can see through your eyes.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5669280" cy="171907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Field Data
Collection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78892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Esri's AR field apps -- hold up a tablet and see buried utility lines overlaid on the ground.
No excavation. No guesswork.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1920240"/>
            <a:ext cx="5669280" cy="1719072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Navigation &amp;
Wayfinding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88920"/>
            <a:ext cx="5303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Apple Maps Visual Lookaround, Google Live View -- AR arrows overlaid on camera feed.
Indoor navigation in airports, hospitals.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041648"/>
            <a:ext cx="5669280" cy="171907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133087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Construction &amp;
BIM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910327"/>
            <a:ext cx="5303520" cy="804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Holographic building plans overlaid on construction site.
Does the pipe fit? Is the wall in the right place?
Mixed Reality HoloLens used by Autodesk.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4041648"/>
            <a:ext cx="5669280" cy="1719072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4133087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Emergency
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4910327"/>
            <a:ext cx="5303520" cy="804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Firefighters see building layout, water mains, exit routes overlaid on
smoke-filled corridors through AR headsets.
Siemens and Esri collaboration.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222135" y="41158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70553" y="86435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575331" y="177849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558626" y="466883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144453" y="76549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68794" y="476887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33563" y="421464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13325" y="341390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31670" y="564179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36952" y="206294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021247" y="468528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06927" y="17654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119297" y="455724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50487" y="59239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54286" y="439246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262544" y="42573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23599" y="249591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05969" y="86509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320598" y="451941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83939" y="301323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38480" y="71190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458115" y="276315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25014" y="469662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881537" y="541090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49705" y="48291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86298" y="403476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67667" y="262632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47586" y="596521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891329" y="334971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3387" y="183773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50536" y="461669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32124" y="456273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288243" y="494192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59997" y="437289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31249" y="632848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19066" y="589489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940992" y="230020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177670" y="376606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901641" y="61764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48212" y="341869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Autonomous Systems &amp; Spatial Intelligence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Self-driving vehicles, delivery drones, autonomous robots -- all run on real-time geospatial cognition.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11457432" cy="1024128"/>
          </a:xfrm>
          <a:prstGeom prst="rect">
            <a:avLst/>
          </a:prstGeom>
          <a:solidFill>
            <a:srgbClr val="100530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299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CORE REQUIREMENT: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3042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ourier New"/>
              </a:rPr>
              <a:t>Every autonomous system needs: locate self  +  understand surroundings  +  predict others  +  plan path  +  act in real time.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127248"/>
            <a:ext cx="2816352" cy="3474720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3236976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Self-Driving
Vehicles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3913632"/>
            <a:ext cx="250545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HD Maps at 1cm resolution. LiDAR + camera
fusion. Real-time object classification.
Waymo logs 1M+ miles weekly.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46703" y="3127248"/>
            <a:ext cx="2816352" cy="3474720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11296" y="3236976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Delivery
Drones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1296" y="3913632"/>
            <a:ext cx="250545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3D airspace routing. Obstacle avoidance.
Geofencing over no-fly zones.
Wing (Alphabet) active in Australia, US, Finland.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3127248"/>
            <a:ext cx="2816352" cy="3474720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3236976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Autonomous
Ships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913632"/>
            <a:ext cx="250545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Kongsberg Yara Birkeland -- world's first
autonomous cargo ship. GIS-driven route
optimization + collision avoidance.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08592" y="3127248"/>
            <a:ext cx="2816352" cy="3474720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73184" y="3236976"/>
            <a:ext cx="2505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Agriculture
Robots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73184" y="3913632"/>
            <a:ext cx="2505456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GPS-guided tractors plant/harvest with
2cm accuracy. Drone swarms monitor
crop stress field-by-field.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865443" y="506599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935165" y="33062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07360" y="537668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78175" y="384507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01472" y="251679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28375" y="230739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95688" y="251647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1275" y="448974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55264" y="432120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20855" y="39701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77683" y="487654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75627" y="416894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59683" y="271407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97247" y="81078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16584" y="568162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61870" y="309861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663549" y="12039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33515" y="298050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189503" y="530525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1811" y="94840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43822" y="265910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376251" y="652354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753888" y="101380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13452" y="374811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503328" y="425783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151334" y="97703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141220" y="472605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25359" y="384472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86455" y="605810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26494" y="291091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94859" y="106151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491482" y="509901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96273" y="106886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540689" y="370382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321822" y="58856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04900" y="383798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10880" y="40503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092764" y="535217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687303" y="45057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529719" y="589111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034811" y="479492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157317" y="374016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409913" y="652819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221628" y="464826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916857" y="88814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442481" y="185527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59215" y="320425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936813" y="224503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981029" y="391412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504578" y="221318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6341876" y="533980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611699" y="278429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97564" y="451927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616114" y="643486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2057064" y="558965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468800" y="240108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604024" y="464755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088190" y="639934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577568" y="197935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266271" y="348731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28632" y="0"/>
            <a:ext cx="164592" cy="6858000"/>
          </a:xfrm>
          <a:prstGeom prst="rect">
            <a:avLst/>
          </a:prstGeom>
          <a:solidFill>
            <a:srgbClr val="007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829800" y="0"/>
            <a:ext cx="164592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030968" y="0"/>
            <a:ext cx="164592" cy="6858000"/>
          </a:xfrm>
          <a:prstGeom prst="rect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232136" y="0"/>
            <a:ext cx="164592" cy="6858000"/>
          </a:xfrm>
          <a:prstGeom prst="rect">
            <a:avLst/>
          </a:prstGeom>
          <a:solidFill>
            <a:srgbClr val="002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33304" y="0"/>
            <a:ext cx="164592" cy="6858000"/>
          </a:xfrm>
          <a:prstGeom prst="rect">
            <a:avLst/>
          </a:prstGeom>
          <a:solidFill>
            <a:srgbClr val="00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634472" y="0"/>
            <a:ext cx="164592" cy="6858000"/>
          </a:xfrm>
          <a:prstGeom prst="rect">
            <a:avLst/>
          </a:prstGeom>
          <a:solidFill>
            <a:srgbClr val="002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835640" y="0"/>
            <a:ext cx="164592" cy="6858000"/>
          </a:xfrm>
          <a:prstGeom prst="rect">
            <a:avLst/>
          </a:prstGeom>
          <a:solidFill>
            <a:srgbClr val="00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036808" y="0"/>
            <a:ext cx="164592" cy="6858000"/>
          </a:xfrm>
          <a:prstGeom prst="rect">
            <a:avLst/>
          </a:prstGeom>
          <a:solidFill>
            <a:srgbClr val="00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237976" y="0"/>
            <a:ext cx="164592" cy="6858000"/>
          </a:xfrm>
          <a:prstGeom prst="rect">
            <a:avLst/>
          </a:prstGeom>
          <a:solidFill>
            <a:srgbClr val="0016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439144" y="0"/>
            <a:ext cx="164592" cy="6858000"/>
          </a:xfrm>
          <a:prstGeom prst="rect">
            <a:avLst/>
          </a:prstGeom>
          <a:solidFill>
            <a:srgbClr val="00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640312" y="0"/>
            <a:ext cx="164592" cy="6858000"/>
          </a:xfrm>
          <a:prstGeom prst="rect">
            <a:avLst/>
          </a:prstGeom>
          <a:solidFill>
            <a:srgbClr val="0013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841480" y="0"/>
            <a:ext cx="164592" cy="6858000"/>
          </a:xfrm>
          <a:prstGeom prst="rect">
            <a:avLst/>
          </a:prstGeom>
          <a:solidFill>
            <a:srgbClr val="00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074152" y="30175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0" b="1" i="0">
                <a:solidFill>
                  <a:srgbClr val="0C0522"/>
                </a:solidFill>
                <a:latin typeface="Calibri"/>
              </a:rPr>
              <a:t>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1600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PART 5  OF 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19659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The Future
Landscape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913632"/>
            <a:ext cx="36576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02920" y="4078224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06090"/>
                </a:solidFill>
                <a:latin typeface="Calibri"/>
              </a:rPr>
              <a:t>Convergence, ethics, careers, and the next tools shaping how we understand our world.</a:t>
            </a:r>
          </a:p>
        </p:txBody>
      </p:sp>
      <p:sp>
        <p:nvSpPr>
          <p:cNvPr id="82" name="Oval 81"/>
          <p:cNvSpPr/>
          <p:nvPr/>
        </p:nvSpPr>
        <p:spPr>
          <a:xfrm>
            <a:off x="219456" y="2048255"/>
            <a:ext cx="219456" cy="219456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74320" y="2103120"/>
            <a:ext cx="109728" cy="10972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0447" y="444046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75739" y="120882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18443" y="149843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476102" y="292308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47755" y="478233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54099" y="636439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619" y="487662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0861" y="127955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94478" y="161100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0187" y="429821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4234" y="458578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92407" y="421899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6280" y="57598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71239" y="466976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71358" y="627721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961900" y="29716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28845" y="270136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8881" y="105316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585953" y="16586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71010" y="12501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40526" y="641264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75542" y="612272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45799" y="440311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023869" y="156522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467606" y="457029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13262" y="631512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31448" y="57968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01213" y="140922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515696" y="247538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292588" y="422678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24724" y="22831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17148" y="110869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788741" y="649060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851919" y="533581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13278" y="249105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31400" y="318100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38053" y="81791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198067" y="582345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251854" y="600783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802119" y="576253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Great Convergence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These technologies are not separate trends -- they are fusing into a single spatial intelligence layer.</a:t>
            </a:r>
          </a:p>
        </p:txBody>
      </p:sp>
      <p:sp>
        <p:nvSpPr>
          <p:cNvPr id="52" name="Oval 51"/>
          <p:cNvSpPr/>
          <p:nvPr/>
        </p:nvSpPr>
        <p:spPr>
          <a:xfrm>
            <a:off x="5257800" y="3017520"/>
            <a:ext cx="1645920" cy="1645920"/>
          </a:xfrm>
          <a:prstGeom prst="ellipse">
            <a:avLst/>
          </a:prstGeom>
          <a:solidFill>
            <a:srgbClr val="003040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623560" y="3383280"/>
            <a:ext cx="914400" cy="9144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0" y="3438144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010"/>
                </a:solidFill>
                <a:latin typeface="Calibri"/>
              </a:rPr>
              <a:t>SPATIAL
INTEL</a:t>
            </a:r>
          </a:p>
        </p:txBody>
      </p:sp>
      <p:sp>
        <p:nvSpPr>
          <p:cNvPr id="55" name="Oval 54"/>
          <p:cNvSpPr/>
          <p:nvPr/>
        </p:nvSpPr>
        <p:spPr>
          <a:xfrm>
            <a:off x="1792224" y="1792224"/>
            <a:ext cx="438912" cy="438912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901952" y="1901952"/>
            <a:ext cx="219456" cy="219456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2011680" y="2011680"/>
            <a:ext cx="4069080" cy="1828800"/>
          </a:xfrm>
          <a:prstGeom prst="line">
            <a:avLst/>
          </a:prstGeom>
          <a:ln w="7620">
            <a:solidFill>
              <a:srgbClr val="3F35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14400" y="217627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59" name="Oval 58"/>
          <p:cNvSpPr/>
          <p:nvPr/>
        </p:nvSpPr>
        <p:spPr>
          <a:xfrm>
            <a:off x="8741664" y="1792224"/>
            <a:ext cx="438912" cy="438912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851392" y="1901952"/>
            <a:ext cx="219456" cy="219456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60"/>
          <p:cNvCxnSpPr/>
          <p:nvPr/>
        </p:nvCxnSpPr>
        <p:spPr>
          <a:xfrm flipH="1">
            <a:off x="6080760" y="2011680"/>
            <a:ext cx="2880360" cy="1828800"/>
          </a:xfrm>
          <a:prstGeom prst="line">
            <a:avLst/>
          </a:prstGeom>
          <a:ln w="7620">
            <a:solidFill>
              <a:srgbClr val="271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863840" y="217627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D4EDD"/>
                </a:solidFill>
                <a:latin typeface="Calibri"/>
              </a:rPr>
              <a:t>IoT Sensors</a:t>
            </a:r>
          </a:p>
        </p:txBody>
      </p:sp>
      <p:sp>
        <p:nvSpPr>
          <p:cNvPr id="63" name="Oval 62"/>
          <p:cNvSpPr/>
          <p:nvPr/>
        </p:nvSpPr>
        <p:spPr>
          <a:xfrm>
            <a:off x="1792224" y="5084064"/>
            <a:ext cx="438912" cy="438912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901952" y="5193792"/>
            <a:ext cx="219456" cy="219456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64"/>
          <p:cNvCxnSpPr/>
          <p:nvPr/>
        </p:nvCxnSpPr>
        <p:spPr>
          <a:xfrm flipV="1">
            <a:off x="2011680" y="3840480"/>
            <a:ext cx="4069080" cy="1463040"/>
          </a:xfrm>
          <a:prstGeom prst="line">
            <a:avLst/>
          </a:prstGeom>
          <a:ln w="7620">
            <a:solidFill>
              <a:srgbClr val="3F0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4400" y="54681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E5"/>
                </a:solidFill>
                <a:latin typeface="Calibri"/>
              </a:rPr>
              <a:t>Cloud GIS</a:t>
            </a:r>
          </a:p>
        </p:txBody>
      </p:sp>
      <p:sp>
        <p:nvSpPr>
          <p:cNvPr id="67" name="Oval 66"/>
          <p:cNvSpPr/>
          <p:nvPr/>
        </p:nvSpPr>
        <p:spPr>
          <a:xfrm>
            <a:off x="8741664" y="5084064"/>
            <a:ext cx="438912" cy="438912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851392" y="5193792"/>
            <a:ext cx="219456" cy="21945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 flipH="1" flipV="1">
            <a:off x="6080760" y="3840480"/>
            <a:ext cx="2880360" cy="1463040"/>
          </a:xfrm>
          <a:prstGeom prst="line">
            <a:avLst/>
          </a:prstGeom>
          <a:ln w="7620">
            <a:solidFill>
              <a:srgbClr val="00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63840" y="54681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FF"/>
                </a:solidFill>
                <a:latin typeface="Calibri"/>
              </a:rPr>
              <a:t>AR / VR</a:t>
            </a:r>
          </a:p>
        </p:txBody>
      </p:sp>
      <p:sp>
        <p:nvSpPr>
          <p:cNvPr id="71" name="Oval 70"/>
          <p:cNvSpPr/>
          <p:nvPr/>
        </p:nvSpPr>
        <p:spPr>
          <a:xfrm>
            <a:off x="5861304" y="1243584"/>
            <a:ext cx="438912" cy="438912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971032" y="1353312"/>
            <a:ext cx="219456" cy="219456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6080760" y="1463040"/>
            <a:ext cx="0" cy="2377440"/>
          </a:xfrm>
          <a:prstGeom prst="line">
            <a:avLst/>
          </a:prstGeom>
          <a:ln w="7620">
            <a:solidFill>
              <a:srgbClr val="3F35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983480" y="16276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60A"/>
                </a:solidFill>
                <a:latin typeface="Calibri"/>
              </a:rPr>
              <a:t>Geo-Streaming</a:t>
            </a:r>
          </a:p>
        </p:txBody>
      </p:sp>
      <p:sp>
        <p:nvSpPr>
          <p:cNvPr id="75" name="Oval 74"/>
          <p:cNvSpPr/>
          <p:nvPr/>
        </p:nvSpPr>
        <p:spPr>
          <a:xfrm>
            <a:off x="5861304" y="5815583"/>
            <a:ext cx="438912" cy="438912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5971032" y="5925312"/>
            <a:ext cx="219456" cy="219456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 flipV="1">
            <a:off x="6080760" y="3840480"/>
            <a:ext cx="0" cy="2194560"/>
          </a:xfrm>
          <a:prstGeom prst="line">
            <a:avLst/>
          </a:prstGeom>
          <a:ln w="7620">
            <a:solidFill>
              <a:srgbClr val="3F00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983480" y="619963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00E5"/>
                </a:solidFill>
                <a:latin typeface="Calibri"/>
              </a:rPr>
              <a:t>Digital Twins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254496"/>
            <a:ext cx="11457432" cy="475488"/>
          </a:xfrm>
          <a:prstGeom prst="rect">
            <a:avLst/>
          </a:prstGeom>
          <a:solidFill>
            <a:srgbClr val="020008"/>
          </a:solidFill>
          <a:ln w="762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" y="632764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D60A"/>
                </a:solidFill>
                <a:latin typeface="Calibri"/>
              </a:rPr>
              <a:t>The result: a planet-scale, real-time, AI-powered spatial operating system. The question is who controls it -- and who is protected by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48083" y="395567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586" y="377339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42308" y="108358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94103" y="402709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670675" y="349850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20496" y="451489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82510" y="102843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91165" y="386830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367245" y="36124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6155" y="255746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207" y="53745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111836" y="597590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30766" y="655590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114976" y="184910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13641" y="261809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94531" y="260347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28358" y="588357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42890" y="13548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79715" y="60601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630929" y="133905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28769" y="285903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872563" y="328758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862480" y="283424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626837" y="404543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86420" y="107178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166403" y="354007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638882" y="495075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691876" y="414007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139277" y="563421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31657" y="556806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05118" y="466784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850600" y="266444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520851" y="582931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14628" y="413329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916213" y="409526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10285" y="449296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860513" y="526379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59140" y="256375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846668" y="544689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163593" y="504033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Privacy &amp; Ethics in the Spatial 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Every map is a choice. Every dataset has a shadow. Power over location data is power over people.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206654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E5"/>
                </a:solidFill>
                <a:latin typeface="Calibri"/>
              </a:rPr>
              <a:t>Surveillance
Infrastructure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2724912"/>
            <a:ext cx="52120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Facial recognition + CCTV + GPS = real-time tracking of every citizen.
China's Social Credit System. LAPD's predictive policing. Amazon Ring networks.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56816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28816" y="206654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alibri"/>
              </a:rPr>
              <a:t>Data
Colonialism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8816" y="2724912"/>
            <a:ext cx="52120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Global South generates spatial data consumed by companies in the Global North.
Who owns the data about a Kenyan farmer's field -- the farmer, or the agri-tech firm?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61104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6928" y="43708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De-anonymization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029200"/>
            <a:ext cx="52120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Researchers showed 4 GPS points identify an individual 95% of the time.
'Anonymous' mobility datasets are not anonymous. They never were.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261104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28816" y="437083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4EDD"/>
                </a:solidFill>
                <a:latin typeface="Calibri"/>
              </a:rPr>
              <a:t>Geofencing
Control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8816" y="5029200"/>
            <a:ext cx="521208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Apps can detect when you enter a clinic, a mosque, a protest.
Insurance companies, employers, governments -- all potential data buyers.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199896" y="179037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92360" y="594396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360839" y="482509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331738" y="259480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00063" y="80289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28661" y="367000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37723" y="671181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052687" y="532332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36243" y="379553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026761" y="525928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56618" y="449223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53290" y="475942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66239" y="276523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021272" y="653006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75504" y="323988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9663" y="184761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03484" y="492752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35030" y="407964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61770" y="143786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429580" y="532446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77455" y="459063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55646" y="660399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52248" y="244860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27960" y="354743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27150" y="376003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63250" y="553509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51309" y="278789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192920" y="347064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32525" y="236075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10116" y="551929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25957" y="653997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335721" y="514766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855169" y="584554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186842" y="264582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98235" y="284443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05517" y="184933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881029" y="508969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49425" y="128285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715560" y="392104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082462" y="142423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Open vs Proprietary: The GIS Divide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biggest question in spatial data is not technical -- it's political: who owns the map?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5303520" cy="4681728"/>
          </a:xfrm>
          <a:prstGeom prst="rect">
            <a:avLst/>
          </a:prstGeom>
          <a:solidFill>
            <a:srgbClr val="100530"/>
          </a:solidFill>
          <a:ln w="10160">
            <a:solidFill>
              <a:srgbClr val="6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299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6090"/>
                </a:solidFill>
                <a:latin typeface="Calibri"/>
              </a:rPr>
              <a:t>PROPRIETARY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450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Esri ArcGIS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270662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Industry standard, powerful, expensive. $1,500-$5,000/user/year.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34381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Google Maps Platform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3694176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Frictionless UX, global reach. Per-call pricing -- costs scale fast.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44256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Maxar / Planet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68172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Satellite imagery -- proprietary. Government + intelligence clients.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54132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HERE / TomTom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566928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Navigation map data -- licensed. Most cars run their maps.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97880" y="1920240"/>
            <a:ext cx="5925312" cy="4681728"/>
          </a:xfrm>
          <a:prstGeom prst="rect">
            <a:avLst/>
          </a:prstGeom>
          <a:solidFill>
            <a:srgbClr val="1005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08192" y="2029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OPEN SOURCE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8192" y="24505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OpenStreetMap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8192" y="2706624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Community-built, freely licensed. 10M+ contributors. Used by Apple Maps, Facebook.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08192" y="34381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QGIS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3694176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Full desktop GIS -- free, open, powerful. Runs on any OS.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08192" y="442569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Copernicus/Sentinel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08192" y="468172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ESA: free satellite data, 10m resolution, daily coverage of Europe.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08192" y="54132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PostGIS + GeoServer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8192" y="566928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0E0FF"/>
                </a:solidFill>
                <a:latin typeface="Calibri"/>
              </a:rPr>
              <a:t>Enterprise-grade spatial DB + WFS server. 100% open-source stack.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9649" y="147171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32534" y="246796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39284" y="460256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61090" y="519286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72716" y="256922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74347" y="597213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84084" y="666239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68409" y="509891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3457" y="291618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24193" y="271954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80568" y="89491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881171" y="14763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46879" y="76394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338405" y="184598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99581" y="238165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1328" y="288893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48540" y="195800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848655" y="467065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745373" y="379840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42450" y="649386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764352" y="127031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044226" y="576121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520203" y="209420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74681" y="470089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862198" y="327239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92429" y="232531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819042" y="63116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29584" y="90071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017187" y="442937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849864" y="199123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93076" y="307475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59131" y="318704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82297" y="62897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283403" y="56767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831441" y="220664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359735" y="273115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070727" y="356874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00273" y="579340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39730" y="636897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619576" y="274176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Cloud GIS: Google Earth Engine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Petabytes of satellite imagery + a Python/JS API + Google's infrastructure = planetary-scale analysis in minutes.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6583680" cy="4681728"/>
          </a:xfrm>
          <a:prstGeom prst="rect">
            <a:avLst/>
          </a:prstGeom>
          <a:solidFill>
            <a:srgbClr val="020008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1920240"/>
            <a:ext cx="6583680" cy="256032"/>
          </a:xfrm>
          <a:prstGeom prst="rect">
            <a:avLst/>
          </a:prstGeom>
          <a:solidFill>
            <a:srgbClr val="00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57200" y="199339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1993392"/>
            <a:ext cx="100584" cy="100584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22960" y="1993392"/>
            <a:ext cx="100584" cy="100584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4128" y="1956816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alibri"/>
              </a:rPr>
              <a:t>Python -- Earth Engine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" y="2221992"/>
            <a:ext cx="6309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9FF14"/>
                </a:solidFill>
                <a:latin typeface="Courier New"/>
              </a:rPr>
              <a:t>import ee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ee.Initialize()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Load Landsat 8 Collection for one year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landsat = (ee.ImageCollection('LANDSAT/LC08/C02/T1_L2')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.filterDate('2023-01-01', '2023-12-31')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.filterBounds(ee.Geometry.Point([-74.0, 40.7]))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.filter(ee.Filter.lt('CLOUD_COVER', 10)))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NDVI for entire USA -- one line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def add_ndvi(img):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ndvi = img.normalizedDifference(['SR_B5','SR_B4'])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return img.addBands(ndvi.rename('NDVI'))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with_ndvi = landsat.map(add_ndvi)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mean_ndvi = with_ndvi.select('NDVI').mean()</a:t>
            </a:r>
          </a:p>
          <a:p>
            <a:endParaRPr sz="1000">
              <a:solidFill>
                <a:srgbClr val="39FF14"/>
              </a:solidFill>
              <a:latin typeface="Courier New"/>
            </a:endParaRP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# Export to Google Drive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ee.Export.image.toDrive(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image=mean_ndvi,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description='USA_NDVI_2023',</a:t>
            </a:r>
          </a:p>
          <a:p>
            <a:r>
              <a:rPr sz="1000">
                <a:solidFill>
                  <a:srgbClr val="39FF14"/>
                </a:solidFill>
                <a:latin typeface="Courier New"/>
              </a:rPr>
              <a:t>    scale=30).start()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14032" y="1920240"/>
            <a:ext cx="4709160" cy="1060704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296912" y="19933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No downloads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96912" y="237744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Data lives in Google's cloud.
Your code runs next to the data.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14032" y="3090672"/>
            <a:ext cx="4709160" cy="1060704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96912" y="31638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Petabyte library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6912" y="354787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Landsat 1972-today, Sentinel,
MODIS, SRTM -- all pre-loaded.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14032" y="4261104"/>
            <a:ext cx="4709160" cy="1060704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96912" y="433425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Parallel compute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6912" y="4718304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Thousands of servers process
your analysis simultaneously.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14032" y="5431536"/>
            <a:ext cx="4709160" cy="1060704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296912" y="5504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Free for research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6912" y="5888736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Academic and non-profit use
is completely free.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338652" y="325001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47325" y="358908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42460" y="112791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805766" y="174284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13012" y="96773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13513" y="247339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00598" y="590479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13639" y="642269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84998" y="313892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76136" y="436036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74184" y="160754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87727" y="284294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18173" y="358463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4328" y="366328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60680" y="327591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71862" y="407651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55436" y="597997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91710" y="486373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37592" y="156392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99113" y="353987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09290" y="505056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348589" y="54844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416386" y="313090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1364" y="337557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918155" y="656441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765335" y="197458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21139" y="164547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17391" y="237374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073060" y="318658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4604" y="510158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291101" y="271090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271787" y="607033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35493" y="90554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711351" y="659949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482807" y="499980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768217" y="464014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995740" y="495250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132730" y="435363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747063" y="585645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924462" y="298952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Emerging Tools &amp; Platforms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spatial tech landscape is moving faster than any curriculum can track. Here is the frontier.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1168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Open Maps
Foundation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5968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overturemaps.org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87121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Amazon, Microsoft, Meta, TomTom
building an open competitor to
Google Maps.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79392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62272" y="201168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Kepler.gl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2272" y="25968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kepler.gl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2272" y="287121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Uber's browser-based large-scale
geospatial visualization -- no code
needed for millions of points.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93024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75904" y="201168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Felt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5904" y="25968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felt.com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5904" y="287121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Collaborative web GIS -- real-time
map editing with your team like
a Google Doc.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431596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Wherobots /
Apache Sedona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9011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wherobots.com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175504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Spatial analytics on Apache Spark
at DataFrame scale. SQL + Python
for billions of geometries.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9392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62272" y="431596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Foursquare
Studio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62272" y="49011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unfolded.ai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5175504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No-code visual analytics platform.
Drag-drop spatial analysis for
non-programmers.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93024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75904" y="431596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CesiumJS /
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75904" y="49011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81035"/>
                </a:solidFill>
                <a:latin typeface="Courier New"/>
              </a:rPr>
              <a:t>cesium.com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75904" y="5175504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3D globe in the browser.
Digital twin visualization at
planetary scale.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28948" y="399436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98652" y="37175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56498" y="112602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984779" y="70155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67277" y="674635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9104" y="439405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02133" y="164457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62635" y="301994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66624" y="248225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880853" y="333088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07544" y="336286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18187" y="225204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508650" y="408770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8377" y="112625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94000" y="312247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99787" y="598511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08350" y="168536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94910" y="368903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83459" y="341264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51633" y="224483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417680" y="358386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18831" y="95769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376752" y="1370504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990489" y="360136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765" y="156479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8552" y="623946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237921" y="564565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24744" y="505424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27257" y="48059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42902" y="499298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432417" y="650347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797906" y="364034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8939" y="175196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95912" y="381710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291493" y="394007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26310" y="294221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5791" y="376252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85815" y="365528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99347" y="611563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234818" y="284388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Career Paths in the Future of GIS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jobs that will exist in 2030 are being defined right now. Here is where they are emerging.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Geospatial
Data Engineer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670048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Build and maintain real-time
geo-streaming pipelines.
Kafka, Spark, PostGIS, cloud.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376732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$100k-$160k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79392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62272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GeoAI Researcher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2272" y="2670048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Develop spatial ML models:
computer vision, prediction,
natural language + geography.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2272" y="376732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$120k-$200k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93024" y="1920240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75904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Digital Twin
Architect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75904" y="2670048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Design city-scale digital twins.
BIM + GIS + IoT integration.
Siemens, Esri, Bentley.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5904" y="376732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$110k-$170k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43159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Spatial Privacy
Counsel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497433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Legal + technical expert on
location data rights, consent,
GDPR, CCPA compliance.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07161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$90k-$150k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9392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62272" y="43159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AR/VR Geo-Dev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62272" y="497433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Build immersive spatial
experiences -- Unity + GIS,
Apple Vision Pro, HoloLens.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62272" y="607161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$95k-$155k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93024" y="4224528"/>
            <a:ext cx="3703320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75904" y="43159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Remote Sensing
Data Sci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75904" y="4974336"/>
            <a:ext cx="329184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Satellite imagery analysis,
change detection, environmental
monitoring at planet scale.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75904" y="607161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$85k-$145k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10316" y="225051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94474" y="376434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413728" y="311128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11609" y="665279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305895" y="672258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97271" y="157256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54401" y="638840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23458" y="316446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72907" y="602979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67921" y="209599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23674" y="154285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11104" y="124558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37828" y="209660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33645" y="46473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654292" y="299047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68123" y="576180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1304" y="359176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015404" y="474912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9153" y="674898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757816" y="202577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678511" y="6424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72597" y="184404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82040" y="96170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06390" y="334797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28858" y="674706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000692" y="186873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12453" y="393643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176498" y="241643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21571" y="25302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949260" y="420478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79675" y="626067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19912" y="113270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440583" y="45548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21743" y="556593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421195" y="8342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4555" y="148660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38293" y="358430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571727" y="671517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613006" y="613936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58467" y="49268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to Learn Next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To work at the frontier of spatial intelligence, build these skills in order.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2194560" cy="4389120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271016" y="2130552"/>
            <a:ext cx="256032" cy="256032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335024" y="2194560"/>
            <a:ext cx="128016" cy="1280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12064" y="2414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Foundation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12064" y="2834640"/>
            <a:ext cx="1901952" cy="0"/>
          </a:xfrm>
          <a:prstGeom prst="line">
            <a:avLst/>
          </a:prstGeom>
          <a:ln w="762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12064" y="2944368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Python + GeoPandas
Spatial SQL + PostGIS
Cloud basics (AWS/GCP)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404164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79" y="1956816"/>
            <a:ext cx="2194560" cy="4389120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3602736" y="2130552"/>
            <a:ext cx="256032" cy="256032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3666744" y="2194560"/>
            <a:ext cx="128016" cy="128016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43784" y="2414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E5"/>
                </a:solidFill>
                <a:latin typeface="Calibri"/>
              </a:rPr>
              <a:t>Stream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843784" y="2834640"/>
            <a:ext cx="1901952" cy="0"/>
          </a:xfrm>
          <a:prstGeom prst="line">
            <a:avLst/>
          </a:prstGeom>
          <a:ln w="7620">
            <a:solidFill>
              <a:srgbClr val="FF0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843784" y="2944368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Apache Kafka concepts
Real-time APIs + WebSockets
PySpark fundamentals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404164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0" y="1956816"/>
            <a:ext cx="2194560" cy="4389120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5934456" y="2130552"/>
            <a:ext cx="256032" cy="256032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998464" y="2194560"/>
            <a:ext cx="128016" cy="128016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75504" y="2414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175504" y="2834640"/>
            <a:ext cx="1901952" cy="0"/>
          </a:xfrm>
          <a:prstGeom prst="line">
            <a:avLst/>
          </a:prstGeom>
          <a:ln w="7620">
            <a:solidFill>
              <a:srgbClr val="FFD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175504" y="2944368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PyTorch + computer vision
Spatial ML (scikit-learn)
Google Earth Engine API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404164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60919" y="1956816"/>
            <a:ext cx="2194560" cy="4389120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266175" y="2130552"/>
            <a:ext cx="256032" cy="256032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8330183" y="2194560"/>
            <a:ext cx="128016" cy="128016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507223" y="2414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4EDD"/>
                </a:solidFill>
                <a:latin typeface="Calibri"/>
              </a:rPr>
              <a:t>Platforms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507223" y="2834640"/>
            <a:ext cx="1901953" cy="0"/>
          </a:xfrm>
          <a:prstGeom prst="line">
            <a:avLst/>
          </a:prstGeom>
          <a:ln w="7620">
            <a:solidFill>
              <a:srgbClr val="9D4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507223" y="2944368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Digital twin tools (Cesium)
AR dev (Unity + Mapbox)
Kuberentes + spatial APIs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55480" y="404164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81035"/>
                </a:solidFill>
                <a:latin typeface="Calibri"/>
              </a:rPr>
              <a:t>-&gt;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92640" y="1956816"/>
            <a:ext cx="2194560" cy="4389120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597896" y="2130552"/>
            <a:ext cx="256032" cy="256032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661904" y="2194560"/>
            <a:ext cx="128016" cy="128016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38944" y="24140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Specialise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838944" y="2834640"/>
            <a:ext cx="1901952" cy="0"/>
          </a:xfrm>
          <a:prstGeom prst="line">
            <a:avLst/>
          </a:prstGeom>
          <a:ln w="762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838944" y="2944368"/>
            <a:ext cx="1920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Pick a domain: climate,
urban, health, defense,
privacy -- go deep.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6455664"/>
            <a:ext cx="11457432" cy="320040"/>
          </a:xfrm>
          <a:prstGeom prst="rect">
            <a:avLst/>
          </a:prstGeom>
          <a:solidFill>
            <a:srgbClr val="020008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E5FF"/>
                </a:solidFill>
                <a:latin typeface="Calibri"/>
              </a:rPr>
              <a:t>GIS is no longer a specialty -- it is the connective tissue between every data-driven discipline.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28785" y="446202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757541" y="190246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468075" y="21879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866867" y="263266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43393" y="332661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329580" y="343334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8710" y="624770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73609" y="506033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07331" y="246363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049420" y="662363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04748" y="595671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99802" y="237290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5513" y="264271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101974" y="391560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13788" y="228945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573782" y="101645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47729" y="215404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254822" y="615913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903322" y="381175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02180" y="5695353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81307" y="596642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733459" y="506847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915847" y="134591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05977" y="667281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62371" y="417902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863790" y="26555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701293" y="57395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300274" y="267778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057871" y="160183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202280" y="643412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89360" y="53290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9969" y="587726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952299" y="37063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738224" y="272244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42390" y="310598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19021" y="273219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787237" y="353664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370796" y="30255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630407" y="291142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75064" y="612358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Vision: GIS in 2035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Extrapolating today's trajectories -- this is where the technology leads.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66928" y="2029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The planet is instrumented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2505456"/>
            <a:ext cx="52120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Every major city has a sensor layer. Soil, air, water, movement -- all streamed, all indexed.
The Earth generates more data about itself than humans consciously produce.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20240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28816" y="20299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AI mediates most spatial decisions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8816" y="2505456"/>
            <a:ext cx="52120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Traffic routing, emergency dispatch, crop management, supply chains -- no human in the loop.
The question: is the AI's spatial knowledge trustworthy? Equitable? Auditable?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24528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6928" y="4334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Location privacy is a human right (contested)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809744"/>
            <a:ext cx="52120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Some jurisdictions have passed strong geo-data laws. Others have none.
Your phone knows your religion, politics, health, relationships -- all from GPS traces.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224528"/>
            <a:ext cx="5596128" cy="2139696"/>
          </a:xfrm>
          <a:prstGeom prst="rect">
            <a:avLst/>
          </a:prstGeom>
          <a:solidFill>
            <a:srgbClr val="100530"/>
          </a:solidFill>
          <a:ln w="1524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28816" y="4334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GIS practitioners are rare and critical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28816" y="4809744"/>
            <a:ext cx="521208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The tools have democratized spatial data consumption -- but not production.
People who understand the data, the math, and the ethics are more valuable than ever.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77278" y="343339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810627" y="225058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538363" y="607646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4143" y="225467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16298" y="91611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04159" y="66087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18339" y="660095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37882" y="263203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80772" y="449388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22537" y="128539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28967" y="215751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12678" y="87612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3856" y="520054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65992" y="341993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47424" y="402216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15746" y="62147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029483" y="374501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78762" y="108106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2315" y="579085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066783" y="67686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2022296" y="116837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692826" y="509333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09520" y="208926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39597" y="515413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07210" y="98954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043941" y="285332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39801" y="82104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98332" y="46882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218676" y="575059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222333" y="419189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004483" y="129234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98787" y="662810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79427" y="426646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91067" y="675979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098973" y="38322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27075" y="143438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578584" y="214585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300488" y="8513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846436" y="388905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420805" y="565732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Ethical GIS Practitioner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Technical skill without ethical judgment is dangerous. This is the most important slide in the deck.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11457432" cy="4681728"/>
          </a:xfrm>
          <a:prstGeom prst="rect">
            <a:avLst/>
          </a:prstGeom>
          <a:solidFill>
            <a:srgbClr val="100530"/>
          </a:solidFill>
          <a:ln w="1524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2920" y="2048256"/>
            <a:ext cx="10863072" cy="804672"/>
          </a:xfrm>
          <a:prstGeom prst="rect">
            <a:avLst/>
          </a:prstGeom>
          <a:solidFill>
            <a:srgbClr val="0A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2048256"/>
            <a:ext cx="91440" cy="804672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9808" y="2103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Ask who is harmed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2103120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Before you map something, ask: who could this data be used against? Which communities have historically been over-surveilled?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2944368"/>
            <a:ext cx="10863072" cy="804672"/>
          </a:xfrm>
          <a:prstGeom prst="rect">
            <a:avLst/>
          </a:prstGeom>
          <a:solidFill>
            <a:srgbClr val="0A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2920" y="2944368"/>
            <a:ext cx="91440" cy="8046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29992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Validate your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2999232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Where did this dataset come from? Who collected it? What was excluded? A map of crime is a map of policing, not a map of crime.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3840480"/>
            <a:ext cx="10863072" cy="804672"/>
          </a:xfrm>
          <a:prstGeom prst="rect">
            <a:avLst/>
          </a:prstGeom>
          <a:solidFill>
            <a:srgbClr val="0A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2920" y="3840480"/>
            <a:ext cx="91440" cy="804672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9808" y="3895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Protect the subject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0" y="3895344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The people your data describes are not data points. They are people. GDPR, CCPA, and informed consent exist for a reason.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736592"/>
            <a:ext cx="10863072" cy="804672"/>
          </a:xfrm>
          <a:prstGeom prst="rect">
            <a:avLst/>
          </a:prstGeom>
          <a:solidFill>
            <a:srgbClr val="0A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2920" y="4736592"/>
            <a:ext cx="91440" cy="804672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9808" y="4791455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Show your work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4791455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Open methods, open code, open data where possible. If you can't explain how you made the map, you can't defend it.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632704"/>
            <a:ext cx="10863072" cy="804672"/>
          </a:xfrm>
          <a:prstGeom prst="rect">
            <a:avLst/>
          </a:prstGeom>
          <a:solidFill>
            <a:srgbClr val="0A0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02920" y="5632704"/>
            <a:ext cx="91440" cy="804672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9808" y="56875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Challenge the brief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0" y="5687568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If a client asks for a map that will harm a community, you are not required to make it. Spatial power comes with spatial responsibility.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090959" y="541320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72309" y="427807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43889" y="552609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17779" y="208959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756937" y="21638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90718" y="601914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32687" y="196354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00837" y="427347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41124" y="87139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3830" y="190371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21350" y="257180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95833" y="125967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29647" y="618818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84595" y="613212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74896" y="331867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402547" y="104795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54931" y="33543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0783" y="631490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092940" y="602686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61339" y="515447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943952" y="137670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69577" y="457127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982348" y="85547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71622" y="242985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790981" y="479308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47779" y="216992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00462" y="28496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63206" y="45056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40322" y="407062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490966" y="217701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781534" y="513611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206998" y="54472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59186" y="216334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740847" y="641577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051322" y="270860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561573" y="598159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54793" y="326435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29140" y="123156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189920" y="279944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003855" y="442660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Web GIS: Architecture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How spatial data flows from server to browser -- and back.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852160"/>
            <a:ext cx="11457432" cy="822960"/>
          </a:xfrm>
          <a:prstGeom prst="rect">
            <a:avLst/>
          </a:prstGeom>
          <a:solidFill>
            <a:srgbClr val="0A0522"/>
          </a:solidFill>
          <a:ln w="1016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128016" cy="82296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59070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DATA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5449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PostGIS | GeoPackage | Cloud Storage | Real-time streams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4882896"/>
            <a:ext cx="11457432" cy="822960"/>
          </a:xfrm>
          <a:prstGeom prst="rect">
            <a:avLst/>
          </a:prstGeom>
          <a:solidFill>
            <a:srgbClr val="0A0522"/>
          </a:solidFill>
          <a:ln w="1016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65760" y="4882896"/>
            <a:ext cx="128016" cy="8229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0080" y="4937759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SERVER LAYER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28523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GeoServer | MapServer | Python FastAPI | Node.js spatial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5724144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81035"/>
                </a:solidFill>
                <a:latin typeface="Calibri"/>
              </a:rPr>
              <a:t>^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913632"/>
            <a:ext cx="11457432" cy="822960"/>
          </a:xfrm>
          <a:prstGeom prst="rect">
            <a:avLst/>
          </a:prstGeom>
          <a:solidFill>
            <a:srgbClr val="0A0522"/>
          </a:solidFill>
          <a:ln w="1016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65760" y="3913632"/>
            <a:ext cx="128016" cy="82296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396849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PROTOCOL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43159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WFS | WMS | WMTS | OGC API Features | WebSockets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4754880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81035"/>
                </a:solidFill>
                <a:latin typeface="Calibri"/>
              </a:rPr>
              <a:t>^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2944368"/>
            <a:ext cx="11457432" cy="822960"/>
          </a:xfrm>
          <a:prstGeom prst="rect">
            <a:avLst/>
          </a:prstGeom>
          <a:solidFill>
            <a:srgbClr val="0A0522"/>
          </a:solidFill>
          <a:ln w="1016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65760" y="2944368"/>
            <a:ext cx="128016" cy="82296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299923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CLIENT LIBRARY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3346704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Leaflet.js | MapLibre GL | Mapbox GL | CesiumJS | deck.gl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3785616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81035"/>
                </a:solidFill>
                <a:latin typeface="Calibri"/>
              </a:rPr>
              <a:t>^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1975104"/>
            <a:ext cx="11457432" cy="822960"/>
          </a:xfrm>
          <a:prstGeom prst="rect">
            <a:avLst/>
          </a:prstGeom>
          <a:solidFill>
            <a:srgbClr val="0A0522"/>
          </a:solidFill>
          <a:ln w="1016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65760" y="1975104"/>
            <a:ext cx="128016" cy="82296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0080" y="20299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USER INTERFACE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23774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React + map components | vanilla HTML | native mobile apps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0" y="2816352"/>
            <a:ext cx="27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81035"/>
                </a:solidFill>
                <a:latin typeface="Calibri"/>
              </a:rPr>
              <a:t>^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6455664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90"/>
                </a:solidFill>
                <a:latin typeface="Calibri"/>
              </a:rPr>
              <a:t>OGC API Features standard (2019) replaced WFS as the modern REST interface for spatial data on the web.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03671" y="285121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670155" y="659228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82078" y="55244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7970" y="299747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69516" y="456113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64008" y="407031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60707" y="126742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74182" y="466729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022326" y="439681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04102" y="101872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80969" y="450290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73599" y="394920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73779" y="220476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19036" y="634386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980924" y="398121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68227" y="578201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09819" y="655228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08485" y="197522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74647" y="403085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37045" y="280175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5313" y="326126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16492" y="249640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554842" y="591705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30743" y="441951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90555" y="659951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738916" y="547119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74206" y="312457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10352" y="159828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030211" y="574395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23988" y="373716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836181" y="388390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450099" y="330572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797352" y="497290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297973" y="358490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035704" y="430119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04481" y="369064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51631" y="612298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720712" y="351352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46189" y="650343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102555" y="47309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Virtual Reality &amp; Immersive GIS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Step inside the dataset. Immersive spatial environments for analysis, communication, and training.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48256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Urban
Planning VR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807208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Architects and planners walk through proposed developments at 1:1 scale before a single brick is laid.
Stakeholders understand impact that a 2D plan never conveys.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56816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2048256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Climate
Visualization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2807208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Researchers stand inside a 3D ocean temperature anomaly or walk through a projected 2050 flood zone.
Data becomes visceral, not abstract.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61104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352544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Training &amp;
Simulation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111496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Emergency responders train in VR recreations of disaster zones.
Surgeons navigate 3D anatomical scans. Military trains in GIS-derived virtual battlefields.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261104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10528" y="4352544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Public
Engagement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5111496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City shows residents a VR model of a proposed highway.
Communities that never read an EIR engage deeply with immersive impact visualization.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19514" y="385424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032643" y="391534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03100" y="425883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2063" y="346635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82709" y="196696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93091" y="412202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05310" y="255967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86523" y="166807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07697" y="65482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47896" y="511621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948254" y="302972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23001" y="499338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02472" y="513438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103662" y="275310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049777" y="511398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51355" y="480145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34119" y="590064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23740" y="308737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638432" y="464972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109558" y="434632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113082" y="187428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47532" y="270243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07660" y="402124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8173" y="672126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69147" y="564306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64418" y="78503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725768" y="198248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5989" y="70515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503078" y="435071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28601" y="412779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848900" y="473501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697742" y="634056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169387" y="193633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181041" y="530291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687352" y="231195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564510" y="185810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95087" y="628986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233829" y="337598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713404" y="438579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331512" y="57818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41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D4EDD"/>
                </a:solidFill>
                <a:latin typeface="Calibri"/>
              </a:rPr>
              <a:t>EMERGING PLATFORMS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Indoor Mapping &amp; Navigation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GPS stops at the door. A new generation of spatial standards is solving the inside.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11457432" cy="1005840"/>
          </a:xfrm>
          <a:prstGeom prst="rect">
            <a:avLst/>
          </a:prstGeom>
          <a:solidFill>
            <a:srgbClr val="100530"/>
          </a:solidFill>
          <a:ln w="1016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299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D4EDD"/>
                </a:solidFill>
                <a:latin typeface="Calibri"/>
              </a:rPr>
              <a:t>THE PROBLEM: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304288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GPS accuracy: ~5m outdoors. Indoors: no signal. Airports, hospitals, universities, malls -- no wayfinding possible without a new paradigm.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12724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2186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Wi-Fi
Fingerprinting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785615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Measure signal strength from
multiple APs to triangulate
position indoors. Accuracy: ~2m.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9392" y="312724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62272" y="32186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BLE Beacons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62272" y="3785615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Bluetooth Low Energy beacons
every 10m. Apple iBeacon standard.
Shops, airports, museums.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93024" y="312724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75904" y="32186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A"/>
                </a:solidFill>
                <a:latin typeface="Calibri"/>
              </a:rPr>
              <a:t>LiDAR
Room Scanning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75904" y="3785615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iPhone/iPad LiDAR generates
room-scale 3D point clouds.
Instant indoor floor plans.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77316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4864607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E5"/>
                </a:solidFill>
                <a:latin typeface="Calibri"/>
              </a:rPr>
              <a:t>IMDF Standard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431536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Apple Indoor Mapping Data
Format -- JSON standard for
indoor maps. Used in 60+ airports.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79392" y="477316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62272" y="4864607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D4EDD"/>
                </a:solidFill>
                <a:latin typeface="Calibri"/>
              </a:rPr>
              <a:t>IMU Dead
Reckoning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62272" y="5431536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Accelerometer + gyroscope track
steps and direction between
beacon pings. Fills gaps.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93024" y="4773168"/>
            <a:ext cx="3703320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75904" y="4864607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FF"/>
                </a:solidFill>
                <a:latin typeface="Calibri"/>
              </a:rPr>
              <a:t>UWB Ranging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75904" y="5431536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06090"/>
                </a:solidFill>
                <a:latin typeface="Calibri"/>
              </a:rPr>
              <a:t>Ultra-Wideband radio: 10-30cm
accuracy. Apple U1 chip in
iPhone 11+. AirTag precision.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23005" y="21669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29788" y="9723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290295" y="476439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79165" y="636545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326779" y="572556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1148" y="646054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01810" y="633295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77608" y="276559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77922" y="5787600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190726" y="516755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11932" y="35398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9698" y="269543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2436" y="600035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771605" y="138035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65201" y="51192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90683" y="6532622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177" y="46561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59996" y="150441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78225" y="590012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88557" y="164664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21422" y="335487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983094" y="421914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63909" y="431453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568425" y="123081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910007" y="80121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9144" y="144409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84228" y="660537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952471" y="653087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12064" y="233096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787139" y="286264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35693" y="301955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692700" y="537180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28101" y="195774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67673" y="128904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88634" y="548101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566614" y="436235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038317" y="635330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250324" y="487882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621548" y="531527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46308" y="166435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54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GEOAI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Spatial AI &amp; Large Language Models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ChatGPT knows Paris. But does it know where the flood risk in Paris is highest?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11457432" cy="1024128"/>
          </a:xfrm>
          <a:prstGeom prst="rect">
            <a:avLst/>
          </a:prstGeom>
          <a:solidFill>
            <a:srgbClr val="100530"/>
          </a:solidFill>
          <a:ln w="1016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2996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60A"/>
                </a:solidFill>
                <a:latin typeface="Calibri"/>
              </a:rPr>
              <a:t>THE CHALLENGE: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2304288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LLMs are trained on text. Text is not spatial. Asking ChatGPT for GIS analysis is like asking a librarian to survey a field.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127248"/>
            <a:ext cx="5596128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218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Geoparser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639312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Extract place names from news articles and scientific papers.
Link them to coordinates. Build event timelines on a map.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27648" y="3127248"/>
            <a:ext cx="5596128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10528" y="32186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Geo-LLMs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0528" y="3639312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Microsoft's GeoAI team: training language models on spatial context.
Ask: 'where are flood risk + low income + poor transit access?'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773168"/>
            <a:ext cx="5596128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8646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Copilot for GIS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285231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Esri integrating OpenAI: describe your analysis in English,
the system writes the Python/ArcPy. Lowering the skill floor.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27648" y="4773168"/>
            <a:ext cx="5596128" cy="149961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10528" y="4864607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Multimodal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0528" y="5285231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GPT-4V + satellite imagery: 'describe what has changed
in this area between 2018 and 2023.' Spatial change detection via prompt.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55664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60A"/>
                </a:solidFill>
                <a:latin typeface="Calibri"/>
              </a:rPr>
              <a:t>The future: describe your spatial question in natural language. GeoAI translates it into data, analysis, and map.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522249" y="585027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4850" y="427316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28590" y="84358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64638" y="115785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33685" y="199427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05005" y="546593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45127" y="44159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88946" y="28545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2184" y="166209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22779" y="507833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43873" y="226841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48893" y="589803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4243" y="399700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831615" y="628519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41755" y="100195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79531" y="660339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618753" y="471202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730286" y="577631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46895" y="238485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70797" y="435016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32407" y="378115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34293" y="357430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140390" y="195493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930056" y="173788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48562" y="604446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62044" y="608737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2387" y="323310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202396" y="272357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523483" y="169688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3566" y="280566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94484" y="168721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851748" y="212626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91714" y="507966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59383" y="101677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311911" y="590915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42538" y="10054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12328" y="470228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652320" y="5117057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48524" y="63185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271403" y="616582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Climate Change &amp; the GIS Imperative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No challenge in human history is more spatial than climate change. GIS is not optional -- it is essential.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20240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11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Calibri"/>
              </a:rPr>
              <a:t>Sea Level
Rise Mapping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770632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NOAA + NASA: millimetre-accurate coastal DEM + ice-melt models = flood exposure for every coastal property.
Coastal communities plan relocation using these maps today.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7648" y="1920240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0528" y="201168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00E5"/>
                </a:solidFill>
                <a:latin typeface="Calibri"/>
              </a:rPr>
              <a:t>Wildfire
Risk Modeling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2770632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Cal Fire, Forest Service: fuel load + terrain + historical fire + climate projections = risk surface updated weekly.
Evacuation planning, insurance underwriting.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24528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431596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A"/>
                </a:solidFill>
                <a:latin typeface="Calibri"/>
              </a:rPr>
              <a:t>Climate
Migration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World Bank: by 2050, 216 million internal climate migrants. GIS models origin/destination based on water stress, crop failure, sea level. Policy requires these maps.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4224528"/>
            <a:ext cx="5596128" cy="2139696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10528" y="431596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D4EDD"/>
                </a:solidFill>
                <a:latin typeface="Calibri"/>
              </a:rPr>
              <a:t>Carbon
Accounting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10528" y="5074920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0FF"/>
                </a:solidFill>
                <a:latin typeface="Calibri"/>
              </a:rPr>
              <a:t>Satellite + AI: monitor forest carbon stocks globally. Detect illegal deforestation within 48 hours.
Verify carbon credit claims. Voluntary market integrity.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423712" y="2531802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480513" y="126137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23943" y="525514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956481" y="84945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34095" y="517044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72088" y="345280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5290" y="258001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11885" y="562885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17925" y="254885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52826" y="599210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82002" y="128503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69635" y="83921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98330" y="145487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11253" y="656346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81176" y="289585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591411" y="51163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34240" y="237962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928172" y="453610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90306" y="387791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567444" y="160523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33110" y="40729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565326" y="120193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279912" y="126198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027475" y="87187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84780" y="255904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82120" y="661985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475312" y="660279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550057" y="25781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470663" y="628469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739132" y="373702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862297" y="206431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91209" y="495455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65388" y="4975228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31656" y="87160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05453" y="156240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009819" y="415092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71584" y="521189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95022" y="576162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807439" y="272426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33164" y="350613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Standards That Hold It Together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Interoperability requires shared standards. OGC and ISO define how spatial data flows between systems.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urier New"/>
              </a:rPr>
              <a:t>OGC API Features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61518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REST/JSON replacement for WFS.
The new language of web spatial data.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79392" y="195681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62272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ourier New"/>
              </a:rPr>
              <a:t>STAC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62272" y="261518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SpatioTemporal Asset Catalog.
How cloud satellite data is indexed and queried.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3024" y="195681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75904" y="20848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4EDD"/>
                </a:solidFill>
                <a:latin typeface="Courier New"/>
              </a:rPr>
              <a:t>GeoParquet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75904" y="261518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Apache Parquet + spatial extension.
The format for cloud-native spatial analytics.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5137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2793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E5"/>
                </a:solidFill>
                <a:latin typeface="Courier New"/>
              </a:rPr>
              <a:t>3D Tiles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80974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Streaming standard for massive 3D datasets.
Cities, point clouds, BIM -- in the browser.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79392" y="415137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462272" y="42793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ourier New"/>
              </a:rPr>
              <a:t>CQL2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62272" y="480974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Common Query Language 2.
Filter spatial data on the server -- any system.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93024" y="4151376"/>
            <a:ext cx="3703320" cy="2029968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75904" y="42793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ourier New"/>
              </a:rPr>
              <a:t>IMDF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75904" y="4809744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90"/>
                </a:solidFill>
                <a:latin typeface="Calibri"/>
              </a:rPr>
              <a:t>Indoor Mapping Data Format.
Apple standard for interior spaces.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864549" y="487058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727135" y="17281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790334" y="306571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681091" y="601764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40546" y="201810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39130" y="285623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15983" y="2115544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5230" y="650019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0906" y="435554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91218" y="3176146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83740" y="564703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8491" y="560674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3646" y="503006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90878" y="111956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82317" y="453649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44996" y="614439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2923" y="519602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81772" y="250622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6863" y="428338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72132" y="498401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046595" y="482003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636580" y="99590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65139" y="289174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71474" y="362666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93403" y="131463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619289" y="591510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350595" y="475045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507728" y="243860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735664" y="1969937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177263" y="6171059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947037" y="156739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102129" y="620605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177963" y="329228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760451" y="304142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158971" y="212524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761084" y="581078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782446" y="149215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385452" y="532493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392451" y="514673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385903" y="538517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Your Action 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future of GIS is not something that happens to you. You are building it.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11457432" cy="841248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521207" y="2203704"/>
            <a:ext cx="182880" cy="182880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66928" y="224942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60" y="20116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This week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23160" y="2011680"/>
            <a:ext cx="9144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Install Python + GeoPandas. Open a Jupyter notebook.
Map something you care about in your city.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2871216"/>
            <a:ext cx="11457432" cy="841248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21207" y="3118104"/>
            <a:ext cx="182880" cy="182880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66928" y="3163824"/>
            <a:ext cx="91440" cy="91440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" y="2926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00E5"/>
                </a:solidFill>
                <a:latin typeface="Calibri"/>
              </a:rPr>
              <a:t>This month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23160" y="2926080"/>
            <a:ext cx="9144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Find one open dataset about your community.
Build a simple analysis. Share it on GitHub.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785616"/>
            <a:ext cx="11457432" cy="841248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21207" y="4032504"/>
            <a:ext cx="182880" cy="182880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66928" y="4078224"/>
            <a:ext cx="91440" cy="91440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38404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A"/>
                </a:solidFill>
                <a:latin typeface="Calibri"/>
              </a:rPr>
              <a:t>This year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23160" y="3840480"/>
            <a:ext cx="9144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Take GEP 362. Build a portfolio of 3 spatial projects.
Try Google Earth Engine for one raster analysis.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700016"/>
            <a:ext cx="11457432" cy="841248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21207" y="4946904"/>
            <a:ext cx="182880" cy="182880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566928" y="4992624"/>
            <a:ext cx="91440" cy="9144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960" y="47548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D4EDD"/>
                </a:solidFill>
                <a:latin typeface="Calibri"/>
              </a:rPr>
              <a:t>3-5 years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23160" y="4754880"/>
            <a:ext cx="9144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Contribute to OpenStreetMap.
Learn one streaming or cloud platform.
Specialise in a domain you believe matters.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614416"/>
            <a:ext cx="11457432" cy="841248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521207" y="5861304"/>
            <a:ext cx="182880" cy="182880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566928" y="5907024"/>
            <a:ext cx="91440" cy="914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2960" y="5669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FF"/>
                </a:solidFill>
                <a:latin typeface="Calibri"/>
              </a:rPr>
              <a:t>Career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23160" y="5669280"/>
            <a:ext cx="914400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0E0FF"/>
                </a:solidFill>
                <a:latin typeface="Calibri"/>
              </a:rPr>
              <a:t>The world will need people who understand space, data, and ethics.
That combination is rare and increasingly critical.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23276" y="615598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713021" y="16000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38203" y="1462517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42719" y="28674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82700" y="241329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53416" y="547597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40715" y="486956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16838" y="367682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87837" y="623573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91221" y="402562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62720" y="245992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664029" y="1610391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75575" y="827813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43352" y="479560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8914" y="338703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77563" y="500549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803292" y="281009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77927" y="6064034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44096" y="675803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50283" y="358027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2778" y="2726853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993127" y="6048501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58168" y="1420365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65331" y="5685919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35351" y="485409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71667" y="543810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04244" y="411764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31519" y="1075179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558462" y="335785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48302" y="501633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32846" y="658014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925207" y="424314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28421" y="356216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515847" y="451099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03991" y="549482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528190" y="30236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97327" y="219116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610105" y="31078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713214" y="118712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842853" y="268859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Questions That Matter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hardest problems in geospatial are not technical. They are human.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1956816"/>
            <a:ext cx="11457432" cy="1078992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482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Calibri"/>
              </a:rPr>
              <a:t>Who benefits?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2048256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When a new mapping platform launches, which communities get better data and which remain blank spots on the map?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108960"/>
            <a:ext cx="11457432" cy="1078992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3200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E5"/>
                </a:solidFill>
                <a:latin typeface="Calibri"/>
              </a:rPr>
              <a:t>Who is protected?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3200400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When GPS traces, social media check-ins, and IoT sensors combine -- who has the right to know you are being watched?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61104"/>
            <a:ext cx="11457432" cy="1078992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4360" y="43525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A"/>
                </a:solidFill>
                <a:latin typeface="Calibri"/>
              </a:rPr>
              <a:t>Who decides?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352544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When an AI recommends where to build a school, rezone a neighborhood, or evacuate a city -- who is accountable if it is wrong?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413248"/>
            <a:ext cx="11457432" cy="1078992"/>
          </a:xfrm>
          <a:prstGeom prst="rect">
            <a:avLst/>
          </a:prstGeom>
          <a:solidFill>
            <a:srgbClr val="100530"/>
          </a:solidFill>
          <a:ln w="12700">
            <a:solidFill>
              <a:srgbClr val="9D4E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4360" y="5504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D4EDD"/>
                </a:solidFill>
                <a:latin typeface="Calibri"/>
              </a:rPr>
              <a:t>Who is invisible?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91840" y="5504688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0FF"/>
                </a:solidFill>
                <a:latin typeface="Calibri"/>
              </a:rPr>
              <a:t>Which populations are systematically under-counted, under-mapped, or excluded from the datasets that drive decisions about them?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455664"/>
            <a:ext cx="11457432" cy="329184"/>
          </a:xfrm>
          <a:prstGeom prst="rect">
            <a:avLst/>
          </a:prstGeom>
          <a:solidFill>
            <a:srgbClr val="020008"/>
          </a:solidFill>
          <a:ln w="762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4360" y="651052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E5FF"/>
                </a:solidFill>
                <a:latin typeface="Calibri"/>
              </a:rPr>
              <a:t>These are the questions that will define whether spatial intelligence serves humanity -- or extracts from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16391" y="466639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05262" y="579433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90434" y="3393562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93743" y="199009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80586" y="94717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10996" y="398948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0631" y="294938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08804" y="450529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72369" y="404665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23995" y="855549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55711" y="34094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11482" y="6108458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47167" y="401633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39145" y="224364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92727" y="459788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27715" y="519726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73107" y="251674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057878" y="574749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41451" y="40871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751561" y="426053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197409" y="191618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19304" y="240981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50178" y="2093368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93578" y="2776847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54240" y="3746485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017062" y="15129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308298" y="434967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312746" y="4941682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64947" y="107764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26029" y="2829976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248180" y="187326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170356" y="410473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454832" y="137250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64174" y="3828339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858432" y="33844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729435" y="181626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826878" y="37334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482994" y="460756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314289" y="587991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155583" y="600372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AA5D9"/>
                </a:solidFill>
                <a:latin typeface="Calibri"/>
              </a:rPr>
              <a:t>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04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14630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THE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402336"/>
            <a:ext cx="107899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Go Deeper: Key Resources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316736"/>
            <a:ext cx="16459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21408" y="1316736"/>
            <a:ext cx="640080" cy="54864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71216" y="1316736"/>
            <a:ext cx="320040" cy="54864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>
            <a:off x="365760" y="1444752"/>
            <a:ext cx="11457432" cy="0"/>
          </a:xfrm>
          <a:prstGeom prst="line">
            <a:avLst/>
          </a:prstGeom>
          <a:ln w="7620">
            <a:solidFill>
              <a:srgbClr val="1810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15179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90"/>
                </a:solidFill>
                <a:latin typeface="Calibri"/>
              </a:rPr>
              <a:t>The best way to understand the future of GIS is to engage with people building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FF"/>
                </a:solidFill>
                <a:latin typeface="Calibri"/>
              </a:rPr>
              <a:t>BOOKS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65760" y="2176272"/>
            <a:ext cx="3566160" cy="0"/>
          </a:xfrm>
          <a:prstGeom prst="line">
            <a:avLst/>
          </a:prstGeom>
          <a:ln w="762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365760" y="2267712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FF"/>
                </a:solidFill>
                <a:latin typeface="Calibri"/>
              </a:rPr>
              <a:t>How to Lie with Maps -- Mark Monmonier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28163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The ethics of cartographic power. Required reading.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712464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0352" y="3785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FF"/>
                </a:solidFill>
                <a:latin typeface="Calibri"/>
              </a:rPr>
              <a:t>The Smart Enough City -- Ben Green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426110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When algorithmic urbanism fails and why.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157216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0352" y="5230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E5FF"/>
                </a:solidFill>
                <a:latin typeface="Calibri"/>
              </a:rPr>
              <a:t>Dawn of the Code War -- John Demers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" y="57058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Spatial intelligence in geopolitics and security.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519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60A"/>
                </a:solidFill>
                <a:latin typeface="Calibri"/>
              </a:rPr>
              <a:t>COURSES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251960" y="2176272"/>
            <a:ext cx="3566160" cy="0"/>
          </a:xfrm>
          <a:prstGeom prst="line">
            <a:avLst/>
          </a:prstGeom>
          <a:ln w="7620">
            <a:solidFill>
              <a:srgbClr val="FFD6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251960" y="2267712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16552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60A"/>
                </a:solidFill>
                <a:latin typeface="Calibri"/>
              </a:rPr>
              <a:t>geo.university -- free GIS courses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16552" y="28163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Broad library, beginner to advanced, free tier.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3712464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416552" y="3785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60A"/>
                </a:solidFill>
                <a:latin typeface="Calibri"/>
              </a:rPr>
              <a:t>Esri Training Catalog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16552" y="426110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Industry-standard ArcGIS training, many free modules.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0" y="5157216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D6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16552" y="5230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D60A"/>
                </a:solidFill>
                <a:latin typeface="Calibri"/>
              </a:rPr>
              <a:t>Earth Engine tutorials (developers.google.com)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16552" y="57058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Official tutorials for planetary-scale raster work.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60" y="192024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E5"/>
                </a:solidFill>
                <a:latin typeface="Calibri"/>
              </a:rPr>
              <a:t>FOLLOW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138160" y="2176272"/>
            <a:ext cx="3566160" cy="0"/>
          </a:xfrm>
          <a:prstGeom prst="line">
            <a:avLst/>
          </a:prstGeom>
          <a:ln w="7620">
            <a:solidFill>
              <a:srgbClr val="FF0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8138160" y="2267712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302752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00E5"/>
                </a:solidFill>
                <a:latin typeface="Calibri"/>
              </a:rPr>
              <a:t>@maptime -- global geo meetup network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02752" y="281635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Local chapters, workshops, beginner-friendly.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3712464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02752" y="378561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00E5"/>
                </a:solidFill>
                <a:latin typeface="Calibri"/>
              </a:rPr>
              <a:t>NACIS (nacis.org) -- cartography society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02752" y="426110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Annual conference, Cartographic Perspectives journal.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5157216"/>
            <a:ext cx="3767328" cy="1316736"/>
          </a:xfrm>
          <a:prstGeom prst="rect">
            <a:avLst/>
          </a:prstGeom>
          <a:solidFill>
            <a:srgbClr val="100530"/>
          </a:solidFill>
          <a:ln w="1270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02752" y="52303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00E5"/>
                </a:solidFill>
                <a:latin typeface="Calibri"/>
              </a:rPr>
              <a:t>ODC Alliance (opendatacharter.net)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02752" y="57058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90"/>
                </a:solidFill>
                <a:latin typeface="Calibri"/>
              </a:rPr>
              <a:t>Open data policy and standards globally.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25367" y="390275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358100" y="5624991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51867" y="69386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74425" y="218349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66432" y="5057455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3650" y="1260615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94426" y="585140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96318" y="476147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43694" y="326114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49982" y="6345842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3840" y="5574152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194225" y="451186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28770" y="265929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34809" y="4665554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388413" y="268453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03924" y="6341504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17355" y="6033943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50387" y="5209527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81542" y="62608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39218" y="627592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17898" y="5566649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70528" y="244012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33333" y="27401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657142" y="537158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901815" y="4285393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422051" y="1757573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260107" y="466892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34730" y="4998802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45216" y="561021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04739" y="254521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434262" y="599452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474507" y="625332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979083" y="6593858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10831" y="1217906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299798" y="108770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464113" y="87476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376447" y="628785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514307" y="4854563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548732" y="339007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372692" y="4097064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113951" y="281838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575517" y="183898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984888" y="255881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20824" y="322128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37839" y="485304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929158" y="180177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17107" y="630640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058365" y="6361526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5804" y="3459318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827662" y="4572194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060807" y="182891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261012" y="5951506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901175" y="363208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494254" y="38622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556887" y="566385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211908" y="1980001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298251" y="3000292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938345" y="337075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30429" y="108350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22004" y="182846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331248" y="6734531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5392357" y="669192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5587335" y="84233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576041" y="716083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115953" y="5097357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097551" y="6577169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090996" y="60432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745240" y="264740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4823871" y="403202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937679" y="63254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542863" y="6467524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4046563" y="38412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3992398" y="4974592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629125" y="416399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971452" y="462142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202614" y="1794689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62241" y="5780950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450083" y="199342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539396" y="3367889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941738" y="4119965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81126" y="3513461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721772" y="327173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74656" y="2911920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303346" y="2935155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776611" y="4606758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265102" y="3611088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3581641" y="3010840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875620" y="944451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6371720" y="206381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1104634" y="3518543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5050180" y="319307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359089" y="4000175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459357" y="4507554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0211476" y="39354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3860702" y="4924858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580952" y="1860843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313612" y="507795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0556121" y="801209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61640" y="87028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5616190" y="279547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726878" y="5519196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8383581" y="652052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9752014" y="67641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2382223" y="5538125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0404800" y="1488071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7892263" y="300038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125085" y="522942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5156552" y="868816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663695" y="323868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2508723" y="3892456"/>
            <a:ext cx="54864" cy="54864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4099667" y="77673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1851230" y="575605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35871" y="2759354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2875717" y="496651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7011780" y="378448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0766525" y="87203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474066" y="3003327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8810359" y="3223676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6186153" y="4014132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1157863" y="578834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666139" y="2049880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1614908" y="565235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9647945" y="542990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482641" y="5092802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641382" y="1423021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302897" y="2868185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2909492" y="3808350"/>
            <a:ext cx="36576" cy="36576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667662" y="2474750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0031851" y="6062050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146307" y="852198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6838629" y="3337986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9328598" y="5231915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0852694" y="5788041"/>
            <a:ext cx="73152" cy="73152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8572588" y="6276820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1649050" y="5136257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9979763" y="37159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7654378" y="5904598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8836053" y="4818515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8886510" y="754240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108762" y="1011087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1732967" y="5226071"/>
            <a:ext cx="36576" cy="36576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0114269" y="3253199"/>
            <a:ext cx="54864" cy="54864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114763" y="2577497"/>
            <a:ext cx="54864" cy="54864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7648546" y="1729856"/>
            <a:ext cx="73152" cy="73152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9542808" y="1012568"/>
            <a:ext cx="54864" cy="54864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1113254" y="6086133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1422053" y="3045705"/>
            <a:ext cx="36576" cy="36576"/>
          </a:xfrm>
          <a:prstGeom prst="ellipse">
            <a:avLst/>
          </a:prstGeom>
          <a:solidFill>
            <a:srgbClr val="201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109293" y="2192798"/>
            <a:ext cx="36576" cy="36576"/>
          </a:xfrm>
          <a:prstGeom prst="ellipse">
            <a:avLst/>
          </a:prstGeom>
          <a:solidFill>
            <a:srgbClr val="35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829433" y="5159140"/>
            <a:ext cx="73152" cy="73152"/>
          </a:xfrm>
          <a:prstGeom prst="ellipse">
            <a:avLst/>
          </a:prstGeom>
          <a:solidFill>
            <a:srgbClr val="28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0927053" y="477327"/>
            <a:ext cx="73152" cy="73152"/>
          </a:xfrm>
          <a:prstGeom prst="ellipse">
            <a:avLst/>
          </a:prstGeom>
          <a:solidFill>
            <a:srgbClr val="1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2124944" y="0"/>
            <a:ext cx="6400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316736" y="1042415"/>
            <a:ext cx="219456" cy="219456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371600" y="1097280"/>
            <a:ext cx="109728" cy="10972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3602736" y="1591056"/>
            <a:ext cx="219456" cy="219456"/>
          </a:xfrm>
          <a:prstGeom prst="ellipse">
            <a:avLst/>
          </a:prstGeom>
          <a:solidFill>
            <a:srgbClr val="3F0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3657600" y="1645920"/>
            <a:ext cx="109728" cy="109728"/>
          </a:xfrm>
          <a:prstGeom prst="ellipse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2505456" y="2688336"/>
            <a:ext cx="219456" cy="219456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2560320" y="2743200"/>
            <a:ext cx="109728" cy="10972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859536" y="4059936"/>
            <a:ext cx="219456" cy="219456"/>
          </a:xfrm>
          <a:prstGeom prst="ellipse">
            <a:avLst/>
          </a:prstGeom>
          <a:solidFill>
            <a:srgbClr val="27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914400" y="4114800"/>
            <a:ext cx="109728" cy="109728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3145536" y="4517136"/>
            <a:ext cx="219456" cy="219456"/>
          </a:xfrm>
          <a:prstGeom prst="ellipse">
            <a:avLst/>
          </a:prstGeom>
          <a:solidFill>
            <a:srgbClr val="00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3200400" y="4572000"/>
            <a:ext cx="109728" cy="109728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4517136" y="2231136"/>
            <a:ext cx="219456" cy="219456"/>
          </a:xfrm>
          <a:prstGeom prst="ellipse">
            <a:avLst/>
          </a:prstGeom>
          <a:solidFill>
            <a:srgbClr val="3F3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4572000" y="2286000"/>
            <a:ext cx="109728" cy="10972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8" name="Connector 167"/>
          <p:cNvCxnSpPr/>
          <p:nvPr/>
        </p:nvCxnSpPr>
        <p:spPr>
          <a:xfrm>
            <a:off x="1371600" y="1097280"/>
            <a:ext cx="2286000" cy="548640"/>
          </a:xfrm>
          <a:prstGeom prst="line">
            <a:avLst/>
          </a:prstGeom>
          <a:ln w="6350">
            <a:solidFill>
              <a:srgbClr val="102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>
            <a:off x="2560320" y="1645920"/>
            <a:ext cx="1097280" cy="1097280"/>
          </a:xfrm>
          <a:prstGeom prst="line">
            <a:avLst/>
          </a:prstGeom>
          <a:ln w="6350">
            <a:solidFill>
              <a:srgbClr val="102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914400" y="2743200"/>
            <a:ext cx="1645920" cy="1371600"/>
          </a:xfrm>
          <a:prstGeom prst="line">
            <a:avLst/>
          </a:prstGeom>
          <a:ln w="6350">
            <a:solidFill>
              <a:srgbClr val="102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14400" y="4114800"/>
            <a:ext cx="2286000" cy="457200"/>
          </a:xfrm>
          <a:prstGeom prst="line">
            <a:avLst/>
          </a:prstGeom>
          <a:ln w="6350">
            <a:solidFill>
              <a:srgbClr val="102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200400" y="2286000"/>
            <a:ext cx="1371600" cy="2286000"/>
          </a:xfrm>
          <a:prstGeom prst="line">
            <a:avLst/>
          </a:prstGeom>
          <a:ln w="6350">
            <a:solidFill>
              <a:srgbClr val="102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274320" y="1280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FF"/>
                </a:solidFill>
                <a:latin typeface="Calibri"/>
              </a:rPr>
              <a:t>GEP 205 / 505  --  Future of GIS &amp; Spatial Data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74320" y="100584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Calibri"/>
              </a:rPr>
              <a:t>The map
is not
the territory.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4320" y="363931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06090"/>
                </a:solidFill>
                <a:latin typeface="Calibri"/>
              </a:rPr>
              <a:t>But it shapes every decision we make about it.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4224528"/>
            <a:ext cx="2560320" cy="91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2944368" y="4224528"/>
            <a:ext cx="1005840" cy="91440"/>
          </a:xfrm>
          <a:prstGeom prst="rect">
            <a:avLst/>
          </a:prstGeom>
          <a:solidFill>
            <a:srgbClr val="FF0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4059936" y="4224528"/>
            <a:ext cx="502920" cy="91440"/>
          </a:xfrm>
          <a:prstGeom prst="rect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74320" y="4572000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90"/>
                </a:solidFill>
                <a:latin typeface="Calibri"/>
              </a:rPr>
              <a:t>-&gt;  The tools are more powerful than ever before.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74320" y="5102352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90"/>
                </a:solidFill>
                <a:latin typeface="Calibri"/>
              </a:rPr>
              <a:t>-&gt;  The data is more abundant than ever before.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4320" y="5632704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90"/>
                </a:solidFill>
                <a:latin typeface="Calibri"/>
              </a:rPr>
              <a:t>-&gt;  The ethical stakes are higher than ever before.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74320" y="6163056"/>
            <a:ext cx="10058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90"/>
                </a:solidFill>
                <a:latin typeface="Calibri"/>
              </a:rPr>
              <a:t>-&gt;  What you do with that combination is up to you.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028432" y="2011680"/>
            <a:ext cx="3840480" cy="2212848"/>
          </a:xfrm>
          <a:prstGeom prst="rect">
            <a:avLst/>
          </a:prstGeom>
          <a:solidFill>
            <a:srgbClr val="020008"/>
          </a:solidFill>
          <a:ln w="8890">
            <a:solidFill>
              <a:srgbClr val="FF0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8211312" y="210312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00E5"/>
                </a:solidFill>
                <a:latin typeface="Courier New"/>
              </a:rPr>
              <a:t>// future.gis -- status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8211312" y="23591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initialising spatial intelligence layer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211312" y="27066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connecting 75B IoT endpoints...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211312" y="30540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90"/>
                </a:solidFill>
                <a:latin typeface="Courier New"/>
              </a:rPr>
              <a:t>&gt; GeoAI model: v12.4 loaded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211312" y="3401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Courier New"/>
              </a:rPr>
              <a:t>&gt; awaiting practitioner input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211312" y="374903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FF14"/>
                </a:solidFill>
                <a:latin typeface="Courier New"/>
              </a:rPr>
              <a:t>&gt; READY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74320" y="5989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Calibri"/>
              </a:rPr>
              <a:t>Questions?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74320" y="647395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81035"/>
                </a:solidFill>
                <a:latin typeface="Calibri"/>
              </a:rPr>
              <a:t>prof.kwon@university.edu  |  Office: GI-412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228832" y="7315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81035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5335</Words>
  <Application>Microsoft Office PowerPoint</Application>
  <PresentationFormat>Custom</PresentationFormat>
  <Paragraphs>642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Shokran Rahiminezhad</cp:lastModifiedBy>
  <cp:revision>1</cp:revision>
  <dcterms:created xsi:type="dcterms:W3CDTF">2013-01-27T09:14:16Z</dcterms:created>
  <dcterms:modified xsi:type="dcterms:W3CDTF">2026-08-04T16:42:04Z</dcterms:modified>
  <cp:category/>
</cp:coreProperties>
</file>