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321" r:id="rId2"/>
    <p:sldId id="322" r:id="rId3"/>
    <p:sldId id="323" r:id="rId4"/>
    <p:sldId id="324" r:id="rId5"/>
    <p:sldId id="325" r:id="rId6"/>
    <p:sldId id="326" r:id="rId7"/>
    <p:sldId id="327" r:id="rId8"/>
    <p:sldId id="328" r:id="rId9"/>
    <p:sldId id="329" r:id="rId10"/>
    <p:sldId id="330" r:id="rId11"/>
    <p:sldId id="331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39" r:id="rId20"/>
    <p:sldId id="341" r:id="rId21"/>
    <p:sldId id="340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5552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Attributes  · 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by Attributes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71500" y="2209800"/>
            <a:ext cx="5394960" cy="603504"/>
          </a:xfrm>
          <a:prstGeom prst="roundRect">
            <a:avLst>
              <a:gd name="adj" fmla="val 9091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 sz="1100">
              <a:solidFill>
                <a:srgbClr val="80808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3456432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by Attributes identifies the records whose stored values satisfy a defined logical condition. In ArcGIS Pro, the result is a selected subset that can be inspected, exported, summarized, or used in subsequent spatial analysis.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66928" y="58064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7269480" y="914400"/>
            <a:ext cx="4355287" cy="5394960"/>
          </a:xfrm>
          <a:prstGeom prst="roundRect">
            <a:avLst>
              <a:gd name="adj" fmla="val 2309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35240" y="1170432"/>
            <a:ext cx="36237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lesson covers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635240" y="1865376"/>
            <a:ext cx="512064" cy="512064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assets/ic_loc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135" y="1988271"/>
            <a:ext cx="266273" cy="26627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93608" y="1810512"/>
            <a:ext cx="29836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 the tool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293608" y="2103120"/>
            <a:ext cx="29836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Select By Attributes in the ArcGIS Pro workspace.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2724912"/>
            <a:ext cx="512064" cy="512064"/>
          </a:xfrm>
          <a:prstGeom prst="line">
            <a:avLst/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assets/ic_pa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8135" y="2847807"/>
            <a:ext cx="266273" cy="26627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93608" y="2670048"/>
            <a:ext cx="29836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pane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8293608" y="2962656"/>
            <a:ext cx="29836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 the purpose of each section of the query interface.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635240" y="3584448"/>
            <a:ext cx="512064" cy="512064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assets/ic_sq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8135" y="3707343"/>
            <a:ext cx="266273" cy="2662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93608" y="3529584"/>
            <a:ext cx="29836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valid SQL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293608" y="3822192"/>
            <a:ext cx="29836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 expressions using fields, operators, and values.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635240" y="4443984"/>
            <a:ext cx="512064" cy="512064"/>
          </a:xfrm>
          <a:prstGeom prst="line">
            <a:avLst/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assets/ic_logi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8135" y="4566879"/>
            <a:ext cx="266273" cy="26627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293608" y="4389120"/>
            <a:ext cx="29836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selection logic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8293608" y="4681728"/>
            <a:ext cx="29836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selection types and compound conditions.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635240" y="5303520"/>
            <a:ext cx="512064" cy="512064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assets/ic_diagno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8135" y="5426415"/>
            <a:ext cx="266273" cy="26627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293608" y="5248656"/>
            <a:ext cx="29836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errors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8293608" y="5541264"/>
            <a:ext cx="29836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common syntax and logic problems.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67759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Attributes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attribute selection matters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data records to analytical subsets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993392"/>
            <a:ext cx="3442106" cy="2331720"/>
          </a:xfrm>
          <a:prstGeom prst="roundRect">
            <a:avLst>
              <a:gd name="adj" fmla="val 4314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77824" y="2286000"/>
            <a:ext cx="566928" cy="566928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assets/ic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887" y="2422063"/>
            <a:ext cx="294803" cy="29480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" y="2980944"/>
            <a:ext cx="2820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GIS layer has two faces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77824" y="3566160"/>
            <a:ext cx="28203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feature layer is simultaneously spatial and tabular. Each feature corresponds to a record in the attribute table.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74794" y="1993392"/>
            <a:ext cx="3442106" cy="2331720"/>
          </a:xfrm>
          <a:prstGeom prst="roundRect">
            <a:avLst>
              <a:gd name="adj" fmla="val 4314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85690" y="2286000"/>
            <a:ext cx="566928" cy="566928"/>
          </a:xfrm>
          <a:prstGeom prst="line">
            <a:avLst/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assets/ic_fil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1753" y="2422063"/>
            <a:ext cx="294803" cy="29480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85690" y="2980944"/>
            <a:ext cx="2820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is a filtering operation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4685690" y="3566160"/>
            <a:ext cx="28203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 selection isolates only those records that satisfy a specified logical condition.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82661" y="1993392"/>
            <a:ext cx="3442106" cy="2331720"/>
          </a:xfrm>
          <a:prstGeom prst="roundRect">
            <a:avLst>
              <a:gd name="adj" fmla="val 4314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493557" y="2286000"/>
            <a:ext cx="566928" cy="566928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assets/ic_evid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9620" y="2422063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93557" y="2980944"/>
            <a:ext cx="2820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subset becomes usable evidence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493557" y="3566160"/>
            <a:ext cx="28203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records can be reviewed, summarized, mapped, exported, or passed into later analysis.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66928" y="4617720"/>
            <a:ext cx="11057839" cy="1417320"/>
          </a:xfrm>
          <a:prstGeom prst="roundRect">
            <a:avLst>
              <a:gd name="adj" fmla="val 7097"/>
            </a:avLst>
          </a:prstGeom>
          <a:solidFill>
            <a:srgbClr val="16223F"/>
          </a:solidFill>
          <a:ln w="12700">
            <a:solidFill>
              <a:srgbClr val="2236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932688" y="5038344"/>
            <a:ext cx="566928" cy="566928"/>
          </a:xfrm>
          <a:prstGeom prst="line">
            <a:avLst/>
          </a:prstGeom>
          <a:solidFill>
            <a:srgbClr val="0A1830"/>
          </a:solidFill>
          <a:ln w="1587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assets/ic_bul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751" y="5174407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709928" y="4855464"/>
            <a:ext cx="95947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takeaway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709928" y="5221224"/>
            <a:ext cx="95033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by Attribute is not merely a software command. It formalizes an analytical criterion as a query over table records, thereby converting a large layer into a defensible subset for further interpretation.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475902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Attributes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table to map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query becomes a highlighted subset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4297680" cy="1783080"/>
          </a:xfrm>
          <a:prstGeom prst="roundRect">
            <a:avLst>
              <a:gd name="adj" fmla="val 5641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9536" y="2231136"/>
            <a:ext cx="475488" cy="475488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assets/ic_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653" y="2345253"/>
            <a:ext cx="247254" cy="24725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2494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become features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77824" y="2798064"/>
            <a:ext cx="3675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row in an attribute table belongs to a feature on the map. A query tests each row; the rows that pass are highlighted — and so are their features. Selecting the data selects the geography.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8368" y="4114800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8368" y="411480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883664" y="411480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176272" y="4114800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176272" y="411480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401568" y="411480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3694176" y="4114800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A1830"/>
          </a:solidFill>
          <a:ln w="1587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694176" y="411480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58368" y="4892040"/>
            <a:ext cx="4261104" cy="548640"/>
          </a:xfrm>
          <a:prstGeom prst="roundRect">
            <a:avLst>
              <a:gd name="adj" fmla="val 10000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04672" y="4892040"/>
            <a:ext cx="3986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 BOROUGH = 'Bronx'  →  Bronx features light up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166360" y="1956816"/>
            <a:ext cx="6458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concept ↔ map result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166360" y="2395728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22392" y="2395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row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452360" y="2395728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feature on the map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166360" y="3054096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422392" y="30540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field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452360" y="3054096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attribute you can test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166360" y="3712464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422392" y="37124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query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452360" y="3712464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true / false test per row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166360" y="4370832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422392" y="43708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rows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7452360" y="4370832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highlighted in table and map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166360" y="5029200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422392" y="5029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selection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7452360" y="5029200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reusable subset of features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166360" y="5705856"/>
            <a:ext cx="64584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 live in the table, but every selection you make appears on the map.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86618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Attributes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workspace orientation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 the interface zones before locating the tool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4023360"/>
          </a:xfrm>
          <a:prstGeom prst="roundRect">
            <a:avLst>
              <a:gd name="adj" fmla="val 2500"/>
            </a:avLst>
          </a:prstGeom>
          <a:solidFill>
            <a:srgbClr val="0E1730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6928" y="2011680"/>
            <a:ext cx="6858000" cy="384048"/>
          </a:xfrm>
          <a:prstGeom prst="roundRect">
            <a:avLst>
              <a:gd name="adj" fmla="val 2619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2231136"/>
            <a:ext cx="6858000" cy="16459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011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2487168"/>
            <a:ext cx="800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659636" y="2487168"/>
            <a:ext cx="598932" cy="310896"/>
          </a:xfrm>
          <a:prstGeom prst="roundRect">
            <a:avLst>
              <a:gd name="adj" fmla="val 11765"/>
            </a:avLst>
          </a:prstGeom>
          <a:solidFill>
            <a:srgbClr val="1E3A8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14500" y="2487168"/>
            <a:ext cx="4892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68296" y="2487168"/>
            <a:ext cx="722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55264" y="2487168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97680" y="248716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0" y="248716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760720" y="2487168"/>
            <a:ext cx="800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25412" y="2487168"/>
            <a:ext cx="6446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4088" y="2880360"/>
            <a:ext cx="6583680" cy="0"/>
          </a:xfrm>
          <a:prstGeom prst="line">
            <a:avLst/>
          </a:prstGeom>
          <a:noFill/>
          <a:ln w="12700">
            <a:solidFill>
              <a:srgbClr val="26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86968" y="3035808"/>
            <a:ext cx="932688" cy="786384"/>
          </a:xfrm>
          <a:prstGeom prst="roundRect">
            <a:avLst>
              <a:gd name="adj" fmla="val 5814"/>
            </a:avLst>
          </a:prstGeom>
          <a:solidFill>
            <a:srgbClr val="11203A"/>
          </a:solidFill>
          <a:ln w="12700">
            <a:solidFill>
              <a:srgbClr val="2C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207008" y="3145536"/>
            <a:ext cx="292608" cy="237744"/>
          </a:xfrm>
          <a:prstGeom prst="roundRect">
            <a:avLst>
              <a:gd name="adj" fmla="val 11538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1248" y="3419856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65960" y="3035808"/>
            <a:ext cx="932688" cy="786384"/>
          </a:xfrm>
          <a:prstGeom prst="roundRect">
            <a:avLst>
              <a:gd name="adj" fmla="val 5814"/>
            </a:avLst>
          </a:prstGeom>
          <a:solidFill>
            <a:srgbClr val="14233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86000" y="3145536"/>
            <a:ext cx="292608" cy="237744"/>
          </a:xfrm>
          <a:prstGeom prst="roundRect">
            <a:avLst>
              <a:gd name="adj" fmla="val 1153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920240" y="3419856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By</a:t>
            </a:r>
            <a:endParaRPr lang="en-US" sz="9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9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044952" y="3035808"/>
            <a:ext cx="932688" cy="786384"/>
          </a:xfrm>
          <a:prstGeom prst="roundRect">
            <a:avLst>
              <a:gd name="adj" fmla="val 5814"/>
            </a:avLst>
          </a:prstGeom>
          <a:solidFill>
            <a:srgbClr val="11203A"/>
          </a:solidFill>
          <a:ln w="12700">
            <a:solidFill>
              <a:srgbClr val="2C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364992" y="3145536"/>
            <a:ext cx="292608" cy="237744"/>
          </a:xfrm>
          <a:prstGeom prst="roundRect">
            <a:avLst>
              <a:gd name="adj" fmla="val 11538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99232" y="3419856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By</a:t>
            </a:r>
            <a:endParaRPr lang="en-US" sz="9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9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23944" y="3035808"/>
            <a:ext cx="932688" cy="786384"/>
          </a:xfrm>
          <a:prstGeom prst="roundRect">
            <a:avLst>
              <a:gd name="adj" fmla="val 5814"/>
            </a:avLst>
          </a:prstGeom>
          <a:solidFill>
            <a:srgbClr val="11203A"/>
          </a:solidFill>
          <a:ln w="12700">
            <a:solidFill>
              <a:srgbClr val="2C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443984" y="3145536"/>
            <a:ext cx="292608" cy="237744"/>
          </a:xfrm>
          <a:prstGeom prst="roundRect">
            <a:avLst>
              <a:gd name="adj" fmla="val 11538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78224" y="3419856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86968" y="3858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29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group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9808" y="4297680"/>
            <a:ext cx="1828800" cy="1572768"/>
          </a:xfrm>
          <a:prstGeom prst="roundRect">
            <a:avLst>
              <a:gd name="adj" fmla="val 2907"/>
            </a:avLst>
          </a:prstGeom>
          <a:solidFill>
            <a:srgbClr val="0B1428"/>
          </a:solidFill>
          <a:ln w="12700">
            <a:solidFill>
              <a:srgbClr val="2C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77824" y="4389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96112" y="4782312"/>
            <a:ext cx="128016" cy="12801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9728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4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parks_nyc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96112" y="5093208"/>
            <a:ext cx="128016" cy="12801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97280" y="5020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4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boroughs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96112" y="5404104"/>
            <a:ext cx="128016" cy="128016"/>
          </a:xfrm>
          <a:prstGeom prst="rect">
            <a:avLst/>
          </a:prstGeom>
          <a:solidFill>
            <a:srgbClr val="3A56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97280" y="5330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4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subway_lines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96112" y="5715000"/>
            <a:ext cx="128016" cy="128016"/>
          </a:xfrm>
          <a:prstGeom prst="rect">
            <a:avLst/>
          </a:prstGeom>
          <a:solidFill>
            <a:srgbClr val="3A56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97280" y="5641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4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basemap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15768" y="4297680"/>
            <a:ext cx="4526280" cy="1572768"/>
          </a:xfrm>
          <a:prstGeom prst="roundRect">
            <a:avLst>
              <a:gd name="adj" fmla="val 2907"/>
            </a:avLst>
          </a:prstGeom>
          <a:solidFill>
            <a:srgbClr val="0C1B34"/>
          </a:solidFill>
          <a:ln w="12700">
            <a:solidFill>
              <a:srgbClr val="2C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852928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29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view</a:t>
            </a:r>
            <a:endParaRPr lang="en-US" sz="1100" dirty="0"/>
          </a:p>
        </p:txBody>
      </p:sp>
      <p:pic>
        <p:nvPicPr>
          <p:cNvPr id="47" name="Image 0" descr="assets/ic_mapview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4658868" y="4764024"/>
            <a:ext cx="640080" cy="640080"/>
          </a:xfrm>
          <a:prstGeom prst="rect">
            <a:avLst/>
          </a:prstGeom>
        </p:spPr>
      </p:pic>
      <p:sp>
        <p:nvSpPr>
          <p:cNvPr id="48" name="Shape 45"/>
          <p:cNvSpPr/>
          <p:nvPr/>
        </p:nvSpPr>
        <p:spPr>
          <a:xfrm>
            <a:off x="7772400" y="2011680"/>
            <a:ext cx="3852367" cy="877824"/>
          </a:xfrm>
          <a:prstGeom prst="roundRect">
            <a:avLst>
              <a:gd name="adj" fmla="val 11458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7991856" y="2194560"/>
            <a:ext cx="512064" cy="512064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1" descr="assets/ic_ribb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4751" y="2317455"/>
            <a:ext cx="266273" cy="266273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8668512" y="2130552"/>
            <a:ext cx="2755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Ribbon</a:t>
            </a:r>
            <a:endParaRPr lang="en-US" sz="1450" dirty="0"/>
          </a:p>
        </p:txBody>
      </p:sp>
      <p:sp>
        <p:nvSpPr>
          <p:cNvPr id="52" name="Text 48"/>
          <p:cNvSpPr/>
          <p:nvPr/>
        </p:nvSpPr>
        <p:spPr>
          <a:xfrm>
            <a:off x="8668512" y="2414016"/>
            <a:ext cx="27550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ribbon organizes commands by tab and functional group.</a:t>
            </a:r>
            <a:endParaRPr lang="en-US" sz="1150" dirty="0"/>
          </a:p>
        </p:txBody>
      </p:sp>
      <p:sp>
        <p:nvSpPr>
          <p:cNvPr id="53" name="Shape 49"/>
          <p:cNvSpPr/>
          <p:nvPr/>
        </p:nvSpPr>
        <p:spPr>
          <a:xfrm>
            <a:off x="7772400" y="2999232"/>
            <a:ext cx="3852367" cy="877824"/>
          </a:xfrm>
          <a:prstGeom prst="roundRect">
            <a:avLst>
              <a:gd name="adj" fmla="val 11458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0"/>
          <p:cNvSpPr/>
          <p:nvPr/>
        </p:nvSpPr>
        <p:spPr>
          <a:xfrm>
            <a:off x="7991856" y="3182112"/>
            <a:ext cx="512064" cy="512064"/>
          </a:xfrm>
          <a:prstGeom prst="line">
            <a:avLst/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2" descr="assets/ic_mapt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751" y="3305007"/>
            <a:ext cx="266273" cy="266273"/>
          </a:xfrm>
          <a:prstGeom prst="rect">
            <a:avLst/>
          </a:prstGeom>
        </p:spPr>
      </p:pic>
      <p:sp>
        <p:nvSpPr>
          <p:cNvPr id="56" name="Text 51"/>
          <p:cNvSpPr/>
          <p:nvPr/>
        </p:nvSpPr>
        <p:spPr>
          <a:xfrm>
            <a:off x="8668512" y="3118104"/>
            <a:ext cx="2755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tab</a:t>
            </a:r>
            <a:endParaRPr lang="en-US" sz="1450" dirty="0"/>
          </a:p>
        </p:txBody>
      </p:sp>
      <p:sp>
        <p:nvSpPr>
          <p:cNvPr id="57" name="Text 52"/>
          <p:cNvSpPr/>
          <p:nvPr/>
        </p:nvSpPr>
        <p:spPr>
          <a:xfrm>
            <a:off x="8668512" y="3401568"/>
            <a:ext cx="27550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commands for active map work are exposed here.</a:t>
            </a:r>
            <a:endParaRPr lang="en-US" sz="1150" dirty="0"/>
          </a:p>
        </p:txBody>
      </p:sp>
      <p:sp>
        <p:nvSpPr>
          <p:cNvPr id="58" name="Shape 53"/>
          <p:cNvSpPr/>
          <p:nvPr/>
        </p:nvSpPr>
        <p:spPr>
          <a:xfrm>
            <a:off x="7772400" y="3986784"/>
            <a:ext cx="3852367" cy="877824"/>
          </a:xfrm>
          <a:prstGeom prst="roundRect">
            <a:avLst>
              <a:gd name="adj" fmla="val 11458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4"/>
          <p:cNvSpPr/>
          <p:nvPr/>
        </p:nvSpPr>
        <p:spPr>
          <a:xfrm>
            <a:off x="7991856" y="4169664"/>
            <a:ext cx="512064" cy="512064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Image 3" descr="assets/ic_conte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4751" y="4292559"/>
            <a:ext cx="266273" cy="266273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8668512" y="4105656"/>
            <a:ext cx="2755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 pane</a:t>
            </a:r>
            <a:endParaRPr lang="en-US" sz="1450" dirty="0"/>
          </a:p>
        </p:txBody>
      </p:sp>
      <p:sp>
        <p:nvSpPr>
          <p:cNvPr id="62" name="Text 56"/>
          <p:cNvSpPr/>
          <p:nvPr/>
        </p:nvSpPr>
        <p:spPr>
          <a:xfrm>
            <a:off x="8668512" y="4389120"/>
            <a:ext cx="27550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target layer before opening any selection tool.</a:t>
            </a:r>
            <a:endParaRPr lang="en-US" sz="1150" dirty="0"/>
          </a:p>
        </p:txBody>
      </p:sp>
      <p:sp>
        <p:nvSpPr>
          <p:cNvPr id="63" name="Shape 57"/>
          <p:cNvSpPr/>
          <p:nvPr/>
        </p:nvSpPr>
        <p:spPr>
          <a:xfrm>
            <a:off x="7772400" y="4974336"/>
            <a:ext cx="3852367" cy="877824"/>
          </a:xfrm>
          <a:prstGeom prst="roundRect">
            <a:avLst>
              <a:gd name="adj" fmla="val 11458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58"/>
          <p:cNvSpPr/>
          <p:nvPr/>
        </p:nvSpPr>
        <p:spPr>
          <a:xfrm>
            <a:off x="7991856" y="5157216"/>
            <a:ext cx="512064" cy="512064"/>
          </a:xfrm>
          <a:prstGeom prst="line">
            <a:avLst/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5" name="Image 4" descr="assets/ic_map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751" y="5280111"/>
            <a:ext cx="266273" cy="266273"/>
          </a:xfrm>
          <a:prstGeom prst="rect">
            <a:avLst/>
          </a:prstGeom>
        </p:spPr>
      </p:pic>
      <p:sp>
        <p:nvSpPr>
          <p:cNvPr id="66" name="Text 59"/>
          <p:cNvSpPr/>
          <p:nvPr/>
        </p:nvSpPr>
        <p:spPr>
          <a:xfrm>
            <a:off x="8668512" y="5093208"/>
            <a:ext cx="2755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view</a:t>
            </a:r>
            <a:endParaRPr lang="en-US" sz="1450" dirty="0"/>
          </a:p>
        </p:txBody>
      </p:sp>
      <p:sp>
        <p:nvSpPr>
          <p:cNvPr id="67" name="Text 60"/>
          <p:cNvSpPr/>
          <p:nvPr/>
        </p:nvSpPr>
        <p:spPr>
          <a:xfrm>
            <a:off x="8668512" y="5376672"/>
            <a:ext cx="27550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selected result is reflected spatially in the view.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984188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Attributes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access Select By Attributes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Map ribbon or the attribute table toolbar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2064" y="1956816"/>
            <a:ext cx="7013448" cy="4424553"/>
          </a:xfrm>
          <a:prstGeom prst="roundRect">
            <a:avLst>
              <a:gd name="adj" fmla="val 1653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assets/arc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011680"/>
            <a:ext cx="6903720" cy="431482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72400" y="2011680"/>
            <a:ext cx="3852367" cy="1133856"/>
          </a:xfrm>
          <a:prstGeom prst="roundRect">
            <a:avLst>
              <a:gd name="adj" fmla="val 8871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010144" y="2249424"/>
            <a:ext cx="512064" cy="512064"/>
          </a:xfrm>
          <a:prstGeom prst="lin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010144" y="2249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705088" y="2194560"/>
            <a:ext cx="2709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target layer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705088" y="2514600"/>
            <a:ext cx="27093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Contents pane, make sure the intended layer is active before you open the tool.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72400" y="3310128"/>
            <a:ext cx="3852367" cy="1133856"/>
          </a:xfrm>
          <a:prstGeom prst="roundRect">
            <a:avLst>
              <a:gd name="adj" fmla="val 8871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10144" y="3547872"/>
            <a:ext cx="512064" cy="512064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010144" y="3547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705088" y="3493008"/>
            <a:ext cx="2709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Map ribbon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705088" y="3813048"/>
            <a:ext cx="27093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Map tab, go to the Selection group and click Select By Attributes.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772400" y="4608576"/>
            <a:ext cx="3852367" cy="1133856"/>
          </a:xfrm>
          <a:prstGeom prst="roundRect">
            <a:avLst>
              <a:gd name="adj" fmla="val 8871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010144" y="4846320"/>
            <a:ext cx="512064" cy="512064"/>
          </a:xfrm>
          <a:prstGeom prst="lin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010144" y="4846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705088" y="4791456"/>
            <a:ext cx="27093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use the table toolbar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705088" y="5111496"/>
            <a:ext cx="27093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attribute table is open, the Selection toolbar also provides Select By Attributes.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772400" y="5925312"/>
            <a:ext cx="3852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entry points open the same </a:t>
            </a:r>
            <a:r>
              <a:rPr lang="en-US" sz="1250" b="1" i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By Attributes</a:t>
            </a:r>
            <a:r>
              <a:rPr lang="en-US" sz="1250" i="1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pane.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742219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Attributes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correct selection tool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commands serve different analytic purposes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993392"/>
            <a:ext cx="3442106" cy="3063240"/>
          </a:xfrm>
          <a:prstGeom prst="roundRect">
            <a:avLst>
              <a:gd name="adj" fmla="val 3284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03933" y="2377440"/>
            <a:ext cx="768096" cy="768096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assets/ic_sel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8276" y="2561783"/>
            <a:ext cx="399410" cy="39941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" y="3291840"/>
            <a:ext cx="28934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830781" y="3895344"/>
            <a:ext cx="91440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96112" y="4041648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selection by clicking or drawing over features in the map. Useful for interactive inspection.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74794" y="1993392"/>
            <a:ext cx="3442106" cy="3063240"/>
          </a:xfrm>
          <a:prstGeom prst="roundRect">
            <a:avLst>
              <a:gd name="adj" fmla="val 3284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711800" y="2377440"/>
            <a:ext cx="768096" cy="768096"/>
          </a:xfrm>
          <a:prstGeom prst="line">
            <a:avLst/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assets/ic_att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6143" y="2561783"/>
            <a:ext cx="399410" cy="39941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49114" y="3291840"/>
            <a:ext cx="28934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By Attributes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5638648" y="3895344"/>
            <a:ext cx="9144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703978" y="4041648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based on table values and SQL expressions. Appropriate when the criterion is stored in fields.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182661" y="1993392"/>
            <a:ext cx="3442106" cy="3063240"/>
          </a:xfrm>
          <a:prstGeom prst="roundRect">
            <a:avLst>
              <a:gd name="adj" fmla="val 3284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9519666" y="2377440"/>
            <a:ext cx="768096" cy="768096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assets/ic_loc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4009" y="2561783"/>
            <a:ext cx="399410" cy="39941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56981" y="3291840"/>
            <a:ext cx="28934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By Location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9446514" y="3895344"/>
            <a:ext cx="91440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8511845" y="4041648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based on spatial relationships such as intersect, contain, or within a distance.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66928" y="5394960"/>
            <a:ext cx="11057839" cy="841248"/>
          </a:xfrm>
          <a:prstGeom prst="roundRect">
            <a:avLst>
              <a:gd name="adj" fmla="val 11957"/>
            </a:avLst>
          </a:prstGeom>
          <a:solidFill>
            <a:srgbClr val="16223F"/>
          </a:solidFill>
          <a:ln w="12700">
            <a:solidFill>
              <a:srgbClr val="2236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877824" y="5541264"/>
            <a:ext cx="548640" cy="548640"/>
          </a:xfrm>
          <a:prstGeom prst="line">
            <a:avLst/>
          </a:prstGeom>
          <a:solidFill>
            <a:srgbClr val="0A1830"/>
          </a:solidFill>
          <a:ln w="1587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assets/ic_inf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498" y="5672938"/>
            <a:ext cx="285293" cy="28529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664208" y="5394960"/>
            <a:ext cx="96862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   </a:t>
            </a:r>
            <a:r>
              <a:rPr lang="en-US" sz="14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By Attributes</a:t>
            </a:r>
            <a:r>
              <a:rPr lang="en-US" sz="14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the criterion lives in the table; use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By Location</a:t>
            </a:r>
            <a:r>
              <a:rPr lang="en-US" sz="14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the criterion is spatial.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32876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Attributes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is not filtering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Selection, definition query, and interactive select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things students confuse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340864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6384" y="2514600"/>
            <a:ext cx="493776" cy="493776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assets/ic_noreco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90" y="2633106"/>
            <a:ext cx="256764" cy="2567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44752" y="2441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Select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44752" y="272491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features on the map by hand — no query involved.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310128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86384" y="3483864"/>
            <a:ext cx="493776" cy="493776"/>
          </a:xfrm>
          <a:prstGeom prst="line">
            <a:avLst/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assets/ic_tooma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90" y="3602370"/>
            <a:ext cx="256764" cy="2567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44752" y="3410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by Attributes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444752" y="369417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query; matching rows are highlighted.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279392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86384" y="4453128"/>
            <a:ext cx="493776" cy="493776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assets/ic_synt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90" y="4571634"/>
            <a:ext cx="256764" cy="2567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44752" y="43799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selection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444752" y="46634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highlighted subset — all data stays visible and usable.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66928" y="5248656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86384" y="5422392"/>
            <a:ext cx="493776" cy="493776"/>
          </a:xfrm>
          <a:prstGeom prst="line">
            <a:avLst/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assets/ic_unexpec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90" y="5540898"/>
            <a:ext cx="256764" cy="2567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44752" y="5349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query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444752" y="563270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Hides non-matching rows from the layer entirely.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355080" y="2011680"/>
            <a:ext cx="5269687" cy="4160520"/>
          </a:xfrm>
          <a:prstGeom prst="roundRect">
            <a:avLst>
              <a:gd name="adj" fmla="val 2418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6684264" y="2194560"/>
            <a:ext cx="4629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 do I want?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6684264" y="26700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6684264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123176" y="265176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a subset?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7123176" y="299923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7269480" y="299923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 — reversible, non-destructive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6684264" y="34015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6684264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7123176" y="338328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Hides other rows?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7123176" y="373075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7269480" y="373075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query — a display filter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6684264" y="41330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6684264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7123176" y="411480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data?</a:t>
            </a:r>
            <a:endParaRPr lang="en-US" sz="1250" dirty="0"/>
          </a:p>
        </p:txBody>
      </p:sp>
      <p:sp>
        <p:nvSpPr>
          <p:cNvPr id="44" name="Shape 38"/>
          <p:cNvSpPr/>
          <p:nvPr/>
        </p:nvSpPr>
        <p:spPr>
          <a:xfrm>
            <a:off x="7123176" y="446227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7269480" y="446227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Neither — your table is untouched</a:t>
            </a:r>
            <a:endParaRPr lang="en-US" sz="1150" dirty="0"/>
          </a:p>
        </p:txBody>
      </p:sp>
      <p:sp>
        <p:nvSpPr>
          <p:cNvPr id="46" name="Shape 40"/>
          <p:cNvSpPr/>
          <p:nvPr/>
        </p:nvSpPr>
        <p:spPr>
          <a:xfrm>
            <a:off x="6684264" y="48646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6684264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48" name="Text 42"/>
          <p:cNvSpPr/>
          <p:nvPr/>
        </p:nvSpPr>
        <p:spPr>
          <a:xfrm>
            <a:off x="7123176" y="484632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</a:t>
            </a:r>
            <a:endParaRPr lang="en-US" sz="1250" dirty="0"/>
          </a:p>
        </p:txBody>
      </p:sp>
      <p:sp>
        <p:nvSpPr>
          <p:cNvPr id="49" name="Shape 43"/>
          <p:cNvSpPr/>
          <p:nvPr/>
        </p:nvSpPr>
        <p:spPr>
          <a:xfrm>
            <a:off x="7123176" y="519379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7269480" y="519379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to analyze, filter to declutter</a:t>
            </a:r>
            <a:endParaRPr lang="en-US" sz="1150" dirty="0"/>
          </a:p>
        </p:txBody>
      </p:sp>
      <p:sp>
        <p:nvSpPr>
          <p:cNvPr id="51" name="Shape 45"/>
          <p:cNvSpPr/>
          <p:nvPr/>
        </p:nvSpPr>
        <p:spPr>
          <a:xfrm>
            <a:off x="6684264" y="5614416"/>
            <a:ext cx="4629607" cy="566928"/>
          </a:xfrm>
          <a:prstGeom prst="roundRect">
            <a:avLst>
              <a:gd name="adj" fmla="val 9677"/>
            </a:avLst>
          </a:prstGeom>
          <a:solidFill>
            <a:srgbClr val="16223F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6867144" y="5614416"/>
            <a:ext cx="42638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marks rows; it never deletes or hides your data.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809168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Attributes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the Select By Attributes pane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interface before writing the query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6384" y="2002536"/>
            <a:ext cx="2914885" cy="4270248"/>
          </a:xfrm>
          <a:prstGeom prst="roundRect">
            <a:avLst>
              <a:gd name="adj" fmla="val 1882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assets/pa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057400"/>
            <a:ext cx="2805157" cy="41605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937760" y="2029968"/>
            <a:ext cx="6687007" cy="731520"/>
          </a:xfrm>
          <a:prstGeom prst="roundRect">
            <a:avLst>
              <a:gd name="adj" fmla="val 13750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193792" y="2295144"/>
            <a:ext cx="201168" cy="201168"/>
          </a:xfrm>
          <a:prstGeom prst="lin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541264" y="2130552"/>
            <a:ext cx="5864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Rows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541264" y="239572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layer or table whose records you want to query.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937760" y="2871216"/>
            <a:ext cx="6687007" cy="731520"/>
          </a:xfrm>
          <a:prstGeom prst="roundRect">
            <a:avLst>
              <a:gd name="adj" fmla="val 13750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193792" y="3136392"/>
            <a:ext cx="201168" cy="201168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541264" y="2971800"/>
            <a:ext cx="5864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Type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541264" y="3236976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whether the query creates a new selection or modifies an existing one.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937760" y="3712464"/>
            <a:ext cx="6687007" cy="731520"/>
          </a:xfrm>
          <a:prstGeom prst="roundRect">
            <a:avLst>
              <a:gd name="adj" fmla="val 13750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193792" y="3977640"/>
            <a:ext cx="201168" cy="201168"/>
          </a:xfrm>
          <a:prstGeom prst="lin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541264" y="3813048"/>
            <a:ext cx="5864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area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541264" y="407822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WHERE clause is constructed. Each clause tests records in the table.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937760" y="4553712"/>
            <a:ext cx="6687007" cy="731520"/>
          </a:xfrm>
          <a:prstGeom prst="roundRect">
            <a:avLst>
              <a:gd name="adj" fmla="val 13750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193792" y="4818888"/>
            <a:ext cx="201168" cy="201168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541264" y="4654296"/>
            <a:ext cx="5864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Editor toggle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5541264" y="4919472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 shows the guided clause builder; on lets you type SQL directly.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937760" y="5394960"/>
            <a:ext cx="6687007" cy="731520"/>
          </a:xfrm>
          <a:prstGeom prst="roundRect">
            <a:avLst>
              <a:gd name="adj" fmla="val 13750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193792" y="5660136"/>
            <a:ext cx="201168" cy="201168"/>
          </a:xfrm>
          <a:prstGeom prst="lin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541264" y="5495544"/>
            <a:ext cx="5864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and OK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5541264" y="5760720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runs the query and keeps the pane open; OK runs it and closes the pane.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331535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Attributes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builder and SQL Editor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expressions visually when SQL Editor is off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9224" y="2048256"/>
            <a:ext cx="2858584" cy="3813048"/>
          </a:xfrm>
          <a:prstGeom prst="roundRect">
            <a:avLst>
              <a:gd name="adj" fmla="val 1919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assets/cla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2103120"/>
            <a:ext cx="2748856" cy="3703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5952744"/>
            <a:ext cx="3571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829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clause builder — the Where row, Add Clause, Invert, and SQL Editor toggle.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94960" y="2011680"/>
            <a:ext cx="6229807" cy="4297680"/>
          </a:xfrm>
          <a:prstGeom prst="roundRect">
            <a:avLst>
              <a:gd name="adj" fmla="val 2340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60720" y="2212848"/>
            <a:ext cx="54982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beginner workflow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760720" y="2816352"/>
            <a:ext cx="365760" cy="365760"/>
          </a:xfrm>
          <a:prstGeom prst="lin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6072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91072" y="2752344"/>
            <a:ext cx="5041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SQL Editor off at first.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291072" y="3026664"/>
            <a:ext cx="50410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the guided builder, which structures the expression clause by clause.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760720" y="3493008"/>
            <a:ext cx="365760" cy="365760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76072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91072" y="3429000"/>
            <a:ext cx="5041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Where row.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291072" y="3703320"/>
            <a:ext cx="50410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field, then an operator, then a value, in the proper order.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760720" y="4169664"/>
            <a:ext cx="365760" cy="365760"/>
          </a:xfrm>
          <a:prstGeom prst="lin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760720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291072" y="4105656"/>
            <a:ext cx="5041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Add Clause for compound logic.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291072" y="4379976"/>
            <a:ext cx="50410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second clause when the question requires AND or OR logic.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760720" y="4846320"/>
            <a:ext cx="365760" cy="365760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76072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291072" y="4782312"/>
            <a:ext cx="5041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Invert Where Clause carefully.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291072" y="5056632"/>
            <a:ext cx="50410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Inversion returns the complement and changes the logical meaning.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760720" y="5522976"/>
            <a:ext cx="365760" cy="365760"/>
          </a:xfrm>
          <a:prstGeom prst="lin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760720" y="5522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291072" y="5458968"/>
            <a:ext cx="5041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SQL Editor on when needed.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6291072" y="5733288"/>
            <a:ext cx="50410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on to inspect or type the SQL syntax directly.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683013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Attributes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SQL is doing here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as query grammar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4297680" cy="1783080"/>
          </a:xfrm>
          <a:prstGeom prst="roundRect">
            <a:avLst>
              <a:gd name="adj" fmla="val 5641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9536" y="2231136"/>
            <a:ext cx="475488" cy="475488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assets/ic_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653" y="2345253"/>
            <a:ext cx="247254" cy="24725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2494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SQL means here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77824" y="2798064"/>
            <a:ext cx="3675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stands for Structured Query Language. In Select By Attributes you typically write a WHERE-clause style condition rather than a full SQL statement.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8368" y="4114800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8368" y="411480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883664" y="411480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176272" y="4114800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176272" y="411480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401568" y="411480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3694176" y="4114800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A1830"/>
          </a:solidFill>
          <a:ln w="1587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694176" y="411480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58368" y="4892040"/>
            <a:ext cx="4261104" cy="548640"/>
          </a:xfrm>
          <a:prstGeom prst="roundRect">
            <a:avLst>
              <a:gd name="adj" fmla="val 10000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04672" y="4892040"/>
            <a:ext cx="3986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 BOROUGH = </a:t>
            </a: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'Bronx'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166360" y="1956816"/>
            <a:ext cx="6458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expression patterns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166360" y="2395728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22392" y="2395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Equality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452360" y="2395728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BOROUGH = </a:t>
            </a: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'Bronx'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166360" y="3054096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422392" y="30540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threshold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452360" y="3054096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ACRES &gt; 5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166360" y="3712464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422392" y="37124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condition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452360" y="3712464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BOROUGH = </a:t>
            </a: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'Bronx'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ACRES &gt; 5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166360" y="4370832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422392" y="43708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membership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7452360" y="4370832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IN (</a:t>
            </a: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'Neighborhood'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'Regional'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166360" y="5029200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422392" y="5029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7452360" y="5029200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 IS NULL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166360" y="5705856"/>
            <a:ext cx="64584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 each expression as a true / false test applied to every record.</a:t>
            </a:r>
            <a:endParaRPr lang="en-US" sz="1250" dirty="0"/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542EFF83-638B-0247-F060-C9DA08389D6E}"/>
              </a:ext>
            </a:extLst>
          </p:cNvPr>
          <p:cNvSpPr/>
          <p:nvPr/>
        </p:nvSpPr>
        <p:spPr>
          <a:xfrm>
            <a:off x="6096000" y="7924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Formulating attribute queries in ArcGIS Pro</a:t>
            </a:r>
            <a:endParaRPr lang="en-US" sz="1800" dirty="0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AAE8A55C-3525-5268-060F-709CED4F2B33}"/>
              </a:ext>
            </a:extLst>
          </p:cNvPr>
          <p:cNvSpPr/>
          <p:nvPr/>
        </p:nvSpPr>
        <p:spPr>
          <a:xfrm>
            <a:off x="6237732" y="112471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BOROUGH = </a:t>
            </a:r>
            <a:r>
              <a:rPr lang="en-US" sz="18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'Bronx'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ACRES &gt; 5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94564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Attributes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three-part structure of a query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Field, operator, value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148840"/>
            <a:ext cx="3137306" cy="2606040"/>
          </a:xfrm>
          <a:prstGeom prst="roundRect">
            <a:avLst>
              <a:gd name="adj" fmla="val 3860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77824" y="2459736"/>
            <a:ext cx="566928" cy="566928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assets/ic_f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887" y="2595799"/>
            <a:ext cx="294803" cy="29480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36192" y="2514600"/>
            <a:ext cx="2040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77824" y="3227832"/>
            <a:ext cx="25155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should ArcGIS Pro look?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77824" y="3931920"/>
            <a:ext cx="2515514" cy="603504"/>
          </a:xfrm>
          <a:prstGeom prst="roundRect">
            <a:avLst>
              <a:gd name="adj" fmla="val 9091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24128" y="3931920"/>
            <a:ext cx="22411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BOROUGH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722522" y="3131820"/>
            <a:ext cx="78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4527194" y="2148840"/>
            <a:ext cx="3137306" cy="2606040"/>
          </a:xfrm>
          <a:prstGeom prst="roundRect">
            <a:avLst>
              <a:gd name="adj" fmla="val 3860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838090" y="2459736"/>
            <a:ext cx="566928" cy="566928"/>
          </a:xfrm>
          <a:prstGeom prst="line">
            <a:avLst/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assets/ic_opera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153" y="2595799"/>
            <a:ext cx="294803" cy="29480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96458" y="2514600"/>
            <a:ext cx="2040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4838090" y="3227832"/>
            <a:ext cx="25155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relationship is being tested?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838090" y="3931920"/>
            <a:ext cx="2515514" cy="603504"/>
          </a:xfrm>
          <a:prstGeom prst="roundRect">
            <a:avLst>
              <a:gd name="adj" fmla="val 9091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984394" y="3931920"/>
            <a:ext cx="22411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7682789" y="3131820"/>
            <a:ext cx="78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3000" dirty="0"/>
          </a:p>
        </p:txBody>
      </p:sp>
      <p:sp>
        <p:nvSpPr>
          <p:cNvPr id="24" name="Shape 20"/>
          <p:cNvSpPr/>
          <p:nvPr/>
        </p:nvSpPr>
        <p:spPr>
          <a:xfrm>
            <a:off x="8487461" y="2148840"/>
            <a:ext cx="3137306" cy="2606040"/>
          </a:xfrm>
          <a:prstGeom prst="roundRect">
            <a:avLst>
              <a:gd name="adj" fmla="val 3860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8798357" y="2459736"/>
            <a:ext cx="566928" cy="566928"/>
          </a:xfrm>
          <a:prstGeom prst="line">
            <a:avLst/>
          </a:prstGeom>
          <a:solidFill>
            <a:srgbClr val="0A1830"/>
          </a:solidFill>
          <a:ln w="1587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assets/ic_va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4420" y="2595799"/>
            <a:ext cx="294803" cy="29480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456725" y="2514600"/>
            <a:ext cx="2040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900" dirty="0"/>
          </a:p>
        </p:txBody>
      </p:sp>
      <p:sp>
        <p:nvSpPr>
          <p:cNvPr id="28" name="Text 23"/>
          <p:cNvSpPr/>
          <p:nvPr/>
        </p:nvSpPr>
        <p:spPr>
          <a:xfrm>
            <a:off x="8798357" y="3227832"/>
            <a:ext cx="25155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the field match?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8798357" y="3931920"/>
            <a:ext cx="2515514" cy="603504"/>
          </a:xfrm>
          <a:prstGeom prst="roundRect">
            <a:avLst>
              <a:gd name="adj" fmla="val 9091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8944661" y="3931920"/>
            <a:ext cx="22411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'Bronx'</a:t>
            </a:r>
            <a:endParaRPr lang="en-US" sz="2000" dirty="0"/>
          </a:p>
        </p:txBody>
      </p:sp>
      <p:sp>
        <p:nvSpPr>
          <p:cNvPr id="31" name="Shape 26"/>
          <p:cNvSpPr/>
          <p:nvPr/>
        </p:nvSpPr>
        <p:spPr>
          <a:xfrm>
            <a:off x="2029968" y="5257800"/>
            <a:ext cx="8131759" cy="868680"/>
          </a:xfrm>
          <a:prstGeom prst="roundRect">
            <a:avLst>
              <a:gd name="adj" fmla="val 10526"/>
            </a:avLst>
          </a:prstGeom>
          <a:solidFill>
            <a:srgbClr val="1E3A8A"/>
          </a:solidFill>
          <a:ln w="15875">
            <a:solidFill>
              <a:srgbClr val="60A5FA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2029968" y="5257800"/>
            <a:ext cx="81317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BOROUGH = </a:t>
            </a:r>
            <a:r>
              <a:rPr lang="en-US" sz="26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'Bronx'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205876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Attributes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cheat-sheet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operators you'll actually use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4297680" cy="1783080"/>
          </a:xfrm>
          <a:prstGeom prst="roundRect">
            <a:avLst>
              <a:gd name="adj" fmla="val 5641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9536" y="2231136"/>
            <a:ext cx="475488" cy="475488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assets/ic_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653" y="2345253"/>
            <a:ext cx="247254" cy="24725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2494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= and &gt;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77824" y="2798064"/>
            <a:ext cx="3675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decide how a value is tested. A handful of comparison, pattern, and set operators cover almost every query you'll write in ArcGIS Pro.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8368" y="4114800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8368" y="411480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883664" y="411480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176272" y="4114800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176272" y="411480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401568" y="411480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3694176" y="4114800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A1830"/>
          </a:solidFill>
          <a:ln w="1587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694176" y="411480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58368" y="4892040"/>
            <a:ext cx="4261104" cy="548640"/>
          </a:xfrm>
          <a:prstGeom prst="roundRect">
            <a:avLst>
              <a:gd name="adj" fmla="val 10000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04672" y="4892040"/>
            <a:ext cx="3986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 BOROUGH LIKE 'Bro%'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166360" y="1956816"/>
            <a:ext cx="6458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at a glance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166360" y="2395728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22392" y="2395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452360" y="2395728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&lt;&gt;  &gt;  &lt;  &gt;=  &lt;=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166360" y="3054096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422392" y="30540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Wildcard  %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452360" y="3054096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'Bro%'  — any characters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166360" y="3712464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422392" y="37124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Wildcard  _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452360" y="3712464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'Bron_'  — one character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166360" y="4370832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422392" y="43708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list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7452360" y="4370832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('Bronx', 'Queens')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166360" y="5029200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422392" y="5029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/ null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7452360" y="5029200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 1 AND 5   ·   IS NULL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166360" y="5705856"/>
            <a:ext cx="64584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values need quotes; % and _ are wildcards, not literal characters.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989804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Attributes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depends on data type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 marks, numbers, and null values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309360" cy="4160520"/>
          </a:xfrm>
          <a:prstGeom prst="roundRect">
            <a:avLst>
              <a:gd name="adj" fmla="val 2418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86968" y="21945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81528" y="21945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01768" y="21945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" y="2633472"/>
            <a:ext cx="2057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needs single quotes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081528" y="2779776"/>
            <a:ext cx="1737360" cy="512064"/>
          </a:xfrm>
          <a:prstGeom prst="roundRect">
            <a:avLst>
              <a:gd name="adj" fmla="val 8929"/>
            </a:avLst>
          </a:prstGeom>
          <a:solidFill>
            <a:srgbClr val="0E241C"/>
          </a:solidFill>
          <a:ln w="12700">
            <a:solidFill>
              <a:srgbClr val="1E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72968" y="277977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BOROUGH = </a:t>
            </a:r>
            <a:r>
              <a:rPr lang="en-US" sz="1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'Bronx'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01768" y="2779776"/>
            <a:ext cx="1737360" cy="512064"/>
          </a:xfrm>
          <a:prstGeom prst="roundRect">
            <a:avLst>
              <a:gd name="adj" fmla="val 8929"/>
            </a:avLst>
          </a:prstGeom>
          <a:solidFill>
            <a:srgbClr val="2A1214"/>
          </a:solidFill>
          <a:ln w="12700">
            <a:solidFill>
              <a:srgbClr val="6B2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93208" y="277977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BOROUGH = Bronx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6968" y="3511296"/>
            <a:ext cx="2057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are not quoted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081528" y="3657600"/>
            <a:ext cx="1737360" cy="512064"/>
          </a:xfrm>
          <a:prstGeom prst="roundRect">
            <a:avLst>
              <a:gd name="adj" fmla="val 8929"/>
            </a:avLst>
          </a:prstGeom>
          <a:solidFill>
            <a:srgbClr val="0E241C"/>
          </a:solidFill>
          <a:ln w="12700">
            <a:solidFill>
              <a:srgbClr val="1E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72968" y="365760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ACRES &gt; 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01768" y="3657600"/>
            <a:ext cx="1737360" cy="512064"/>
          </a:xfrm>
          <a:prstGeom prst="roundRect">
            <a:avLst>
              <a:gd name="adj" fmla="val 8929"/>
            </a:avLst>
          </a:prstGeom>
          <a:solidFill>
            <a:srgbClr val="2A1214"/>
          </a:solidFill>
          <a:ln w="12700">
            <a:solidFill>
              <a:srgbClr val="6B2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93208" y="365760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ACRES &gt; '5'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" y="4389120"/>
            <a:ext cx="2057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uses IS NULL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081528" y="4535424"/>
            <a:ext cx="1737360" cy="512064"/>
          </a:xfrm>
          <a:prstGeom prst="roundRect">
            <a:avLst>
              <a:gd name="adj" fmla="val 8929"/>
            </a:avLst>
          </a:prstGeom>
          <a:solidFill>
            <a:srgbClr val="0E241C"/>
          </a:solidFill>
          <a:ln w="12700">
            <a:solidFill>
              <a:srgbClr val="1E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72968" y="453542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 IS NULL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01768" y="4535424"/>
            <a:ext cx="1737360" cy="512064"/>
          </a:xfrm>
          <a:prstGeom prst="roundRect">
            <a:avLst>
              <a:gd name="adj" fmla="val 8929"/>
            </a:avLst>
          </a:prstGeom>
          <a:solidFill>
            <a:srgbClr val="2A1214"/>
          </a:solidFill>
          <a:ln w="12700">
            <a:solidFill>
              <a:srgbClr val="6B2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93208" y="453542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 = ''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6968" y="5266944"/>
            <a:ext cx="2057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 must be explicit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081528" y="5413248"/>
            <a:ext cx="1737360" cy="512064"/>
          </a:xfrm>
          <a:prstGeom prst="roundRect">
            <a:avLst>
              <a:gd name="adj" fmla="val 8929"/>
            </a:avLst>
          </a:prstGeom>
          <a:solidFill>
            <a:srgbClr val="0E241C"/>
          </a:solidFill>
          <a:ln w="12700">
            <a:solidFill>
              <a:srgbClr val="1E5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172968" y="54132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r>
              <a:rPr lang="en-US" sz="1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'Bronx'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ACRES &gt; 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01768" y="5413248"/>
            <a:ext cx="1737360" cy="512064"/>
          </a:xfrm>
          <a:prstGeom prst="roundRect">
            <a:avLst>
              <a:gd name="adj" fmla="val 8929"/>
            </a:avLst>
          </a:prstGeom>
          <a:solidFill>
            <a:srgbClr val="2A1214"/>
          </a:solidFill>
          <a:ln w="12700">
            <a:solidFill>
              <a:srgbClr val="6B2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93208" y="54132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...'Bronx' ACRES &gt; 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86600" y="2011680"/>
            <a:ext cx="4538167" cy="4160520"/>
          </a:xfrm>
          <a:prstGeom prst="roundRect">
            <a:avLst>
              <a:gd name="adj" fmla="val 2418"/>
            </a:avLst>
          </a:prstGeom>
          <a:solidFill>
            <a:srgbClr val="16223F"/>
          </a:solidFill>
          <a:ln w="12700">
            <a:solidFill>
              <a:srgbClr val="2236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397496" y="2267712"/>
            <a:ext cx="493776" cy="493776"/>
          </a:xfrm>
          <a:prstGeom prst="line">
            <a:avLst/>
          </a:prstGeom>
          <a:solidFill>
            <a:srgbClr val="0A1830"/>
          </a:solidFill>
          <a:ln w="1587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0" descr="assets/ic_inf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002" y="2386218"/>
            <a:ext cx="256764" cy="256764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001000" y="2286000"/>
            <a:ext cx="34408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notes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7415784" y="3026664"/>
            <a:ext cx="146304" cy="146304"/>
          </a:xfrm>
          <a:prstGeom prst="lin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690104" y="2926080"/>
            <a:ext cx="36420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values should be enclosed in single quotation marks.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7415784" y="3813048"/>
            <a:ext cx="146304" cy="146304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7690104" y="3712464"/>
            <a:ext cx="36420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quotation marks are not the default way to express text values in these beginner expressions.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7415784" y="4599432"/>
            <a:ext cx="146304" cy="146304"/>
          </a:xfrm>
          <a:prstGeom prst="lin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690104" y="4498848"/>
            <a:ext cx="36420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may validate syntax even when the analytical logic is wrong; interpret the expression carefully.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7415784" y="5385816"/>
            <a:ext cx="146304" cy="146304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690104" y="5285232"/>
            <a:ext cx="36420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field and unique-values controls to avoid preventable spelling errors.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719101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Attributes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expressions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AND, OR, and NOT change the logic of the selection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993392"/>
            <a:ext cx="3442106" cy="3063240"/>
          </a:xfrm>
          <a:prstGeom prst="roundRect">
            <a:avLst>
              <a:gd name="adj" fmla="val 3284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9536" y="2267712"/>
            <a:ext cx="548640" cy="548640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assets/ic_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10" y="2399386"/>
            <a:ext cx="285293" cy="28529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99616" y="2267712"/>
            <a:ext cx="23448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499616" y="2670048"/>
            <a:ext cx="23448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41248" y="3090672"/>
            <a:ext cx="2893466" cy="914400"/>
          </a:xfrm>
          <a:prstGeom prst="roundRect">
            <a:avLst>
              <a:gd name="adj" fmla="val 6000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69264" y="3090672"/>
            <a:ext cx="26374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BOROUGH = 'Bronx'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ACRES &gt; 5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830781" y="4206240"/>
            <a:ext cx="91440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96112" y="4352544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conditions must be true.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374794" y="1993392"/>
            <a:ext cx="3442106" cy="3063240"/>
          </a:xfrm>
          <a:prstGeom prst="roundRect">
            <a:avLst>
              <a:gd name="adj" fmla="val 3284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667402" y="2267712"/>
            <a:ext cx="548640" cy="548640"/>
          </a:xfrm>
          <a:prstGeom prst="line">
            <a:avLst/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assets/ic_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076" y="2399386"/>
            <a:ext cx="285293" cy="28529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07482" y="2267712"/>
            <a:ext cx="23448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5307482" y="2670048"/>
            <a:ext cx="23448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expands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649114" y="3090672"/>
            <a:ext cx="2893466" cy="914400"/>
          </a:xfrm>
          <a:prstGeom prst="roundRect">
            <a:avLst>
              <a:gd name="adj" fmla="val 6000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777130" y="3090672"/>
            <a:ext cx="26374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BOROUGH = 'Bronx'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BOROUGH = 'Queens'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638648" y="4206240"/>
            <a:ext cx="9144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703978" y="4352544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condition can be true.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8182661" y="1993392"/>
            <a:ext cx="3442106" cy="3063240"/>
          </a:xfrm>
          <a:prstGeom prst="roundRect">
            <a:avLst>
              <a:gd name="adj" fmla="val 3284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8475269" y="2267712"/>
            <a:ext cx="548640" cy="548640"/>
          </a:xfrm>
          <a:prstGeom prst="line">
            <a:avLst/>
          </a:prstGeom>
          <a:solidFill>
            <a:srgbClr val="0A1830"/>
          </a:solidFill>
          <a:ln w="1587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assets/ic_n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6942" y="2399386"/>
            <a:ext cx="285293" cy="285293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115349" y="2267712"/>
            <a:ext cx="23448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9115349" y="2670048"/>
            <a:ext cx="23448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excludes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8456981" y="3090672"/>
            <a:ext cx="2893466" cy="914400"/>
          </a:xfrm>
          <a:prstGeom prst="roundRect">
            <a:avLst>
              <a:gd name="adj" fmla="val 6000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8584997" y="3090672"/>
            <a:ext cx="26374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BOROUGH =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'Manhattan'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9446514" y="4206240"/>
            <a:ext cx="91440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8511845" y="4352544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condition is reversed.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566928" y="5394960"/>
            <a:ext cx="11057839" cy="841248"/>
          </a:xfrm>
          <a:prstGeom prst="roundRect">
            <a:avLst>
              <a:gd name="adj" fmla="val 11957"/>
            </a:avLst>
          </a:prstGeom>
          <a:solidFill>
            <a:srgbClr val="16223F"/>
          </a:solidFill>
          <a:ln w="15875">
            <a:solidFill>
              <a:srgbClr val="F59E0B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877824" y="5541264"/>
            <a:ext cx="548640" cy="548640"/>
          </a:xfrm>
          <a:prstGeom prst="line">
            <a:avLst/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assets/ic_diagn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498" y="5672938"/>
            <a:ext cx="285293" cy="285293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664208" y="5394960"/>
            <a:ext cx="96862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caution   </a:t>
            </a:r>
            <a:r>
              <a:rPr lang="en-US" sz="14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Syntactically valid SQL can still express the wrong question. Read compound conditions slowly.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08537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Attributes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Type options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dropdown to control how a new query behaves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" y="2002536"/>
            <a:ext cx="2894547" cy="4270248"/>
          </a:xfrm>
          <a:prstGeom prst="roundRect">
            <a:avLst>
              <a:gd name="adj" fmla="val 1895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assets/drop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057400"/>
            <a:ext cx="2784819" cy="41605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80560" y="20299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48056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37760" y="1993392"/>
            <a:ext cx="6687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selection   </a:t>
            </a:r>
            <a:r>
              <a:rPr lang="en-US" sz="12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any current selection with the new query's records.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80560" y="263347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480560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37760" y="2596896"/>
            <a:ext cx="6687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the current selection   </a:t>
            </a:r>
            <a:r>
              <a:rPr lang="en-US" sz="12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the matching records to those already selected.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480560" y="32369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480560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937760" y="3200400"/>
            <a:ext cx="6687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from the current selection   </a:t>
            </a:r>
            <a:r>
              <a:rPr lang="en-US" sz="12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Subtracts matching records from the current selection.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480560" y="38404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480560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937760" y="3803904"/>
            <a:ext cx="6687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subset from current selection   </a:t>
            </a:r>
            <a:r>
              <a:rPr lang="en-US" sz="12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only selected records that also satisfy the expression.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480560" y="44439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48056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937760" y="4407408"/>
            <a:ext cx="6687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the current selection   </a:t>
            </a:r>
            <a:r>
              <a:rPr lang="en-US" sz="12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Inverts the selected and unselected records.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480560" y="50474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480560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937760" y="5010912"/>
            <a:ext cx="6687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the current selection   </a:t>
            </a:r>
            <a:r>
              <a:rPr lang="en-US" sz="12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Clears the selection entirely.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480560" y="5705856"/>
            <a:ext cx="71442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  </a:t>
            </a:r>
            <a:r>
              <a:rPr lang="en-US" sz="1250" i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most classroom exercises with New selection so the output is easy to interpret.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824113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Attributes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 analytical question to a valid expression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4023360" cy="4160520"/>
          </a:xfrm>
          <a:prstGeom prst="roundRect">
            <a:avLst>
              <a:gd name="adj" fmla="val 2500"/>
            </a:avLst>
          </a:prstGeom>
          <a:solidFill>
            <a:srgbClr val="16223F"/>
          </a:solidFill>
          <a:ln w="15875">
            <a:solidFill>
              <a:srgbClr val="2DD4BF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77824" y="2304288"/>
            <a:ext cx="947318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77824" y="2304288"/>
            <a:ext cx="9473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77824" y="2798064"/>
            <a:ext cx="3401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parks in the Bronx are larger than five acres?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77824" y="4160520"/>
            <a:ext cx="3401568" cy="0"/>
          </a:xfrm>
          <a:prstGeom prst="line">
            <a:avLst/>
          </a:prstGeom>
          <a:noFill/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77824" y="429768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FIELDS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7824" y="4590288"/>
            <a:ext cx="3401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BOROUGH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7824" y="525780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TYPE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7824" y="553212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selection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92040" y="2103120"/>
            <a:ext cx="402336" cy="402336"/>
          </a:xfrm>
          <a:prstGeom prst="lin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58968" y="2066544"/>
            <a:ext cx="6165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categorical condition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58968" y="2414016"/>
            <a:ext cx="6165799" cy="502920"/>
          </a:xfrm>
          <a:prstGeom prst="roundRect">
            <a:avLst>
              <a:gd name="adj" fmla="val 10909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05272" y="2414016"/>
            <a:ext cx="58914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BOROUGH = </a:t>
            </a: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'Bronx'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92040" y="3163824"/>
            <a:ext cx="402336" cy="402336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58968" y="3127248"/>
            <a:ext cx="6165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numeric threshold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458968" y="3474720"/>
            <a:ext cx="6165799" cy="502920"/>
          </a:xfrm>
          <a:prstGeom prst="roundRect">
            <a:avLst>
              <a:gd name="adj" fmla="val 10909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05272" y="3474720"/>
            <a:ext cx="58914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ACRES &gt; 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892040" y="4224528"/>
            <a:ext cx="402336" cy="402336"/>
          </a:xfrm>
          <a:prstGeom prst="lin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58968" y="4187952"/>
            <a:ext cx="6165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both conditions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458968" y="4535424"/>
            <a:ext cx="6165799" cy="502920"/>
          </a:xfrm>
          <a:prstGeom prst="roundRect">
            <a:avLst>
              <a:gd name="adj" fmla="val 10909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05272" y="4535424"/>
            <a:ext cx="58914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BOROUGH = </a:t>
            </a: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'Bronx'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ACRES &gt; 5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892040" y="5285232"/>
            <a:ext cx="402336" cy="402336"/>
          </a:xfrm>
          <a:prstGeom prst="line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92040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58968" y="5248656"/>
            <a:ext cx="6165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 the result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5458968" y="5596128"/>
            <a:ext cx="6165799" cy="502920"/>
          </a:xfrm>
          <a:prstGeom prst="roundRect">
            <a:avLst>
              <a:gd name="adj" fmla="val 10909"/>
            </a:avLst>
          </a:prstGeom>
          <a:solidFill>
            <a:srgbClr val="1E3A8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23560" y="5596128"/>
            <a:ext cx="5836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selected subset contains only records satisfying both conditions.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738964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Attributes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it: broken vs fixed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error, isolate the clause, fix one thing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query fails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340864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6384" y="2514600"/>
            <a:ext cx="493776" cy="493776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assets/ic_noreco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90" y="2633106"/>
            <a:ext cx="256764" cy="2567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44752" y="2441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quotes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44752" y="272491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values need single quotes around them: 'Bronx'.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310128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86384" y="3483864"/>
            <a:ext cx="493776" cy="493776"/>
          </a:xfrm>
          <a:prstGeom prst="line">
            <a:avLst/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assets/ic_tooma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90" y="3602370"/>
            <a:ext cx="256764" cy="2567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44752" y="3410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data type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444752" y="369417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quote numbers — ACRES &gt; 5, not '5'.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279392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86384" y="4453128"/>
            <a:ext cx="493776" cy="493776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assets/ic_synt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90" y="4571634"/>
            <a:ext cx="256764" cy="2567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44752" y="43799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and spelling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444752" y="46634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'bronx' is not 'Bronx'; watch for trailing spaces too.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66928" y="5248656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86384" y="5422392"/>
            <a:ext cx="493776" cy="493776"/>
          </a:xfrm>
          <a:prstGeom prst="line">
            <a:avLst/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assets/ic_unexpec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90" y="5540898"/>
            <a:ext cx="256764" cy="2567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44752" y="5349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slip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444752" y="563270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vs OR can narrow or widen the result unexpectedly.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355080" y="2011680"/>
            <a:ext cx="5269687" cy="4160520"/>
          </a:xfrm>
          <a:prstGeom prst="roundRect">
            <a:avLst>
              <a:gd name="adj" fmla="val 2418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6684264" y="2194560"/>
            <a:ext cx="4629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 →  fixed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6684264" y="26700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6684264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123176" y="265176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quotes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7123176" y="299923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7269480" y="299923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BOROUGH = Bronx  →  = 'Bronx'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6684264" y="34015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6684264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7123176" y="338328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Quoted number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7123176" y="373075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7269480" y="373075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ACRES &gt; '5'  →  ACRES &gt; 5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6684264" y="41330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6684264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7123176" y="411480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mismatch</a:t>
            </a:r>
            <a:endParaRPr lang="en-US" sz="1250" dirty="0"/>
          </a:p>
        </p:txBody>
      </p:sp>
      <p:sp>
        <p:nvSpPr>
          <p:cNvPr id="44" name="Shape 38"/>
          <p:cNvSpPr/>
          <p:nvPr/>
        </p:nvSpPr>
        <p:spPr>
          <a:xfrm>
            <a:off x="7123176" y="446227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7269480" y="446227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'bronx'  →  'Bronx'</a:t>
            </a:r>
            <a:endParaRPr lang="en-US" sz="1150" dirty="0"/>
          </a:p>
        </p:txBody>
      </p:sp>
      <p:sp>
        <p:nvSpPr>
          <p:cNvPr id="46" name="Shape 40"/>
          <p:cNvSpPr/>
          <p:nvPr/>
        </p:nvSpPr>
        <p:spPr>
          <a:xfrm>
            <a:off x="6684264" y="48646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6684264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48" name="Text 42"/>
          <p:cNvSpPr/>
          <p:nvPr/>
        </p:nvSpPr>
        <p:spPr>
          <a:xfrm>
            <a:off x="7123176" y="484632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operator</a:t>
            </a:r>
            <a:endParaRPr lang="en-US" sz="1250" dirty="0"/>
          </a:p>
        </p:txBody>
      </p:sp>
      <p:sp>
        <p:nvSpPr>
          <p:cNvPr id="49" name="Shape 43"/>
          <p:cNvSpPr/>
          <p:nvPr/>
        </p:nvSpPr>
        <p:spPr>
          <a:xfrm>
            <a:off x="7123176" y="519379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7269480" y="519379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a list  →  IN ('Bronx','Queens')</a:t>
            </a:r>
            <a:endParaRPr lang="en-US" sz="1150" dirty="0"/>
          </a:p>
        </p:txBody>
      </p:sp>
      <p:sp>
        <p:nvSpPr>
          <p:cNvPr id="51" name="Shape 45"/>
          <p:cNvSpPr/>
          <p:nvPr/>
        </p:nvSpPr>
        <p:spPr>
          <a:xfrm>
            <a:off x="6684264" y="5614416"/>
            <a:ext cx="4629607" cy="566928"/>
          </a:xfrm>
          <a:prstGeom prst="roundRect">
            <a:avLst>
              <a:gd name="adj" fmla="val 9677"/>
            </a:avLst>
          </a:prstGeom>
          <a:solidFill>
            <a:srgbClr val="16223F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6867144" y="5614416"/>
            <a:ext cx="42638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one clause at a time, then re-run — do not rewrite the whole query.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795163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Attributes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selection unlocks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selection is a starting point, not the finish line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do with 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340864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6384" y="2514600"/>
            <a:ext cx="493776" cy="493776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assets/ic_noreco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90" y="2633106"/>
            <a:ext cx="256764" cy="2567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44752" y="2441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44752" y="272491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the selected features as a brand-new layer.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310128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86384" y="3483864"/>
            <a:ext cx="493776" cy="493776"/>
          </a:xfrm>
          <a:prstGeom prst="line">
            <a:avLst/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assets/ic_tooma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90" y="3602370"/>
            <a:ext cx="256764" cy="2567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44752" y="3410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444752" y="369417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statistics for just the selected records.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279392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86384" y="4453128"/>
            <a:ext cx="493776" cy="493776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assets/ic_synt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90" y="4571634"/>
            <a:ext cx="256764" cy="2567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44752" y="43799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and calculate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444752" y="46634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field values on the selected rows only.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66928" y="5248656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86384" y="5422392"/>
            <a:ext cx="493776" cy="493776"/>
          </a:xfrm>
          <a:prstGeom prst="line">
            <a:avLst/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assets/ic_unexpec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90" y="5540898"/>
            <a:ext cx="256764" cy="2567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44752" y="5349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analysis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444752" y="563270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subset as input to a geoprocessing tool.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355080" y="2011680"/>
            <a:ext cx="5269687" cy="4160520"/>
          </a:xfrm>
          <a:prstGeom prst="roundRect">
            <a:avLst>
              <a:gd name="adj" fmla="val 2418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6684264" y="2194560"/>
            <a:ext cx="4629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selection to result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6684264" y="26700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6684264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123176" y="265176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7123176" y="299923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7269480" y="299923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BOROUGH = 'Bronx' AND ACRES &gt; 5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6684264" y="34015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6684264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7123176" y="338328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7123176" y="373075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7269480" y="373075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right-click → Data → Export Features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6684264" y="41330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6684264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7123176" y="411480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</a:t>
            </a:r>
            <a:endParaRPr lang="en-US" sz="1250" dirty="0"/>
          </a:p>
        </p:txBody>
      </p:sp>
      <p:sp>
        <p:nvSpPr>
          <p:cNvPr id="44" name="Shape 38"/>
          <p:cNvSpPr/>
          <p:nvPr/>
        </p:nvSpPr>
        <p:spPr>
          <a:xfrm>
            <a:off x="7123176" y="446227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7269480" y="446227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Statistics on the selection</a:t>
            </a:r>
            <a:endParaRPr lang="en-US" sz="1150" dirty="0"/>
          </a:p>
        </p:txBody>
      </p:sp>
      <p:sp>
        <p:nvSpPr>
          <p:cNvPr id="46" name="Shape 40"/>
          <p:cNvSpPr/>
          <p:nvPr/>
        </p:nvSpPr>
        <p:spPr>
          <a:xfrm>
            <a:off x="6684264" y="48646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6684264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48" name="Text 42"/>
          <p:cNvSpPr/>
          <p:nvPr/>
        </p:nvSpPr>
        <p:spPr>
          <a:xfrm>
            <a:off x="7123176" y="484632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</a:t>
            </a:r>
            <a:endParaRPr lang="en-US" sz="1250" dirty="0"/>
          </a:p>
        </p:txBody>
      </p:sp>
      <p:sp>
        <p:nvSpPr>
          <p:cNvPr id="49" name="Shape 43"/>
          <p:cNvSpPr/>
          <p:nvPr/>
        </p:nvSpPr>
        <p:spPr>
          <a:xfrm>
            <a:off x="7123176" y="519379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7269480" y="519379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selection becomes a tool input</a:t>
            </a:r>
            <a:endParaRPr lang="en-US" sz="1150" dirty="0"/>
          </a:p>
        </p:txBody>
      </p:sp>
      <p:sp>
        <p:nvSpPr>
          <p:cNvPr id="51" name="Shape 45"/>
          <p:cNvSpPr/>
          <p:nvPr/>
        </p:nvSpPr>
        <p:spPr>
          <a:xfrm>
            <a:off x="6684264" y="5614416"/>
            <a:ext cx="4629607" cy="566928"/>
          </a:xfrm>
          <a:prstGeom prst="roundRect">
            <a:avLst>
              <a:gd name="adj" fmla="val 9677"/>
            </a:avLst>
          </a:prstGeom>
          <a:solidFill>
            <a:srgbClr val="16223F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6867144" y="5614416"/>
            <a:ext cx="42638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analysis begins the moment you have the right subset selected.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660807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Attributes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and guided practice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both syntax and logic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problems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340864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6384" y="2514600"/>
            <a:ext cx="493776" cy="493776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assets/ic_noreco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90" y="2633106"/>
            <a:ext cx="256764" cy="2567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44752" y="2441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records selected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44752" y="272491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spelling, quotations, field choice, and whether the value actually exists.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310128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86384" y="3483864"/>
            <a:ext cx="493776" cy="493776"/>
          </a:xfrm>
          <a:prstGeom prst="line">
            <a:avLst/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assets/ic_tooma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90" y="3602370"/>
            <a:ext cx="256764" cy="2567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44752" y="3410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records selected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444752" y="369417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logical connectors; OR often broadens the query more than intended.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279392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86384" y="4453128"/>
            <a:ext cx="493776" cy="493776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assets/ic_synt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90" y="4571634"/>
            <a:ext cx="256764" cy="2567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44752" y="43799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error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444752" y="46634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field and unique-values lists; validate before running the query.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66928" y="5248656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86384" y="5422392"/>
            <a:ext cx="493776" cy="493776"/>
          </a:xfrm>
          <a:prstGeom prst="line">
            <a:avLst/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assets/ic_unexpec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90" y="5540898"/>
            <a:ext cx="256764" cy="2567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44752" y="5349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output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444752" y="563270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active Selection Type and clear any previous selection if needed.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355080" y="2011680"/>
            <a:ext cx="5269687" cy="4160520"/>
          </a:xfrm>
          <a:prstGeom prst="roundRect">
            <a:avLst>
              <a:gd name="adj" fmla="val 2418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6684264" y="2194560"/>
            <a:ext cx="4629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prompts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6684264" y="26700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6684264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123176" y="265176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parks in Queens.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7123176" y="299923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7269480" y="299923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BOROUGH =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'Queens'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6684264" y="34015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6684264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7123176" y="338328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where ACRES is greater than 10.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7123176" y="373075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7269480" y="373075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ACRES &gt; 10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6684264" y="41330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6684264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7123176" y="411480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Bronx parks larger than 5 acres.</a:t>
            </a:r>
            <a:endParaRPr lang="en-US" sz="1250" dirty="0"/>
          </a:p>
        </p:txBody>
      </p:sp>
      <p:sp>
        <p:nvSpPr>
          <p:cNvPr id="44" name="Shape 38"/>
          <p:cNvSpPr/>
          <p:nvPr/>
        </p:nvSpPr>
        <p:spPr>
          <a:xfrm>
            <a:off x="7123176" y="446227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7269480" y="446227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BOROUGH =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'Bronx'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ACRES &gt; 5</a:t>
            </a:r>
            <a:endParaRPr lang="en-US" sz="1150" dirty="0"/>
          </a:p>
        </p:txBody>
      </p:sp>
      <p:sp>
        <p:nvSpPr>
          <p:cNvPr id="46" name="Shape 40"/>
          <p:cNvSpPr/>
          <p:nvPr/>
        </p:nvSpPr>
        <p:spPr>
          <a:xfrm>
            <a:off x="6684264" y="48646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6684264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48" name="Text 42"/>
          <p:cNvSpPr/>
          <p:nvPr/>
        </p:nvSpPr>
        <p:spPr>
          <a:xfrm>
            <a:off x="7123176" y="484632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where TYPE is Neighborhood or Regional.</a:t>
            </a:r>
            <a:endParaRPr lang="en-US" sz="1250" dirty="0"/>
          </a:p>
        </p:txBody>
      </p:sp>
      <p:sp>
        <p:nvSpPr>
          <p:cNvPr id="49" name="Shape 43"/>
          <p:cNvSpPr/>
          <p:nvPr/>
        </p:nvSpPr>
        <p:spPr>
          <a:xfrm>
            <a:off x="7123176" y="519379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7269480" y="519379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IN (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'Neighborhood'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'Regional'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51" name="Shape 45"/>
          <p:cNvSpPr/>
          <p:nvPr/>
        </p:nvSpPr>
        <p:spPr>
          <a:xfrm>
            <a:off x="6684264" y="5614416"/>
            <a:ext cx="4629607" cy="566928"/>
          </a:xfrm>
          <a:prstGeom prst="roundRect">
            <a:avLst>
              <a:gd name="adj" fmla="val 9677"/>
            </a:avLst>
          </a:prstGeom>
          <a:solidFill>
            <a:srgbClr val="16223F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6867144" y="5614416"/>
            <a:ext cx="42638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  </a:t>
            </a:r>
            <a:r>
              <a:rPr lang="en-US" sz="11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students to state the question in natural language before writing the SQL.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440593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00">
                <a:solidFill>
                  <a:srgbClr val="60A5FA"/>
                </a:solidFill>
                <a:latin typeface="Arial"/>
              </a:rPr>
              <a:t>ArcGIS Pro - Select by Attributes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162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</a:rPr>
              <a:t>Knowledge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0" i="0">
                <a:solidFill>
                  <a:srgbClr val="A4B1CE"/>
                </a:solidFill>
                <a:latin typeface="Arial"/>
              </a:rPr>
              <a:t>Check your understanding before moving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808080"/>
                </a:solidFill>
                <a:latin typeface="Arial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93392"/>
            <a:ext cx="5414772" cy="2100000"/>
          </a:xfrm>
          <a:prstGeom prst="roundRect">
            <a:avLst>
              <a:gd name="adj" fmla="val 4500"/>
            </a:avLst>
          </a:prstGeom>
          <a:solidFill>
            <a:srgbClr val="101B3A"/>
          </a:solidFill>
          <a:ln w="12700">
            <a:solidFill>
              <a:srgbClr val="2B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0928" y="2183892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0928" y="21838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A183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8628" y="2183892"/>
            <a:ext cx="4259072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What's the real difference between a selection and a definition query?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928" y="2963992"/>
            <a:ext cx="4906772" cy="254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0928" y="3052892"/>
            <a:ext cx="4906772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 i="1">
                <a:solidFill>
                  <a:srgbClr val="A4B1CE"/>
                </a:solidFill>
                <a:latin typeface="Arial"/>
              </a:rPr>
              <a:t>Click to reveal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928" y="3306892"/>
            <a:ext cx="4906772" cy="666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>
                <a:solidFill>
                  <a:srgbClr val="2DD4BF"/>
                </a:solidFill>
                <a:latin typeface="Arial"/>
              </a:rPr>
              <a:t>Answer   </a:t>
            </a:r>
            <a:r>
              <a:rPr sz="1250" b="0">
                <a:solidFill>
                  <a:srgbClr val="E0E7FF"/>
                </a:solidFill>
                <a:latin typeface="Arial"/>
              </a:rPr>
              <a:t>A selection is a reversible, visible subset. A definition query hides non-matching rows entirely.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300" y="1993392"/>
            <a:ext cx="5414772" cy="2100000"/>
          </a:xfrm>
          <a:prstGeom prst="roundRect">
            <a:avLst>
              <a:gd name="adj" fmla="val 4500"/>
            </a:avLst>
          </a:prstGeom>
          <a:solidFill>
            <a:srgbClr val="101B3A"/>
          </a:solidFill>
          <a:ln w="12700">
            <a:solidFill>
              <a:srgbClr val="2B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64300" y="218389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300" y="21838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A1830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2000" y="2183892"/>
            <a:ext cx="4259072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In BOROUGH = 'Bronx' AND ACRES &gt; 5, why are the quotes only around 'Bronx'?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64300" y="2963992"/>
            <a:ext cx="4906772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4300" y="3052892"/>
            <a:ext cx="4906772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 i="1">
                <a:solidFill>
                  <a:srgbClr val="A4B1CE"/>
                </a:solidFill>
                <a:latin typeface="Arial"/>
              </a:rPr>
              <a:t>Click to reveal 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300" y="3306892"/>
            <a:ext cx="4906772" cy="666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>
                <a:solidFill>
                  <a:srgbClr val="F59E0B"/>
                </a:solidFill>
                <a:latin typeface="Arial"/>
              </a:rPr>
              <a:t>Answer   </a:t>
            </a:r>
            <a:r>
              <a:rPr sz="1250" b="0">
                <a:solidFill>
                  <a:srgbClr val="E0E7FF"/>
                </a:solidFill>
                <a:latin typeface="Arial"/>
              </a:rPr>
              <a:t>Text values need single quotes; numbers like 5 are never quoted.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50000"/>
            <a:ext cx="5414772" cy="2100000"/>
          </a:xfrm>
          <a:prstGeom prst="roundRect">
            <a:avLst>
              <a:gd name="adj" fmla="val 4500"/>
            </a:avLst>
          </a:prstGeom>
          <a:solidFill>
            <a:srgbClr val="101B3A"/>
          </a:solidFill>
          <a:ln w="12700">
            <a:solidFill>
              <a:srgbClr val="2B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0928" y="444050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0928" y="44405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A1830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8628" y="4440500"/>
            <a:ext cx="4259072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Which operator lets you match a list of values, like Neighborhood or Regional parks?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0928" y="5220600"/>
            <a:ext cx="4906772" cy="254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0928" y="5309500"/>
            <a:ext cx="4906772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 i="1">
                <a:solidFill>
                  <a:srgbClr val="A4B1CE"/>
                </a:solidFill>
                <a:latin typeface="Arial"/>
              </a:rPr>
              <a:t>Click to reveal 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928" y="5563500"/>
            <a:ext cx="4906772" cy="666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>
                <a:solidFill>
                  <a:srgbClr val="2DD4BF"/>
                </a:solidFill>
                <a:latin typeface="Arial"/>
              </a:rPr>
              <a:t>Answer   </a:t>
            </a:r>
            <a:r>
              <a:rPr sz="1250" b="0">
                <a:solidFill>
                  <a:srgbClr val="E0E7FF"/>
                </a:solidFill>
                <a:latin typeface="Arial"/>
              </a:rPr>
              <a:t>The IN operator — e.g. TYPE IN ('Neighborhood', 'Regional').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0300" y="4250000"/>
            <a:ext cx="5414772" cy="2100000"/>
          </a:xfrm>
          <a:prstGeom prst="roundRect">
            <a:avLst>
              <a:gd name="adj" fmla="val 4500"/>
            </a:avLst>
          </a:prstGeom>
          <a:solidFill>
            <a:srgbClr val="101B3A"/>
          </a:solidFill>
          <a:ln w="12700">
            <a:solidFill>
              <a:srgbClr val="2B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64300" y="44405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64300" y="44405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A1830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0" y="4440500"/>
            <a:ext cx="4259072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Which Selection Type replaces whatever was previously selected with your new query's results?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64300" y="5220600"/>
            <a:ext cx="4906772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64300" y="5309500"/>
            <a:ext cx="4906772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 i="1">
                <a:solidFill>
                  <a:srgbClr val="A4B1CE"/>
                </a:solidFill>
                <a:latin typeface="Arial"/>
              </a:rPr>
              <a:t>Click to reveal answer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300" y="5563500"/>
            <a:ext cx="4906772" cy="666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>
                <a:solidFill>
                  <a:srgbClr val="F59E0B"/>
                </a:solidFill>
                <a:latin typeface="Arial"/>
              </a:rPr>
              <a:t>Answer   </a:t>
            </a:r>
            <a:r>
              <a:rPr sz="1250" b="0">
                <a:solidFill>
                  <a:srgbClr val="E0E7FF"/>
                </a:solidFill>
                <a:latin typeface="Arial"/>
              </a:rPr>
              <a:t>New selection.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" restart="whenNotActive" fill="hold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25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Attributes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162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and what's next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query the table — next, query the map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340864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6384" y="2514600"/>
            <a:ext cx="493776" cy="493776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assets/ic_noreco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90" y="2633106"/>
            <a:ext cx="256764" cy="2567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44752" y="2441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= field + operator + value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44752" y="272491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expression tests one field against a value.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310128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86384" y="3483864"/>
            <a:ext cx="493776" cy="493776"/>
          </a:xfrm>
          <a:prstGeom prst="line">
            <a:avLst/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assets/ic_tooma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90" y="3602370"/>
            <a:ext cx="256764" cy="2567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44752" y="3410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follows data type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444752" y="369417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for text, none for numbers, IS NULL for blanks.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279392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86384" y="4453128"/>
            <a:ext cx="493776" cy="493776"/>
          </a:xfrm>
          <a:prstGeom prst="line">
            <a:avLst/>
          </a:prstGeom>
          <a:solidFill>
            <a:srgbClr val="0A1830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assets/ic_synt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90" y="4571634"/>
            <a:ext cx="256764" cy="2567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44752" y="43799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with AND / OR / NOT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444752" y="46634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clauses to narrow or widen the result.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66928" y="5248656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86384" y="5422392"/>
            <a:ext cx="493776" cy="493776"/>
          </a:xfrm>
          <a:prstGeom prst="line">
            <a:avLst/>
          </a:prstGeom>
          <a:solidFill>
            <a:srgbClr val="0A183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assets/ic_unexpec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90" y="5540898"/>
            <a:ext cx="256764" cy="2567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44752" y="5349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Select, then verify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444752" y="563270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B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 clause by clause; a selection is reusable.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355080" y="2011680"/>
            <a:ext cx="5269687" cy="4160520"/>
          </a:xfrm>
          <a:prstGeom prst="roundRect">
            <a:avLst>
              <a:gd name="adj" fmla="val 2418"/>
            </a:avLst>
          </a:prstGeom>
          <a:solidFill>
            <a:srgbClr val="101B3A"/>
          </a:solidFill>
          <a:ln w="12700">
            <a:solidFill>
              <a:srgbClr val="2B4574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6684264" y="2194560"/>
            <a:ext cx="4629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next: Select by Location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6684264" y="26700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6684264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123176" y="265176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question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7123176" y="299923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7269480" y="299923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features are NEAR or INSIDE others?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6684264" y="34015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6684264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7123176" y="338328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driver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7123176" y="373075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7269480" y="373075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spatial relationship, not a field value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6684264" y="41330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6684264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7123176" y="411480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habit</a:t>
            </a:r>
            <a:endParaRPr lang="en-US" sz="1250" dirty="0"/>
          </a:p>
        </p:txBody>
      </p:sp>
      <p:sp>
        <p:nvSpPr>
          <p:cNvPr id="44" name="Shape 38"/>
          <p:cNvSpPr/>
          <p:nvPr/>
        </p:nvSpPr>
        <p:spPr>
          <a:xfrm>
            <a:off x="7123176" y="446227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7269480" y="446227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the query as a plain sentence</a:t>
            </a:r>
            <a:endParaRPr lang="en-US" sz="1150" dirty="0"/>
          </a:p>
        </p:txBody>
      </p:sp>
      <p:sp>
        <p:nvSpPr>
          <p:cNvPr id="46" name="Shape 40"/>
          <p:cNvSpPr/>
          <p:nvPr/>
        </p:nvSpPr>
        <p:spPr>
          <a:xfrm>
            <a:off x="6684264" y="48646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6684264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48" name="Text 42"/>
          <p:cNvSpPr/>
          <p:nvPr/>
        </p:nvSpPr>
        <p:spPr>
          <a:xfrm>
            <a:off x="7123176" y="484632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it over</a:t>
            </a:r>
            <a:endParaRPr lang="en-US" sz="1250" dirty="0"/>
          </a:p>
        </p:txBody>
      </p:sp>
      <p:sp>
        <p:nvSpPr>
          <p:cNvPr id="49" name="Shape 43"/>
          <p:cNvSpPr/>
          <p:nvPr/>
        </p:nvSpPr>
        <p:spPr>
          <a:xfrm>
            <a:off x="7123176" y="519379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A1830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7269480" y="519379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 attribute and location selections</a:t>
            </a:r>
            <a:endParaRPr lang="en-US" sz="1150" dirty="0"/>
          </a:p>
        </p:txBody>
      </p:sp>
      <p:sp>
        <p:nvSpPr>
          <p:cNvPr id="51" name="Shape 45"/>
          <p:cNvSpPr/>
          <p:nvPr/>
        </p:nvSpPr>
        <p:spPr>
          <a:xfrm>
            <a:off x="6684264" y="5614416"/>
            <a:ext cx="4629607" cy="566928"/>
          </a:xfrm>
          <a:prstGeom prst="roundRect">
            <a:avLst>
              <a:gd name="adj" fmla="val 9677"/>
            </a:avLst>
          </a:prstGeom>
          <a:solidFill>
            <a:srgbClr val="16223F"/>
          </a:solidFill>
          <a:ln w="12700">
            <a:solidFill>
              <a:srgbClr val="22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6867144" y="5614416"/>
            <a:ext cx="42638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mastered querying the table — now you're ready to query the map.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150592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79F9377-1831-41BE-9584-35EEB8FBA86B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ce7ce5bd-3860-4eee-b012-d925fd1a874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2479</Words>
  <Application>Microsoft Office PowerPoint</Application>
  <PresentationFormat>Widescreen</PresentationFormat>
  <Paragraphs>470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Selection by Attribute</dc:title>
  <dc:subject>PptxGenJS Presentation</dc:subject>
  <dc:creator>GISC</dc:creator>
  <cp:lastModifiedBy>Shokran Rahiminezhad</cp:lastModifiedBy>
  <cp:revision>4</cp:revision>
  <dcterms:created xsi:type="dcterms:W3CDTF">2026-07-03T19:18:43Z</dcterms:created>
  <dcterms:modified xsi:type="dcterms:W3CDTF">2026-07-23T04:37:12Z</dcterms:modified>
</cp:coreProperties>
</file>