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jpg" ContentType="image/jpg"/>
  <Override PartName="/ppt/media/image16.svg" ContentType="image/svg+xml"/>
  <Override PartName="/ppt/media/image17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7"/>
  </p:notesMasterIdLst>
  <p:sldIdLst>
    <p:sldId id="293" r:id="rId2"/>
    <p:sldId id="335" r:id="rId23"/>
    <p:sldId id="299" r:id="rId4"/>
    <p:sldId id="266" r:id="rId3"/>
    <p:sldId id="301" r:id="rId5"/>
    <p:sldId id="305" r:id="rId6"/>
    <p:sldId id="308" r:id="rId7"/>
    <p:sldId id="334" r:id="rId22"/>
    <p:sldId id="312" r:id="rId8"/>
    <p:sldId id="315" r:id="rId9"/>
    <p:sldId id="318" r:id="rId10"/>
    <p:sldId id="321" r:id="rId11"/>
    <p:sldId id="324" r:id="rId12"/>
    <p:sldId id="277" r:id="rId13"/>
    <p:sldId id="328" r:id="rId14"/>
    <p:sldId id="333" r:id="rId15"/>
    <p:sldId id="27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62" y="5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8.xml"/><Relationship Id="rId23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0375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Agenda: definitions → properties → ArcGIS workflows → practice
[Sources]
- https://commons.wikimedia.org/wiki/File:Vectores_vs_rasters.png (image, CC BY-SA 3.0)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https://commons.wikimedia.org/wiki/File:Vectores_vs_rasters.png (image, CC BY-SA 3.0)
- https://support.esri.com/en-us/gis-dictionary/vector (definition: vector features as points/lines/polygons with attributes)
- https://pro.arcgis.com/en/pro-app/latest/help/data/imagery/introduction-to-raster-data.htm (overview: rasters as cells/pixels; resolution vs storage/processing)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https://pro.arcgis.com/en/pro-app/latest/help/data/geodatabases/overview/feature-class-basics.htm (feature classes store geometry + attributes; point/line/polygon)
- https://june-skeeter.github.io/geomatics-textbook/images/03-vector-types.png (image)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https://pro.arcgis.com/en/pro-app/latest/help/data/imagery/introduction-to-raster-data.htm (raster basics; resolution vs storage)
- https://desktop.arcgis.com/en/arcmap/latest/manage-data/raster-and-images/cell-size-of-raster-data.htm (cell size/resolution affects detail and efficiency)
- https://commons.wikimedia.org/wiki/File:Dalian,_China,_satellite_image,_LandSat-5,_2010-08-03.jpg (image, public domain NASA)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https://commons.wikimedia.org/wiki/File:Dalian,_China,_satellite_image,_LandSat-5,_2010-08-03.jpg (image; public domain NASA)
- https://pro.arcgis.com/en/pro-app/latest/help/data/imagery/introduction-to-raster-data.htm (raster data overview; imagery + analysis uses)
- https://support.esri.com/en-us/knowledge-base/how-to-create-an-ndvi-map-in-arcgis-pro-000030690 (example of band math/NDVI workflow in ArcGIS Pro)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https://commons.wikimedia.org/wiki/File:Etna_multidirectional_Hillshade.png (image; CC BY-SA 4.0)
- https://www.usgs.gov/faqs/what-a-digital-elevation-model-dem (DEM definition)
- https://pro.arcgis.com/en/pro-app/latest/help/data/imagery/introduction-to-raster-data.htm (rasters as grids/cells; analysis on surfaces)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https://commons.wikimedia.org/wiki/File:An_land_cover_map_with_samples.png (image; CC BY-SA 4.0)
- https://pro.arcgis.com/en/pro-app/latest/help/data/imagery/introduction-to-raster-data.htm (thematic rasters; land-cover classification example)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https://commons.wikimedia.org/wiki/File:Land_Surface_Temperature_in_Siberia.png (image; Copernicus Sentinel data—attribution required)
- https://pro.arcgis.com/en/pro-app/latest/tool-reference/spatial-analyst/an-overview-of-the-interpolation-tools.htm (IDW/kriging → raster surfaces)
- https://pro.arcgis.com/en/pro-app/latest/help/data/imagery/introduction-to-raster-data.htm (continuous rasters; cell values and analysis)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gradFill>
          <a:gsLst>
            <a:gs pos="0">
              <a:srgbClr val="F7F4EE"/>
            </a:gs>
            <a:gs pos="100000">
              <a:srgbClr val="EDE4D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4EE"/>
            </a:gs>
            <a:gs pos="100000">
              <a:srgbClr val="EDE4D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slide" Target="slide6.xml"/><Relationship Id="rId6" Type="http://schemas.openxmlformats.org/officeDocument/2006/relationships/slide" Target="slide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slide" Target="slide6.xml"/><Relationship Id="rId4" Type="http://schemas.openxmlformats.org/officeDocument/2006/relationships/slide" Target="slide9.xml"/><Relationship Id="rId5" Type="http://schemas.openxmlformats.org/officeDocument/2006/relationships/slide" Target="slide15.xml"/><Relationship Id="rId6" Type="http://schemas.openxmlformats.org/officeDocument/2006/relationships/slide" Target="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svg"/><Relationship Id="rId3" Type="http://schemas.openxmlformats.org/officeDocument/2006/relationships/image" Target="../media/image5.svg"/><Relationship Id="rId4" Type="http://schemas.openxmlformats.org/officeDocument/2006/relationships/image" Target="../media/image6.svg"/><Relationship Id="rId5" Type="http://schemas.openxmlformats.org/officeDocument/2006/relationships/image" Target="../media/image7.svg"/><Relationship Id="rId6" Type="http://schemas.openxmlformats.org/officeDocument/2006/relationships/image" Target="../media/image8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svg"/><Relationship Id="rId4" Type="http://schemas.openxmlformats.org/officeDocument/2006/relationships/image" Target="../media/image9.svg"/><Relationship Id="rId5" Type="http://schemas.openxmlformats.org/officeDocument/2006/relationships/image" Target="../media/image6.svg"/><Relationship Id="rId6" Type="http://schemas.openxmlformats.org/officeDocument/2006/relationships/image" Target="../media/image10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svg"/><Relationship Id="rId3" Type="http://schemas.openxmlformats.org/officeDocument/2006/relationships/image" Target="../media/image10.svg"/><Relationship Id="rId4" Type="http://schemas.openxmlformats.org/officeDocument/2006/relationships/image" Target="../media/image1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sv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image" Target="../media/image7.svg"/><Relationship Id="rId5" Type="http://schemas.openxmlformats.org/officeDocument/2006/relationships/image" Target="../media/image11.svg"/><Relationship Id="rId6" Type="http://schemas.openxmlformats.org/officeDocument/2006/relationships/image" Target="../media/image2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6.svg"/><Relationship Id="rId5" Type="http://schemas.openxmlformats.org/officeDocument/2006/relationships/image" Target="../media/image17.svg"/><Relationship Id="rId6" Type="http://schemas.openxmlformats.org/officeDocument/2006/relationships/image" Target="../media/image2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3.svg"/><Relationship Id="rId5" Type="http://schemas.openxmlformats.org/officeDocument/2006/relationships/image" Target="../media/image7.svg"/><Relationship Id="rId6" Type="http://schemas.openxmlformats.org/officeDocument/2006/relationships/image" Target="../media/image2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svg"/><Relationship Id="rId5" Type="http://schemas.openxmlformats.org/officeDocument/2006/relationships/image" Target="../media/image17.svg"/><Relationship Id="rId6" Type="http://schemas.openxmlformats.org/officeDocument/2006/relationships/image" Target="../media/image2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>
          <a:gsLst>
            <a:gs pos="0">
              <a:srgbClr val="F7F4EE"/>
            </a:gs>
            <a:gs pos="100000">
              <a:srgbClr val="EDE4D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7EF621-5E26-4F36-82C3-D27DDB4A49AA}"/>
              </a:ext>
            </a:extLst>
          </p:cNvPr>
          <p:cNvSpPr txBox="1"/>
          <p:nvPr/>
        </p:nvSpPr>
        <p:spPr>
          <a:xfrm>
            <a:off x="812800" y="736600"/>
            <a:ext cx="596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300" b="1">
                <a:solidFill>
                  <a:srgbClr val="B8862B"/>
                </a:solidFill>
                <a:latin typeface="Trebuchet MS"/>
              </a:rPr>
              <a:t>ARCGIS PRO · SPATIAL DATA MODELS</a:t>
            </a:r>
            <a:endParaRPr lang="en-US" sz="1300" b="1">
              <a:solidFill>
                <a:srgbClr val="B8862B"/>
              </a:solidFill>
              <a:latin typeface="Trebuchet M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D6D8B-7B2F-416D-B90F-707BDB950436}"/>
              </a:ext>
            </a:extLst>
          </p:cNvPr>
          <p:cNvSpPr txBox="1"/>
          <p:nvPr/>
        </p:nvSpPr>
        <p:spPr>
          <a:xfrm>
            <a:off x="812800" y="1092200"/>
            <a:ext cx="5969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200" b="1">
                <a:solidFill>
                  <a:srgbClr val="241F1A"/>
                </a:solidFill>
                <a:latin typeface="Trebuchet MS"/>
              </a:rPr>
              <a:t>Vector vs Raster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252A05-8F40-4D69-A781-0D48790BE05A}"/>
              </a:ext>
            </a:extLst>
          </p:cNvPr>
          <p:cNvSpPr/>
          <p:nvPr/>
        </p:nvSpPr>
        <p:spPr>
          <a:xfrm>
            <a:off x="838200" y="2844800"/>
            <a:ext cx="457200" cy="76200"/>
          </a:xfrm>
          <a:prstGeom prst="rect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D298AD-4F53-4CE7-8D5E-440AF800902D}"/>
              </a:ext>
            </a:extLst>
          </p:cNvPr>
          <p:cNvSpPr/>
          <p:nvPr/>
        </p:nvSpPr>
        <p:spPr>
          <a:xfrm>
            <a:off x="1320800" y="2844800"/>
            <a:ext cx="457200" cy="76200"/>
          </a:xfrm>
          <a:prstGeom prst="rect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8FAE7-9B8B-4768-AC92-6A3ED1E42E3E}"/>
              </a:ext>
            </a:extLst>
          </p:cNvPr>
          <p:cNvSpPr txBox="1"/>
          <p:nvPr/>
        </p:nvSpPr>
        <p:spPr>
          <a:xfrm>
            <a:off x="812800" y="3200400"/>
            <a:ext cx="57404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Every GIS layer is one of two things: a set of discrete features, or a continuous grid of values. This lesson shows how each model works, when to use it, and how to move between them.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34AAF3-39DC-41EB-8628-02E986B11728}"/>
              </a:ext>
            </a:extLst>
          </p:cNvPr>
          <p:cNvSpPr txBox="1"/>
          <p:nvPr/>
        </p:nvSpPr>
        <p:spPr>
          <a:xfrm>
            <a:off x="812800" y="5486400"/>
            <a:ext cx="254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6600" b="1">
                <a:solidFill>
                  <a:srgbClr val="E7DECB"/>
                </a:solidFill>
                <a:latin typeface="Trebuchet MS"/>
              </a:rPr>
              <a:t>01</a:t>
            </a:r>
          </a:p>
        </p:txBody>
      </p:sp>
      <p:sp>
        <p:nvSpPr>
          <p:cNvPr id="8" name="Rectangle: Rounded Corners 7">
            <a:hlinkClick action="ppaction://hlinksldjump" r:id="rId5"/>
            <a:extLst>
              <a:ext uri="{FF2B5EF4-FFF2-40B4-BE49-F238E27FC236}">
                <a16:creationId xmlns:a16="http://schemas.microsoft.com/office/drawing/2014/main" id="{F7DA1ADA-AF45-4FF3-B8B4-97203EA051C3}"/>
              </a:ext>
            </a:extLst>
          </p:cNvPr>
          <p:cNvSpPr/>
          <p:nvPr/>
        </p:nvSpPr>
        <p:spPr>
          <a:xfrm>
            <a:off x="6858000" y="914400"/>
            <a:ext cx="4775200" cy="2590800"/>
          </a:xfrm>
          <a:prstGeom prst="roundRect">
            <a:avLst/>
          </a:prstGeom>
          <a:solidFill>
            <a:srgbClr val="E3EFEA"/>
          </a:solidFill>
          <a:ln w="19050" cap="flat" cmpd="sng" algn="ctr">
            <a:solidFill>
              <a:srgbClr val="1F6F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hlinkClick action="ppaction://hlinksldjump" r:id="rId5"/>
            <a:extLst>
              <a:ext uri="{FF2B5EF4-FFF2-40B4-BE49-F238E27FC236}">
                <a16:creationId xmlns:a16="http://schemas.microsoft.com/office/drawing/2014/main" id="{59E0DA8A-56C5-4696-8D2B-A8C49D3F43AF}"/>
              </a:ext>
            </a:extLst>
          </p:cNvPr>
          <p:cNvSpPr txBox="1"/>
          <p:nvPr/>
        </p:nvSpPr>
        <p:spPr>
          <a:xfrm>
            <a:off x="7315200" y="1219200"/>
            <a:ext cx="317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900" b="1">
                <a:solidFill>
                  <a:srgbClr val="1F6F5C"/>
                </a:solidFill>
                <a:latin typeface="Trebuchet MS"/>
              </a:rPr>
              <a:t>VECTOR</a:t>
            </a:r>
          </a:p>
        </p:txBody>
      </p:sp>
      <p:sp>
        <p:nvSpPr>
          <p:cNvPr id="10" name="TextBox 9">
            <a:hlinkClick action="ppaction://hlinksldjump" r:id="rId5"/>
            <a:extLst>
              <a:ext uri="{FF2B5EF4-FFF2-40B4-BE49-F238E27FC236}">
                <a16:creationId xmlns:a16="http://schemas.microsoft.com/office/drawing/2014/main" id="{41C98E2E-91D6-4A65-9A35-106EADF8E16B}"/>
              </a:ext>
            </a:extLst>
          </p:cNvPr>
          <p:cNvSpPr txBox="1"/>
          <p:nvPr/>
        </p:nvSpPr>
        <p:spPr>
          <a:xfrm>
            <a:off x="7315200" y="1625600"/>
            <a:ext cx="39116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Discrete objects with boundaries — points, lines and polygons, each carrying its own attributes.</a:t>
            </a:r>
          </a:p>
        </p:txBody>
      </p:sp>
      <p:sp>
        <p:nvSpPr>
          <p:cNvPr id="38" name="Rectangle: Rounded Corners 37">
            <a:hlinkClick action="ppaction://hlinksldjump" r:id="rId6"/>
            <a:extLst>
              <a:ext uri="{FF2B5EF4-FFF2-40B4-BE49-F238E27FC236}">
                <a16:creationId xmlns:a16="http://schemas.microsoft.com/office/drawing/2014/main" id="{EE8D9BBE-6242-41C2-AC5C-B2A187F9F736}"/>
              </a:ext>
            </a:extLst>
          </p:cNvPr>
          <p:cNvSpPr/>
          <p:nvPr/>
        </p:nvSpPr>
        <p:spPr>
          <a:xfrm>
            <a:off x="6858000" y="3733800"/>
            <a:ext cx="4775200" cy="2590800"/>
          </a:xfrm>
          <a:prstGeom prst="roundRect">
            <a:avLst/>
          </a:prstGeom>
          <a:solidFill>
            <a:srgbClr val="F6E4DB"/>
          </a:solidFill>
          <a:ln w="19050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extBox 38">
            <a:hlinkClick action="ppaction://hlinksldjump" r:id="rId6"/>
            <a:extLst>
              <a:ext uri="{FF2B5EF4-FFF2-40B4-BE49-F238E27FC236}">
                <a16:creationId xmlns:a16="http://schemas.microsoft.com/office/drawing/2014/main" id="{4B7D2276-2B69-4131-8E03-5507DEFCAFC7}"/>
              </a:ext>
            </a:extLst>
          </p:cNvPr>
          <p:cNvSpPr txBox="1"/>
          <p:nvPr/>
        </p:nvSpPr>
        <p:spPr>
          <a:xfrm>
            <a:off x="7315200" y="4038600"/>
            <a:ext cx="317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900" b="1">
                <a:solidFill>
                  <a:srgbClr val="C25B3E"/>
                </a:solidFill>
                <a:latin typeface="Trebuchet MS"/>
              </a:rPr>
              <a:t>RASTER</a:t>
            </a:r>
          </a:p>
        </p:txBody>
      </p:sp>
      <p:sp>
        <p:nvSpPr>
          <p:cNvPr id="40" name="TextBox 39">
            <a:hlinkClick action="ppaction://hlinksldjump" r:id="rId6"/>
            <a:extLst>
              <a:ext uri="{FF2B5EF4-FFF2-40B4-BE49-F238E27FC236}">
                <a16:creationId xmlns:a16="http://schemas.microsoft.com/office/drawing/2014/main" id="{64900CA3-F4F3-4A42-8701-FA1A91FAAF48}"/>
              </a:ext>
            </a:extLst>
          </p:cNvPr>
          <p:cNvSpPr txBox="1"/>
          <p:nvPr/>
        </p:nvSpPr>
        <p:spPr>
          <a:xfrm>
            <a:off x="7315200" y="4445000"/>
            <a:ext cx="39116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A continuous grid of equal-sized cells — every cell holds a value, ideal for surfaces and imagery.</a:t>
            </a:r>
          </a:p>
        </p:txBody>
      </p:sp>
      <p:pic>
        <p:nvPicPr>
          <p:cNvPr id="41" name="Graphic 41" descr="Vector shapes glyph">
            <a:hlinkClick action="ppaction://hlinksldjump" r:id="rId5"/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0" y="2794000"/>
            <a:ext cx="381000" cy="381000"/>
          </a:xfrm>
          <a:prstGeom prst="rect">
            <a:avLst/>
          </a:prstGeom>
        </p:spPr>
      </p:pic>
      <p:pic>
        <p:nvPicPr>
          <p:cNvPr id="42" name="Graphic 42" descr="Raster grid glyph">
            <a:hlinkClick action="ppaction://hlinksldjump" r:id="rId6"/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0" y="5613400"/>
            <a:ext cx="381000" cy="381000"/>
          </a:xfrm>
          <a:prstGeom prst="rect">
            <a:avLst/>
          </a:prstGeom>
        </p:spPr>
      </p:pic>
      <p:sp>
        <p:nvSpPr>
          <p:cNvPr id="43" name="TextBox 42">
            <a:hlinkClick action="ppaction://hlinksldjump" r:id="rId5"/>
          </p:cNvPr>
          <p:cNvSpPr txBox="1"/>
          <p:nvPr/>
        </p:nvSpPr>
        <p:spPr>
          <a:xfrm>
            <a:off x="7315200" y="3175000"/>
            <a:ext cx="34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F6F5C"/>
                </a:solidFill>
                <a:latin typeface="Trebuchet MS"/>
              </a:rPr>
              <a:t>Explore vector data →</a:t>
            </a:r>
          </a:p>
        </p:txBody>
      </p:sp>
      <p:sp>
        <p:nvSpPr>
          <p:cNvPr id="44" name="TextBox 43">
            <a:hlinkClick action="ppaction://hlinksldjump" r:id="rId6"/>
          </p:cNvPr>
          <p:cNvSpPr txBox="1"/>
          <p:nvPr/>
        </p:nvSpPr>
        <p:spPr>
          <a:xfrm>
            <a:off x="7315200" y="5994400"/>
            <a:ext cx="34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25B3E"/>
                </a:solidFill>
                <a:latin typeface="Trebuchet MS"/>
              </a:rPr>
              <a:t>Explore raster data →</a:t>
            </a:r>
          </a:p>
        </p:txBody>
      </p:sp>
    </p:spTree>
    <p:extLst>
      <p:ext uri="{BB962C8B-B14F-4D97-AF65-F5344CB8AC3E}">
        <p14:creationId xmlns:p14="http://schemas.microsoft.com/office/powerpoint/2010/main" val="330611902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508000"/>
            <a:ext cx="5969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B8862B"/>
                </a:solidFill>
                <a:latin typeface="Trebuchet MS"/>
              </a:rPr>
              <a:t>VECTOR VS RASTER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762000"/>
            <a:ext cx="9000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41F1A"/>
                </a:solidFill>
                <a:latin typeface="Trebuchet MS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320800"/>
            <a:ext cx="381000" cy="635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44600" y="1320800"/>
            <a:ext cx="381000" cy="63500"/>
          </a:xfrm>
          <a:prstGeom prst="rect">
            <a:avLst/>
          </a:prstGeom>
          <a:solidFill>
            <a:srgbClr val="C25B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1473200"/>
            <a:ext cx="8890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4A433B"/>
                </a:solidFill>
                <a:latin typeface="Calibri"/>
              </a:rPr>
              <a:t>Click any row to go straight to that part of the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82200" y="381000"/>
            <a:ext cx="1651000" cy="812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600" b="1" i="0">
                <a:solidFill>
                  <a:srgbClr val="E7DECB"/>
                </a:solidFill>
                <a:latin typeface="Trebuchet MS"/>
              </a:rPr>
              <a:t>02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571500" y="2050000"/>
            <a:ext cx="11049000" cy="970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2700">
            <a:solidFill>
              <a:srgbClr val="DAD0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>
            <a:hlinkClick action="ppaction://hlinksldjump" r:id="rId6"/>
          </p:cNvPr>
          <p:cNvSpPr/>
          <p:nvPr/>
        </p:nvSpPr>
        <p:spPr>
          <a:xfrm>
            <a:off x="571500" y="2050000"/>
            <a:ext cx="76200" cy="9700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>
            <a:hlinkClick action="ppaction://hlinksldjump" r:id="rId6"/>
          </p:cNvPr>
          <p:cNvSpPr/>
          <p:nvPr/>
        </p:nvSpPr>
        <p:spPr>
          <a:xfrm>
            <a:off x="831500" y="2275000"/>
            <a:ext cx="520000" cy="520000"/>
          </a:xfrm>
          <a:prstGeom prst="ellipse">
            <a:avLst/>
          </a:prstGeom>
          <a:solidFill>
            <a:srgbClr val="E3EFEA"/>
          </a:solidFill>
          <a:ln w="15875">
            <a:solidFill>
              <a:srgbClr val="1F6F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831500" y="2275000"/>
            <a:ext cx="52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F5C"/>
                </a:solidFill>
                <a:latin typeface="Trebuchet MS"/>
              </a:rPr>
              <a:t>A</a:t>
            </a:r>
          </a:p>
        </p:txBody>
      </p:sp>
      <p:sp>
        <p:nvSpPr>
          <p:cNvPr id="12" name="TextBox 11">
            <a:hlinkClick action="ppaction://hlinksldjump" r:id="rId6"/>
          </p:cNvPr>
          <p:cNvSpPr txBox="1"/>
          <p:nvPr/>
        </p:nvSpPr>
        <p:spPr>
          <a:xfrm>
            <a:off x="1521500" y="2210000"/>
            <a:ext cx="66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241F1A"/>
                </a:solidFill>
                <a:latin typeface="Trebuchet MS"/>
              </a:rPr>
              <a:t>Foundations</a:t>
            </a:r>
          </a:p>
        </p:txBody>
      </p:sp>
      <p:sp>
        <p:nvSpPr>
          <p:cNvPr id="13" name="TextBox 12">
            <a:hlinkClick action="ppaction://hlinksldjump" r:id="rId6"/>
          </p:cNvPr>
          <p:cNvSpPr txBox="1"/>
          <p:nvPr/>
        </p:nvSpPr>
        <p:spPr>
          <a:xfrm>
            <a:off x="1521500" y="2590000"/>
            <a:ext cx="73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4A433B"/>
                </a:solidFill>
                <a:latin typeface="Calibri"/>
              </a:rPr>
              <a:t>Why two data models exist, and the vocabulary you'll need throughout.</a:t>
            </a:r>
          </a:p>
        </p:txBody>
      </p:sp>
      <p:sp>
        <p:nvSpPr>
          <p:cNvPr id="14" name="TextBox 13">
            <a:hlinkClick action="ppaction://hlinksldjump" r:id="rId6"/>
          </p:cNvPr>
          <p:cNvSpPr txBox="1"/>
          <p:nvPr/>
        </p:nvSpPr>
        <p:spPr>
          <a:xfrm>
            <a:off x="10270500" y="2050000"/>
            <a:ext cx="1150000" cy="9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F6F5C"/>
                </a:solidFill>
                <a:latin typeface="Trebuchet MS"/>
              </a:rPr>
              <a:t>Jump →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571500" y="3170000"/>
            <a:ext cx="11049000" cy="970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2700">
            <a:solidFill>
              <a:srgbClr val="DAD0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3"/>
          </p:cNvPr>
          <p:cNvSpPr/>
          <p:nvPr/>
        </p:nvSpPr>
        <p:spPr>
          <a:xfrm>
            <a:off x="571500" y="3170000"/>
            <a:ext cx="76200" cy="970000"/>
          </a:xfrm>
          <a:prstGeom prst="rect">
            <a:avLst/>
          </a:prstGeom>
          <a:solidFill>
            <a:srgbClr val="B886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>
            <a:hlinkClick action="ppaction://hlinksldjump" r:id="rId3"/>
          </p:cNvPr>
          <p:cNvSpPr/>
          <p:nvPr/>
        </p:nvSpPr>
        <p:spPr>
          <a:xfrm>
            <a:off x="831500" y="3395000"/>
            <a:ext cx="520000" cy="520000"/>
          </a:xfrm>
          <a:prstGeom prst="ellipse">
            <a:avLst/>
          </a:prstGeom>
          <a:solidFill>
            <a:srgbClr val="F3E7CE"/>
          </a:solidFill>
          <a:ln w="15875">
            <a:solidFill>
              <a:srgbClr val="B886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3"/>
          </p:cNvPr>
          <p:cNvSpPr txBox="1"/>
          <p:nvPr/>
        </p:nvSpPr>
        <p:spPr>
          <a:xfrm>
            <a:off x="831500" y="3395000"/>
            <a:ext cx="52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B8862B"/>
                </a:solidFill>
                <a:latin typeface="Trebuchet MS"/>
              </a:rPr>
              <a:t>B</a:t>
            </a:r>
          </a:p>
        </p:txBody>
      </p:sp>
      <p:sp>
        <p:nvSpPr>
          <p:cNvPr id="19" name="TextBox 18">
            <a:hlinkClick action="ppaction://hlinksldjump" r:id="rId3"/>
          </p:cNvPr>
          <p:cNvSpPr txBox="1"/>
          <p:nvPr/>
        </p:nvSpPr>
        <p:spPr>
          <a:xfrm>
            <a:off x="1521500" y="3330000"/>
            <a:ext cx="66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241F1A"/>
                </a:solidFill>
                <a:latin typeface="Trebuchet MS"/>
              </a:rPr>
              <a:t>Vector Data</a:t>
            </a:r>
          </a:p>
        </p:txBody>
      </p:sp>
      <p:sp>
        <p:nvSpPr>
          <p:cNvPr id="20" name="TextBox 19">
            <a:hlinkClick action="ppaction://hlinksldjump" r:id="rId3"/>
          </p:cNvPr>
          <p:cNvSpPr txBox="1"/>
          <p:nvPr/>
        </p:nvSpPr>
        <p:spPr>
          <a:xfrm>
            <a:off x="1521500" y="3710000"/>
            <a:ext cx="73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4A433B"/>
                </a:solidFill>
                <a:latin typeface="Calibri"/>
              </a:rPr>
              <a:t>Geometry types, coordinates, attributes, and what they look like on a map.</a:t>
            </a:r>
          </a:p>
        </p:txBody>
      </p:sp>
      <p:sp>
        <p:nvSpPr>
          <p:cNvPr id="21" name="TextBox 20">
            <a:hlinkClick action="ppaction://hlinksldjump" r:id="rId3"/>
          </p:cNvPr>
          <p:cNvSpPr txBox="1"/>
          <p:nvPr/>
        </p:nvSpPr>
        <p:spPr>
          <a:xfrm>
            <a:off x="10270500" y="3170000"/>
            <a:ext cx="1150000" cy="9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B8862B"/>
                </a:solidFill>
                <a:latin typeface="Trebuchet MS"/>
              </a:rPr>
              <a:t>Jump →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571500" y="4290000"/>
            <a:ext cx="11049000" cy="970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2700">
            <a:solidFill>
              <a:srgbClr val="DAD0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>
            <a:hlinkClick action="ppaction://hlinksldjump" r:id="rId4"/>
          </p:cNvPr>
          <p:cNvSpPr/>
          <p:nvPr/>
        </p:nvSpPr>
        <p:spPr>
          <a:xfrm>
            <a:off x="571500" y="4290000"/>
            <a:ext cx="76200" cy="970000"/>
          </a:xfrm>
          <a:prstGeom prst="rect">
            <a:avLst/>
          </a:prstGeom>
          <a:solidFill>
            <a:srgbClr val="C25B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>
            <a:hlinkClick action="ppaction://hlinksldjump" r:id="rId4"/>
          </p:cNvPr>
          <p:cNvSpPr/>
          <p:nvPr/>
        </p:nvSpPr>
        <p:spPr>
          <a:xfrm>
            <a:off x="831500" y="4515000"/>
            <a:ext cx="520000" cy="520000"/>
          </a:xfrm>
          <a:prstGeom prst="ellipse">
            <a:avLst/>
          </a:prstGeom>
          <a:solidFill>
            <a:srgbClr val="F5E2DB"/>
          </a:solidFill>
          <a:ln w="15875">
            <a:solidFill>
              <a:srgbClr val="C25B3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>
            <a:hlinkClick action="ppaction://hlinksldjump" r:id="rId4"/>
          </p:cNvPr>
          <p:cNvSpPr txBox="1"/>
          <p:nvPr/>
        </p:nvSpPr>
        <p:spPr>
          <a:xfrm>
            <a:off x="831500" y="4515000"/>
            <a:ext cx="52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C25B3E"/>
                </a:solidFill>
                <a:latin typeface="Trebuchet MS"/>
              </a:rPr>
              <a:t>C</a:t>
            </a:r>
          </a:p>
        </p:txBody>
      </p:sp>
      <p:sp>
        <p:nvSpPr>
          <p:cNvPr id="26" name="TextBox 25">
            <a:hlinkClick action="ppaction://hlinksldjump" r:id="rId4"/>
          </p:cNvPr>
          <p:cNvSpPr txBox="1"/>
          <p:nvPr/>
        </p:nvSpPr>
        <p:spPr>
          <a:xfrm>
            <a:off x="1521500" y="4450000"/>
            <a:ext cx="66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241F1A"/>
                </a:solidFill>
                <a:latin typeface="Trebuchet MS"/>
              </a:rPr>
              <a:t>Raster Data</a:t>
            </a:r>
          </a:p>
        </p:txBody>
      </p:sp>
      <p:sp>
        <p:nvSpPr>
          <p:cNvPr id="27" name="TextBox 26">
            <a:hlinkClick action="ppaction://hlinksldjump" r:id="rId4"/>
          </p:cNvPr>
          <p:cNvSpPr txBox="1"/>
          <p:nvPr/>
        </p:nvSpPr>
        <p:spPr>
          <a:xfrm>
            <a:off x="1521500" y="4830000"/>
            <a:ext cx="73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4A433B"/>
                </a:solidFill>
                <a:latin typeface="Calibri"/>
              </a:rPr>
              <a:t>Cells, resolution, bands, and the imagery/elevation/land-cover examples.</a:t>
            </a:r>
          </a:p>
        </p:txBody>
      </p:sp>
      <p:sp>
        <p:nvSpPr>
          <p:cNvPr id="28" name="TextBox 27">
            <a:hlinkClick action="ppaction://hlinksldjump" r:id="rId4"/>
          </p:cNvPr>
          <p:cNvSpPr txBox="1"/>
          <p:nvPr/>
        </p:nvSpPr>
        <p:spPr>
          <a:xfrm>
            <a:off x="10270500" y="4290000"/>
            <a:ext cx="1150000" cy="9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C25B3E"/>
                </a:solidFill>
                <a:latin typeface="Trebuchet MS"/>
              </a:rPr>
              <a:t>Jump →</a:t>
            </a:r>
          </a:p>
        </p:txBody>
      </p:sp>
      <p:sp>
        <p:nvSpPr>
          <p:cNvPr id="29" name="Rounded Rectangle 28">
            <a:hlinkClick action="ppaction://hlinksldjump" r:id="rId5"/>
          </p:cNvPr>
          <p:cNvSpPr/>
          <p:nvPr/>
        </p:nvSpPr>
        <p:spPr>
          <a:xfrm>
            <a:off x="571500" y="5410000"/>
            <a:ext cx="11049000" cy="970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2700">
            <a:solidFill>
              <a:srgbClr val="DAD0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>
            <a:hlinkClick action="ppaction://hlinksldjump" r:id="rId5"/>
          </p:cNvPr>
          <p:cNvSpPr/>
          <p:nvPr/>
        </p:nvSpPr>
        <p:spPr>
          <a:xfrm>
            <a:off x="571500" y="5410000"/>
            <a:ext cx="76200" cy="9700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>
            <a:hlinkClick action="ppaction://hlinksldjump" r:id="rId5"/>
          </p:cNvPr>
          <p:cNvSpPr/>
          <p:nvPr/>
        </p:nvSpPr>
        <p:spPr>
          <a:xfrm>
            <a:off x="831500" y="5635000"/>
            <a:ext cx="520000" cy="520000"/>
          </a:xfrm>
          <a:prstGeom prst="ellipse">
            <a:avLst/>
          </a:prstGeom>
          <a:solidFill>
            <a:srgbClr val="E3EFEA"/>
          </a:solidFill>
          <a:ln w="15875">
            <a:solidFill>
              <a:srgbClr val="1F6F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5"/>
          </p:cNvPr>
          <p:cNvSpPr txBox="1"/>
          <p:nvPr/>
        </p:nvSpPr>
        <p:spPr>
          <a:xfrm>
            <a:off x="831500" y="5635000"/>
            <a:ext cx="52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F5C"/>
                </a:solidFill>
                <a:latin typeface="Trebuchet MS"/>
              </a:rPr>
              <a:t>D</a:t>
            </a:r>
          </a:p>
        </p:txBody>
      </p:sp>
      <p:sp>
        <p:nvSpPr>
          <p:cNvPr id="33" name="TextBox 32">
            <a:hlinkClick action="ppaction://hlinksldjump" r:id="rId5"/>
          </p:cNvPr>
          <p:cNvSpPr txBox="1"/>
          <p:nvPr/>
        </p:nvSpPr>
        <p:spPr>
          <a:xfrm>
            <a:off x="1521500" y="5570000"/>
            <a:ext cx="66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241F1A"/>
                </a:solidFill>
                <a:latin typeface="Trebuchet MS"/>
              </a:rPr>
              <a:t>Practice &amp; Recap</a:t>
            </a:r>
          </a:p>
        </p:txBody>
      </p:sp>
      <p:sp>
        <p:nvSpPr>
          <p:cNvPr id="34" name="TextBox 33">
            <a:hlinkClick action="ppaction://hlinksldjump" r:id="rId5"/>
          </p:cNvPr>
          <p:cNvSpPr txBox="1"/>
          <p:nvPr/>
        </p:nvSpPr>
        <p:spPr>
          <a:xfrm>
            <a:off x="1521500" y="5950000"/>
            <a:ext cx="73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4A433B"/>
                </a:solidFill>
                <a:latin typeface="Calibri"/>
              </a:rPr>
              <a:t>Hands-on lab, knowledge check, and what's next.</a:t>
            </a:r>
          </a:p>
        </p:txBody>
      </p:sp>
      <p:sp>
        <p:nvSpPr>
          <p:cNvPr id="35" name="TextBox 34">
            <a:hlinkClick action="ppaction://hlinksldjump" r:id="rId5"/>
          </p:cNvPr>
          <p:cNvSpPr txBox="1"/>
          <p:nvPr/>
        </p:nvSpPr>
        <p:spPr>
          <a:xfrm>
            <a:off x="10270500" y="5410000"/>
            <a:ext cx="1150000" cy="9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F6F5C"/>
                </a:solidFill>
                <a:latin typeface="Trebuchet MS"/>
              </a:rPr>
              <a:t>Jump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51C420-A603-41D2-A73D-45BCFE3661D1}"/>
              </a:ext>
            </a:extLst>
          </p:cNvPr>
          <p:cNvSpPr txBox="1"/>
          <p:nvPr/>
        </p:nvSpPr>
        <p:spPr>
          <a:xfrm>
            <a:off x="812800" y="558800"/>
            <a:ext cx="596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B8862B"/>
                </a:solidFill>
                <a:latin typeface="Trebuchet MS"/>
              </a:rPr>
              <a:t>IN THE REAL WORLD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715924-56F7-4F2B-8406-4E50F2EC00FC}"/>
              </a:ext>
            </a:extLst>
          </p:cNvPr>
          <p:cNvSpPr txBox="1"/>
          <p:nvPr/>
        </p:nvSpPr>
        <p:spPr>
          <a:xfrm>
            <a:off x="812800" y="812800"/>
            <a:ext cx="889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241F1A"/>
                </a:solidFill>
                <a:latin typeface="Trebuchet MS"/>
              </a:rPr>
              <a:t>Two ways to see the world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42FAF8-9B97-4175-8A7F-06CB7B06A817}"/>
              </a:ext>
            </a:extLst>
          </p:cNvPr>
          <p:cNvSpPr/>
          <p:nvPr/>
        </p:nvSpPr>
        <p:spPr>
          <a:xfrm>
            <a:off x="838200" y="1397000"/>
            <a:ext cx="381000" cy="63500"/>
          </a:xfrm>
          <a:prstGeom prst="rect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EACAE8-E10B-46E2-A0DC-DFF2D6C3A6C0}"/>
              </a:ext>
            </a:extLst>
          </p:cNvPr>
          <p:cNvSpPr/>
          <p:nvPr/>
        </p:nvSpPr>
        <p:spPr>
          <a:xfrm>
            <a:off x="1244600" y="1397000"/>
            <a:ext cx="381000" cy="63500"/>
          </a:xfrm>
          <a:prstGeom prst="rect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0801A6-6F23-40C7-8123-464FD28B6F6B}"/>
              </a:ext>
            </a:extLst>
          </p:cNvPr>
          <p:cNvSpPr txBox="1"/>
          <p:nvPr/>
        </p:nvSpPr>
        <p:spPr>
          <a:xfrm>
            <a:off x="812800" y="15240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Every GIS layer is either a set of discrete features or a continuous grid of values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9DFCC2-4F49-4919-B0AA-51C6FA65DDB1}"/>
              </a:ext>
            </a:extLst>
          </p:cNvPr>
          <p:cNvSpPr txBox="1"/>
          <p:nvPr/>
        </p:nvSpPr>
        <p:spPr>
          <a:xfrm>
            <a:off x="9982200" y="381000"/>
            <a:ext cx="1651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600" b="1">
                <a:solidFill>
                  <a:srgbClr val="E7DECB"/>
                </a:solidFill>
                <a:latin typeface="Trebuchet MS"/>
              </a:rPr>
              <a:t>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1B2638-5C38-416C-BA97-8EFFE072DFFA}"/>
              </a:ext>
            </a:extLst>
          </p:cNvPr>
          <p:cNvSpPr/>
          <p:nvPr/>
        </p:nvSpPr>
        <p:spPr>
          <a:xfrm>
            <a:off x="1792457" y="1879600"/>
            <a:ext cx="8607085" cy="43942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1482A4-25BF-C524-91C9-774F11C79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057" y="1981200"/>
            <a:ext cx="8403885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5E826A-0893-48AA-A222-6FCA3BE3A4CD}"/>
              </a:ext>
            </a:extLst>
          </p:cNvPr>
          <p:cNvSpPr txBox="1"/>
          <p:nvPr/>
        </p:nvSpPr>
        <p:spPr>
          <a:xfrm>
            <a:off x="812800" y="6350000"/>
            <a:ext cx="10566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9A9186"/>
                </a:solidFill>
                <a:latin typeface="Trebuchet MS"/>
              </a:rPr>
              <a:t>The same landscape can be captured either way — as features or as a grid.</a:t>
            </a:r>
          </a:p>
        </p:txBody>
      </p:sp>
    </p:spTree>
    <p:extLst>
      <p:ext uri="{BB962C8B-B14F-4D97-AF65-F5344CB8AC3E}">
        <p14:creationId xmlns:p14="http://schemas.microsoft.com/office/powerpoint/2010/main" val="3568079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1FD670-65DA-4D7D-96F8-C1E370DA596A}"/>
              </a:ext>
            </a:extLst>
          </p:cNvPr>
          <p:cNvSpPr txBox="1"/>
          <p:nvPr/>
        </p:nvSpPr>
        <p:spPr>
          <a:xfrm>
            <a:off x="812800" y="508000"/>
            <a:ext cx="596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B8862B"/>
                </a:solidFill>
                <a:latin typeface="Trebuchet MS"/>
              </a:rPr>
              <a:t>VECTOR VS RASTER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6D543E-0BD3-4670-ABEF-CA89BCE016FE}"/>
              </a:ext>
            </a:extLst>
          </p:cNvPr>
          <p:cNvSpPr txBox="1"/>
          <p:nvPr/>
        </p:nvSpPr>
        <p:spPr>
          <a:xfrm>
            <a:off x="812800" y="762000"/>
            <a:ext cx="762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241F1A"/>
                </a:solidFill>
                <a:latin typeface="Trebuchet MS"/>
              </a:rPr>
              <a:t>Learning objectives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E50DC1-0DEE-4D23-AFDE-DFCD15F6EF69}"/>
              </a:ext>
            </a:extLst>
          </p:cNvPr>
          <p:cNvSpPr/>
          <p:nvPr/>
        </p:nvSpPr>
        <p:spPr>
          <a:xfrm>
            <a:off x="838200" y="1320800"/>
            <a:ext cx="381000" cy="63500"/>
          </a:xfrm>
          <a:prstGeom prst="rect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F76B22-29D6-449A-8793-9FA280EB2525}"/>
              </a:ext>
            </a:extLst>
          </p:cNvPr>
          <p:cNvSpPr/>
          <p:nvPr/>
        </p:nvSpPr>
        <p:spPr>
          <a:xfrm>
            <a:off x="1244600" y="1320800"/>
            <a:ext cx="381000" cy="63500"/>
          </a:xfrm>
          <a:prstGeom prst="rect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F0860-A70D-4559-B487-C5E203293DD2}"/>
              </a:ext>
            </a:extLst>
          </p:cNvPr>
          <p:cNvSpPr txBox="1"/>
          <p:nvPr/>
        </p:nvSpPr>
        <p:spPr>
          <a:xfrm>
            <a:off x="812800" y="14732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What you'll be able to do by the end of this lesson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8CCB0-F807-46AF-92EF-C7EA54E215F7}"/>
              </a:ext>
            </a:extLst>
          </p:cNvPr>
          <p:cNvSpPr txBox="1"/>
          <p:nvPr/>
        </p:nvSpPr>
        <p:spPr>
          <a:xfrm>
            <a:off x="9982200" y="381000"/>
            <a:ext cx="1651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600" b="1">
                <a:solidFill>
                  <a:srgbClr val="E7DECB"/>
                </a:solidFill>
                <a:latin typeface="Trebuchet MS"/>
              </a:rPr>
              <a:t>03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474C06-9F59-46B6-903C-B334C45EBDE8}"/>
              </a:ext>
            </a:extLst>
          </p:cNvPr>
          <p:cNvSpPr/>
          <p:nvPr/>
        </p:nvSpPr>
        <p:spPr>
          <a:xfrm>
            <a:off x="571500" y="1981200"/>
            <a:ext cx="11061700" cy="4241800"/>
          </a:xfrm>
          <a:prstGeom prst="roundRect">
            <a:avLst/>
          </a:prstGeom>
          <a:solidFill>
            <a:srgbClr val="FBF8F2"/>
          </a:solidFill>
          <a:ln w="12700" cap="flat" cmpd="sng" algn="ctr">
            <a:solidFill>
              <a:srgbClr val="DAD0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B34C086-1BF8-4A2A-A9B4-CB39D386E4EF}"/>
              </a:ext>
            </a:extLst>
          </p:cNvPr>
          <p:cNvSpPr/>
          <p:nvPr/>
        </p:nvSpPr>
        <p:spPr>
          <a:xfrm>
            <a:off x="914400" y="2235200"/>
            <a:ext cx="508000" cy="508000"/>
          </a:xfrm>
          <a:prstGeom prst="roundRect">
            <a:avLst/>
          </a:prstGeom>
          <a:solidFill>
            <a:srgbClr val="E3EFEA"/>
          </a:solidFill>
          <a:ln w="15875" cap="flat" cmpd="sng" algn="ctr">
            <a:solidFill>
              <a:srgbClr val="1F6F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8FD96D-974F-494F-904C-9725451C93F1}"/>
              </a:ext>
            </a:extLst>
          </p:cNvPr>
          <p:cNvSpPr txBox="1"/>
          <p:nvPr/>
        </p:nvSpPr>
        <p:spPr>
          <a:xfrm>
            <a:off x="1625600" y="22225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241F1A"/>
                </a:solidFill>
                <a:latin typeface="Trebuchet MS"/>
              </a:rPr>
              <a:t>Tell the models apart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258C46-4FDE-4C89-96DA-F39F03E87C11}"/>
              </a:ext>
            </a:extLst>
          </p:cNvPr>
          <p:cNvSpPr txBox="1"/>
          <p:nvPr/>
        </p:nvSpPr>
        <p:spPr>
          <a:xfrm>
            <a:off x="1625600" y="25019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Distinguish vector from raster — and know when to use each.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68BD854-E2BD-4F5D-9E7E-26BDC4DF4217}"/>
              </a:ext>
            </a:extLst>
          </p:cNvPr>
          <p:cNvSpPr/>
          <p:nvPr/>
        </p:nvSpPr>
        <p:spPr>
          <a:xfrm>
            <a:off x="914400" y="3022600"/>
            <a:ext cx="508000" cy="508000"/>
          </a:xfrm>
          <a:prstGeom prst="roundRect">
            <a:avLst/>
          </a:prstGeom>
          <a:solidFill>
            <a:srgbClr val="F6E4DB"/>
          </a:solidFill>
          <a:ln w="15875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AC35D1-8117-47F5-8984-11411F10EB21}"/>
              </a:ext>
            </a:extLst>
          </p:cNvPr>
          <p:cNvSpPr txBox="1"/>
          <p:nvPr/>
        </p:nvSpPr>
        <p:spPr>
          <a:xfrm>
            <a:off x="1625600" y="30099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241F1A"/>
                </a:solidFill>
                <a:latin typeface="Trebuchet MS"/>
              </a:rPr>
              <a:t>Understand vector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C5180B-6E26-4EB4-B40F-4065D0FE6F65}"/>
              </a:ext>
            </a:extLst>
          </p:cNvPr>
          <p:cNvSpPr txBox="1"/>
          <p:nvPr/>
        </p:nvSpPr>
        <p:spPr>
          <a:xfrm>
            <a:off x="1625600" y="32893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How points, lines &amp; polygons store geometry plus attributes.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15CAF4C-FB34-4363-8053-D75A1E5266FD}"/>
              </a:ext>
            </a:extLst>
          </p:cNvPr>
          <p:cNvSpPr/>
          <p:nvPr/>
        </p:nvSpPr>
        <p:spPr>
          <a:xfrm>
            <a:off x="914400" y="3810000"/>
            <a:ext cx="508000" cy="508000"/>
          </a:xfrm>
          <a:prstGeom prst="roundRect">
            <a:avLst/>
          </a:prstGeom>
          <a:solidFill>
            <a:srgbClr val="E3EFEA"/>
          </a:solidFill>
          <a:ln w="15875" cap="flat" cmpd="sng" algn="ctr">
            <a:solidFill>
              <a:srgbClr val="1F6F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5A33BE-3399-4B1C-88A7-2939A388DA69}"/>
              </a:ext>
            </a:extLst>
          </p:cNvPr>
          <p:cNvSpPr txBox="1"/>
          <p:nvPr/>
        </p:nvSpPr>
        <p:spPr>
          <a:xfrm>
            <a:off x="1625600" y="37973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241F1A"/>
                </a:solidFill>
                <a:latin typeface="Trebuchet MS"/>
              </a:rPr>
              <a:t>Understand raster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6A249D-7051-4A25-B1E2-FA96D8DE7C20}"/>
              </a:ext>
            </a:extLst>
          </p:cNvPr>
          <p:cNvSpPr txBox="1"/>
          <p:nvPr/>
        </p:nvSpPr>
        <p:spPr>
          <a:xfrm>
            <a:off x="1625600" y="40767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Cells, cell size / resolution, extent, and multi-band data.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66A6340-C634-4D90-AD51-60A6E67FD667}"/>
              </a:ext>
            </a:extLst>
          </p:cNvPr>
          <p:cNvSpPr/>
          <p:nvPr/>
        </p:nvSpPr>
        <p:spPr>
          <a:xfrm>
            <a:off x="914400" y="4597400"/>
            <a:ext cx="508000" cy="508000"/>
          </a:xfrm>
          <a:prstGeom prst="roundRect">
            <a:avLst/>
          </a:prstGeom>
          <a:solidFill>
            <a:srgbClr val="F6E4DB"/>
          </a:solidFill>
          <a:ln w="15875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B5BF7E-2A96-49F1-B82B-C86E45FA5EB5}"/>
              </a:ext>
            </a:extLst>
          </p:cNvPr>
          <p:cNvSpPr txBox="1"/>
          <p:nvPr/>
        </p:nvSpPr>
        <p:spPr>
          <a:xfrm>
            <a:off x="1625600" y="45847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241F1A"/>
                </a:solidFill>
                <a:latin typeface="Trebuchet MS"/>
              </a:rPr>
              <a:t>Know the examples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8DAE77-7C81-46C0-885C-2C85F3A39197}"/>
              </a:ext>
            </a:extLst>
          </p:cNvPr>
          <p:cNvSpPr txBox="1"/>
          <p:nvPr/>
        </p:nvSpPr>
        <p:spPr>
          <a:xfrm>
            <a:off x="1625600" y="48641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Imagery, DEMs, land cover and parcels in the real world.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D142D06-4B07-444B-9479-6C41108C2F6F}"/>
              </a:ext>
            </a:extLst>
          </p:cNvPr>
          <p:cNvSpPr/>
          <p:nvPr/>
        </p:nvSpPr>
        <p:spPr>
          <a:xfrm>
            <a:off x="914400" y="5384800"/>
            <a:ext cx="508000" cy="508000"/>
          </a:xfrm>
          <a:prstGeom prst="roundRect">
            <a:avLst/>
          </a:prstGeom>
          <a:solidFill>
            <a:srgbClr val="E3EFEA"/>
          </a:solidFill>
          <a:ln w="15875" cap="flat" cmpd="sng" algn="ctr">
            <a:solidFill>
              <a:srgbClr val="1F6F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E1C237-837F-43CB-B15F-4ABD28C241B8}"/>
              </a:ext>
            </a:extLst>
          </p:cNvPr>
          <p:cNvSpPr txBox="1"/>
          <p:nvPr/>
        </p:nvSpPr>
        <p:spPr>
          <a:xfrm>
            <a:off x="1625600" y="53721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241F1A"/>
                </a:solidFill>
                <a:latin typeface="Trebuchet MS"/>
              </a:rPr>
              <a:t>Choose the right model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B8C412-D521-4449-8C8D-19BCFE2D903F}"/>
              </a:ext>
            </a:extLst>
          </p:cNvPr>
          <p:cNvSpPr txBox="1"/>
          <p:nvPr/>
        </p:nvSpPr>
        <p:spPr>
          <a:xfrm>
            <a:off x="1625600" y="56515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Match vector or raster to each mapping or analysis task.</a:t>
            </a:r>
          </a:p>
        </p:txBody>
      </p:sp>
      <p:pic>
        <p:nvPicPr>
          <p:cNvPr id="24" name="Graphic 24" descr="Lay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050" y="2349500"/>
            <a:ext cx="266700" cy="266700"/>
          </a:xfrm>
          <a:prstGeom prst="rect">
            <a:avLst/>
          </a:prstGeom>
        </p:spPr>
      </p:pic>
      <p:pic>
        <p:nvPicPr>
          <p:cNvPr id="25" name="Graphic 25" descr="Shap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050" y="3136900"/>
            <a:ext cx="266700" cy="266700"/>
          </a:xfrm>
          <a:prstGeom prst="rect">
            <a:avLst/>
          </a:prstGeom>
        </p:spPr>
      </p:pic>
      <p:pic>
        <p:nvPicPr>
          <p:cNvPr id="26" name="Graphic 26" descr="Gri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5050" y="3924300"/>
            <a:ext cx="266700" cy="266700"/>
          </a:xfrm>
          <a:prstGeom prst="rect">
            <a:avLst/>
          </a:prstGeom>
        </p:spPr>
      </p:pic>
      <p:pic>
        <p:nvPicPr>
          <p:cNvPr id="27" name="Graphic 27" descr="Imag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050" y="4711700"/>
            <a:ext cx="266700" cy="266700"/>
          </a:xfrm>
          <a:prstGeom prst="rect">
            <a:avLst/>
          </a:prstGeom>
        </p:spPr>
      </p:pic>
      <p:pic>
        <p:nvPicPr>
          <p:cNvPr id="28" name="Graphic 28" descr="Conver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5050" y="5499100"/>
            <a:ext cx="2667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796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BCD7883-E936-4908-A8B7-8696BA5B3102}"/>
              </a:ext>
            </a:extLst>
          </p:cNvPr>
          <p:cNvSpPr txBox="1"/>
          <p:nvPr/>
        </p:nvSpPr>
        <p:spPr>
          <a:xfrm>
            <a:off x="812800" y="508000"/>
            <a:ext cx="596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B8862B"/>
                </a:solidFill>
                <a:latin typeface="Trebuchet MS"/>
              </a:rPr>
              <a:t>VECTOR VS RASTER 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E36EEB-643F-49AA-AC3D-C50B28CD7DFD}"/>
              </a:ext>
            </a:extLst>
          </p:cNvPr>
          <p:cNvSpPr txBox="1"/>
          <p:nvPr/>
        </p:nvSpPr>
        <p:spPr>
          <a:xfrm>
            <a:off x="812800" y="762000"/>
            <a:ext cx="812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241F1A"/>
                </a:solidFill>
                <a:latin typeface="Trebuchet MS"/>
              </a:rPr>
              <a:t>Two spatial data models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FD9456-C6E3-4213-9528-57017534EF29}"/>
              </a:ext>
            </a:extLst>
          </p:cNvPr>
          <p:cNvSpPr/>
          <p:nvPr/>
        </p:nvSpPr>
        <p:spPr>
          <a:xfrm>
            <a:off x="838200" y="1320800"/>
            <a:ext cx="381000" cy="63500"/>
          </a:xfrm>
          <a:prstGeom prst="rect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17B1F2-9F08-43EF-A479-96B8A80BB6A6}"/>
              </a:ext>
            </a:extLst>
          </p:cNvPr>
          <p:cNvSpPr/>
          <p:nvPr/>
        </p:nvSpPr>
        <p:spPr>
          <a:xfrm>
            <a:off x="1244600" y="1320800"/>
            <a:ext cx="381000" cy="63500"/>
          </a:xfrm>
          <a:prstGeom prst="rect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2467C9-48F5-46BA-8AB3-2518DA9A4A44}"/>
              </a:ext>
            </a:extLst>
          </p:cNvPr>
          <p:cNvSpPr txBox="1"/>
          <p:nvPr/>
        </p:nvSpPr>
        <p:spPr>
          <a:xfrm>
            <a:off x="812800" y="14732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Everything in a GIS is stored one of two ways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6A94B0-8C05-426A-ADD9-74BCFBBB2732}"/>
              </a:ext>
            </a:extLst>
          </p:cNvPr>
          <p:cNvSpPr txBox="1"/>
          <p:nvPr/>
        </p:nvSpPr>
        <p:spPr>
          <a:xfrm>
            <a:off x="9982200" y="381000"/>
            <a:ext cx="1651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600" b="1">
                <a:solidFill>
                  <a:srgbClr val="E7DECB"/>
                </a:solidFill>
                <a:latin typeface="Trebuchet MS"/>
              </a:rPr>
              <a:t>05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A10D78B-44D0-4210-B835-75F871E3D170}"/>
              </a:ext>
            </a:extLst>
          </p:cNvPr>
          <p:cNvSpPr/>
          <p:nvPr/>
        </p:nvSpPr>
        <p:spPr>
          <a:xfrm>
            <a:off x="571500" y="1981200"/>
            <a:ext cx="5461000" cy="4241800"/>
          </a:xfrm>
          <a:prstGeom prst="roundRect">
            <a:avLst/>
          </a:prstGeom>
          <a:solidFill>
            <a:srgbClr val="E3EFEA"/>
          </a:solidFill>
          <a:ln w="19050" cap="flat" cmpd="sng" algn="ctr">
            <a:solidFill>
              <a:srgbClr val="1F6F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F9FE84B-A84E-4AA3-ABA0-DCCE9E699A66}"/>
              </a:ext>
            </a:extLst>
          </p:cNvPr>
          <p:cNvSpPr/>
          <p:nvPr/>
        </p:nvSpPr>
        <p:spPr>
          <a:xfrm>
            <a:off x="876300" y="2336800"/>
            <a:ext cx="508000" cy="50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1F6F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FDC167-6D6F-4791-9E90-32825BDB65ED}"/>
              </a:ext>
            </a:extLst>
          </p:cNvPr>
          <p:cNvSpPr txBox="1"/>
          <p:nvPr/>
        </p:nvSpPr>
        <p:spPr>
          <a:xfrm>
            <a:off x="1587500" y="2413000"/>
            <a:ext cx="317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1F6F5C"/>
                </a:solidFill>
                <a:latin typeface="Trebuchet MS"/>
              </a:rPr>
              <a:t>VECTOR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E04B60-4BFE-4EC2-83D8-BF36DEE2B7B2}"/>
              </a:ext>
            </a:extLst>
          </p:cNvPr>
          <p:cNvSpPr txBox="1"/>
          <p:nvPr/>
        </p:nvSpPr>
        <p:spPr>
          <a:xfrm>
            <a:off x="876300" y="3048000"/>
            <a:ext cx="485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41F1A"/>
                </a:solidFill>
                <a:latin typeface="Trebuchet MS"/>
              </a:rPr>
              <a:t>Discrete objects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B5B822-7F36-4DB6-8864-A04877319250}"/>
              </a:ext>
            </a:extLst>
          </p:cNvPr>
          <p:cNvSpPr/>
          <p:nvPr/>
        </p:nvSpPr>
        <p:spPr>
          <a:xfrm>
            <a:off x="876300" y="3454400"/>
            <a:ext cx="4851400" cy="12700"/>
          </a:xfrm>
          <a:prstGeom prst="rect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1B589AB-D23D-478F-8544-E50BBCDC563D}"/>
              </a:ext>
            </a:extLst>
          </p:cNvPr>
          <p:cNvSpPr/>
          <p:nvPr/>
        </p:nvSpPr>
        <p:spPr>
          <a:xfrm>
            <a:off x="876300" y="3708400"/>
            <a:ext cx="101600" cy="101600"/>
          </a:xfrm>
          <a:prstGeom prst="ellipse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6AFB9A-6868-48D6-950C-FC39E3288B9E}"/>
              </a:ext>
            </a:extLst>
          </p:cNvPr>
          <p:cNvSpPr txBox="1"/>
          <p:nvPr/>
        </p:nvSpPr>
        <p:spPr>
          <a:xfrm>
            <a:off x="1104900" y="3632200"/>
            <a:ext cx="4622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Points, lines &amp; polygons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E8D5AF7-F23B-4820-AD6E-6751641FF412}"/>
              </a:ext>
            </a:extLst>
          </p:cNvPr>
          <p:cNvSpPr/>
          <p:nvPr/>
        </p:nvSpPr>
        <p:spPr>
          <a:xfrm>
            <a:off x="876300" y="4191000"/>
            <a:ext cx="101600" cy="101600"/>
          </a:xfrm>
          <a:prstGeom prst="ellipse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6513D0-3EA7-408B-9646-79CA35084F19}"/>
              </a:ext>
            </a:extLst>
          </p:cNvPr>
          <p:cNvSpPr txBox="1"/>
          <p:nvPr/>
        </p:nvSpPr>
        <p:spPr>
          <a:xfrm>
            <a:off x="1104900" y="4114800"/>
            <a:ext cx="4622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Exact, scalable geometry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329D303-2822-4160-AD4F-C272F6A39E3A}"/>
              </a:ext>
            </a:extLst>
          </p:cNvPr>
          <p:cNvSpPr/>
          <p:nvPr/>
        </p:nvSpPr>
        <p:spPr>
          <a:xfrm>
            <a:off x="876300" y="4673600"/>
            <a:ext cx="101600" cy="101600"/>
          </a:xfrm>
          <a:prstGeom prst="ellipse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395A3E-B21F-430F-A4C3-6CBD642F055B}"/>
              </a:ext>
            </a:extLst>
          </p:cNvPr>
          <p:cNvSpPr txBox="1"/>
          <p:nvPr/>
        </p:nvSpPr>
        <p:spPr>
          <a:xfrm>
            <a:off x="1104900" y="4597400"/>
            <a:ext cx="4622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Every feature has attributes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5E4419-0E21-4CEA-A83C-C4678C220AC9}"/>
              </a:ext>
            </a:extLst>
          </p:cNvPr>
          <p:cNvSpPr txBox="1"/>
          <p:nvPr/>
        </p:nvSpPr>
        <p:spPr>
          <a:xfrm>
            <a:off x="876300" y="5181600"/>
            <a:ext cx="485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F6F5C"/>
                </a:solidFill>
                <a:latin typeface="Trebuchet MS"/>
              </a:rPr>
              <a:t>Best for boundaries &amp; networks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BFC1DB5-7AFF-440E-8076-3A253BEF3139}"/>
              </a:ext>
            </a:extLst>
          </p:cNvPr>
          <p:cNvSpPr/>
          <p:nvPr/>
        </p:nvSpPr>
        <p:spPr>
          <a:xfrm>
            <a:off x="6159500" y="1981200"/>
            <a:ext cx="5461000" cy="4241800"/>
          </a:xfrm>
          <a:prstGeom prst="roundRect">
            <a:avLst/>
          </a:prstGeom>
          <a:solidFill>
            <a:srgbClr val="F6E4DB"/>
          </a:solidFill>
          <a:ln w="19050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9D9C7F6-3256-4100-A442-67975084B349}"/>
              </a:ext>
            </a:extLst>
          </p:cNvPr>
          <p:cNvSpPr/>
          <p:nvPr/>
        </p:nvSpPr>
        <p:spPr>
          <a:xfrm>
            <a:off x="6464300" y="2336800"/>
            <a:ext cx="508000" cy="50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BF8543-B23F-4334-8E1C-B9D4A0A692D3}"/>
              </a:ext>
            </a:extLst>
          </p:cNvPr>
          <p:cNvSpPr txBox="1"/>
          <p:nvPr/>
        </p:nvSpPr>
        <p:spPr>
          <a:xfrm>
            <a:off x="7175500" y="2413000"/>
            <a:ext cx="317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C25B3E"/>
                </a:solidFill>
                <a:latin typeface="Trebuchet MS"/>
              </a:rPr>
              <a:t>RASTER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5FCE48-ABC8-4213-BCF0-71C859962C6A}"/>
              </a:ext>
            </a:extLst>
          </p:cNvPr>
          <p:cNvSpPr txBox="1"/>
          <p:nvPr/>
        </p:nvSpPr>
        <p:spPr>
          <a:xfrm>
            <a:off x="6464300" y="3048000"/>
            <a:ext cx="485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41F1A"/>
                </a:solidFill>
                <a:latin typeface="Trebuchet MS"/>
              </a:rPr>
              <a:t>Continuous fields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FCABD8-EED7-410A-85B1-C781D749D8F3}"/>
              </a:ext>
            </a:extLst>
          </p:cNvPr>
          <p:cNvSpPr/>
          <p:nvPr/>
        </p:nvSpPr>
        <p:spPr>
          <a:xfrm>
            <a:off x="6464300" y="3454400"/>
            <a:ext cx="4851400" cy="12700"/>
          </a:xfrm>
          <a:prstGeom prst="rect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62123DE-8DCB-4F41-A652-749F27DFE49D}"/>
              </a:ext>
            </a:extLst>
          </p:cNvPr>
          <p:cNvSpPr/>
          <p:nvPr/>
        </p:nvSpPr>
        <p:spPr>
          <a:xfrm>
            <a:off x="6464300" y="3708400"/>
            <a:ext cx="101600" cy="101600"/>
          </a:xfrm>
          <a:prstGeom prst="ellipse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C699C4-FBCC-4BB9-86DB-5DF4C7BE652F}"/>
              </a:ext>
            </a:extLst>
          </p:cNvPr>
          <p:cNvSpPr txBox="1"/>
          <p:nvPr/>
        </p:nvSpPr>
        <p:spPr>
          <a:xfrm>
            <a:off x="6692900" y="3632200"/>
            <a:ext cx="4622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A grid of equal-sized cells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63F7BAC-C0A1-415F-96AD-8C78F97F59AB}"/>
              </a:ext>
            </a:extLst>
          </p:cNvPr>
          <p:cNvSpPr/>
          <p:nvPr/>
        </p:nvSpPr>
        <p:spPr>
          <a:xfrm>
            <a:off x="6464300" y="4191000"/>
            <a:ext cx="101600" cy="101600"/>
          </a:xfrm>
          <a:prstGeom prst="ellipse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48C5CF-C0AD-4355-AB83-16D617436E69}"/>
              </a:ext>
            </a:extLst>
          </p:cNvPr>
          <p:cNvSpPr txBox="1"/>
          <p:nvPr/>
        </p:nvSpPr>
        <p:spPr>
          <a:xfrm>
            <a:off x="6692900" y="4114800"/>
            <a:ext cx="4622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One value stored per cell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7045DD5-D912-4061-8909-9DCFB820B5A8}"/>
              </a:ext>
            </a:extLst>
          </p:cNvPr>
          <p:cNvSpPr/>
          <p:nvPr/>
        </p:nvSpPr>
        <p:spPr>
          <a:xfrm>
            <a:off x="6464300" y="4673600"/>
            <a:ext cx="101600" cy="101600"/>
          </a:xfrm>
          <a:prstGeom prst="ellipse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6F1DA0-C4E0-400F-BF04-75E2D942E502}"/>
              </a:ext>
            </a:extLst>
          </p:cNvPr>
          <p:cNvSpPr txBox="1"/>
          <p:nvPr/>
        </p:nvSpPr>
        <p:spPr>
          <a:xfrm>
            <a:off x="6692900" y="4597400"/>
            <a:ext cx="4622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Bands hold multiple values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C6F8D9-4C0A-4456-A377-29B79167E743}"/>
              </a:ext>
            </a:extLst>
          </p:cNvPr>
          <p:cNvSpPr txBox="1"/>
          <p:nvPr/>
        </p:nvSpPr>
        <p:spPr>
          <a:xfrm>
            <a:off x="6464300" y="5181600"/>
            <a:ext cx="485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C25B3E"/>
                </a:solidFill>
                <a:latin typeface="Trebuchet MS"/>
              </a:rPr>
              <a:t>Best for surfaces &amp; imagery</a:t>
            </a:r>
          </a:p>
        </p:txBody>
      </p:sp>
      <p:pic>
        <p:nvPicPr>
          <p:cNvPr id="47" name="Graphic 47" descr="Vector shap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6950" y="2463800"/>
            <a:ext cx="266700" cy="266700"/>
          </a:xfrm>
          <a:prstGeom prst="rect">
            <a:avLst/>
          </a:prstGeom>
        </p:spPr>
      </p:pic>
      <p:pic>
        <p:nvPicPr>
          <p:cNvPr id="48" name="Graphic 48" descr="Raster gri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4950" y="2463800"/>
            <a:ext cx="2667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206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203F496-F7AC-4C44-B283-616B3B398BF5}"/>
              </a:ext>
            </a:extLst>
          </p:cNvPr>
          <p:cNvSpPr txBox="1"/>
          <p:nvPr/>
        </p:nvSpPr>
        <p:spPr>
          <a:xfrm>
            <a:off x="812800" y="508000"/>
            <a:ext cx="596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B8862B"/>
                </a:solidFill>
                <a:latin typeface="Trebuchet MS"/>
              </a:rPr>
              <a:t>VECTOR VS RASTER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D33463-6168-4CE1-9100-06BBF7E358F9}"/>
              </a:ext>
            </a:extLst>
          </p:cNvPr>
          <p:cNvSpPr txBox="1"/>
          <p:nvPr/>
        </p:nvSpPr>
        <p:spPr>
          <a:xfrm>
            <a:off x="812800" y="762000"/>
            <a:ext cx="812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241F1A"/>
                </a:solidFill>
                <a:latin typeface="Trebuchet MS"/>
              </a:rPr>
              <a:t>Vector data essentials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634A5E-47E6-47C1-9115-8D07EDB0C900}"/>
              </a:ext>
            </a:extLst>
          </p:cNvPr>
          <p:cNvSpPr/>
          <p:nvPr/>
        </p:nvSpPr>
        <p:spPr>
          <a:xfrm>
            <a:off x="838200" y="1320800"/>
            <a:ext cx="381000" cy="63500"/>
          </a:xfrm>
          <a:prstGeom prst="rect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72529F-A636-4613-A788-D1D78B7F1711}"/>
              </a:ext>
            </a:extLst>
          </p:cNvPr>
          <p:cNvSpPr/>
          <p:nvPr/>
        </p:nvSpPr>
        <p:spPr>
          <a:xfrm>
            <a:off x="1244600" y="1320800"/>
            <a:ext cx="381000" cy="63500"/>
          </a:xfrm>
          <a:prstGeom prst="rect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6A24C9-C4F6-4640-8619-C06BC4006AAA}"/>
              </a:ext>
            </a:extLst>
          </p:cNvPr>
          <p:cNvSpPr txBox="1"/>
          <p:nvPr/>
        </p:nvSpPr>
        <p:spPr>
          <a:xfrm>
            <a:off x="812800" y="14732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How vector stores the world as discrete features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823D42-3EFA-4C54-AB1C-D53C79A2B82A}"/>
              </a:ext>
            </a:extLst>
          </p:cNvPr>
          <p:cNvSpPr txBox="1"/>
          <p:nvPr/>
        </p:nvSpPr>
        <p:spPr>
          <a:xfrm>
            <a:off x="9982200" y="381000"/>
            <a:ext cx="1651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600" b="1">
                <a:solidFill>
                  <a:srgbClr val="E7DECB"/>
                </a:solidFill>
                <a:latin typeface="Trebuchet MS"/>
              </a:rPr>
              <a:t>06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B3C4C47-6291-43C0-944E-48711E77C33C}"/>
              </a:ext>
            </a:extLst>
          </p:cNvPr>
          <p:cNvSpPr/>
          <p:nvPr/>
        </p:nvSpPr>
        <p:spPr>
          <a:xfrm>
            <a:off x="571500" y="1981200"/>
            <a:ext cx="11061700" cy="4241800"/>
          </a:xfrm>
          <a:prstGeom prst="roundRect">
            <a:avLst/>
          </a:prstGeom>
          <a:solidFill>
            <a:srgbClr val="FBF8F2"/>
          </a:solidFill>
          <a:ln w="12700" cap="flat" cmpd="sng" algn="ctr">
            <a:solidFill>
              <a:srgbClr val="DAD0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BD137C4-EF5C-4D70-8FAE-226FF306F343}"/>
              </a:ext>
            </a:extLst>
          </p:cNvPr>
          <p:cNvSpPr/>
          <p:nvPr/>
        </p:nvSpPr>
        <p:spPr>
          <a:xfrm>
            <a:off x="914400" y="2311400"/>
            <a:ext cx="508000" cy="508000"/>
          </a:xfrm>
          <a:prstGeom prst="roundRect">
            <a:avLst/>
          </a:prstGeom>
          <a:solidFill>
            <a:srgbClr val="E3EFEA"/>
          </a:solidFill>
          <a:ln w="15875" cap="flat" cmpd="sng" algn="ctr">
            <a:solidFill>
              <a:srgbClr val="1F6F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B7938B-5AB0-47A1-8C2C-AEA64C507ACE}"/>
              </a:ext>
            </a:extLst>
          </p:cNvPr>
          <p:cNvSpPr txBox="1"/>
          <p:nvPr/>
        </p:nvSpPr>
        <p:spPr>
          <a:xfrm>
            <a:off x="1625600" y="23241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241F1A"/>
                </a:solidFill>
                <a:latin typeface="Trebuchet MS"/>
              </a:rPr>
              <a:t>Geometry types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9F7B70-65C7-4FF0-B57C-C02EDEF95595}"/>
              </a:ext>
            </a:extLst>
          </p:cNvPr>
          <p:cNvSpPr txBox="1"/>
          <p:nvPr/>
        </p:nvSpPr>
        <p:spPr>
          <a:xfrm>
            <a:off x="1625600" y="26162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Points, lines and polygons build every vector feature.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69CF66D-A64A-4853-AE87-E5BE1A942802}"/>
              </a:ext>
            </a:extLst>
          </p:cNvPr>
          <p:cNvSpPr/>
          <p:nvPr/>
        </p:nvSpPr>
        <p:spPr>
          <a:xfrm>
            <a:off x="914400" y="3276600"/>
            <a:ext cx="508000" cy="508000"/>
          </a:xfrm>
          <a:prstGeom prst="roundRect">
            <a:avLst/>
          </a:prstGeom>
          <a:solidFill>
            <a:srgbClr val="E3EFEA"/>
          </a:solidFill>
          <a:ln w="15875" cap="flat" cmpd="sng" algn="ctr">
            <a:solidFill>
              <a:srgbClr val="1F6F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2FA79A-A03B-439C-9144-2EAFDB041221}"/>
              </a:ext>
            </a:extLst>
          </p:cNvPr>
          <p:cNvSpPr txBox="1"/>
          <p:nvPr/>
        </p:nvSpPr>
        <p:spPr>
          <a:xfrm>
            <a:off x="1625600" y="32893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241F1A"/>
                </a:solidFill>
                <a:latin typeface="Trebuchet MS"/>
              </a:rPr>
              <a:t>Coordinates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379B90-8BAE-45D0-A23E-3C789FDABEFB}"/>
              </a:ext>
            </a:extLst>
          </p:cNvPr>
          <p:cNvSpPr txBox="1"/>
          <p:nvPr/>
        </p:nvSpPr>
        <p:spPr>
          <a:xfrm>
            <a:off x="1625600" y="35814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Each vertex is an exact X, Y position — optionally Z and M.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4507D7D-D738-45B9-A9F9-0DD95B18E0F8}"/>
              </a:ext>
            </a:extLst>
          </p:cNvPr>
          <p:cNvSpPr/>
          <p:nvPr/>
        </p:nvSpPr>
        <p:spPr>
          <a:xfrm>
            <a:off x="914400" y="4241800"/>
            <a:ext cx="508000" cy="508000"/>
          </a:xfrm>
          <a:prstGeom prst="roundRect">
            <a:avLst/>
          </a:prstGeom>
          <a:solidFill>
            <a:srgbClr val="E3EFEA"/>
          </a:solidFill>
          <a:ln w="15875" cap="flat" cmpd="sng" algn="ctr">
            <a:solidFill>
              <a:srgbClr val="1F6F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16C06E-0CD4-4D60-BB6C-93906DE1A47E}"/>
              </a:ext>
            </a:extLst>
          </p:cNvPr>
          <p:cNvSpPr txBox="1"/>
          <p:nvPr/>
        </p:nvSpPr>
        <p:spPr>
          <a:xfrm>
            <a:off x="1625600" y="42545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241F1A"/>
                </a:solidFill>
                <a:latin typeface="Trebuchet MS"/>
              </a:rPr>
              <a:t>Attributes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03D452-4F7A-4274-9438-47F914B3F386}"/>
              </a:ext>
            </a:extLst>
          </p:cNvPr>
          <p:cNvSpPr txBox="1"/>
          <p:nvPr/>
        </p:nvSpPr>
        <p:spPr>
          <a:xfrm>
            <a:off x="1625600" y="45466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Every feature links to a row of descriptive fields in a table.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B74BCA2-D2F9-4DE3-B3F8-4B59D0325EFF}"/>
              </a:ext>
            </a:extLst>
          </p:cNvPr>
          <p:cNvSpPr/>
          <p:nvPr/>
        </p:nvSpPr>
        <p:spPr>
          <a:xfrm>
            <a:off x="914400" y="5207000"/>
            <a:ext cx="508000" cy="508000"/>
          </a:xfrm>
          <a:prstGeom prst="roundRect">
            <a:avLst/>
          </a:prstGeom>
          <a:solidFill>
            <a:srgbClr val="E3EFEA"/>
          </a:solidFill>
          <a:ln w="15875" cap="flat" cmpd="sng" algn="ctr">
            <a:solidFill>
              <a:srgbClr val="1F6F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6D65EE-05A6-4252-8DA7-2E956166141F}"/>
              </a:ext>
            </a:extLst>
          </p:cNvPr>
          <p:cNvSpPr txBox="1"/>
          <p:nvPr/>
        </p:nvSpPr>
        <p:spPr>
          <a:xfrm>
            <a:off x="1625600" y="52197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241F1A"/>
                </a:solidFill>
                <a:latin typeface="Trebuchet MS"/>
              </a:rPr>
              <a:t>Topology &amp; scale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110FA8-C049-475F-A362-7D7B36013029}"/>
              </a:ext>
            </a:extLst>
          </p:cNvPr>
          <p:cNvSpPr txBox="1"/>
          <p:nvPr/>
        </p:nvSpPr>
        <p:spPr>
          <a:xfrm>
            <a:off x="1625600" y="55118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Stores connectivity between features, and stays razor-sharp at any zoom.</a:t>
            </a:r>
          </a:p>
        </p:txBody>
      </p:sp>
      <p:pic>
        <p:nvPicPr>
          <p:cNvPr id="31" name="Graphic 31" descr="Geomet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050" y="2425700"/>
            <a:ext cx="266700" cy="266700"/>
          </a:xfrm>
          <a:prstGeom prst="rect">
            <a:avLst/>
          </a:prstGeom>
        </p:spPr>
      </p:pic>
      <p:pic>
        <p:nvPicPr>
          <p:cNvPr id="32" name="Graphic 32" descr="Coordinat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5050" y="3390900"/>
            <a:ext cx="266700" cy="266700"/>
          </a:xfrm>
          <a:prstGeom prst="rect">
            <a:avLst/>
          </a:prstGeom>
        </p:spPr>
      </p:pic>
      <p:pic>
        <p:nvPicPr>
          <p:cNvPr id="33" name="Graphic 33" descr="Attribut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050" y="4356100"/>
            <a:ext cx="266700" cy="266700"/>
          </a:xfrm>
          <a:prstGeom prst="rect">
            <a:avLst/>
          </a:prstGeom>
        </p:spPr>
      </p:pic>
      <p:pic>
        <p:nvPicPr>
          <p:cNvPr id="34" name="Graphic 34" descr="Topolog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5050" y="5321300"/>
            <a:ext cx="2667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33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C96C7B3A-63FF-47C0-8E9A-A9AF681F4F63}"/>
              </a:ext>
            </a:extLst>
          </p:cNvPr>
          <p:cNvSpPr txBox="1"/>
          <p:nvPr/>
        </p:nvSpPr>
        <p:spPr>
          <a:xfrm>
            <a:off x="812800" y="508000"/>
            <a:ext cx="596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B8862B"/>
                </a:solidFill>
                <a:latin typeface="Trebuchet MS"/>
              </a:rPr>
              <a:t>VECTOR VS RASTER DATA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AFA5D9-A414-42C2-AE21-C1702E360650}"/>
              </a:ext>
            </a:extLst>
          </p:cNvPr>
          <p:cNvSpPr txBox="1"/>
          <p:nvPr/>
        </p:nvSpPr>
        <p:spPr>
          <a:xfrm>
            <a:off x="812800" y="762000"/>
            <a:ext cx="812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241F1A"/>
                </a:solidFill>
                <a:latin typeface="Trebuchet MS"/>
              </a:rPr>
              <a:t>Vector data examples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222D47D-FF32-4091-AFED-15545A0DB19D}"/>
              </a:ext>
            </a:extLst>
          </p:cNvPr>
          <p:cNvSpPr/>
          <p:nvPr/>
        </p:nvSpPr>
        <p:spPr>
          <a:xfrm>
            <a:off x="838200" y="1320800"/>
            <a:ext cx="381000" cy="63500"/>
          </a:xfrm>
          <a:prstGeom prst="rect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1755719-B83D-459F-B50D-261C00F5645D}"/>
              </a:ext>
            </a:extLst>
          </p:cNvPr>
          <p:cNvSpPr/>
          <p:nvPr/>
        </p:nvSpPr>
        <p:spPr>
          <a:xfrm>
            <a:off x="1244600" y="1320800"/>
            <a:ext cx="381000" cy="63500"/>
          </a:xfrm>
          <a:prstGeom prst="rect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3389B4-E14E-4D35-A64C-21A04E812D2D}"/>
              </a:ext>
            </a:extLst>
          </p:cNvPr>
          <p:cNvSpPr txBox="1"/>
          <p:nvPr/>
        </p:nvSpPr>
        <p:spPr>
          <a:xfrm>
            <a:off x="812800" y="14732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Three geometry types — the building blocks of vector data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4C7664-108A-42ED-87E1-B2254DDECEC2}"/>
              </a:ext>
            </a:extLst>
          </p:cNvPr>
          <p:cNvSpPr txBox="1"/>
          <p:nvPr/>
        </p:nvSpPr>
        <p:spPr>
          <a:xfrm>
            <a:off x="9982200" y="381000"/>
            <a:ext cx="1651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600" b="1">
                <a:solidFill>
                  <a:srgbClr val="E7DECB"/>
                </a:solidFill>
                <a:latin typeface="Trebuchet MS"/>
              </a:rPr>
              <a:t>07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092E2A1-B76F-42C9-A000-FFD7BE2DDC7F}"/>
              </a:ext>
            </a:extLst>
          </p:cNvPr>
          <p:cNvSpPr/>
          <p:nvPr/>
        </p:nvSpPr>
        <p:spPr>
          <a:xfrm>
            <a:off x="571500" y="1981200"/>
            <a:ext cx="3479800" cy="4241800"/>
          </a:xfrm>
          <a:prstGeom prst="roundRect">
            <a:avLst/>
          </a:prstGeom>
          <a:solidFill>
            <a:srgbClr val="FBF8F2"/>
          </a:solidFill>
          <a:ln w="12700" cap="flat" cmpd="sng" algn="ctr">
            <a:solidFill>
              <a:srgbClr val="DAD0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F6E6EAE-F764-4093-963C-514EB1613957}"/>
              </a:ext>
            </a:extLst>
          </p:cNvPr>
          <p:cNvSpPr/>
          <p:nvPr/>
        </p:nvSpPr>
        <p:spPr>
          <a:xfrm>
            <a:off x="825500" y="2286000"/>
            <a:ext cx="508000" cy="508000"/>
          </a:xfrm>
          <a:prstGeom prst="roundRect">
            <a:avLst/>
          </a:prstGeom>
          <a:solidFill>
            <a:srgbClr val="E3EFEA"/>
          </a:solidFill>
          <a:ln w="15875" cap="flat" cmpd="sng" algn="ctr">
            <a:solidFill>
              <a:srgbClr val="1F6F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F451FC-0B2A-40CF-94F0-5D3F5A5B1041}"/>
              </a:ext>
            </a:extLst>
          </p:cNvPr>
          <p:cNvSpPr txBox="1"/>
          <p:nvPr/>
        </p:nvSpPr>
        <p:spPr>
          <a:xfrm>
            <a:off x="1485900" y="2387600"/>
            <a:ext cx="2463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F6F5C"/>
                </a:solidFill>
                <a:latin typeface="Trebuchet MS"/>
              </a:rPr>
              <a:t>POINTS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A516B28-7CA8-4263-9B27-74DDA356950C}"/>
              </a:ext>
            </a:extLst>
          </p:cNvPr>
          <p:cNvSpPr/>
          <p:nvPr/>
        </p:nvSpPr>
        <p:spPr>
          <a:xfrm>
            <a:off x="825500" y="2997200"/>
            <a:ext cx="2971800" cy="12700"/>
          </a:xfrm>
          <a:prstGeom prst="rect">
            <a:avLst/>
          </a:prstGeom>
          <a:solidFill>
            <a:srgbClr val="DAD0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4FD464-6936-4BA2-8DE4-6D1B7EDB963F}"/>
              </a:ext>
            </a:extLst>
          </p:cNvPr>
          <p:cNvSpPr txBox="1"/>
          <p:nvPr/>
        </p:nvSpPr>
        <p:spPr>
          <a:xfrm>
            <a:off x="825500" y="3175000"/>
            <a:ext cx="2971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1F6F5C"/>
                </a:solidFill>
                <a:latin typeface="Trebuchet MS"/>
              </a:rPr>
              <a:t>REAL-WORLD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0331E49-0299-4A45-A094-121EF0BC5E8A}"/>
              </a:ext>
            </a:extLst>
          </p:cNvPr>
          <p:cNvSpPr txBox="1"/>
          <p:nvPr/>
        </p:nvSpPr>
        <p:spPr>
          <a:xfrm>
            <a:off x="825500" y="3429000"/>
            <a:ext cx="2971800" cy="1092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Wells, trees, GPS fixes, sample sites and addresses.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8C3636-DCC1-4726-A40E-14F27FC6C627}"/>
              </a:ext>
            </a:extLst>
          </p:cNvPr>
          <p:cNvSpPr txBox="1"/>
          <p:nvPr/>
        </p:nvSpPr>
        <p:spPr>
          <a:xfrm>
            <a:off x="825500" y="4673600"/>
            <a:ext cx="2971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B8862B"/>
                </a:solidFill>
                <a:latin typeface="Trebuchet MS"/>
              </a:rPr>
              <a:t>TYPICAL ATTRIBUTES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8627C1-D979-478F-9D19-E461A7126AAE}"/>
              </a:ext>
            </a:extLst>
          </p:cNvPr>
          <p:cNvSpPr txBox="1"/>
          <p:nvPr/>
        </p:nvSpPr>
        <p:spPr>
          <a:xfrm>
            <a:off x="825500" y="4927600"/>
            <a:ext cx="29718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depth · species · elevation · timestamp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9D264BB6-0439-447C-9DF6-3836C29E34C9}"/>
              </a:ext>
            </a:extLst>
          </p:cNvPr>
          <p:cNvSpPr/>
          <p:nvPr/>
        </p:nvSpPr>
        <p:spPr>
          <a:xfrm>
            <a:off x="4362450" y="1981200"/>
            <a:ext cx="3479800" cy="4241800"/>
          </a:xfrm>
          <a:prstGeom prst="roundRect">
            <a:avLst/>
          </a:prstGeom>
          <a:solidFill>
            <a:srgbClr val="FBF8F2"/>
          </a:solidFill>
          <a:ln w="12700" cap="flat" cmpd="sng" algn="ctr">
            <a:solidFill>
              <a:srgbClr val="DAD0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83BFD099-7651-417E-A11B-6B4FB2CF8AB3}"/>
              </a:ext>
            </a:extLst>
          </p:cNvPr>
          <p:cNvSpPr/>
          <p:nvPr/>
        </p:nvSpPr>
        <p:spPr>
          <a:xfrm>
            <a:off x="4616450" y="2286000"/>
            <a:ext cx="508000" cy="508000"/>
          </a:xfrm>
          <a:prstGeom prst="roundRect">
            <a:avLst/>
          </a:prstGeom>
          <a:solidFill>
            <a:srgbClr val="E3EFEA"/>
          </a:solidFill>
          <a:ln w="15875" cap="flat" cmpd="sng" algn="ctr">
            <a:solidFill>
              <a:srgbClr val="1F6F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9CB9A0-4D2F-4AC9-87BC-F6715952F91A}"/>
              </a:ext>
            </a:extLst>
          </p:cNvPr>
          <p:cNvSpPr txBox="1"/>
          <p:nvPr/>
        </p:nvSpPr>
        <p:spPr>
          <a:xfrm>
            <a:off x="5276850" y="2387600"/>
            <a:ext cx="2463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F6F5C"/>
                </a:solidFill>
                <a:latin typeface="Trebuchet MS"/>
              </a:rPr>
              <a:t>LINES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B6F48E8-92BC-46FA-8A7A-0A8301FD4222}"/>
              </a:ext>
            </a:extLst>
          </p:cNvPr>
          <p:cNvSpPr/>
          <p:nvPr/>
        </p:nvSpPr>
        <p:spPr>
          <a:xfrm>
            <a:off x="4616450" y="2997200"/>
            <a:ext cx="2971800" cy="12700"/>
          </a:xfrm>
          <a:prstGeom prst="rect">
            <a:avLst/>
          </a:prstGeom>
          <a:solidFill>
            <a:srgbClr val="DAD0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06E551-7F89-4EE0-A88A-D06078042973}"/>
              </a:ext>
            </a:extLst>
          </p:cNvPr>
          <p:cNvSpPr txBox="1"/>
          <p:nvPr/>
        </p:nvSpPr>
        <p:spPr>
          <a:xfrm>
            <a:off x="4616450" y="3175000"/>
            <a:ext cx="2971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1F6F5C"/>
                </a:solidFill>
                <a:latin typeface="Trebuchet MS"/>
              </a:rPr>
              <a:t>REAL-WORLD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75671A-968B-4807-8D59-B97F6B4D28BC}"/>
              </a:ext>
            </a:extLst>
          </p:cNvPr>
          <p:cNvSpPr txBox="1"/>
          <p:nvPr/>
        </p:nvSpPr>
        <p:spPr>
          <a:xfrm>
            <a:off x="4616450" y="3429000"/>
            <a:ext cx="2971800" cy="1092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Roads, rivers, pipelines, transit routes and contours.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9DCEC4F-EBAA-422D-97DF-6D128959AA09}"/>
              </a:ext>
            </a:extLst>
          </p:cNvPr>
          <p:cNvSpPr txBox="1"/>
          <p:nvPr/>
        </p:nvSpPr>
        <p:spPr>
          <a:xfrm>
            <a:off x="4616450" y="4673600"/>
            <a:ext cx="2971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B8862B"/>
                </a:solidFill>
                <a:latin typeface="Trebuchet MS"/>
              </a:rPr>
              <a:t>TYPICAL ATTRIBUTES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C8370F-FBB5-4BD0-94AE-AD8839662B6E}"/>
              </a:ext>
            </a:extLst>
          </p:cNvPr>
          <p:cNvSpPr txBox="1"/>
          <p:nvPr/>
        </p:nvSpPr>
        <p:spPr>
          <a:xfrm>
            <a:off x="4616450" y="4927600"/>
            <a:ext cx="29718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name · length · speed · direction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0AE59CAA-DD6C-4E6E-A331-30E65457E1C1}"/>
              </a:ext>
            </a:extLst>
          </p:cNvPr>
          <p:cNvSpPr/>
          <p:nvPr/>
        </p:nvSpPr>
        <p:spPr>
          <a:xfrm>
            <a:off x="8153400" y="1981200"/>
            <a:ext cx="3479800" cy="4241800"/>
          </a:xfrm>
          <a:prstGeom prst="roundRect">
            <a:avLst/>
          </a:prstGeom>
          <a:solidFill>
            <a:srgbClr val="FBF8F2"/>
          </a:solidFill>
          <a:ln w="12700" cap="flat" cmpd="sng" algn="ctr">
            <a:solidFill>
              <a:srgbClr val="DAD0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F724F7C-9596-41CE-A4B6-7A72C4B64EBD}"/>
              </a:ext>
            </a:extLst>
          </p:cNvPr>
          <p:cNvSpPr/>
          <p:nvPr/>
        </p:nvSpPr>
        <p:spPr>
          <a:xfrm>
            <a:off x="8407400" y="2286000"/>
            <a:ext cx="508000" cy="508000"/>
          </a:xfrm>
          <a:prstGeom prst="roundRect">
            <a:avLst/>
          </a:prstGeom>
          <a:solidFill>
            <a:srgbClr val="E3EFEA"/>
          </a:solidFill>
          <a:ln w="15875" cap="flat" cmpd="sng" algn="ctr">
            <a:solidFill>
              <a:srgbClr val="1F6F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D02AADD-E75F-454F-A547-F3085DFED802}"/>
              </a:ext>
            </a:extLst>
          </p:cNvPr>
          <p:cNvSpPr txBox="1"/>
          <p:nvPr/>
        </p:nvSpPr>
        <p:spPr>
          <a:xfrm>
            <a:off x="9067800" y="2387600"/>
            <a:ext cx="2463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F6F5C"/>
                </a:solidFill>
                <a:latin typeface="Trebuchet MS"/>
              </a:rPr>
              <a:t>POLYGONS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ECE615B-95E6-42A6-B914-C6EE03DBA36F}"/>
              </a:ext>
            </a:extLst>
          </p:cNvPr>
          <p:cNvSpPr/>
          <p:nvPr/>
        </p:nvSpPr>
        <p:spPr>
          <a:xfrm>
            <a:off x="8407400" y="2997200"/>
            <a:ext cx="2971800" cy="12700"/>
          </a:xfrm>
          <a:prstGeom prst="rect">
            <a:avLst/>
          </a:prstGeom>
          <a:solidFill>
            <a:srgbClr val="DAD0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6425702-5BD9-47ED-9113-471EF87E03F9}"/>
              </a:ext>
            </a:extLst>
          </p:cNvPr>
          <p:cNvSpPr txBox="1"/>
          <p:nvPr/>
        </p:nvSpPr>
        <p:spPr>
          <a:xfrm>
            <a:off x="8407400" y="3175000"/>
            <a:ext cx="2971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1F6F5C"/>
                </a:solidFill>
                <a:latin typeface="Trebuchet MS"/>
              </a:rPr>
              <a:t>REAL-WORLD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D6C667-47C2-42AF-9F88-183E34971DD0}"/>
              </a:ext>
            </a:extLst>
          </p:cNvPr>
          <p:cNvSpPr txBox="1"/>
          <p:nvPr/>
        </p:nvSpPr>
        <p:spPr>
          <a:xfrm>
            <a:off x="8407400" y="3429000"/>
            <a:ext cx="2971800" cy="1092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Parcels, lakes, land-use zones and watersheds.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0315A45-1FF0-4013-A397-B14151F9B2D2}"/>
              </a:ext>
            </a:extLst>
          </p:cNvPr>
          <p:cNvSpPr txBox="1"/>
          <p:nvPr/>
        </p:nvSpPr>
        <p:spPr>
          <a:xfrm>
            <a:off x="8407400" y="4673600"/>
            <a:ext cx="2971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B8862B"/>
                </a:solidFill>
                <a:latin typeface="Trebuchet MS"/>
              </a:rPr>
              <a:t>TYPICAL ATTRIBUTES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0ADB242-CF9C-483A-9DCA-58C2B5412D51}"/>
              </a:ext>
            </a:extLst>
          </p:cNvPr>
          <p:cNvSpPr txBox="1"/>
          <p:nvPr/>
        </p:nvSpPr>
        <p:spPr>
          <a:xfrm>
            <a:off x="8407400" y="4927600"/>
            <a:ext cx="29718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area · owner · zoning · land-cover class</a:t>
            </a:r>
          </a:p>
        </p:txBody>
      </p:sp>
      <p:pic>
        <p:nvPicPr>
          <p:cNvPr id="70" name="Graphic 70" descr="Poin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6150" y="2406650"/>
            <a:ext cx="266700" cy="266700"/>
          </a:xfrm>
          <a:prstGeom prst="rect">
            <a:avLst/>
          </a:prstGeom>
        </p:spPr>
      </p:pic>
      <p:pic>
        <p:nvPicPr>
          <p:cNvPr id="71" name="Graphic 71" descr="Lin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7100" y="2406650"/>
            <a:ext cx="266700" cy="266700"/>
          </a:xfrm>
          <a:prstGeom prst="rect">
            <a:avLst/>
          </a:prstGeom>
        </p:spPr>
      </p:pic>
      <p:pic>
        <p:nvPicPr>
          <p:cNvPr id="72" name="Graphic 72" descr="Polygo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8050" y="2406650"/>
            <a:ext cx="2667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965440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508000"/>
            <a:ext cx="5969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B8862B"/>
                </a:solidFill>
                <a:latin typeface="Trebuchet MS"/>
              </a:rPr>
              <a:t>VECTOR VS RASTER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762000"/>
            <a:ext cx="9000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41F1A"/>
                </a:solidFill>
                <a:latin typeface="Trebuchet MS"/>
              </a:rPr>
              <a:t>Point, line, or polygon?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320800"/>
            <a:ext cx="381000" cy="635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44600" y="1320800"/>
            <a:ext cx="381000" cy="63500"/>
          </a:xfrm>
          <a:prstGeom prst="rect">
            <a:avLst/>
          </a:prstGeom>
          <a:solidFill>
            <a:srgbClr val="C25B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1473200"/>
            <a:ext cx="8890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4A433B"/>
                </a:solidFill>
                <a:latin typeface="Calibri"/>
              </a:rPr>
              <a:t>The same three geometry types, plotted the way they'd look on a real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82200" y="381000"/>
            <a:ext cx="1651000" cy="812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600" b="1" i="0">
                <a:solidFill>
                  <a:srgbClr val="E7DECB"/>
                </a:solidFill>
                <a:latin typeface="Trebuchet M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032000"/>
            <a:ext cx="11049000" cy="4267200"/>
          </a:xfrm>
          <a:prstGeom prst="roundRect">
            <a:avLst>
              <a:gd name="adj" fmla="val 4500"/>
            </a:avLst>
          </a:prstGeom>
          <a:solidFill>
            <a:srgbClr val="F6F2E8"/>
          </a:solidFill>
          <a:ln w="12700">
            <a:solidFill>
              <a:srgbClr val="DAD0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52625" y="2072000"/>
            <a:ext cx="6350" cy="4187200"/>
          </a:xfrm>
          <a:prstGeom prst="rect">
            <a:avLst/>
          </a:prstGeom>
          <a:solidFill>
            <a:srgbClr val="E9E1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3750" y="2072000"/>
            <a:ext cx="6350" cy="4187200"/>
          </a:xfrm>
          <a:prstGeom prst="rect">
            <a:avLst/>
          </a:prstGeom>
          <a:solidFill>
            <a:srgbClr val="E9E1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14875" y="2072000"/>
            <a:ext cx="6350" cy="4187200"/>
          </a:xfrm>
          <a:prstGeom prst="rect">
            <a:avLst/>
          </a:prstGeom>
          <a:solidFill>
            <a:srgbClr val="E9E1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0" y="2072000"/>
            <a:ext cx="6350" cy="4187200"/>
          </a:xfrm>
          <a:prstGeom prst="rect">
            <a:avLst/>
          </a:prstGeom>
          <a:solidFill>
            <a:srgbClr val="E9E1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77125" y="2072000"/>
            <a:ext cx="6350" cy="4187200"/>
          </a:xfrm>
          <a:prstGeom prst="rect">
            <a:avLst/>
          </a:prstGeom>
          <a:solidFill>
            <a:srgbClr val="E9E1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58250" y="2072000"/>
            <a:ext cx="6350" cy="4187200"/>
          </a:xfrm>
          <a:prstGeom prst="rect">
            <a:avLst/>
          </a:prstGeom>
          <a:solidFill>
            <a:srgbClr val="E9E1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39375" y="2072000"/>
            <a:ext cx="6350" cy="4187200"/>
          </a:xfrm>
          <a:prstGeom prst="rect">
            <a:avLst/>
          </a:prstGeom>
          <a:solidFill>
            <a:srgbClr val="E9E1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1500" y="2885440"/>
            <a:ext cx="10969000" cy="6350"/>
          </a:xfrm>
          <a:prstGeom prst="rect">
            <a:avLst/>
          </a:prstGeom>
          <a:solidFill>
            <a:srgbClr val="E9E1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1500" y="3738880"/>
            <a:ext cx="10969000" cy="6350"/>
          </a:xfrm>
          <a:prstGeom prst="rect">
            <a:avLst/>
          </a:prstGeom>
          <a:solidFill>
            <a:srgbClr val="E9E1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500" y="4592320"/>
            <a:ext cx="10969000" cy="6350"/>
          </a:xfrm>
          <a:prstGeom prst="rect">
            <a:avLst/>
          </a:prstGeom>
          <a:solidFill>
            <a:srgbClr val="E9E1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1500" y="5445760"/>
            <a:ext cx="10969000" cy="6350"/>
          </a:xfrm>
          <a:prstGeom prst="rect">
            <a:avLst/>
          </a:prstGeom>
          <a:solidFill>
            <a:srgbClr val="E9E1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06500" y="3072000"/>
            <a:ext cx="30000" cy="220000"/>
          </a:xfrm>
          <a:prstGeom prst="rect">
            <a:avLst/>
          </a:prstGeom>
          <a:solidFill>
            <a:srgbClr val="C25B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26500" y="2887000"/>
            <a:ext cx="190000" cy="190000"/>
          </a:xfrm>
          <a:prstGeom prst="ellipse">
            <a:avLst/>
          </a:prstGeom>
          <a:solidFill>
            <a:srgbClr val="C25B3E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81500" y="2822000"/>
            <a:ext cx="2400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C25B3E"/>
                </a:solidFill>
                <a:latin typeface="Trebuchet MS"/>
              </a:rPr>
              <a:t>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81500" y="3112000"/>
            <a:ext cx="2650000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1">
                <a:solidFill>
                  <a:srgbClr val="4A433B"/>
                </a:solidFill>
                <a:latin typeface="Calibri"/>
              </a:rPr>
              <a:t>One coordinate pair — e.g., a monitoring well</a:t>
            </a:r>
          </a:p>
        </p:txBody>
      </p:sp>
      <p:sp>
        <p:nvSpPr>
          <p:cNvPr id="24" name="Freeform 23"/>
          <p:cNvSpPr/>
          <p:nvPr/>
        </p:nvSpPr>
        <p:spPr>
          <a:xfrm>
            <a:off x="1871500" y="4532000"/>
            <a:ext cx="3800000" cy="800000"/>
          </a:xfrm>
          <a:custGeom>
            <a:avLst/>
            <a:gdLst/>
            <a:ahLst/>
            <a:cxnLst/>
            <a:rect l="l" t="t" r="r" b="b"/>
            <a:pathLst>
              <a:path w="3800000" h="800000">
                <a:moveTo>
                  <a:pt x="0" y="600000"/>
                </a:moveTo>
                <a:lnTo>
                  <a:pt x="1300000" y="0"/>
                </a:lnTo>
                <a:lnTo>
                  <a:pt x="2550000" y="800000"/>
                </a:lnTo>
                <a:lnTo>
                  <a:pt x="3800000" y="250000"/>
                </a:lnTo>
              </a:path>
            </a:pathLst>
          </a:custGeom>
          <a:noFill/>
          <a:ln w="41275">
            <a:solidFill>
              <a:srgbClr val="1F6F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816500" y="5077000"/>
            <a:ext cx="110000" cy="110000"/>
          </a:xfrm>
          <a:prstGeom prst="ellipse">
            <a:avLst/>
          </a:prstGeom>
          <a:solidFill>
            <a:srgbClr val="1F6F5C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116500" y="4477000"/>
            <a:ext cx="110000" cy="110000"/>
          </a:xfrm>
          <a:prstGeom prst="ellipse">
            <a:avLst/>
          </a:prstGeom>
          <a:solidFill>
            <a:srgbClr val="1F6F5C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66500" y="5277000"/>
            <a:ext cx="110000" cy="110000"/>
          </a:xfrm>
          <a:prstGeom prst="ellipse">
            <a:avLst/>
          </a:prstGeom>
          <a:solidFill>
            <a:srgbClr val="1F6F5C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16500" y="4727000"/>
            <a:ext cx="110000" cy="110000"/>
          </a:xfrm>
          <a:prstGeom prst="ellipse">
            <a:avLst/>
          </a:prstGeom>
          <a:solidFill>
            <a:srgbClr val="1F6F5C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71500" y="3932000"/>
            <a:ext cx="2400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F6F5C"/>
                </a:solidFill>
                <a:latin typeface="Trebuchet MS"/>
              </a:rPr>
              <a:t>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1500" y="5652000"/>
            <a:ext cx="3300000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1">
                <a:solidFill>
                  <a:srgbClr val="4A433B"/>
                </a:solidFill>
                <a:latin typeface="Calibri"/>
              </a:rPr>
              <a:t>Connected vertices — e.g., a road or stream</a:t>
            </a:r>
          </a:p>
        </p:txBody>
      </p:sp>
      <p:sp>
        <p:nvSpPr>
          <p:cNvPr id="31" name="Freeform 30"/>
          <p:cNvSpPr/>
          <p:nvPr/>
        </p:nvSpPr>
        <p:spPr>
          <a:xfrm>
            <a:off x="7871500" y="3032000"/>
            <a:ext cx="2650000" cy="2150000"/>
          </a:xfrm>
          <a:custGeom>
            <a:avLst/>
            <a:gdLst/>
            <a:ahLst/>
            <a:cxnLst/>
            <a:rect l="l" t="t" r="r" b="b"/>
            <a:pathLst>
              <a:path w="2650000" h="2150000">
                <a:moveTo>
                  <a:pt x="0" y="250000"/>
                </a:moveTo>
                <a:lnTo>
                  <a:pt x="2000000" y="0"/>
                </a:lnTo>
                <a:lnTo>
                  <a:pt x="2650000" y="1350000"/>
                </a:lnTo>
                <a:lnTo>
                  <a:pt x="1550000" y="2150000"/>
                </a:lnTo>
                <a:lnTo>
                  <a:pt x="200000" y="1650000"/>
                </a:lnTo>
                <a:close/>
              </a:path>
            </a:pathLst>
          </a:custGeom>
          <a:solidFill>
            <a:srgbClr val="F3E7CE"/>
          </a:solidFill>
          <a:ln w="25400">
            <a:solidFill>
              <a:srgbClr val="B886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71500" y="5382000"/>
            <a:ext cx="2600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B8862B"/>
                </a:solidFill>
                <a:latin typeface="Trebuchet MS"/>
              </a:rPr>
              <a:t>POLYGON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1500" y="5732000"/>
            <a:ext cx="3300000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1">
                <a:solidFill>
                  <a:srgbClr val="4A433B"/>
                </a:solidFill>
                <a:latin typeface="Calibri"/>
              </a:rPr>
              <a:t>Closed boundary — e.g., a parcel or lake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43D8F17-A025-47E9-BB2A-5989D1888B3E}"/>
              </a:ext>
            </a:extLst>
          </p:cNvPr>
          <p:cNvSpPr txBox="1"/>
          <p:nvPr/>
        </p:nvSpPr>
        <p:spPr>
          <a:xfrm>
            <a:off x="812800" y="508000"/>
            <a:ext cx="596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B8862B"/>
                </a:solidFill>
                <a:latin typeface="Trebuchet MS"/>
              </a:rPr>
              <a:t>VECTOR VS RASTER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F6FED4-3EAF-4598-A569-E785F3D6B342}"/>
              </a:ext>
            </a:extLst>
          </p:cNvPr>
          <p:cNvSpPr txBox="1"/>
          <p:nvPr/>
        </p:nvSpPr>
        <p:spPr>
          <a:xfrm>
            <a:off x="812800" y="762000"/>
            <a:ext cx="812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241F1A"/>
                </a:solidFill>
                <a:latin typeface="Trebuchet MS"/>
              </a:rPr>
              <a:t>Raster data essentials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DB8694-AAB3-4300-B788-C19CA6A35C5C}"/>
              </a:ext>
            </a:extLst>
          </p:cNvPr>
          <p:cNvSpPr/>
          <p:nvPr/>
        </p:nvSpPr>
        <p:spPr>
          <a:xfrm>
            <a:off x="838200" y="1320800"/>
            <a:ext cx="381000" cy="63500"/>
          </a:xfrm>
          <a:prstGeom prst="rect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58E2EB-3F11-40C4-BAD2-0A196567E976}"/>
              </a:ext>
            </a:extLst>
          </p:cNvPr>
          <p:cNvSpPr/>
          <p:nvPr/>
        </p:nvSpPr>
        <p:spPr>
          <a:xfrm>
            <a:off x="1244600" y="1320800"/>
            <a:ext cx="381000" cy="63500"/>
          </a:xfrm>
          <a:prstGeom prst="rect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14491-143B-4711-88E2-767C558C5FDA}"/>
              </a:ext>
            </a:extLst>
          </p:cNvPr>
          <p:cNvSpPr txBox="1"/>
          <p:nvPr/>
        </p:nvSpPr>
        <p:spPr>
          <a:xfrm>
            <a:off x="812800" y="14732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How raster stores the world as a grid of values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87E78C-BEEB-42F0-821D-2A943024F035}"/>
              </a:ext>
            </a:extLst>
          </p:cNvPr>
          <p:cNvSpPr txBox="1"/>
          <p:nvPr/>
        </p:nvSpPr>
        <p:spPr>
          <a:xfrm>
            <a:off x="9982200" y="381000"/>
            <a:ext cx="1651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600" b="1">
                <a:solidFill>
                  <a:srgbClr val="E7DECB"/>
                </a:solidFill>
                <a:latin typeface="Trebuchet MS"/>
              </a:rPr>
              <a:t>09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32680AF-F2B9-4AA1-BD7B-C8EFDEBED61D}"/>
              </a:ext>
            </a:extLst>
          </p:cNvPr>
          <p:cNvSpPr/>
          <p:nvPr/>
        </p:nvSpPr>
        <p:spPr>
          <a:xfrm>
            <a:off x="571500" y="1981200"/>
            <a:ext cx="11061700" cy="4241800"/>
          </a:xfrm>
          <a:prstGeom prst="roundRect">
            <a:avLst/>
          </a:prstGeom>
          <a:solidFill>
            <a:srgbClr val="FBF8F2"/>
          </a:solidFill>
          <a:ln w="12700" cap="flat" cmpd="sng" algn="ctr">
            <a:solidFill>
              <a:srgbClr val="DAD0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D49F064-8B47-4C4D-80C8-7E8C92C50FD8}"/>
              </a:ext>
            </a:extLst>
          </p:cNvPr>
          <p:cNvSpPr/>
          <p:nvPr/>
        </p:nvSpPr>
        <p:spPr>
          <a:xfrm>
            <a:off x="914400" y="2311400"/>
            <a:ext cx="508000" cy="508000"/>
          </a:xfrm>
          <a:prstGeom prst="roundRect">
            <a:avLst/>
          </a:prstGeom>
          <a:solidFill>
            <a:srgbClr val="F6E4DB"/>
          </a:solidFill>
          <a:ln w="15875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CCCCEB-661E-4694-A8D7-79E0204BA24B}"/>
              </a:ext>
            </a:extLst>
          </p:cNvPr>
          <p:cNvSpPr txBox="1"/>
          <p:nvPr/>
        </p:nvSpPr>
        <p:spPr>
          <a:xfrm>
            <a:off x="1625600" y="23241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241F1A"/>
                </a:solidFill>
                <a:latin typeface="Trebuchet MS"/>
              </a:rPr>
              <a:t>Cells (pixels)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9E285E-C94E-496D-AAE0-4342865CF789}"/>
              </a:ext>
            </a:extLst>
          </p:cNvPr>
          <p:cNvSpPr txBox="1"/>
          <p:nvPr/>
        </p:nvSpPr>
        <p:spPr>
          <a:xfrm>
            <a:off x="1625600" y="26162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A raster is a continuous grid of equal-sized square cells.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9A2BE58-2EF4-4FA5-B657-EE4D93D9B49B}"/>
              </a:ext>
            </a:extLst>
          </p:cNvPr>
          <p:cNvSpPr/>
          <p:nvPr/>
        </p:nvSpPr>
        <p:spPr>
          <a:xfrm>
            <a:off x="914400" y="3276600"/>
            <a:ext cx="508000" cy="508000"/>
          </a:xfrm>
          <a:prstGeom prst="roundRect">
            <a:avLst/>
          </a:prstGeom>
          <a:solidFill>
            <a:srgbClr val="F6E4DB"/>
          </a:solidFill>
          <a:ln w="15875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22196E-4701-4C57-8FCB-B8EC26C74C55}"/>
              </a:ext>
            </a:extLst>
          </p:cNvPr>
          <p:cNvSpPr txBox="1"/>
          <p:nvPr/>
        </p:nvSpPr>
        <p:spPr>
          <a:xfrm>
            <a:off x="1625600" y="32893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241F1A"/>
                </a:solidFill>
                <a:latin typeface="Trebuchet MS"/>
              </a:rPr>
              <a:t>Cell size &amp; resolution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6FAE0C-88C3-46C9-A25A-829FCE263F3D}"/>
              </a:ext>
            </a:extLst>
          </p:cNvPr>
          <p:cNvSpPr txBox="1"/>
          <p:nvPr/>
        </p:nvSpPr>
        <p:spPr>
          <a:xfrm>
            <a:off x="1625600" y="35814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Smaller cells capture more detail — but mean larger files.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EE0606D-E39A-4CB8-A171-D6643DDA7D22}"/>
              </a:ext>
            </a:extLst>
          </p:cNvPr>
          <p:cNvSpPr/>
          <p:nvPr/>
        </p:nvSpPr>
        <p:spPr>
          <a:xfrm>
            <a:off x="914400" y="4241800"/>
            <a:ext cx="508000" cy="508000"/>
          </a:xfrm>
          <a:prstGeom prst="roundRect">
            <a:avLst/>
          </a:prstGeom>
          <a:solidFill>
            <a:srgbClr val="F6E4DB"/>
          </a:solidFill>
          <a:ln w="15875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02239D-5366-4FF5-B710-0BCA41912651}"/>
              </a:ext>
            </a:extLst>
          </p:cNvPr>
          <p:cNvSpPr txBox="1"/>
          <p:nvPr/>
        </p:nvSpPr>
        <p:spPr>
          <a:xfrm>
            <a:off x="1625600" y="42545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241F1A"/>
                </a:solidFill>
                <a:latin typeface="Trebuchet MS"/>
              </a:rPr>
              <a:t>Extent &amp; origin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48543E-5EA7-4EFC-AF8A-51A6D92A66EE}"/>
              </a:ext>
            </a:extLst>
          </p:cNvPr>
          <p:cNvSpPr txBox="1"/>
          <p:nvPr/>
        </p:nvSpPr>
        <p:spPr>
          <a:xfrm>
            <a:off x="1625600" y="45466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The grid is anchored in space by a corner coordinate and cell size.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802749D-825B-413F-8641-48161B7003FA}"/>
              </a:ext>
            </a:extLst>
          </p:cNvPr>
          <p:cNvSpPr/>
          <p:nvPr/>
        </p:nvSpPr>
        <p:spPr>
          <a:xfrm>
            <a:off x="914400" y="5207000"/>
            <a:ext cx="508000" cy="508000"/>
          </a:xfrm>
          <a:prstGeom prst="roundRect">
            <a:avLst/>
          </a:prstGeom>
          <a:solidFill>
            <a:srgbClr val="F6E4DB"/>
          </a:solidFill>
          <a:ln w="15875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29663B-BBD4-4A31-90C0-9BF284BC1894}"/>
              </a:ext>
            </a:extLst>
          </p:cNvPr>
          <p:cNvSpPr txBox="1"/>
          <p:nvPr/>
        </p:nvSpPr>
        <p:spPr>
          <a:xfrm>
            <a:off x="1625600" y="52197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241F1A"/>
                </a:solidFill>
                <a:latin typeface="Trebuchet MS"/>
              </a:rPr>
              <a:t>Bands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E85B03-F3F4-4687-8790-56AD8228492C}"/>
              </a:ext>
            </a:extLst>
          </p:cNvPr>
          <p:cNvSpPr txBox="1"/>
          <p:nvPr/>
        </p:nvSpPr>
        <p:spPr>
          <a:xfrm>
            <a:off x="1625600" y="55118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Multiple bands stack values per cell, e.g. RGB or multispectral imagery.</a:t>
            </a:r>
          </a:p>
        </p:txBody>
      </p:sp>
      <p:pic>
        <p:nvPicPr>
          <p:cNvPr id="32" name="Graphic 32" descr="Cel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050" y="2425700"/>
            <a:ext cx="266700" cy="266700"/>
          </a:xfrm>
          <a:prstGeom prst="rect">
            <a:avLst/>
          </a:prstGeom>
        </p:spPr>
      </p:pic>
      <p:pic>
        <p:nvPicPr>
          <p:cNvPr id="33" name="Graphic 33" descr="Resolu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5050" y="3390900"/>
            <a:ext cx="266700" cy="266700"/>
          </a:xfrm>
          <a:prstGeom prst="rect">
            <a:avLst/>
          </a:prstGeom>
        </p:spPr>
      </p:pic>
      <p:pic>
        <p:nvPicPr>
          <p:cNvPr id="34" name="Graphic 34" descr="Exte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050" y="4356100"/>
            <a:ext cx="266700" cy="266700"/>
          </a:xfrm>
          <a:prstGeom prst="rect">
            <a:avLst/>
          </a:prstGeom>
        </p:spPr>
      </p:pic>
      <p:pic>
        <p:nvPicPr>
          <p:cNvPr id="35" name="Graphic 35" descr="Band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5050" y="5321300"/>
            <a:ext cx="2667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062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AF7A8C5-F7D6-4F99-A26C-1CE4716E48A2}"/>
              </a:ext>
            </a:extLst>
          </p:cNvPr>
          <p:cNvSpPr txBox="1"/>
          <p:nvPr/>
        </p:nvSpPr>
        <p:spPr>
          <a:xfrm>
            <a:off x="812800" y="508000"/>
            <a:ext cx="596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B8862B"/>
                </a:solidFill>
                <a:latin typeface="Trebuchet MS"/>
              </a:rPr>
              <a:t>VECTOR VS RASTER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8980A2-61C2-4F1E-8699-B4D8AFEF5AC0}"/>
              </a:ext>
            </a:extLst>
          </p:cNvPr>
          <p:cNvSpPr txBox="1"/>
          <p:nvPr/>
        </p:nvSpPr>
        <p:spPr>
          <a:xfrm>
            <a:off x="812800" y="762000"/>
            <a:ext cx="812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241F1A"/>
                </a:solidFill>
                <a:latin typeface="Trebuchet MS"/>
              </a:rPr>
              <a:t>Raster example: Satellite imagery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A8A347-E536-46F9-B66D-D48FBC2BB7A0}"/>
              </a:ext>
            </a:extLst>
          </p:cNvPr>
          <p:cNvSpPr/>
          <p:nvPr/>
        </p:nvSpPr>
        <p:spPr>
          <a:xfrm>
            <a:off x="838200" y="1320800"/>
            <a:ext cx="381000" cy="63500"/>
          </a:xfrm>
          <a:prstGeom prst="rect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F510AA-CFBD-4990-AA29-EB368029559B}"/>
              </a:ext>
            </a:extLst>
          </p:cNvPr>
          <p:cNvSpPr/>
          <p:nvPr/>
        </p:nvSpPr>
        <p:spPr>
          <a:xfrm>
            <a:off x="1244600" y="1320800"/>
            <a:ext cx="381000" cy="63500"/>
          </a:xfrm>
          <a:prstGeom prst="rect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87A867-A13C-430E-8C00-335E00B44671}"/>
              </a:ext>
            </a:extLst>
          </p:cNvPr>
          <p:cNvSpPr txBox="1"/>
          <p:nvPr/>
        </p:nvSpPr>
        <p:spPr>
          <a:xfrm>
            <a:off x="812800" y="14732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RGB — reflected light captured for every cell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57A2E1-EF36-408A-B344-7301E9AF6981}"/>
              </a:ext>
            </a:extLst>
          </p:cNvPr>
          <p:cNvSpPr txBox="1"/>
          <p:nvPr/>
        </p:nvSpPr>
        <p:spPr>
          <a:xfrm>
            <a:off x="9982200" y="381000"/>
            <a:ext cx="1651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600" b="1">
                <a:solidFill>
                  <a:srgbClr val="E7DECB"/>
                </a:solidFill>
                <a:latin typeface="Trebuchet MS"/>
              </a:rPr>
              <a:t>10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0588117-04FE-42B3-8347-C6DAEA5F6125}"/>
              </a:ext>
            </a:extLst>
          </p:cNvPr>
          <p:cNvSpPr/>
          <p:nvPr/>
        </p:nvSpPr>
        <p:spPr>
          <a:xfrm>
            <a:off x="812800" y="2413000"/>
            <a:ext cx="508000" cy="508000"/>
          </a:xfrm>
          <a:prstGeom prst="roundRect">
            <a:avLst/>
          </a:prstGeom>
          <a:solidFill>
            <a:srgbClr val="F6E4DB"/>
          </a:solidFill>
          <a:ln w="15875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BE4592-D92C-4E56-AD1B-9A7BAD0B3AC9}"/>
              </a:ext>
            </a:extLst>
          </p:cNvPr>
          <p:cNvSpPr txBox="1"/>
          <p:nvPr/>
        </p:nvSpPr>
        <p:spPr>
          <a:xfrm>
            <a:off x="1524000" y="24003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41F1A"/>
                </a:solidFill>
                <a:latin typeface="Trebuchet MS"/>
              </a:rPr>
              <a:t>Bands of light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709DE-B7DF-4BCA-AAC0-F4CF969D0122}"/>
              </a:ext>
            </a:extLst>
          </p:cNvPr>
          <p:cNvSpPr txBox="1"/>
          <p:nvPr/>
        </p:nvSpPr>
        <p:spPr>
          <a:xfrm>
            <a:off x="1524000" y="2717800"/>
            <a:ext cx="520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Each cell stores reflected values — R, G, B, and often more bands.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271A327-475D-41CE-85DA-4364E758FF3D}"/>
              </a:ext>
            </a:extLst>
          </p:cNvPr>
          <p:cNvSpPr/>
          <p:nvPr/>
        </p:nvSpPr>
        <p:spPr>
          <a:xfrm>
            <a:off x="812800" y="3606800"/>
            <a:ext cx="508000" cy="508000"/>
          </a:xfrm>
          <a:prstGeom prst="roundRect">
            <a:avLst/>
          </a:prstGeom>
          <a:solidFill>
            <a:srgbClr val="F6E4DB"/>
          </a:solidFill>
          <a:ln w="15875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91B26B-3F29-4203-9676-6CF8AC7774F5}"/>
              </a:ext>
            </a:extLst>
          </p:cNvPr>
          <p:cNvSpPr txBox="1"/>
          <p:nvPr/>
        </p:nvSpPr>
        <p:spPr>
          <a:xfrm>
            <a:off x="1524000" y="35941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41F1A"/>
                </a:solidFill>
                <a:latin typeface="Trebuchet MS"/>
              </a:rPr>
              <a:t>Resolution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121A87-A3F0-4043-B24E-B5BB602EF433}"/>
              </a:ext>
            </a:extLst>
          </p:cNvPr>
          <p:cNvSpPr txBox="1"/>
          <p:nvPr/>
        </p:nvSpPr>
        <p:spPr>
          <a:xfrm>
            <a:off x="1524000" y="3911600"/>
            <a:ext cx="520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Cell size sets the detail: smaller pixels mean bigger files.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6C228AA-091B-4387-9D17-B6B1550F762A}"/>
              </a:ext>
            </a:extLst>
          </p:cNvPr>
          <p:cNvSpPr/>
          <p:nvPr/>
        </p:nvSpPr>
        <p:spPr>
          <a:xfrm>
            <a:off x="812800" y="4800600"/>
            <a:ext cx="508000" cy="508000"/>
          </a:xfrm>
          <a:prstGeom prst="roundRect">
            <a:avLst/>
          </a:prstGeom>
          <a:solidFill>
            <a:srgbClr val="F6E4DB"/>
          </a:solidFill>
          <a:ln w="15875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656538-972E-4622-AF1B-D5172F6F6F16}"/>
              </a:ext>
            </a:extLst>
          </p:cNvPr>
          <p:cNvSpPr txBox="1"/>
          <p:nvPr/>
        </p:nvSpPr>
        <p:spPr>
          <a:xfrm>
            <a:off x="1524000" y="47879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41F1A"/>
                </a:solidFill>
                <a:latin typeface="Trebuchet MS"/>
              </a:rPr>
              <a:t>Analysis-ready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7E6765-0CF3-4D73-8171-E6540B336CB5}"/>
              </a:ext>
            </a:extLst>
          </p:cNvPr>
          <p:cNvSpPr txBox="1"/>
          <p:nvPr/>
        </p:nvSpPr>
        <p:spPr>
          <a:xfrm>
            <a:off x="1524000" y="5105400"/>
            <a:ext cx="520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Powers classification, change detection and band math.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4C4C2BC-31B2-4BAC-AFC1-92CC3E9F7C67}"/>
              </a:ext>
            </a:extLst>
          </p:cNvPr>
          <p:cNvSpPr/>
          <p:nvPr/>
        </p:nvSpPr>
        <p:spPr>
          <a:xfrm>
            <a:off x="7188200" y="2108200"/>
            <a:ext cx="4140200" cy="41402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1" name="Image 0" descr="/mnt/data/slides_assets/satellite_landsat.jpg"/>
          <p:cNvPicPr>
            <a:picLocks noChangeAspect="1"/>
          </p:cNvPicPr>
          <p:nvPr/>
        </p:nvPicPr>
        <p:blipFill>
          <a:blip r:embed="rId3"/>
          <a:srcRect l="3909" r="3909"/>
          <a:stretch/>
        </p:blipFill>
        <p:spPr>
          <a:xfrm>
            <a:off x="7391400" y="2311400"/>
            <a:ext cx="3733800" cy="37338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9C995AE-D450-4401-982B-1643C1B90354}"/>
              </a:ext>
            </a:extLst>
          </p:cNvPr>
          <p:cNvSpPr txBox="1"/>
          <p:nvPr/>
        </p:nvSpPr>
        <p:spPr>
          <a:xfrm>
            <a:off x="7188200" y="6324600"/>
            <a:ext cx="4140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9A9186"/>
                </a:solidFill>
                <a:latin typeface="Calibri"/>
                <a:ea typeface="Calibri"/>
                <a:cs typeface="Calibri"/>
              </a:rPr>
              <a:t>Satellite image · RGB composite</a:t>
            </a:r>
          </a:p>
        </p:txBody>
      </p:sp>
      <p:pic>
        <p:nvPicPr>
          <p:cNvPr id="30" name="Graphic 30" descr="Band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450" y="2533650"/>
            <a:ext cx="266700" cy="266700"/>
          </a:xfrm>
          <a:prstGeom prst="rect">
            <a:avLst/>
          </a:prstGeom>
        </p:spPr>
      </p:pic>
      <p:pic>
        <p:nvPicPr>
          <p:cNvPr id="31" name="Graphic 31" descr="Resolu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3450" y="3727450"/>
            <a:ext cx="266700" cy="266700"/>
          </a:xfrm>
          <a:prstGeom prst="rect">
            <a:avLst/>
          </a:prstGeom>
        </p:spPr>
      </p:pic>
      <p:pic>
        <p:nvPicPr>
          <p:cNvPr id="32" name="Graphic 32" descr="Analysi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3450" y="4921250"/>
            <a:ext cx="2667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704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4DDDEDD-E0FA-48A5-AE13-28882E8D56EE}"/>
              </a:ext>
            </a:extLst>
          </p:cNvPr>
          <p:cNvSpPr txBox="1"/>
          <p:nvPr/>
        </p:nvSpPr>
        <p:spPr>
          <a:xfrm>
            <a:off x="812800" y="508000"/>
            <a:ext cx="596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B8862B"/>
                </a:solidFill>
                <a:latin typeface="Trebuchet MS"/>
              </a:rPr>
              <a:t>VECTOR VS RASTER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7E4251-5920-4DEC-A998-E7DAEC053B8A}"/>
              </a:ext>
            </a:extLst>
          </p:cNvPr>
          <p:cNvSpPr txBox="1"/>
          <p:nvPr/>
        </p:nvSpPr>
        <p:spPr>
          <a:xfrm>
            <a:off x="812800" y="762000"/>
            <a:ext cx="812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241F1A"/>
                </a:solidFill>
                <a:latin typeface="Trebuchet MS"/>
              </a:rPr>
              <a:t>Raster example: Elevation (DEM)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24C37F-B235-48CD-8979-6EFDBED107A2}"/>
              </a:ext>
            </a:extLst>
          </p:cNvPr>
          <p:cNvSpPr/>
          <p:nvPr/>
        </p:nvSpPr>
        <p:spPr>
          <a:xfrm>
            <a:off x="838200" y="1320800"/>
            <a:ext cx="381000" cy="63500"/>
          </a:xfrm>
          <a:prstGeom prst="rect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D4A89E-F48D-4290-8D9B-4D5A5D684208}"/>
              </a:ext>
            </a:extLst>
          </p:cNvPr>
          <p:cNvSpPr/>
          <p:nvPr/>
        </p:nvSpPr>
        <p:spPr>
          <a:xfrm>
            <a:off x="1244600" y="1320800"/>
            <a:ext cx="381000" cy="63500"/>
          </a:xfrm>
          <a:prstGeom prst="rect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62458A-03D2-4AF3-973C-526FE90E3689}"/>
              </a:ext>
            </a:extLst>
          </p:cNvPr>
          <p:cNvSpPr txBox="1"/>
          <p:nvPr/>
        </p:nvSpPr>
        <p:spPr>
          <a:xfrm>
            <a:off x="812800" y="14732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A continuous surface of ground height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1DEF50-DBA7-43AD-8451-790BC3DDFC48}"/>
              </a:ext>
            </a:extLst>
          </p:cNvPr>
          <p:cNvSpPr txBox="1"/>
          <p:nvPr/>
        </p:nvSpPr>
        <p:spPr>
          <a:xfrm>
            <a:off x="9982200" y="381000"/>
            <a:ext cx="1651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600" b="1">
                <a:solidFill>
                  <a:srgbClr val="E7DECB"/>
                </a:solidFill>
                <a:latin typeface="Trebuchet MS"/>
              </a:rPr>
              <a:t>11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CA47F8B-0DB9-4437-8C6D-C38D5A3B2245}"/>
              </a:ext>
            </a:extLst>
          </p:cNvPr>
          <p:cNvSpPr/>
          <p:nvPr/>
        </p:nvSpPr>
        <p:spPr>
          <a:xfrm>
            <a:off x="812800" y="2413000"/>
            <a:ext cx="508000" cy="508000"/>
          </a:xfrm>
          <a:prstGeom prst="roundRect">
            <a:avLst/>
          </a:prstGeom>
          <a:solidFill>
            <a:srgbClr val="F6E4DB"/>
          </a:solidFill>
          <a:ln w="15875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29665A-851C-4208-8C88-4D28B9D78E35}"/>
              </a:ext>
            </a:extLst>
          </p:cNvPr>
          <p:cNvSpPr txBox="1"/>
          <p:nvPr/>
        </p:nvSpPr>
        <p:spPr>
          <a:xfrm>
            <a:off x="1524000" y="24003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41F1A"/>
                </a:solidFill>
                <a:latin typeface="Trebuchet MS"/>
              </a:rPr>
              <a:t>Height per cell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BCFFA7-C40F-452D-9D99-9DD1D1FD0BA5}"/>
              </a:ext>
            </a:extLst>
          </p:cNvPr>
          <p:cNvSpPr txBox="1"/>
          <p:nvPr/>
        </p:nvSpPr>
        <p:spPr>
          <a:xfrm>
            <a:off x="1524000" y="2717800"/>
            <a:ext cx="520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Each cell stores an elevation value in metres or feet.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6EDD8E7-9CCA-48BC-BC72-845EF92CD278}"/>
              </a:ext>
            </a:extLst>
          </p:cNvPr>
          <p:cNvSpPr/>
          <p:nvPr/>
        </p:nvSpPr>
        <p:spPr>
          <a:xfrm>
            <a:off x="812800" y="3606800"/>
            <a:ext cx="508000" cy="508000"/>
          </a:xfrm>
          <a:prstGeom prst="roundRect">
            <a:avLst/>
          </a:prstGeom>
          <a:solidFill>
            <a:srgbClr val="F6E4DB"/>
          </a:solidFill>
          <a:ln w="15875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4F45D0-6129-4895-B40D-83931F10B896}"/>
              </a:ext>
            </a:extLst>
          </p:cNvPr>
          <p:cNvSpPr txBox="1"/>
          <p:nvPr/>
        </p:nvSpPr>
        <p:spPr>
          <a:xfrm>
            <a:off x="1524000" y="35941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41F1A"/>
                </a:solidFill>
                <a:latin typeface="Trebuchet MS"/>
              </a:rPr>
              <a:t>Derived surfaces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1516F3-8624-4743-8B4D-8EDC5C1B62E7}"/>
              </a:ext>
            </a:extLst>
          </p:cNvPr>
          <p:cNvSpPr txBox="1"/>
          <p:nvPr/>
        </p:nvSpPr>
        <p:spPr>
          <a:xfrm>
            <a:off x="1524000" y="3911600"/>
            <a:ext cx="520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Slope, aspect, hillshade and watersheds all come from a DEM.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C4688F9-5A2A-4984-95DE-159DCB3CCBC2}"/>
              </a:ext>
            </a:extLst>
          </p:cNvPr>
          <p:cNvSpPr/>
          <p:nvPr/>
        </p:nvSpPr>
        <p:spPr>
          <a:xfrm>
            <a:off x="812800" y="4800600"/>
            <a:ext cx="508000" cy="508000"/>
          </a:xfrm>
          <a:prstGeom prst="roundRect">
            <a:avLst/>
          </a:prstGeom>
          <a:solidFill>
            <a:srgbClr val="F6E4DB"/>
          </a:solidFill>
          <a:ln w="15875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8E8F63-01B3-4736-B551-CE5973314EAF}"/>
              </a:ext>
            </a:extLst>
          </p:cNvPr>
          <p:cNvSpPr txBox="1"/>
          <p:nvPr/>
        </p:nvSpPr>
        <p:spPr>
          <a:xfrm>
            <a:off x="1524000" y="47879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41F1A"/>
                </a:solidFill>
                <a:latin typeface="Trebuchet MS"/>
              </a:rPr>
              <a:t>Continuous field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9CB1E4-D0B7-446E-8095-F0CA8B84822B}"/>
              </a:ext>
            </a:extLst>
          </p:cNvPr>
          <p:cNvSpPr txBox="1"/>
          <p:nvPr/>
        </p:nvSpPr>
        <p:spPr>
          <a:xfrm>
            <a:off x="1524000" y="5105400"/>
            <a:ext cx="520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Elevation is defined everywhere — no gaps between samples.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0F1F887-02FD-42BB-B5EE-50FD2700977F}"/>
              </a:ext>
            </a:extLst>
          </p:cNvPr>
          <p:cNvSpPr/>
          <p:nvPr/>
        </p:nvSpPr>
        <p:spPr>
          <a:xfrm>
            <a:off x="7188200" y="2108200"/>
            <a:ext cx="4140200" cy="41402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1" name="Image 0" descr="/mnt/data/slides_assets/dem_hillshade_etna.png"/>
          <p:cNvPicPr>
            <a:picLocks noChangeAspect="1"/>
          </p:cNvPicPr>
          <p:nvPr/>
        </p:nvPicPr>
        <p:blipFill>
          <a:blip r:embed="rId3"/>
          <a:srcRect l="515" r="515"/>
          <a:stretch/>
        </p:blipFill>
        <p:spPr>
          <a:xfrm>
            <a:off x="7410646" y="2311400"/>
            <a:ext cx="3695307" cy="37338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1760869-7D67-4271-B0E9-4E0BBEB875E1}"/>
              </a:ext>
            </a:extLst>
          </p:cNvPr>
          <p:cNvSpPr txBox="1"/>
          <p:nvPr/>
        </p:nvSpPr>
        <p:spPr>
          <a:xfrm>
            <a:off x="7188200" y="6324600"/>
            <a:ext cx="4140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9A9186"/>
                </a:solidFill>
                <a:latin typeface="Calibri"/>
                <a:ea typeface="Calibri"/>
                <a:cs typeface="Calibri"/>
              </a:rPr>
              <a:t>Digital Elevation Model · hillshade</a:t>
            </a:r>
          </a:p>
        </p:txBody>
      </p:sp>
      <p:pic>
        <p:nvPicPr>
          <p:cNvPr id="30" name="Graphic 30" descr="Elev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450" y="2533650"/>
            <a:ext cx="266700" cy="266700"/>
          </a:xfrm>
          <a:prstGeom prst="rect">
            <a:avLst/>
          </a:prstGeom>
        </p:spPr>
      </p:pic>
      <p:pic>
        <p:nvPicPr>
          <p:cNvPr id="31" name="Graphic 31" descr="Deriv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3450" y="3727450"/>
            <a:ext cx="266700" cy="266700"/>
          </a:xfrm>
          <a:prstGeom prst="rect">
            <a:avLst/>
          </a:prstGeom>
        </p:spPr>
      </p:pic>
      <p:pic>
        <p:nvPicPr>
          <p:cNvPr id="32" name="Graphic 32" descr="Continuou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3450" y="4921250"/>
            <a:ext cx="2667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64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1E97F2A-53BC-4E03-9F95-5E8285634BCF}"/>
              </a:ext>
            </a:extLst>
          </p:cNvPr>
          <p:cNvSpPr txBox="1"/>
          <p:nvPr/>
        </p:nvSpPr>
        <p:spPr>
          <a:xfrm>
            <a:off x="812800" y="508000"/>
            <a:ext cx="596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B8862B"/>
                </a:solidFill>
                <a:latin typeface="Trebuchet MS"/>
              </a:rPr>
              <a:t>VECTOR VS RASTER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A12693-97C6-4C69-A0A5-4E4F7C44B8CF}"/>
              </a:ext>
            </a:extLst>
          </p:cNvPr>
          <p:cNvSpPr txBox="1"/>
          <p:nvPr/>
        </p:nvSpPr>
        <p:spPr>
          <a:xfrm>
            <a:off x="812800" y="762000"/>
            <a:ext cx="812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241F1A"/>
                </a:solidFill>
                <a:latin typeface="Trebuchet MS"/>
              </a:rPr>
              <a:t>Raster example: Land cover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8EC934-2395-4BEF-8401-BBDCADB6338E}"/>
              </a:ext>
            </a:extLst>
          </p:cNvPr>
          <p:cNvSpPr/>
          <p:nvPr/>
        </p:nvSpPr>
        <p:spPr>
          <a:xfrm>
            <a:off x="838200" y="1320800"/>
            <a:ext cx="381000" cy="63500"/>
          </a:xfrm>
          <a:prstGeom prst="rect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0D73E1-17EC-494C-A717-9DA720ABFA22}"/>
              </a:ext>
            </a:extLst>
          </p:cNvPr>
          <p:cNvSpPr/>
          <p:nvPr/>
        </p:nvSpPr>
        <p:spPr>
          <a:xfrm>
            <a:off x="1244600" y="1320800"/>
            <a:ext cx="381000" cy="63500"/>
          </a:xfrm>
          <a:prstGeom prst="rect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13A2EC-9385-426D-BB0C-191290DB148C}"/>
              </a:ext>
            </a:extLst>
          </p:cNvPr>
          <p:cNvSpPr txBox="1"/>
          <p:nvPr/>
        </p:nvSpPr>
        <p:spPr>
          <a:xfrm>
            <a:off x="812800" y="14732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Every cell labelled with a class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2E3E21-506C-421E-9475-0662DA8450D7}"/>
              </a:ext>
            </a:extLst>
          </p:cNvPr>
          <p:cNvSpPr txBox="1"/>
          <p:nvPr/>
        </p:nvSpPr>
        <p:spPr>
          <a:xfrm>
            <a:off x="9982200" y="381000"/>
            <a:ext cx="1651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600" b="1">
                <a:solidFill>
                  <a:srgbClr val="E7DECB"/>
                </a:solidFill>
                <a:latin typeface="Trebuchet MS"/>
              </a:rPr>
              <a:t>12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993F62B-2E04-4912-9E90-2DFBAF016849}"/>
              </a:ext>
            </a:extLst>
          </p:cNvPr>
          <p:cNvSpPr/>
          <p:nvPr/>
        </p:nvSpPr>
        <p:spPr>
          <a:xfrm>
            <a:off x="812800" y="2413000"/>
            <a:ext cx="508000" cy="508000"/>
          </a:xfrm>
          <a:prstGeom prst="roundRect">
            <a:avLst/>
          </a:prstGeom>
          <a:solidFill>
            <a:srgbClr val="F6E4DB"/>
          </a:solidFill>
          <a:ln w="15875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2B908E-2032-456B-9267-3D035EDF20C5}"/>
              </a:ext>
            </a:extLst>
          </p:cNvPr>
          <p:cNvSpPr txBox="1"/>
          <p:nvPr/>
        </p:nvSpPr>
        <p:spPr>
          <a:xfrm>
            <a:off x="1524000" y="24003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41F1A"/>
                </a:solidFill>
                <a:latin typeface="Trebuchet MS"/>
              </a:rPr>
              <a:t>Classified cells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95C183-EA6C-4463-BAB2-710076AC5049}"/>
              </a:ext>
            </a:extLst>
          </p:cNvPr>
          <p:cNvSpPr txBox="1"/>
          <p:nvPr/>
        </p:nvSpPr>
        <p:spPr>
          <a:xfrm>
            <a:off x="1524000" y="2717800"/>
            <a:ext cx="520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Each cell holds a category — water, forest, urban, cropland.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1AC10BA-5165-4456-B9A0-97E0BDACB430}"/>
              </a:ext>
            </a:extLst>
          </p:cNvPr>
          <p:cNvSpPr/>
          <p:nvPr/>
        </p:nvSpPr>
        <p:spPr>
          <a:xfrm>
            <a:off x="812800" y="3606800"/>
            <a:ext cx="508000" cy="508000"/>
          </a:xfrm>
          <a:prstGeom prst="roundRect">
            <a:avLst/>
          </a:prstGeom>
          <a:solidFill>
            <a:srgbClr val="F6E4DB"/>
          </a:solidFill>
          <a:ln w="15875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14821A-A757-4371-8D76-DC763A655E0F}"/>
              </a:ext>
            </a:extLst>
          </p:cNvPr>
          <p:cNvSpPr txBox="1"/>
          <p:nvPr/>
        </p:nvSpPr>
        <p:spPr>
          <a:xfrm>
            <a:off x="1524000" y="35941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41F1A"/>
                </a:solidFill>
                <a:latin typeface="Trebuchet MS"/>
              </a:rPr>
              <a:t>Built from imagery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E9FD62-D125-4099-9506-EF5D013CE425}"/>
              </a:ext>
            </a:extLst>
          </p:cNvPr>
          <p:cNvSpPr txBox="1"/>
          <p:nvPr/>
        </p:nvSpPr>
        <p:spPr>
          <a:xfrm>
            <a:off x="1524000" y="3911600"/>
            <a:ext cx="520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Classification turns spectral bands into land-cover classes.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3D9861-EA33-42D8-A389-2865A02C2A7B}"/>
              </a:ext>
            </a:extLst>
          </p:cNvPr>
          <p:cNvSpPr/>
          <p:nvPr/>
        </p:nvSpPr>
        <p:spPr>
          <a:xfrm>
            <a:off x="812800" y="4800600"/>
            <a:ext cx="508000" cy="508000"/>
          </a:xfrm>
          <a:prstGeom prst="roundRect">
            <a:avLst/>
          </a:prstGeom>
          <a:solidFill>
            <a:srgbClr val="F6E4DB"/>
          </a:solidFill>
          <a:ln w="15875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8257E6-17D5-4087-B10A-CF6F90DD22A8}"/>
              </a:ext>
            </a:extLst>
          </p:cNvPr>
          <p:cNvSpPr txBox="1"/>
          <p:nvPr/>
        </p:nvSpPr>
        <p:spPr>
          <a:xfrm>
            <a:off x="1524000" y="47879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41F1A"/>
                </a:solidFill>
                <a:latin typeface="Trebuchet MS"/>
              </a:rPr>
              <a:t>Area &amp; change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166FE4-0EA1-4C0F-BA33-9F46590A2926}"/>
              </a:ext>
            </a:extLst>
          </p:cNvPr>
          <p:cNvSpPr txBox="1"/>
          <p:nvPr/>
        </p:nvSpPr>
        <p:spPr>
          <a:xfrm>
            <a:off x="1524000" y="5105400"/>
            <a:ext cx="520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Count cells to measure area and track change over time.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2A26D0-E8A1-4D73-B3FF-05709265BDD3}"/>
              </a:ext>
            </a:extLst>
          </p:cNvPr>
          <p:cNvSpPr/>
          <p:nvPr/>
        </p:nvSpPr>
        <p:spPr>
          <a:xfrm>
            <a:off x="7188200" y="2108200"/>
            <a:ext cx="4140200" cy="41402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1" name="Image 0" descr="/mnt/data/slides_assets/land_cover_s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2806023"/>
            <a:ext cx="3733800" cy="274455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D02ADFF-479B-454B-B583-5DF673D0DE7A}"/>
              </a:ext>
            </a:extLst>
          </p:cNvPr>
          <p:cNvSpPr txBox="1"/>
          <p:nvPr/>
        </p:nvSpPr>
        <p:spPr>
          <a:xfrm>
            <a:off x="7188200" y="6324600"/>
            <a:ext cx="4140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9A9186"/>
                </a:solidFill>
                <a:latin typeface="Calibri"/>
                <a:ea typeface="Calibri"/>
                <a:cs typeface="Calibri"/>
              </a:rPr>
              <a:t>Land-cover classification</a:t>
            </a:r>
          </a:p>
        </p:txBody>
      </p:sp>
      <p:pic>
        <p:nvPicPr>
          <p:cNvPr id="30" name="Graphic 30" descr="Class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450" y="2533650"/>
            <a:ext cx="266700" cy="266700"/>
          </a:xfrm>
          <a:prstGeom prst="rect">
            <a:avLst/>
          </a:prstGeom>
        </p:spPr>
      </p:pic>
      <p:pic>
        <p:nvPicPr>
          <p:cNvPr id="31" name="Graphic 31" descr="Image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3450" y="3727450"/>
            <a:ext cx="266700" cy="266700"/>
          </a:xfrm>
          <a:prstGeom prst="rect">
            <a:avLst/>
          </a:prstGeom>
        </p:spPr>
      </p:pic>
      <p:pic>
        <p:nvPicPr>
          <p:cNvPr id="32" name="Graphic 32" descr="Are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3450" y="4921250"/>
            <a:ext cx="2667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117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5DCF951-FC8D-45C2-85DE-3A85E632EE39}"/>
              </a:ext>
            </a:extLst>
          </p:cNvPr>
          <p:cNvSpPr txBox="1"/>
          <p:nvPr/>
        </p:nvSpPr>
        <p:spPr>
          <a:xfrm>
            <a:off x="812800" y="508000"/>
            <a:ext cx="596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B8862B"/>
                </a:solidFill>
                <a:latin typeface="Trebuchet MS"/>
              </a:rPr>
              <a:t>VECTOR VS RASTER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6ABEBF-5842-41C4-8B34-64C5A43119FF}"/>
              </a:ext>
            </a:extLst>
          </p:cNvPr>
          <p:cNvSpPr txBox="1"/>
          <p:nvPr/>
        </p:nvSpPr>
        <p:spPr>
          <a:xfrm>
            <a:off x="812800" y="762000"/>
            <a:ext cx="889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241F1A"/>
                </a:solidFill>
                <a:latin typeface="Trebuchet MS"/>
              </a:rPr>
              <a:t>Raster example: Temperature surface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ED9EA5-93CC-489D-A959-6CEFA08626FF}"/>
              </a:ext>
            </a:extLst>
          </p:cNvPr>
          <p:cNvSpPr/>
          <p:nvPr/>
        </p:nvSpPr>
        <p:spPr>
          <a:xfrm>
            <a:off x="838200" y="1320800"/>
            <a:ext cx="381000" cy="63500"/>
          </a:xfrm>
          <a:prstGeom prst="rect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C3B139-1C14-4560-9AE8-A34C8F4C6D95}"/>
              </a:ext>
            </a:extLst>
          </p:cNvPr>
          <p:cNvSpPr/>
          <p:nvPr/>
        </p:nvSpPr>
        <p:spPr>
          <a:xfrm>
            <a:off x="1244600" y="1320800"/>
            <a:ext cx="381000" cy="63500"/>
          </a:xfrm>
          <a:prstGeom prst="rect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040DDF-155E-4D78-8A44-1F8FEAB81D0E}"/>
              </a:ext>
            </a:extLst>
          </p:cNvPr>
          <p:cNvSpPr txBox="1"/>
          <p:nvPr/>
        </p:nvSpPr>
        <p:spPr>
          <a:xfrm>
            <a:off x="812800" y="14732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A modelled, continuous climate field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2A29A6-5EB8-4A7F-B754-60F7BE9263A1}"/>
              </a:ext>
            </a:extLst>
          </p:cNvPr>
          <p:cNvSpPr txBox="1"/>
          <p:nvPr/>
        </p:nvSpPr>
        <p:spPr>
          <a:xfrm>
            <a:off x="9982200" y="381000"/>
            <a:ext cx="1651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600" b="1">
                <a:solidFill>
                  <a:srgbClr val="E7DECB"/>
                </a:solidFill>
                <a:latin typeface="Trebuchet MS"/>
              </a:rPr>
              <a:t>13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4C3B96A-B7B9-4B60-AE94-68EF1F229470}"/>
              </a:ext>
            </a:extLst>
          </p:cNvPr>
          <p:cNvSpPr/>
          <p:nvPr/>
        </p:nvSpPr>
        <p:spPr>
          <a:xfrm>
            <a:off x="812800" y="2413000"/>
            <a:ext cx="508000" cy="508000"/>
          </a:xfrm>
          <a:prstGeom prst="roundRect">
            <a:avLst/>
          </a:prstGeom>
          <a:solidFill>
            <a:srgbClr val="F6E4DB"/>
          </a:solidFill>
          <a:ln w="15875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18E003-7B0F-468B-85D0-C92C12716D64}"/>
              </a:ext>
            </a:extLst>
          </p:cNvPr>
          <p:cNvSpPr txBox="1"/>
          <p:nvPr/>
        </p:nvSpPr>
        <p:spPr>
          <a:xfrm>
            <a:off x="1524000" y="24003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41F1A"/>
                </a:solidFill>
                <a:latin typeface="Trebuchet MS"/>
              </a:rPr>
              <a:t>Value per cell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4E1EF1-FDDB-43A5-8FF0-8B6AEB8BB368}"/>
              </a:ext>
            </a:extLst>
          </p:cNvPr>
          <p:cNvSpPr txBox="1"/>
          <p:nvPr/>
        </p:nvSpPr>
        <p:spPr>
          <a:xfrm>
            <a:off x="1524000" y="2717800"/>
            <a:ext cx="520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Each cell stores a temperature estimated across the whole area.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6E2EFAC-19F4-47C4-ABE6-1734C3E2E7EF}"/>
              </a:ext>
            </a:extLst>
          </p:cNvPr>
          <p:cNvSpPr/>
          <p:nvPr/>
        </p:nvSpPr>
        <p:spPr>
          <a:xfrm>
            <a:off x="812800" y="3606800"/>
            <a:ext cx="508000" cy="508000"/>
          </a:xfrm>
          <a:prstGeom prst="roundRect">
            <a:avLst/>
          </a:prstGeom>
          <a:solidFill>
            <a:srgbClr val="F6E4DB"/>
          </a:solidFill>
          <a:ln w="15875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1209E5-2645-4EF5-86DA-5A2C97605925}"/>
              </a:ext>
            </a:extLst>
          </p:cNvPr>
          <p:cNvSpPr txBox="1"/>
          <p:nvPr/>
        </p:nvSpPr>
        <p:spPr>
          <a:xfrm>
            <a:off x="1524000" y="35941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41F1A"/>
                </a:solidFill>
                <a:latin typeface="Trebuchet MS"/>
              </a:rPr>
              <a:t>Interpolation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7328B6-BDBB-483A-94F6-1DFE05CC4EBA}"/>
              </a:ext>
            </a:extLst>
          </p:cNvPr>
          <p:cNvSpPr txBox="1"/>
          <p:nvPr/>
        </p:nvSpPr>
        <p:spPr>
          <a:xfrm>
            <a:off x="1524000" y="3911600"/>
            <a:ext cx="520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Scattered point readings are modelled into a smooth grid.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386F0DA-A94F-4C78-8C6F-F83CF1056D8B}"/>
              </a:ext>
            </a:extLst>
          </p:cNvPr>
          <p:cNvSpPr/>
          <p:nvPr/>
        </p:nvSpPr>
        <p:spPr>
          <a:xfrm>
            <a:off x="812800" y="4800600"/>
            <a:ext cx="508000" cy="508000"/>
          </a:xfrm>
          <a:prstGeom prst="roundRect">
            <a:avLst/>
          </a:prstGeom>
          <a:solidFill>
            <a:srgbClr val="F6E4DB"/>
          </a:solidFill>
          <a:ln w="15875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4436EC-E544-4B57-8F77-7E754C286BEB}"/>
              </a:ext>
            </a:extLst>
          </p:cNvPr>
          <p:cNvSpPr txBox="1"/>
          <p:nvPr/>
        </p:nvSpPr>
        <p:spPr>
          <a:xfrm>
            <a:off x="1524000" y="47879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41F1A"/>
                </a:solidFill>
                <a:latin typeface="Trebuchet MS"/>
              </a:rPr>
              <a:t>Map algebra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5C94D5-EF2D-4189-825A-5C7AD847AFDB}"/>
              </a:ext>
            </a:extLst>
          </p:cNvPr>
          <p:cNvSpPr txBox="1"/>
          <p:nvPr/>
        </p:nvSpPr>
        <p:spPr>
          <a:xfrm>
            <a:off x="1524000" y="5105400"/>
            <a:ext cx="520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Combine surfaces with raster math for deeper analysis.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3D1AA6-0999-4392-B6FC-83AD0FEF472A}"/>
              </a:ext>
            </a:extLst>
          </p:cNvPr>
          <p:cNvSpPr/>
          <p:nvPr/>
        </p:nvSpPr>
        <p:spPr>
          <a:xfrm>
            <a:off x="7188200" y="2108200"/>
            <a:ext cx="4140200" cy="41402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C25B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1" name="Image 0" descr="/mnt/data/slides_assets/land_surface_temp_siber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2814575"/>
            <a:ext cx="3733800" cy="272744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2070513-1E52-4CD8-96AF-539CECBBEB7B}"/>
              </a:ext>
            </a:extLst>
          </p:cNvPr>
          <p:cNvSpPr txBox="1"/>
          <p:nvPr/>
        </p:nvSpPr>
        <p:spPr>
          <a:xfrm>
            <a:off x="7188200" y="6324600"/>
            <a:ext cx="4140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9A9186"/>
                </a:solidFill>
                <a:latin typeface="Calibri"/>
                <a:ea typeface="Calibri"/>
                <a:cs typeface="Calibri"/>
              </a:rPr>
              <a:t>Interpolated temperature surface</a:t>
            </a:r>
          </a:p>
        </p:txBody>
      </p:sp>
      <p:pic>
        <p:nvPicPr>
          <p:cNvPr id="30" name="Graphic 30" descr="Temperatu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450" y="2533650"/>
            <a:ext cx="266700" cy="266700"/>
          </a:xfrm>
          <a:prstGeom prst="rect">
            <a:avLst/>
          </a:prstGeom>
        </p:spPr>
      </p:pic>
      <p:pic>
        <p:nvPicPr>
          <p:cNvPr id="31" name="Graphic 31" descr="Interpol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3450" y="3727450"/>
            <a:ext cx="266700" cy="266700"/>
          </a:xfrm>
          <a:prstGeom prst="rect">
            <a:avLst/>
          </a:prstGeom>
        </p:spPr>
      </p:pic>
      <p:pic>
        <p:nvPicPr>
          <p:cNvPr id="32" name="Graphic 32" descr="Map algebr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3450" y="4921250"/>
            <a:ext cx="2667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224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2D645AD2-41EA-4B23-AC97-9FF13E436385}"/>
              </a:ext>
            </a:extLst>
          </p:cNvPr>
          <p:cNvSpPr/>
          <p:nvPr/>
        </p:nvSpPr>
        <p:spPr>
          <a:xfrm>
            <a:off x="571500" y="2032000"/>
            <a:ext cx="11061700" cy="4216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AD0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E6BF2C-2645-424A-A8A0-1687E955E626}"/>
              </a:ext>
            </a:extLst>
          </p:cNvPr>
          <p:cNvSpPr txBox="1"/>
          <p:nvPr/>
        </p:nvSpPr>
        <p:spPr>
          <a:xfrm>
            <a:off x="812800" y="508000"/>
            <a:ext cx="5969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200" b="1">
                <a:solidFill>
                  <a:srgbClr val="B8862B"/>
                </a:solidFill>
                <a:latin typeface="Trebuchet MS"/>
              </a:rPr>
              <a:t>VECTOR VS RASTER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70F101-DA04-40BA-A78A-1D70666A6A9A}"/>
              </a:ext>
            </a:extLst>
          </p:cNvPr>
          <p:cNvSpPr txBox="1"/>
          <p:nvPr/>
        </p:nvSpPr>
        <p:spPr>
          <a:xfrm>
            <a:off x="812800" y="762000"/>
            <a:ext cx="8128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3000" b="1">
                <a:solidFill>
                  <a:srgbClr val="241F1A"/>
                </a:solidFill>
                <a:latin typeface="Trebuchet MS"/>
              </a:rPr>
              <a:t>Choosing a model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0B53F3-6235-4B58-A5F6-C492B533799E}"/>
              </a:ext>
            </a:extLst>
          </p:cNvPr>
          <p:cNvSpPr/>
          <p:nvPr/>
        </p:nvSpPr>
        <p:spPr>
          <a:xfrm>
            <a:off x="838200" y="1320800"/>
            <a:ext cx="381000" cy="63500"/>
          </a:xfrm>
          <a:prstGeom prst="rect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F9806B-3CF9-4677-A0CD-2B291151B212}"/>
              </a:ext>
            </a:extLst>
          </p:cNvPr>
          <p:cNvSpPr/>
          <p:nvPr/>
        </p:nvSpPr>
        <p:spPr>
          <a:xfrm>
            <a:off x="1244600" y="1320800"/>
            <a:ext cx="381000" cy="63500"/>
          </a:xfrm>
          <a:prstGeom prst="rect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0C8911-CBD5-442E-BB8D-25DFE9FB6B6A}"/>
              </a:ext>
            </a:extLst>
          </p:cNvPr>
          <p:cNvSpPr txBox="1"/>
          <p:nvPr/>
        </p:nvSpPr>
        <p:spPr>
          <a:xfrm>
            <a:off x="812800" y="14732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5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Match the model to the question you're asking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C87B41-687F-4388-987B-EB48D51AAF9C}"/>
              </a:ext>
            </a:extLst>
          </p:cNvPr>
          <p:cNvSpPr txBox="1"/>
          <p:nvPr/>
        </p:nvSpPr>
        <p:spPr>
          <a:xfrm>
            <a:off x="9982200" y="381000"/>
            <a:ext cx="1651000" cy="812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4600" b="1">
                <a:solidFill>
                  <a:srgbClr val="E7DECB"/>
                </a:solidFill>
                <a:latin typeface="Trebuchet MS"/>
              </a:rPr>
              <a:t>14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6180C2-5D6C-412C-BC5C-F35AC5921126}"/>
              </a:ext>
            </a:extLst>
          </p:cNvPr>
          <p:cNvSpPr/>
          <p:nvPr/>
        </p:nvSpPr>
        <p:spPr>
          <a:xfrm>
            <a:off x="571500" y="2590800"/>
            <a:ext cx="11061700" cy="609600"/>
          </a:xfrm>
          <a:prstGeom prst="rect">
            <a:avLst/>
          </a:prstGeom>
          <a:solidFill>
            <a:srgbClr val="FBF8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F3E537-F699-4E6F-8E14-8E8CE5554E4F}"/>
              </a:ext>
            </a:extLst>
          </p:cNvPr>
          <p:cNvSpPr/>
          <p:nvPr/>
        </p:nvSpPr>
        <p:spPr>
          <a:xfrm>
            <a:off x="571500" y="3200400"/>
            <a:ext cx="11061700" cy="609600"/>
          </a:xfrm>
          <a:prstGeom prst="rect">
            <a:avLst/>
          </a:prstGeom>
          <a:solidFill>
            <a:srgbClr val="F1EA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054B25-B897-4B02-A2A2-F5C676D4A585}"/>
              </a:ext>
            </a:extLst>
          </p:cNvPr>
          <p:cNvSpPr/>
          <p:nvPr/>
        </p:nvSpPr>
        <p:spPr>
          <a:xfrm>
            <a:off x="571500" y="3810000"/>
            <a:ext cx="11061700" cy="609600"/>
          </a:xfrm>
          <a:prstGeom prst="rect">
            <a:avLst/>
          </a:prstGeom>
          <a:solidFill>
            <a:srgbClr val="FBF8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2493AB-E40B-4920-A7EA-A902E7671C78}"/>
              </a:ext>
            </a:extLst>
          </p:cNvPr>
          <p:cNvSpPr/>
          <p:nvPr/>
        </p:nvSpPr>
        <p:spPr>
          <a:xfrm>
            <a:off x="571500" y="4419600"/>
            <a:ext cx="11061700" cy="609600"/>
          </a:xfrm>
          <a:prstGeom prst="rect">
            <a:avLst/>
          </a:prstGeom>
          <a:solidFill>
            <a:srgbClr val="F1EA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E2591B-824B-4837-BE3A-A0A871A9DB8C}"/>
              </a:ext>
            </a:extLst>
          </p:cNvPr>
          <p:cNvSpPr/>
          <p:nvPr/>
        </p:nvSpPr>
        <p:spPr>
          <a:xfrm>
            <a:off x="571500" y="5029200"/>
            <a:ext cx="11061700" cy="609600"/>
          </a:xfrm>
          <a:prstGeom prst="rect">
            <a:avLst/>
          </a:prstGeom>
          <a:solidFill>
            <a:srgbClr val="FBF8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D53FB0-3B90-4EBC-95EA-EB59B52ABDC8}"/>
              </a:ext>
            </a:extLst>
          </p:cNvPr>
          <p:cNvSpPr/>
          <p:nvPr/>
        </p:nvSpPr>
        <p:spPr>
          <a:xfrm>
            <a:off x="571500" y="5638800"/>
            <a:ext cx="11061700" cy="609600"/>
          </a:xfrm>
          <a:prstGeom prst="rect">
            <a:avLst/>
          </a:prstGeom>
          <a:solidFill>
            <a:srgbClr val="F1EA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219545-DCC1-4DE4-86AF-D188B9CBA288}"/>
              </a:ext>
            </a:extLst>
          </p:cNvPr>
          <p:cNvSpPr/>
          <p:nvPr/>
        </p:nvSpPr>
        <p:spPr>
          <a:xfrm>
            <a:off x="571500" y="2032000"/>
            <a:ext cx="2540000" cy="558800"/>
          </a:xfrm>
          <a:prstGeom prst="rect">
            <a:avLst/>
          </a:prstGeom>
          <a:solidFill>
            <a:srgbClr val="241F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52CDB0-207B-4D25-A2D4-B19FDA84EB0D}"/>
              </a:ext>
            </a:extLst>
          </p:cNvPr>
          <p:cNvSpPr/>
          <p:nvPr/>
        </p:nvSpPr>
        <p:spPr>
          <a:xfrm>
            <a:off x="3111500" y="2032000"/>
            <a:ext cx="4267200" cy="558800"/>
          </a:xfrm>
          <a:prstGeom prst="rect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411DCA-969D-4DF0-9632-C49F750E5E63}"/>
              </a:ext>
            </a:extLst>
          </p:cNvPr>
          <p:cNvSpPr/>
          <p:nvPr/>
        </p:nvSpPr>
        <p:spPr>
          <a:xfrm>
            <a:off x="7378700" y="2032000"/>
            <a:ext cx="4254500" cy="558800"/>
          </a:xfrm>
          <a:prstGeom prst="rect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B47A45-9392-4160-A749-B316D5F0FC2A}"/>
              </a:ext>
            </a:extLst>
          </p:cNvPr>
          <p:cNvSpPr txBox="1"/>
          <p:nvPr/>
        </p:nvSpPr>
        <p:spPr>
          <a:xfrm>
            <a:off x="774700" y="2032000"/>
            <a:ext cx="23368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Trebuchet MS"/>
              </a:rPr>
              <a:t>ASPECT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027C00-E25F-410C-A321-D113B0D0C180}"/>
              </a:ext>
            </a:extLst>
          </p:cNvPr>
          <p:cNvSpPr txBox="1"/>
          <p:nvPr/>
        </p:nvSpPr>
        <p:spPr>
          <a:xfrm>
            <a:off x="3111500" y="2032000"/>
            <a:ext cx="42672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Trebuchet MS"/>
              </a:rPr>
              <a:t>VECTOR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DE2DBD-E5D3-42BC-8344-7E3E7CD165A1}"/>
              </a:ext>
            </a:extLst>
          </p:cNvPr>
          <p:cNvSpPr txBox="1"/>
          <p:nvPr/>
        </p:nvSpPr>
        <p:spPr>
          <a:xfrm>
            <a:off x="7378700" y="2032000"/>
            <a:ext cx="42545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Trebuchet MS"/>
              </a:rPr>
              <a:t>RASTER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6EBDBE-2563-4290-A045-2143E041802E}"/>
              </a:ext>
            </a:extLst>
          </p:cNvPr>
          <p:cNvSpPr txBox="1"/>
          <p:nvPr/>
        </p:nvSpPr>
        <p:spPr>
          <a:xfrm>
            <a:off x="774700" y="2590800"/>
            <a:ext cx="22352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241F1A"/>
                </a:solidFill>
                <a:latin typeface="Trebuchet MS"/>
              </a:rPr>
              <a:t>Structure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6D8ABF-BF3D-49A7-8AA8-0693D7804CA3}"/>
              </a:ext>
            </a:extLst>
          </p:cNvPr>
          <p:cNvSpPr txBox="1"/>
          <p:nvPr/>
        </p:nvSpPr>
        <p:spPr>
          <a:xfrm>
            <a:off x="3314700" y="2590800"/>
            <a:ext cx="39116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Coordinates — points, lines, polygons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92944D-FDB7-4260-B489-82639520BCCC}"/>
              </a:ext>
            </a:extLst>
          </p:cNvPr>
          <p:cNvSpPr txBox="1"/>
          <p:nvPr/>
        </p:nvSpPr>
        <p:spPr>
          <a:xfrm>
            <a:off x="7581900" y="2590800"/>
            <a:ext cx="38989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Grid of equal-sized cells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153026-2611-4793-A4FD-26EFCC974482}"/>
              </a:ext>
            </a:extLst>
          </p:cNvPr>
          <p:cNvSpPr txBox="1"/>
          <p:nvPr/>
        </p:nvSpPr>
        <p:spPr>
          <a:xfrm>
            <a:off x="774700" y="3200400"/>
            <a:ext cx="22352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241F1A"/>
                </a:solidFill>
                <a:latin typeface="Trebuchet MS"/>
              </a:rPr>
              <a:t>Represents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3751AC-FEFF-4091-9FAB-D63A14AAF3A6}"/>
              </a:ext>
            </a:extLst>
          </p:cNvPr>
          <p:cNvSpPr txBox="1"/>
          <p:nvPr/>
        </p:nvSpPr>
        <p:spPr>
          <a:xfrm>
            <a:off x="3314700" y="3200400"/>
            <a:ext cx="39116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Discrete objects with boundaries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527FC7-B549-45F3-A2EF-6358D74F5208}"/>
              </a:ext>
            </a:extLst>
          </p:cNvPr>
          <p:cNvSpPr txBox="1"/>
          <p:nvPr/>
        </p:nvSpPr>
        <p:spPr>
          <a:xfrm>
            <a:off x="7581900" y="3200400"/>
            <a:ext cx="38989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Continuous fields and surfaces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8B2D67-27FC-4C05-B0A5-E2EA3B854752}"/>
              </a:ext>
            </a:extLst>
          </p:cNvPr>
          <p:cNvSpPr txBox="1"/>
          <p:nvPr/>
        </p:nvSpPr>
        <p:spPr>
          <a:xfrm>
            <a:off x="774700" y="3810000"/>
            <a:ext cx="22352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241F1A"/>
                </a:solidFill>
                <a:latin typeface="Trebuchet MS"/>
              </a:rPr>
              <a:t>Precision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C6C6BE-13D6-40B8-9263-EAE44B3FB47E}"/>
              </a:ext>
            </a:extLst>
          </p:cNvPr>
          <p:cNvSpPr txBox="1"/>
          <p:nvPr/>
        </p:nvSpPr>
        <p:spPr>
          <a:xfrm>
            <a:off x="3314700" y="3810000"/>
            <a:ext cx="39116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Exact geometry; scales to any zoom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BC7DC8-A983-4F32-9272-6F866FDFF84E}"/>
              </a:ext>
            </a:extLst>
          </p:cNvPr>
          <p:cNvSpPr txBox="1"/>
          <p:nvPr/>
        </p:nvSpPr>
        <p:spPr>
          <a:xfrm>
            <a:off x="7581900" y="3810000"/>
            <a:ext cx="38989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Fixed by cell size (resolution)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865702-53CC-441D-997C-B87F8DC6D1B6}"/>
              </a:ext>
            </a:extLst>
          </p:cNvPr>
          <p:cNvSpPr txBox="1"/>
          <p:nvPr/>
        </p:nvSpPr>
        <p:spPr>
          <a:xfrm>
            <a:off x="774700" y="4419600"/>
            <a:ext cx="22352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241F1A"/>
                </a:solidFill>
                <a:latin typeface="Trebuchet MS"/>
              </a:rPr>
              <a:t>File size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695785-A032-4E41-B133-87DD2D8C4267}"/>
              </a:ext>
            </a:extLst>
          </p:cNvPr>
          <p:cNvSpPr txBox="1"/>
          <p:nvPr/>
        </p:nvSpPr>
        <p:spPr>
          <a:xfrm>
            <a:off x="3314700" y="4419600"/>
            <a:ext cx="39116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Compact for sparse features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589ABE-B53F-44E4-BA7C-369554322788}"/>
              </a:ext>
            </a:extLst>
          </p:cNvPr>
          <p:cNvSpPr txBox="1"/>
          <p:nvPr/>
        </p:nvSpPr>
        <p:spPr>
          <a:xfrm>
            <a:off x="7581900" y="4419600"/>
            <a:ext cx="38989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Grows with resolution and extent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D7FFBE-ACBA-4B8C-AD32-C10FF3E0ED93}"/>
              </a:ext>
            </a:extLst>
          </p:cNvPr>
          <p:cNvSpPr txBox="1"/>
          <p:nvPr/>
        </p:nvSpPr>
        <p:spPr>
          <a:xfrm>
            <a:off x="774700" y="5029200"/>
            <a:ext cx="22352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241F1A"/>
                </a:solidFill>
                <a:latin typeface="Trebuchet MS"/>
              </a:rPr>
              <a:t>Best analysis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95E27AA-ADE2-4F04-AF36-C07B519126B2}"/>
              </a:ext>
            </a:extLst>
          </p:cNvPr>
          <p:cNvSpPr txBox="1"/>
          <p:nvPr/>
        </p:nvSpPr>
        <p:spPr>
          <a:xfrm>
            <a:off x="3314700" y="5029200"/>
            <a:ext cx="39116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Overlay, topology, networks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AFDA5A-FF0C-488C-AA6B-6BFDE430E717}"/>
              </a:ext>
            </a:extLst>
          </p:cNvPr>
          <p:cNvSpPr txBox="1"/>
          <p:nvPr/>
        </p:nvSpPr>
        <p:spPr>
          <a:xfrm>
            <a:off x="7581900" y="5029200"/>
            <a:ext cx="38989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Map algebra, terrain, interpolation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B417059-EC97-4CF5-B448-33D332C65858}"/>
              </a:ext>
            </a:extLst>
          </p:cNvPr>
          <p:cNvSpPr txBox="1"/>
          <p:nvPr/>
        </p:nvSpPr>
        <p:spPr>
          <a:xfrm>
            <a:off x="774700" y="5638800"/>
            <a:ext cx="22352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241F1A"/>
                </a:solidFill>
                <a:latin typeface="Trebuchet MS"/>
              </a:rPr>
              <a:t>Typical data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6A47DC-69DC-46E1-B055-D1DF82B75F94}"/>
              </a:ext>
            </a:extLst>
          </p:cNvPr>
          <p:cNvSpPr txBox="1"/>
          <p:nvPr/>
        </p:nvSpPr>
        <p:spPr>
          <a:xfrm>
            <a:off x="3314700" y="5638800"/>
            <a:ext cx="39116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Parcels, roads, wells, zones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395E5E-43C1-4593-9419-8D5804010265}"/>
              </a:ext>
            </a:extLst>
          </p:cNvPr>
          <p:cNvSpPr txBox="1"/>
          <p:nvPr/>
        </p:nvSpPr>
        <p:spPr>
          <a:xfrm>
            <a:off x="7581900" y="5638800"/>
            <a:ext cx="38989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Imagery, DEMs, land cover, temperature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542165E-9E4A-4E13-BCAA-39EDE4BABA5D}"/>
              </a:ext>
            </a:extLst>
          </p:cNvPr>
          <p:cNvSpPr/>
          <p:nvPr/>
        </p:nvSpPr>
        <p:spPr>
          <a:xfrm>
            <a:off x="3098800" y="2032000"/>
            <a:ext cx="12700" cy="4216400"/>
          </a:xfrm>
          <a:prstGeom prst="rect">
            <a:avLst/>
          </a:prstGeom>
          <a:solidFill>
            <a:srgbClr val="DAD0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C654C9C-0FB1-47FC-9D56-9928E4C85306}"/>
              </a:ext>
            </a:extLst>
          </p:cNvPr>
          <p:cNvSpPr/>
          <p:nvPr/>
        </p:nvSpPr>
        <p:spPr>
          <a:xfrm>
            <a:off x="7366000" y="2032000"/>
            <a:ext cx="12700" cy="4216400"/>
          </a:xfrm>
          <a:prstGeom prst="rect">
            <a:avLst/>
          </a:prstGeom>
          <a:solidFill>
            <a:srgbClr val="DAD0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066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17AE449F-5B86-49E9-953D-014CF37EBD78}"/>
              </a:ext>
            </a:extLst>
          </p:cNvPr>
          <p:cNvSpPr txBox="1"/>
          <p:nvPr/>
        </p:nvSpPr>
        <p:spPr>
          <a:xfrm>
            <a:off x="812800" y="508000"/>
            <a:ext cx="596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B8862B"/>
                </a:solidFill>
                <a:latin typeface="Trebuchet MS"/>
              </a:rPr>
              <a:t>VECTOR VS RASTER DATA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5AEE31-F077-48BD-B684-E7286F030A44}"/>
              </a:ext>
            </a:extLst>
          </p:cNvPr>
          <p:cNvSpPr txBox="1"/>
          <p:nvPr/>
        </p:nvSpPr>
        <p:spPr>
          <a:xfrm>
            <a:off x="812800" y="762000"/>
            <a:ext cx="889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241F1A"/>
                </a:solidFill>
                <a:latin typeface="Trebuchet MS"/>
              </a:rPr>
              <a:t>Your turn — hands-on lab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90774B8-2F7B-4CCB-A090-F974056AE3BB}"/>
              </a:ext>
            </a:extLst>
          </p:cNvPr>
          <p:cNvSpPr/>
          <p:nvPr/>
        </p:nvSpPr>
        <p:spPr>
          <a:xfrm>
            <a:off x="838200" y="1320800"/>
            <a:ext cx="381000" cy="63500"/>
          </a:xfrm>
          <a:prstGeom prst="rect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29D4D22-B124-4E8E-8001-E66DB0474DBE}"/>
              </a:ext>
            </a:extLst>
          </p:cNvPr>
          <p:cNvSpPr/>
          <p:nvPr/>
        </p:nvSpPr>
        <p:spPr>
          <a:xfrm>
            <a:off x="1244600" y="1320800"/>
            <a:ext cx="381000" cy="63500"/>
          </a:xfrm>
          <a:prstGeom prst="rect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AE5463-69DC-4066-BE93-C760961CA2E9}"/>
              </a:ext>
            </a:extLst>
          </p:cNvPr>
          <p:cNvSpPr txBox="1"/>
          <p:nvPr/>
        </p:nvSpPr>
        <p:spPr>
          <a:xfrm>
            <a:off x="812800" y="14732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Compare a vector layer and a raster in ArcGIS Pro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F12B53-46B6-4919-96F9-15D5E2FB03DA}"/>
              </a:ext>
            </a:extLst>
          </p:cNvPr>
          <p:cNvSpPr txBox="1"/>
          <p:nvPr/>
        </p:nvSpPr>
        <p:spPr>
          <a:xfrm>
            <a:off x="9982200" y="381000"/>
            <a:ext cx="1651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600" b="1">
                <a:solidFill>
                  <a:srgbClr val="E7DECB"/>
                </a:solidFill>
                <a:latin typeface="Trebuchet MS"/>
              </a:rPr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EE8AE8-6A8D-4299-9099-4F361E50D619}"/>
              </a:ext>
            </a:extLst>
          </p:cNvPr>
          <p:cNvSpPr txBox="1"/>
          <p:nvPr/>
        </p:nvSpPr>
        <p:spPr>
          <a:xfrm>
            <a:off x="812800" y="20066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B8862B"/>
                </a:solidFill>
                <a:latin typeface="Trebuchet MS"/>
              </a:rPr>
              <a:t>TASK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64E7FCD-3FB3-4C9D-ABA8-C0382B349091}"/>
              </a:ext>
            </a:extLst>
          </p:cNvPr>
          <p:cNvSpPr/>
          <p:nvPr/>
        </p:nvSpPr>
        <p:spPr>
          <a:xfrm>
            <a:off x="812800" y="2336800"/>
            <a:ext cx="355600" cy="355600"/>
          </a:xfrm>
          <a:prstGeom prst="ellipse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1C6301-585E-4CAA-9E28-DE8C3360B6DA}"/>
              </a:ext>
            </a:extLst>
          </p:cNvPr>
          <p:cNvSpPr txBox="1"/>
          <p:nvPr/>
        </p:nvSpPr>
        <p:spPr>
          <a:xfrm>
            <a:off x="1346200" y="2311400"/>
            <a:ext cx="5308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Add a vector layer (parcels or roads) and a raster (a DEM or satellite image) to your map.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192D0CD-8607-4405-97CD-A98E82126B07}"/>
              </a:ext>
            </a:extLst>
          </p:cNvPr>
          <p:cNvSpPr/>
          <p:nvPr/>
        </p:nvSpPr>
        <p:spPr>
          <a:xfrm>
            <a:off x="812800" y="3149600"/>
            <a:ext cx="355600" cy="355600"/>
          </a:xfrm>
          <a:prstGeom prst="ellipse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7B6E9CD-8C63-4064-BCB3-79520D164763}"/>
              </a:ext>
            </a:extLst>
          </p:cNvPr>
          <p:cNvSpPr txBox="1"/>
          <p:nvPr/>
        </p:nvSpPr>
        <p:spPr>
          <a:xfrm>
            <a:off x="1346200" y="3124200"/>
            <a:ext cx="5308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Open the vector layer's attribute table — each row is one feature with its own attributes.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F4D573D-FBF7-4001-A135-7EEA68A85CB3}"/>
              </a:ext>
            </a:extLst>
          </p:cNvPr>
          <p:cNvSpPr/>
          <p:nvPr/>
        </p:nvSpPr>
        <p:spPr>
          <a:xfrm>
            <a:off x="812800" y="3962400"/>
            <a:ext cx="355600" cy="355600"/>
          </a:xfrm>
          <a:prstGeom prst="ellipse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5D669B6-27F3-4D69-9E5A-E26FDD4CBE7C}"/>
              </a:ext>
            </a:extLst>
          </p:cNvPr>
          <p:cNvSpPr txBox="1"/>
          <p:nvPr/>
        </p:nvSpPr>
        <p:spPr>
          <a:xfrm>
            <a:off x="1346200" y="3937000"/>
            <a:ext cx="5308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Use Explore to click a raster cell and read its value (elevation, band values, or class).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BDBBA5C-F604-4AB3-8F30-7D3BB569D11B}"/>
              </a:ext>
            </a:extLst>
          </p:cNvPr>
          <p:cNvSpPr/>
          <p:nvPr/>
        </p:nvSpPr>
        <p:spPr>
          <a:xfrm>
            <a:off x="812800" y="4775200"/>
            <a:ext cx="355600" cy="355600"/>
          </a:xfrm>
          <a:prstGeom prst="ellipse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F52F64-29D5-4706-90A6-EBD415968DC6}"/>
              </a:ext>
            </a:extLst>
          </p:cNvPr>
          <p:cNvSpPr txBox="1"/>
          <p:nvPr/>
        </p:nvSpPr>
        <p:spPr>
          <a:xfrm>
            <a:off x="1346200" y="4749800"/>
            <a:ext cx="5308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Open the raster's Layer Properties → Source and note its cell size (spatial resolution).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D37C44E-A6A5-4D88-BF92-7ADB71D585A2}"/>
              </a:ext>
            </a:extLst>
          </p:cNvPr>
          <p:cNvSpPr/>
          <p:nvPr/>
        </p:nvSpPr>
        <p:spPr>
          <a:xfrm>
            <a:off x="812800" y="5588000"/>
            <a:ext cx="355600" cy="355600"/>
          </a:xfrm>
          <a:prstGeom prst="ellipse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3471E41-5035-4CD6-B413-5BF7E6BFFD6F}"/>
              </a:ext>
            </a:extLst>
          </p:cNvPr>
          <p:cNvSpPr txBox="1"/>
          <p:nvPr/>
        </p:nvSpPr>
        <p:spPr>
          <a:xfrm>
            <a:off x="1346200" y="5562600"/>
            <a:ext cx="5308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Run Raster to Polygon (Conversion Tools) and compare the output to the original raster.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ABCDB59D-30BA-4646-A780-C5868650FA0E}"/>
              </a:ext>
            </a:extLst>
          </p:cNvPr>
          <p:cNvSpPr/>
          <p:nvPr/>
        </p:nvSpPr>
        <p:spPr>
          <a:xfrm>
            <a:off x="7112000" y="2006600"/>
            <a:ext cx="4521200" cy="2616200"/>
          </a:xfrm>
          <a:prstGeom prst="roundRect">
            <a:avLst/>
          </a:prstGeom>
          <a:solidFill>
            <a:srgbClr val="FBF8F2"/>
          </a:solidFill>
          <a:ln w="12700" cap="flat" cmpd="sng" algn="ctr">
            <a:solidFill>
              <a:srgbClr val="DAD0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5CB964D-B5D6-4A16-94AD-6928A41A0716}"/>
              </a:ext>
            </a:extLst>
          </p:cNvPr>
          <p:cNvSpPr txBox="1"/>
          <p:nvPr/>
        </p:nvSpPr>
        <p:spPr>
          <a:xfrm>
            <a:off x="7391400" y="2209800"/>
            <a:ext cx="406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B8862B"/>
                </a:solidFill>
                <a:latin typeface="Trebuchet MS"/>
              </a:rPr>
              <a:t>ANSWER KEY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F78710-DB19-4592-A817-81CF14684634}"/>
              </a:ext>
            </a:extLst>
          </p:cNvPr>
          <p:cNvSpPr txBox="1"/>
          <p:nvPr/>
        </p:nvSpPr>
        <p:spPr>
          <a:xfrm>
            <a:off x="7391400" y="2540000"/>
            <a:ext cx="4064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241F1A"/>
                </a:solidFill>
                <a:latin typeface="Trebuchet MS"/>
              </a:rPr>
              <a:t>Step 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73BC600-16BF-4700-8019-71983285CA3C}"/>
              </a:ext>
            </a:extLst>
          </p:cNvPr>
          <p:cNvSpPr txBox="1"/>
          <p:nvPr/>
        </p:nvSpPr>
        <p:spPr>
          <a:xfrm>
            <a:off x="7391400" y="2755900"/>
            <a:ext cx="3962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Explore shows the pixel / band value for the cell you click.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B1706A8-3932-42C7-80B3-B7AFA29F86EE}"/>
              </a:ext>
            </a:extLst>
          </p:cNvPr>
          <p:cNvSpPr txBox="1"/>
          <p:nvPr/>
        </p:nvSpPr>
        <p:spPr>
          <a:xfrm>
            <a:off x="7391400" y="3225800"/>
            <a:ext cx="4064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241F1A"/>
                </a:solidFill>
                <a:latin typeface="Trebuchet MS"/>
              </a:rPr>
              <a:t>Step 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89812CB-F42F-4608-849C-D299E4EE6626}"/>
              </a:ext>
            </a:extLst>
          </p:cNvPr>
          <p:cNvSpPr txBox="1"/>
          <p:nvPr/>
        </p:nvSpPr>
        <p:spPr>
          <a:xfrm>
            <a:off x="7391400" y="3441700"/>
            <a:ext cx="3962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Layer Properties → Source lists the cell size (e.g., 30 m).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62B197-A932-4E62-A7C0-F2FFD0B5DE27}"/>
              </a:ext>
            </a:extLst>
          </p:cNvPr>
          <p:cNvSpPr txBox="1"/>
          <p:nvPr/>
        </p:nvSpPr>
        <p:spPr>
          <a:xfrm>
            <a:off x="7391400" y="3911600"/>
            <a:ext cx="4064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241F1A"/>
                </a:solidFill>
                <a:latin typeface="Trebuchet MS"/>
              </a:rPr>
              <a:t>Step 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37ED39A-9CBE-45B8-95A0-FC490494ED09}"/>
              </a:ext>
            </a:extLst>
          </p:cNvPr>
          <p:cNvSpPr txBox="1"/>
          <p:nvPr/>
        </p:nvSpPr>
        <p:spPr>
          <a:xfrm>
            <a:off x="7391400" y="4127500"/>
            <a:ext cx="3962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Raster to Polygon builds polygons from cell zones.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C90A0C04-ED1A-47C5-B29E-8801F3B9FDAB}"/>
              </a:ext>
            </a:extLst>
          </p:cNvPr>
          <p:cNvSpPr/>
          <p:nvPr/>
        </p:nvSpPr>
        <p:spPr>
          <a:xfrm>
            <a:off x="7112000" y="4800600"/>
            <a:ext cx="4521200" cy="1422400"/>
          </a:xfrm>
          <a:prstGeom prst="roundRect">
            <a:avLst/>
          </a:prstGeom>
          <a:solidFill>
            <a:srgbClr val="E3EFEA"/>
          </a:solidFill>
          <a:ln w="15875" cap="flat" cmpd="sng" algn="ctr">
            <a:solidFill>
              <a:srgbClr val="1F6F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DFD431A-33F0-41D3-AE26-EA966DDF0CFF}"/>
              </a:ext>
            </a:extLst>
          </p:cNvPr>
          <p:cNvSpPr txBox="1"/>
          <p:nvPr/>
        </p:nvSpPr>
        <p:spPr>
          <a:xfrm>
            <a:off x="7391400" y="4978400"/>
            <a:ext cx="406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1F6F5C"/>
                </a:solidFill>
                <a:latin typeface="Trebuchet MS"/>
              </a:rPr>
              <a:t>EXPECTED RESULT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FF07154-4DE9-42EC-843A-36A288B7E1A9}"/>
              </a:ext>
            </a:extLst>
          </p:cNvPr>
          <p:cNvSpPr txBox="1"/>
          <p:nvPr/>
        </p:nvSpPr>
        <p:spPr>
          <a:xfrm>
            <a:off x="7391400" y="5232400"/>
            <a:ext cx="3962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dirty="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You can explain how vector stores discrete features (each row = a feature) while raster stores a value per cell — and when to convert between them.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4E47AFE-D828-454D-A0AF-AF414F77C5EB}"/>
              </a:ext>
            </a:extLst>
          </p:cNvPr>
          <p:cNvSpPr/>
          <p:nvPr/>
        </p:nvSpPr>
        <p:spPr>
          <a:xfrm>
            <a:off x="7112000" y="2006600"/>
            <a:ext cx="4521200" cy="2616200"/>
          </a:xfrm>
          <a:prstGeom prst="roundRect">
            <a:avLst/>
          </a:prstGeom>
          <a:solidFill>
            <a:srgbClr val="F7EFDD"/>
          </a:solidFill>
          <a:ln w="15875" cap="flat" cmpd="sng" algn="ctr">
            <a:solidFill>
              <a:srgbClr val="B8862B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FECB6-9B53-43D6-9F5E-3FA6D723F6E4}"/>
              </a:ext>
            </a:extLst>
          </p:cNvPr>
          <p:cNvSpPr txBox="1"/>
          <p:nvPr/>
        </p:nvSpPr>
        <p:spPr>
          <a:xfrm>
            <a:off x="7315200" y="2997200"/>
            <a:ext cx="41148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500" b="1">
                <a:solidFill>
                  <a:srgbClr val="B8862B"/>
                </a:solidFill>
                <a:latin typeface="Trebuchet MS"/>
              </a:rPr>
              <a:t>Click to reveal the Answer Key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01FED7-BCBC-4AB4-9F0E-7EF75D47C3BC}"/>
              </a:ext>
            </a:extLst>
          </p:cNvPr>
          <p:cNvSpPr/>
          <p:nvPr/>
        </p:nvSpPr>
        <p:spPr>
          <a:xfrm>
            <a:off x="7112000" y="4800600"/>
            <a:ext cx="4521200" cy="1422400"/>
          </a:xfrm>
          <a:prstGeom prst="roundRect">
            <a:avLst/>
          </a:prstGeom>
          <a:solidFill>
            <a:srgbClr val="F7EFDD"/>
          </a:solidFill>
          <a:ln w="15875" cap="flat" cmpd="sng" algn="ctr">
            <a:solidFill>
              <a:srgbClr val="B8862B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CBEB91-3CA1-45ED-BB66-13D0C843B4C1}"/>
              </a:ext>
            </a:extLst>
          </p:cNvPr>
          <p:cNvSpPr txBox="1"/>
          <p:nvPr/>
        </p:nvSpPr>
        <p:spPr>
          <a:xfrm>
            <a:off x="7315200" y="5334000"/>
            <a:ext cx="41148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B8862B"/>
                </a:solidFill>
                <a:latin typeface="Trebuchet MS"/>
              </a:rPr>
              <a:t>Click to reveal the Expected Result</a:t>
            </a:r>
          </a:p>
        </p:txBody>
      </p:sp>
      <p:pic>
        <p:nvPicPr>
          <p:cNvPr id="66" name="Graphic 66" descr="Click cursor cu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4800" y="2514600"/>
            <a:ext cx="355600" cy="355600"/>
          </a:xfrm>
          <a:prstGeom prst="rect">
            <a:avLst/>
          </a:prstGeom>
        </p:spPr>
      </p:pic>
      <p:pic>
        <p:nvPicPr>
          <p:cNvPr id="67" name="Graphic 67" descr="Click cursor cu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20200" y="49530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09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00" restart="whenNotActive" fill="hold" nodeType="interactiveSeq">
                <p:stCondLst>
                  <p:cond evt="onClick" delay="0">
                    <p:tgtEl>
                      <p:spTgt spid="2"/>
                    </p:tgtEl>
                  </p:cond>
                  <p:cond evt="onClick" delay="0">
                    <p:tgtEl>
                      <p:spTgt spid="3"/>
                    </p:tgtEl>
                  </p:cond>
                  <p:cond evt="onClick" delay="0">
                    <p:tgtEl>
                      <p:spTgt spid="66"/>
                    </p:tgtEl>
                  </p:cond>
                </p:stCondLst>
                <p:childTnLst>
                  <p:par>
                    <p:cTn id="1001" fill="hold">
                      <p:stCondLst>
                        <p:cond delay="0"/>
                      </p:stCondLst>
                      <p:childTnLst>
                        <p:par>
                          <p:cTn id="1002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003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004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20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01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02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0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04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05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06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0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400" restart="whenNotActive" fill="hold" nodeType="interactiveSeq">
                <p:stCondLst>
                  <p:cond evt="onClick" delay="0">
                    <p:tgtEl>
                      <p:spTgt spid="4"/>
                    </p:tgtEl>
                  </p:cond>
                  <p:cond evt="onClick" delay="0">
                    <p:tgtEl>
                      <p:spTgt spid="5"/>
                    </p:tgtEl>
                  </p:cond>
                  <p:cond evt="onClick" delay="0">
                    <p:tgtEl>
                      <p:spTgt spid="67"/>
                    </p:tgtEl>
                  </p:cond>
                </p:stCondLst>
                <p:childTnLst>
                  <p:par>
                    <p:cTn id="1401" fill="hold">
                      <p:stCondLst>
                        <p:cond delay="0"/>
                      </p:stCondLst>
                      <p:childTnLst>
                        <p:par>
                          <p:cTn id="1402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403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404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60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01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02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E48AB2F0-229A-404D-962F-68161D7EDD15}"/>
              </a:ext>
            </a:extLst>
          </p:cNvPr>
          <p:cNvSpPr txBox="1"/>
          <p:nvPr/>
        </p:nvSpPr>
        <p:spPr>
          <a:xfrm>
            <a:off x="812800" y="508000"/>
            <a:ext cx="596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B8862B"/>
                </a:solidFill>
                <a:latin typeface="Trebuchet MS"/>
              </a:rPr>
              <a:t>VECTOR VS RASTER DATA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B88F5F-7D7A-4494-8CEE-E84518C933E8}"/>
              </a:ext>
            </a:extLst>
          </p:cNvPr>
          <p:cNvSpPr txBox="1"/>
          <p:nvPr/>
        </p:nvSpPr>
        <p:spPr>
          <a:xfrm>
            <a:off x="812800" y="762000"/>
            <a:ext cx="762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241F1A"/>
                </a:solidFill>
                <a:latin typeface="Trebuchet MS"/>
              </a:rPr>
              <a:t>Knowledge check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81376AC-F50D-4F7B-92B1-7569FFC48EAC}"/>
              </a:ext>
            </a:extLst>
          </p:cNvPr>
          <p:cNvSpPr/>
          <p:nvPr/>
        </p:nvSpPr>
        <p:spPr>
          <a:xfrm>
            <a:off x="838200" y="1320800"/>
            <a:ext cx="381000" cy="63500"/>
          </a:xfrm>
          <a:prstGeom prst="rect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F9BA5EF-F700-4F26-954C-8A6F7FAB3462}"/>
              </a:ext>
            </a:extLst>
          </p:cNvPr>
          <p:cNvSpPr/>
          <p:nvPr/>
        </p:nvSpPr>
        <p:spPr>
          <a:xfrm>
            <a:off x="1244600" y="1320800"/>
            <a:ext cx="381000" cy="63500"/>
          </a:xfrm>
          <a:prstGeom prst="rect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C0A360-0F9D-459E-AF4E-881A431BA2F9}"/>
              </a:ext>
            </a:extLst>
          </p:cNvPr>
          <p:cNvSpPr txBox="1"/>
          <p:nvPr/>
        </p:nvSpPr>
        <p:spPr>
          <a:xfrm>
            <a:off x="812800" y="14732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Check your understanding of vector and raster 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CA3EAF-25A4-4CB7-9629-D7683D3DC8BF}"/>
              </a:ext>
            </a:extLst>
          </p:cNvPr>
          <p:cNvSpPr txBox="1"/>
          <p:nvPr/>
        </p:nvSpPr>
        <p:spPr>
          <a:xfrm>
            <a:off x="9982200" y="381000"/>
            <a:ext cx="1651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600" b="1">
                <a:solidFill>
                  <a:srgbClr val="E7DECB"/>
                </a:solidFill>
                <a:latin typeface="Trebuchet MS"/>
              </a:rPr>
              <a:t>16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1E0943D-DF06-4A2C-9D3E-C0DB1B67C3F5}"/>
              </a:ext>
            </a:extLst>
          </p:cNvPr>
          <p:cNvSpPr/>
          <p:nvPr/>
        </p:nvSpPr>
        <p:spPr>
          <a:xfrm>
            <a:off x="571500" y="2006600"/>
            <a:ext cx="5461000" cy="2032000"/>
          </a:xfrm>
          <a:prstGeom prst="roundRect">
            <a:avLst/>
          </a:prstGeom>
          <a:solidFill>
            <a:srgbClr val="FBF8F2"/>
          </a:solidFill>
          <a:ln w="12700" cap="flat" cmpd="sng" algn="ctr">
            <a:solidFill>
              <a:srgbClr val="DAD0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05DAB43-7A4B-40DD-B3C2-1DA84E4E7F30}"/>
              </a:ext>
            </a:extLst>
          </p:cNvPr>
          <p:cNvSpPr/>
          <p:nvPr/>
        </p:nvSpPr>
        <p:spPr>
          <a:xfrm>
            <a:off x="800100" y="2235200"/>
            <a:ext cx="381000" cy="381000"/>
          </a:xfrm>
          <a:prstGeom prst="ellipse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C0D494-83FD-4CBB-B9EB-283E7478F4C5}"/>
              </a:ext>
            </a:extLst>
          </p:cNvPr>
          <p:cNvSpPr txBox="1"/>
          <p:nvPr/>
        </p:nvSpPr>
        <p:spPr>
          <a:xfrm>
            <a:off x="1333500" y="2209800"/>
            <a:ext cx="44704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241F1A"/>
                </a:solidFill>
                <a:latin typeface="Trebuchet MS"/>
              </a:rPr>
              <a:t>Which data model stores features as coordinates with attributes?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C0A3DA-F8A7-4F59-BADC-33F3EFAC383A}"/>
              </a:ext>
            </a:extLst>
          </p:cNvPr>
          <p:cNvSpPr txBox="1"/>
          <p:nvPr/>
        </p:nvSpPr>
        <p:spPr>
          <a:xfrm>
            <a:off x="1333500" y="2895600"/>
            <a:ext cx="152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1F6F5C"/>
                </a:solidFill>
                <a:latin typeface="Trebuchet MS"/>
              </a:rPr>
              <a:t>ANSWER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6610C2-541C-41C9-8AA5-812A159E1101}"/>
              </a:ext>
            </a:extLst>
          </p:cNvPr>
          <p:cNvSpPr txBox="1"/>
          <p:nvPr/>
        </p:nvSpPr>
        <p:spPr>
          <a:xfrm>
            <a:off x="1333500" y="3124200"/>
            <a:ext cx="43942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Vector — points, lines and polygons defined by coordinate pairs, each with an attribute record.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0A984B3-4002-4097-BE8F-1A59AE959457}"/>
              </a:ext>
            </a:extLst>
          </p:cNvPr>
          <p:cNvSpPr/>
          <p:nvPr/>
        </p:nvSpPr>
        <p:spPr>
          <a:xfrm>
            <a:off x="6172200" y="2006600"/>
            <a:ext cx="5461000" cy="2032000"/>
          </a:xfrm>
          <a:prstGeom prst="roundRect">
            <a:avLst/>
          </a:prstGeom>
          <a:solidFill>
            <a:srgbClr val="FBF8F2"/>
          </a:solidFill>
          <a:ln w="12700" cap="flat" cmpd="sng" algn="ctr">
            <a:solidFill>
              <a:srgbClr val="DAD0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1FEB602-1ABF-49D3-8FBF-EF9B277C2562}"/>
              </a:ext>
            </a:extLst>
          </p:cNvPr>
          <p:cNvSpPr/>
          <p:nvPr/>
        </p:nvSpPr>
        <p:spPr>
          <a:xfrm>
            <a:off x="6400800" y="2235200"/>
            <a:ext cx="381000" cy="381000"/>
          </a:xfrm>
          <a:prstGeom prst="ellipse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AB703C-590C-444D-8D5C-C2C747F367F2}"/>
              </a:ext>
            </a:extLst>
          </p:cNvPr>
          <p:cNvSpPr txBox="1"/>
          <p:nvPr/>
        </p:nvSpPr>
        <p:spPr>
          <a:xfrm>
            <a:off x="6934200" y="2209800"/>
            <a:ext cx="44704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241F1A"/>
                </a:solidFill>
                <a:latin typeface="Trebuchet MS"/>
              </a:rPr>
              <a:t>What does a smaller raster cell size mean?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FE1986-8C1B-4C11-9B80-8058EFEF5D87}"/>
              </a:ext>
            </a:extLst>
          </p:cNvPr>
          <p:cNvSpPr txBox="1"/>
          <p:nvPr/>
        </p:nvSpPr>
        <p:spPr>
          <a:xfrm>
            <a:off x="6934200" y="2895600"/>
            <a:ext cx="152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C25B3E"/>
                </a:solidFill>
                <a:latin typeface="Trebuchet MS"/>
              </a:rPr>
              <a:t>ANSWER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57E791-4683-4CA1-88A6-FDB1B77A95DF}"/>
              </a:ext>
            </a:extLst>
          </p:cNvPr>
          <p:cNvSpPr txBox="1"/>
          <p:nvPr/>
        </p:nvSpPr>
        <p:spPr>
          <a:xfrm>
            <a:off x="6934200" y="3124200"/>
            <a:ext cx="43942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Higher spatial resolution — more detail, but a larger file and heavier processing.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E8D33AC-240B-4420-8F5D-4933A970D83C}"/>
              </a:ext>
            </a:extLst>
          </p:cNvPr>
          <p:cNvSpPr/>
          <p:nvPr/>
        </p:nvSpPr>
        <p:spPr>
          <a:xfrm>
            <a:off x="571500" y="4191000"/>
            <a:ext cx="5461000" cy="2032000"/>
          </a:xfrm>
          <a:prstGeom prst="roundRect">
            <a:avLst/>
          </a:prstGeom>
          <a:solidFill>
            <a:srgbClr val="FBF8F2"/>
          </a:solidFill>
          <a:ln w="12700" cap="flat" cmpd="sng" algn="ctr">
            <a:solidFill>
              <a:srgbClr val="DAD0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161383A-451A-427E-B068-555E5FA4B973}"/>
              </a:ext>
            </a:extLst>
          </p:cNvPr>
          <p:cNvSpPr/>
          <p:nvPr/>
        </p:nvSpPr>
        <p:spPr>
          <a:xfrm>
            <a:off x="800100" y="4419600"/>
            <a:ext cx="381000" cy="381000"/>
          </a:xfrm>
          <a:prstGeom prst="ellipse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BFF987-D1F0-4CB0-8F61-1658803D0A72}"/>
              </a:ext>
            </a:extLst>
          </p:cNvPr>
          <p:cNvSpPr txBox="1"/>
          <p:nvPr/>
        </p:nvSpPr>
        <p:spPr>
          <a:xfrm>
            <a:off x="1333500" y="4394200"/>
            <a:ext cx="44704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241F1A"/>
                </a:solidFill>
                <a:latin typeface="Trebuchet MS"/>
              </a:rPr>
              <a:t>Which model best represents a continuous surface such as elevation?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2A1E8B-8B0E-459C-A10D-A6F9C0CFE857}"/>
              </a:ext>
            </a:extLst>
          </p:cNvPr>
          <p:cNvSpPr txBox="1"/>
          <p:nvPr/>
        </p:nvSpPr>
        <p:spPr>
          <a:xfrm>
            <a:off x="1333500" y="5080000"/>
            <a:ext cx="152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C25B3E"/>
                </a:solidFill>
                <a:latin typeface="Trebuchet MS"/>
              </a:rPr>
              <a:t>ANSWER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28D9353-5BFD-4155-86EA-47408F079392}"/>
              </a:ext>
            </a:extLst>
          </p:cNvPr>
          <p:cNvSpPr txBox="1"/>
          <p:nvPr/>
        </p:nvSpPr>
        <p:spPr>
          <a:xfrm>
            <a:off x="1333500" y="5308600"/>
            <a:ext cx="43942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Raster — every cell holds a value, so the surface is defined everywhere.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AD6F1E8-B1D0-4E10-B02D-3E1C368C5DFA}"/>
              </a:ext>
            </a:extLst>
          </p:cNvPr>
          <p:cNvSpPr/>
          <p:nvPr/>
        </p:nvSpPr>
        <p:spPr>
          <a:xfrm>
            <a:off x="6172200" y="4191000"/>
            <a:ext cx="5461000" cy="2032000"/>
          </a:xfrm>
          <a:prstGeom prst="roundRect">
            <a:avLst/>
          </a:prstGeom>
          <a:solidFill>
            <a:srgbClr val="FBF8F2"/>
          </a:solidFill>
          <a:ln w="12700" cap="flat" cmpd="sng" algn="ctr">
            <a:solidFill>
              <a:srgbClr val="DAD0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B06B005-9C24-4646-BCAA-85ED2A305250}"/>
              </a:ext>
            </a:extLst>
          </p:cNvPr>
          <p:cNvSpPr/>
          <p:nvPr/>
        </p:nvSpPr>
        <p:spPr>
          <a:xfrm>
            <a:off x="6400800" y="4419600"/>
            <a:ext cx="381000" cy="381000"/>
          </a:xfrm>
          <a:prstGeom prst="ellipse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2807A08-E2DA-43CA-95CE-52DBB1753EDE}"/>
              </a:ext>
            </a:extLst>
          </p:cNvPr>
          <p:cNvSpPr txBox="1"/>
          <p:nvPr/>
        </p:nvSpPr>
        <p:spPr>
          <a:xfrm>
            <a:off x="6934200" y="4394200"/>
            <a:ext cx="44704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241F1A"/>
                </a:solidFill>
                <a:latin typeface="Trebuchet MS"/>
              </a:rPr>
              <a:t>You need precise parcel boundaries and network topology. Which model?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560072F-B8D1-49D6-93DA-662D27D22E36}"/>
              </a:ext>
            </a:extLst>
          </p:cNvPr>
          <p:cNvSpPr txBox="1"/>
          <p:nvPr/>
        </p:nvSpPr>
        <p:spPr>
          <a:xfrm>
            <a:off x="6934200" y="5080000"/>
            <a:ext cx="152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1F6F5C"/>
                </a:solidFill>
                <a:latin typeface="Trebuchet MS"/>
              </a:rPr>
              <a:t>ANSWER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5C3C7E-1EE3-4EC7-A254-FC9880B2E88E}"/>
              </a:ext>
            </a:extLst>
          </p:cNvPr>
          <p:cNvSpPr txBox="1"/>
          <p:nvPr/>
        </p:nvSpPr>
        <p:spPr>
          <a:xfrm>
            <a:off x="6934200" y="5308600"/>
            <a:ext cx="43942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Vector — exact geometry plus the topology and connectivity networks rely on.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8962306C-ECF3-41F9-B82B-DB910176DE24}"/>
              </a:ext>
            </a:extLst>
          </p:cNvPr>
          <p:cNvSpPr/>
          <p:nvPr/>
        </p:nvSpPr>
        <p:spPr>
          <a:xfrm>
            <a:off x="800100" y="2844800"/>
            <a:ext cx="5003800" cy="1041400"/>
          </a:xfrm>
          <a:prstGeom prst="roundRect">
            <a:avLst/>
          </a:prstGeom>
          <a:solidFill>
            <a:srgbClr val="F7EFDD"/>
          </a:solidFill>
          <a:ln w="15875" cap="flat" cmpd="sng" algn="ctr">
            <a:solidFill>
              <a:srgbClr val="B8862B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0173FA-6568-498A-988D-2A7A566C6A96}"/>
              </a:ext>
            </a:extLst>
          </p:cNvPr>
          <p:cNvSpPr txBox="1"/>
          <p:nvPr/>
        </p:nvSpPr>
        <p:spPr>
          <a:xfrm>
            <a:off x="1384300" y="3098800"/>
            <a:ext cx="4191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 dirty="0">
                <a:solidFill>
                  <a:srgbClr val="B8862B"/>
                </a:solidFill>
                <a:latin typeface="Trebuchet MS"/>
              </a:rPr>
              <a:t>Click to reveal answer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A394E1F-A9C5-4A0C-874C-4FE45B26CF72}"/>
              </a:ext>
            </a:extLst>
          </p:cNvPr>
          <p:cNvSpPr/>
          <p:nvPr/>
        </p:nvSpPr>
        <p:spPr>
          <a:xfrm>
            <a:off x="6400800" y="2844800"/>
            <a:ext cx="5003800" cy="1041400"/>
          </a:xfrm>
          <a:prstGeom prst="roundRect">
            <a:avLst/>
          </a:prstGeom>
          <a:solidFill>
            <a:srgbClr val="F7EFDD"/>
          </a:solidFill>
          <a:ln w="15875" cap="flat" cmpd="sng" algn="ctr">
            <a:solidFill>
              <a:srgbClr val="B8862B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D89E7D2-FC66-4BBE-817F-096F5BB7717B}"/>
              </a:ext>
            </a:extLst>
          </p:cNvPr>
          <p:cNvSpPr txBox="1"/>
          <p:nvPr/>
        </p:nvSpPr>
        <p:spPr>
          <a:xfrm>
            <a:off x="6985000" y="3098800"/>
            <a:ext cx="4191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B8862B"/>
                </a:solidFill>
                <a:latin typeface="Trebuchet MS"/>
              </a:rPr>
              <a:t>Click to reveal answer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44ADA19-7477-4A2C-B2C0-12C50CB7FFB2}"/>
              </a:ext>
            </a:extLst>
          </p:cNvPr>
          <p:cNvSpPr/>
          <p:nvPr/>
        </p:nvSpPr>
        <p:spPr>
          <a:xfrm>
            <a:off x="800100" y="5029200"/>
            <a:ext cx="5003800" cy="1041400"/>
          </a:xfrm>
          <a:prstGeom prst="roundRect">
            <a:avLst/>
          </a:prstGeom>
          <a:solidFill>
            <a:srgbClr val="F7EFDD"/>
          </a:solidFill>
          <a:ln w="15875" cap="flat" cmpd="sng" algn="ctr">
            <a:solidFill>
              <a:srgbClr val="B8862B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5F00679-8BF8-4711-97EB-4A458374B4FC}"/>
              </a:ext>
            </a:extLst>
          </p:cNvPr>
          <p:cNvSpPr txBox="1"/>
          <p:nvPr/>
        </p:nvSpPr>
        <p:spPr>
          <a:xfrm>
            <a:off x="1384300" y="5283200"/>
            <a:ext cx="4191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B8862B"/>
                </a:solidFill>
                <a:latin typeface="Trebuchet MS"/>
              </a:rPr>
              <a:t>Click to reveal answer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E042476-7404-4438-99A1-D06C58F2CE61}"/>
              </a:ext>
            </a:extLst>
          </p:cNvPr>
          <p:cNvSpPr/>
          <p:nvPr/>
        </p:nvSpPr>
        <p:spPr>
          <a:xfrm>
            <a:off x="6400800" y="5029200"/>
            <a:ext cx="5003800" cy="1041400"/>
          </a:xfrm>
          <a:prstGeom prst="roundRect">
            <a:avLst/>
          </a:prstGeom>
          <a:solidFill>
            <a:srgbClr val="F7EFDD"/>
          </a:solidFill>
          <a:ln w="15875" cap="flat" cmpd="sng" algn="ctr">
            <a:solidFill>
              <a:srgbClr val="B8862B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6C9B59-3EF0-437E-9C26-E7C5FB235778}"/>
              </a:ext>
            </a:extLst>
          </p:cNvPr>
          <p:cNvSpPr txBox="1"/>
          <p:nvPr/>
        </p:nvSpPr>
        <p:spPr>
          <a:xfrm>
            <a:off x="6985000" y="5283200"/>
            <a:ext cx="4191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B8862B"/>
                </a:solidFill>
                <a:latin typeface="Trebuchet MS"/>
              </a:rPr>
              <a:t>Click to reveal answer</a:t>
            </a:r>
          </a:p>
        </p:txBody>
      </p:sp>
      <p:pic>
        <p:nvPicPr>
          <p:cNvPr id="63" name="Graphic 63" descr="Click cue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7900" y="3213100"/>
            <a:ext cx="304800" cy="304800"/>
          </a:xfrm>
          <a:prstGeom prst="rect">
            <a:avLst/>
          </a:prstGeom>
        </p:spPr>
      </p:pic>
      <p:pic>
        <p:nvPicPr>
          <p:cNvPr id="64" name="Graphic 64" descr="Click cu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78600" y="3213100"/>
            <a:ext cx="304800" cy="304800"/>
          </a:xfrm>
          <a:prstGeom prst="rect">
            <a:avLst/>
          </a:prstGeom>
        </p:spPr>
      </p:pic>
      <p:pic>
        <p:nvPicPr>
          <p:cNvPr id="65" name="Graphic 65" descr="Click cu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7900" y="5397500"/>
            <a:ext cx="304800" cy="304800"/>
          </a:xfrm>
          <a:prstGeom prst="rect">
            <a:avLst/>
          </a:prstGeom>
        </p:spPr>
      </p:pic>
      <p:pic>
        <p:nvPicPr>
          <p:cNvPr id="66" name="Graphic 66" descr="Click cu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78600" y="53975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752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00" restart="whenNotActive" fill="hold" nodeType="interactiveSeq">
                <p:stCondLst>
                  <p:cond evt="onClick" delay="0">
                    <p:tgtEl>
                      <p:spTgt spid="55"/>
                    </p:tgtEl>
                  </p:cond>
                  <p:cond evt="onClick" delay="0">
                    <p:tgtEl>
                      <p:spTgt spid="56"/>
                    </p:tgtEl>
                  </p:cond>
                  <p:cond evt="onClick" delay="0">
                    <p:tgtEl>
                      <p:spTgt spid="63"/>
                    </p:tgtEl>
                  </p:cond>
                </p:stCondLst>
                <p:childTnLst>
                  <p:par>
                    <p:cTn id="1001" fill="hold">
                      <p:stCondLst>
                        <p:cond delay="0"/>
                      </p:stCondLst>
                      <p:childTnLst>
                        <p:par>
                          <p:cTn id="1002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003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004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20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01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400" restart="whenNotActive" fill="hold" nodeType="interactiveSeq">
                <p:stCondLst>
                  <p:cond evt="onClick" delay="0">
                    <p:tgtEl>
                      <p:spTgt spid="57"/>
                    </p:tgtEl>
                  </p:cond>
                  <p:cond evt="onClick" delay="0">
                    <p:tgtEl>
                      <p:spTgt spid="58"/>
                    </p:tgtEl>
                  </p:cond>
                  <p:cond evt="onClick" delay="0">
                    <p:tgtEl>
                      <p:spTgt spid="64"/>
                    </p:tgtEl>
                  </p:cond>
                </p:stCondLst>
                <p:childTnLst>
                  <p:par>
                    <p:cTn id="1401" fill="hold">
                      <p:stCondLst>
                        <p:cond delay="0"/>
                      </p:stCondLst>
                      <p:childTnLst>
                        <p:par>
                          <p:cTn id="1402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403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404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60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01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00" restart="whenNotActive" fill="hold" nodeType="interactiveSeq">
                <p:stCondLst>
                  <p:cond evt="onClick" delay="0">
                    <p:tgtEl>
                      <p:spTgt spid="59"/>
                    </p:tgtEl>
                  </p:cond>
                  <p:cond evt="onClick" delay="0">
                    <p:tgtEl>
                      <p:spTgt spid="60"/>
                    </p:tgtEl>
                  </p:cond>
                  <p:cond evt="onClick" delay="0">
                    <p:tgtEl>
                      <p:spTgt spid="65"/>
                    </p:tgtEl>
                  </p:cond>
                </p:stCondLst>
                <p:childTnLst>
                  <p:par>
                    <p:cTn id="1801" fill="hold">
                      <p:stCondLst>
                        <p:cond delay="0"/>
                      </p:stCondLst>
                      <p:childTnLst>
                        <p:par>
                          <p:cTn id="1802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803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804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200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01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200" restart="whenNotActive" fill="hold" nodeType="interactiveSeq">
                <p:stCondLst>
                  <p:cond evt="onClick" delay="0">
                    <p:tgtEl>
                      <p:spTgt spid="61"/>
                    </p:tgtEl>
                  </p:cond>
                  <p:cond evt="onClick" delay="0">
                    <p:tgtEl>
                      <p:spTgt spid="62"/>
                    </p:tgtEl>
                  </p:cond>
                  <p:cond evt="onClick" delay="0">
                    <p:tgtEl>
                      <p:spTgt spid="66"/>
                    </p:tgtEl>
                  </p:cond>
                </p:stCondLst>
                <p:childTnLst>
                  <p:par>
                    <p:cTn id="2201" fill="hold">
                      <p:stCondLst>
                        <p:cond delay="0"/>
                      </p:stCondLst>
                      <p:childTnLst>
                        <p:par>
                          <p:cTn id="2202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2203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2204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240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01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C85CA559-DE0A-42B2-AE30-DC594CB3F09C}"/>
              </a:ext>
            </a:extLst>
          </p:cNvPr>
          <p:cNvSpPr txBox="1"/>
          <p:nvPr/>
        </p:nvSpPr>
        <p:spPr>
          <a:xfrm>
            <a:off x="812800" y="508000"/>
            <a:ext cx="5969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200" b="1">
                <a:solidFill>
                  <a:srgbClr val="B8862B"/>
                </a:solidFill>
                <a:latin typeface="Trebuchet MS"/>
              </a:rPr>
              <a:t>VECTOR VS RASTER DATA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4AB8BB-962E-40DF-B968-4EC0844307D3}"/>
              </a:ext>
            </a:extLst>
          </p:cNvPr>
          <p:cNvSpPr txBox="1"/>
          <p:nvPr/>
        </p:nvSpPr>
        <p:spPr>
          <a:xfrm>
            <a:off x="812800" y="762000"/>
            <a:ext cx="8128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3000" b="1">
                <a:solidFill>
                  <a:srgbClr val="241F1A"/>
                </a:solidFill>
                <a:latin typeface="Trebuchet MS"/>
              </a:rPr>
              <a:t>Recap and what's next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3616CD5-E18F-4F4A-940F-3B64E5F59BD8}"/>
              </a:ext>
            </a:extLst>
          </p:cNvPr>
          <p:cNvSpPr/>
          <p:nvPr/>
        </p:nvSpPr>
        <p:spPr>
          <a:xfrm>
            <a:off x="838200" y="1320800"/>
            <a:ext cx="381000" cy="63500"/>
          </a:xfrm>
          <a:prstGeom prst="rect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3FD48FB-F39F-44FA-A143-4FF8D43565C3}"/>
              </a:ext>
            </a:extLst>
          </p:cNvPr>
          <p:cNvSpPr/>
          <p:nvPr/>
        </p:nvSpPr>
        <p:spPr>
          <a:xfrm>
            <a:off x="1244600" y="1320800"/>
            <a:ext cx="381000" cy="63500"/>
          </a:xfrm>
          <a:prstGeom prst="rect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C9399D-B559-4D9B-B527-00AB9EEBFD08}"/>
              </a:ext>
            </a:extLst>
          </p:cNvPr>
          <p:cNvSpPr txBox="1"/>
          <p:nvPr/>
        </p:nvSpPr>
        <p:spPr>
          <a:xfrm>
            <a:off x="812800" y="14732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5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You can tell vector from raster — next, put attributes to work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2493A7-6A7A-40F8-A626-B224B46A82CC}"/>
              </a:ext>
            </a:extLst>
          </p:cNvPr>
          <p:cNvSpPr txBox="1"/>
          <p:nvPr/>
        </p:nvSpPr>
        <p:spPr>
          <a:xfrm>
            <a:off x="9982200" y="381000"/>
            <a:ext cx="1651000" cy="812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4600" b="1">
                <a:solidFill>
                  <a:srgbClr val="E7DECB"/>
                </a:solidFill>
                <a:latin typeface="Trebuchet MS"/>
              </a:rPr>
              <a:t>17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A408639-CE80-4CD9-AD8E-93A263D7587F}"/>
              </a:ext>
            </a:extLst>
          </p:cNvPr>
          <p:cNvSpPr/>
          <p:nvPr/>
        </p:nvSpPr>
        <p:spPr>
          <a:xfrm>
            <a:off x="571500" y="1981200"/>
            <a:ext cx="2603500" cy="2235200"/>
          </a:xfrm>
          <a:prstGeom prst="roundRect">
            <a:avLst/>
          </a:prstGeom>
          <a:solidFill>
            <a:srgbClr val="FBF8F2"/>
          </a:solidFill>
          <a:ln w="12700" cap="flat" cmpd="sng" algn="ctr">
            <a:solidFill>
              <a:srgbClr val="DAD0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D77ED0A-C477-4DB8-BFC0-1EB10F11CD21}"/>
              </a:ext>
            </a:extLst>
          </p:cNvPr>
          <p:cNvSpPr/>
          <p:nvPr/>
        </p:nvSpPr>
        <p:spPr>
          <a:xfrm>
            <a:off x="571500" y="1981200"/>
            <a:ext cx="2603500" cy="76200"/>
          </a:xfrm>
          <a:prstGeom prst="rect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224854-9678-4E5F-8139-7481296AC38B}"/>
              </a:ext>
            </a:extLst>
          </p:cNvPr>
          <p:cNvSpPr txBox="1"/>
          <p:nvPr/>
        </p:nvSpPr>
        <p:spPr>
          <a:xfrm>
            <a:off x="800100" y="2260600"/>
            <a:ext cx="21463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500" b="1">
                <a:solidFill>
                  <a:srgbClr val="241F1A"/>
                </a:solidFill>
                <a:latin typeface="Trebuchet MS"/>
              </a:rPr>
              <a:t>Two data models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602A776-ED35-4E48-BB3C-F511B17804E8}"/>
              </a:ext>
            </a:extLst>
          </p:cNvPr>
          <p:cNvSpPr txBox="1"/>
          <p:nvPr/>
        </p:nvSpPr>
        <p:spPr>
          <a:xfrm>
            <a:off x="800100" y="2895600"/>
            <a:ext cx="2146300" cy="1219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Vector = discrete objects; raster = a continuous grid of cells.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26B7285-2130-4680-A5C9-D1792CBB2271}"/>
              </a:ext>
            </a:extLst>
          </p:cNvPr>
          <p:cNvSpPr/>
          <p:nvPr/>
        </p:nvSpPr>
        <p:spPr>
          <a:xfrm>
            <a:off x="3390900" y="1981200"/>
            <a:ext cx="2603500" cy="2235200"/>
          </a:xfrm>
          <a:prstGeom prst="roundRect">
            <a:avLst/>
          </a:prstGeom>
          <a:solidFill>
            <a:srgbClr val="FBF8F2"/>
          </a:solidFill>
          <a:ln w="12700" cap="flat" cmpd="sng" algn="ctr">
            <a:solidFill>
              <a:srgbClr val="DAD0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1549D39-6DC4-4C54-A339-D9E09D0A51B3}"/>
              </a:ext>
            </a:extLst>
          </p:cNvPr>
          <p:cNvSpPr/>
          <p:nvPr/>
        </p:nvSpPr>
        <p:spPr>
          <a:xfrm>
            <a:off x="3390900" y="1981200"/>
            <a:ext cx="2603500" cy="76200"/>
          </a:xfrm>
          <a:prstGeom prst="rect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69DCA4-E543-45B6-ACBD-0225A78FB056}"/>
              </a:ext>
            </a:extLst>
          </p:cNvPr>
          <p:cNvSpPr txBox="1"/>
          <p:nvPr/>
        </p:nvSpPr>
        <p:spPr>
          <a:xfrm>
            <a:off x="3619500" y="2260600"/>
            <a:ext cx="21463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500" b="1">
                <a:solidFill>
                  <a:srgbClr val="241F1A"/>
                </a:solidFill>
                <a:latin typeface="Trebuchet MS"/>
              </a:rPr>
              <a:t>Structure drives use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D01052-7141-441A-B281-EDDE1ED13480}"/>
              </a:ext>
            </a:extLst>
          </p:cNvPr>
          <p:cNvSpPr txBox="1"/>
          <p:nvPr/>
        </p:nvSpPr>
        <p:spPr>
          <a:xfrm>
            <a:off x="3619500" y="2895600"/>
            <a:ext cx="2146300" cy="1219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Coordinates + attributes vs one value stored per cell.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4AF8AD9-0E30-4248-8786-BA6D22383584}"/>
              </a:ext>
            </a:extLst>
          </p:cNvPr>
          <p:cNvSpPr/>
          <p:nvPr/>
        </p:nvSpPr>
        <p:spPr>
          <a:xfrm>
            <a:off x="6210300" y="1981200"/>
            <a:ext cx="2603500" cy="2235200"/>
          </a:xfrm>
          <a:prstGeom prst="roundRect">
            <a:avLst/>
          </a:prstGeom>
          <a:solidFill>
            <a:srgbClr val="FBF8F2"/>
          </a:solidFill>
          <a:ln w="12700" cap="flat" cmpd="sng" algn="ctr">
            <a:solidFill>
              <a:srgbClr val="DAD0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976E5D7-06FA-4A84-8607-B94C71113B30}"/>
              </a:ext>
            </a:extLst>
          </p:cNvPr>
          <p:cNvSpPr/>
          <p:nvPr/>
        </p:nvSpPr>
        <p:spPr>
          <a:xfrm>
            <a:off x="6210300" y="1981200"/>
            <a:ext cx="2603500" cy="76200"/>
          </a:xfrm>
          <a:prstGeom prst="rect">
            <a:avLst/>
          </a:prstGeom>
          <a:solidFill>
            <a:srgbClr val="1F6F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D897A07-EDCD-4888-AA06-693BF89978D3}"/>
              </a:ext>
            </a:extLst>
          </p:cNvPr>
          <p:cNvSpPr txBox="1"/>
          <p:nvPr/>
        </p:nvSpPr>
        <p:spPr>
          <a:xfrm>
            <a:off x="6438900" y="2260600"/>
            <a:ext cx="21463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500" b="1">
                <a:solidFill>
                  <a:srgbClr val="241F1A"/>
                </a:solidFill>
                <a:latin typeface="Trebuchet MS"/>
              </a:rPr>
              <a:t>Resolution matters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45EBB7-FCFC-4FA1-8CD3-B5D6375E4BE9}"/>
              </a:ext>
            </a:extLst>
          </p:cNvPr>
          <p:cNvSpPr txBox="1"/>
          <p:nvPr/>
        </p:nvSpPr>
        <p:spPr>
          <a:xfrm>
            <a:off x="6438900" y="2895600"/>
            <a:ext cx="2146300" cy="1219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Smaller raster cells: more detail, but larger files.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E73B479F-61BE-4D3E-90D7-CC0314361CD1}"/>
              </a:ext>
            </a:extLst>
          </p:cNvPr>
          <p:cNvSpPr/>
          <p:nvPr/>
        </p:nvSpPr>
        <p:spPr>
          <a:xfrm>
            <a:off x="9029700" y="1981200"/>
            <a:ext cx="2603500" cy="2235200"/>
          </a:xfrm>
          <a:prstGeom prst="roundRect">
            <a:avLst/>
          </a:prstGeom>
          <a:solidFill>
            <a:srgbClr val="FBF8F2"/>
          </a:solidFill>
          <a:ln w="12700" cap="flat" cmpd="sng" algn="ctr">
            <a:solidFill>
              <a:srgbClr val="DAD0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238C3E4-D55B-499A-B3AB-35072E071B84}"/>
              </a:ext>
            </a:extLst>
          </p:cNvPr>
          <p:cNvSpPr/>
          <p:nvPr/>
        </p:nvSpPr>
        <p:spPr>
          <a:xfrm>
            <a:off x="9029700" y="1981200"/>
            <a:ext cx="2603500" cy="76200"/>
          </a:xfrm>
          <a:prstGeom prst="rect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7141088-654B-4DEA-A086-549A8B2EEA98}"/>
              </a:ext>
            </a:extLst>
          </p:cNvPr>
          <p:cNvSpPr txBox="1"/>
          <p:nvPr/>
        </p:nvSpPr>
        <p:spPr>
          <a:xfrm>
            <a:off x="9258300" y="2260600"/>
            <a:ext cx="21463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500" b="1">
                <a:solidFill>
                  <a:srgbClr val="241F1A"/>
                </a:solidFill>
                <a:latin typeface="Trebuchet MS"/>
              </a:rPr>
              <a:t>Match model to task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94CD637-5349-4AA2-A1CC-32C2DB5A714E}"/>
              </a:ext>
            </a:extLst>
          </p:cNvPr>
          <p:cNvSpPr txBox="1"/>
          <p:nvPr/>
        </p:nvSpPr>
        <p:spPr>
          <a:xfrm>
            <a:off x="9258300" y="2895600"/>
            <a:ext cx="2146300" cy="1219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Boundaries &amp; networks → vector; surfaces → raster.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89EBD45-9077-439E-BA60-E1E77AD39561}"/>
              </a:ext>
            </a:extLst>
          </p:cNvPr>
          <p:cNvSpPr/>
          <p:nvPr/>
        </p:nvSpPr>
        <p:spPr>
          <a:xfrm>
            <a:off x="571500" y="4470400"/>
            <a:ext cx="11061700" cy="1752600"/>
          </a:xfrm>
          <a:prstGeom prst="roundRect">
            <a:avLst/>
          </a:prstGeom>
          <a:solidFill>
            <a:srgbClr val="E3EFEA"/>
          </a:solidFill>
          <a:ln w="15875" cap="flat" cmpd="sng" algn="ctr">
            <a:solidFill>
              <a:srgbClr val="1F6F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40C03F-093F-436C-9195-BAC013F2718E}"/>
              </a:ext>
            </a:extLst>
          </p:cNvPr>
          <p:cNvSpPr txBox="1"/>
          <p:nvPr/>
        </p:nvSpPr>
        <p:spPr>
          <a:xfrm>
            <a:off x="901700" y="47244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200" b="1">
                <a:solidFill>
                  <a:srgbClr val="B8862B"/>
                </a:solidFill>
                <a:latin typeface="Trebuchet MS"/>
              </a:rPr>
              <a:t>UP NEXT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880DABF-9749-4D81-8BFB-DA0C132F5556}"/>
              </a:ext>
            </a:extLst>
          </p:cNvPr>
          <p:cNvSpPr txBox="1"/>
          <p:nvPr/>
        </p:nvSpPr>
        <p:spPr>
          <a:xfrm>
            <a:off x="901700" y="4978400"/>
            <a:ext cx="6350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 b="1">
                <a:solidFill>
                  <a:srgbClr val="241F1A"/>
                </a:solidFill>
                <a:latin typeface="Trebuchet MS"/>
              </a:rPr>
              <a:t>File Management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6268564-006C-4259-8913-00495B923F99}"/>
              </a:ext>
            </a:extLst>
          </p:cNvPr>
          <p:cNvSpPr txBox="1"/>
          <p:nvPr/>
        </p:nvSpPr>
        <p:spPr>
          <a:xfrm>
            <a:off x="901700" y="5410200"/>
            <a:ext cx="6477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You can tell vector from raster — next, get organized: file formats, folder structure, and naming conventions that keep a GIS project usable.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D9BEC038-210D-4CBA-BB9B-95531416B70B}"/>
              </a:ext>
            </a:extLst>
          </p:cNvPr>
          <p:cNvSpPr/>
          <p:nvPr/>
        </p:nvSpPr>
        <p:spPr>
          <a:xfrm>
            <a:off x="7950200" y="4673600"/>
            <a:ext cx="3327400" cy="431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1F6F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A80E9D7-07FA-41B7-90F2-EA322E2D5B60}"/>
              </a:ext>
            </a:extLst>
          </p:cNvPr>
          <p:cNvSpPr/>
          <p:nvPr/>
        </p:nvSpPr>
        <p:spPr>
          <a:xfrm>
            <a:off x="8153400" y="4838700"/>
            <a:ext cx="114300" cy="114300"/>
          </a:xfrm>
          <a:prstGeom prst="ellipse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06FCE9D-7FB7-4BB9-B221-67524E93B4A2}"/>
              </a:ext>
            </a:extLst>
          </p:cNvPr>
          <p:cNvSpPr txBox="1"/>
          <p:nvPr/>
        </p:nvSpPr>
        <p:spPr>
          <a:xfrm>
            <a:off x="8407400" y="4699000"/>
            <a:ext cx="2794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2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Common GIS file &amp; project formats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36398548-05A8-4723-A446-A4670F43AD02}"/>
              </a:ext>
            </a:extLst>
          </p:cNvPr>
          <p:cNvSpPr/>
          <p:nvPr/>
        </p:nvSpPr>
        <p:spPr>
          <a:xfrm>
            <a:off x="7950200" y="5181600"/>
            <a:ext cx="3327400" cy="431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1F6F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40D26CE-C9F5-422C-B0FD-02AF95FFBBCD}"/>
              </a:ext>
            </a:extLst>
          </p:cNvPr>
          <p:cNvSpPr/>
          <p:nvPr/>
        </p:nvSpPr>
        <p:spPr>
          <a:xfrm>
            <a:off x="8153400" y="5346700"/>
            <a:ext cx="114300" cy="114300"/>
          </a:xfrm>
          <a:prstGeom prst="ellipse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C7E6D53-910C-48BB-81B1-61B75BD027A5}"/>
              </a:ext>
            </a:extLst>
          </p:cNvPr>
          <p:cNvSpPr txBox="1"/>
          <p:nvPr/>
        </p:nvSpPr>
        <p:spPr>
          <a:xfrm>
            <a:off x="8407400" y="5207000"/>
            <a:ext cx="2794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2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Folder structure that scales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8B55259B-B708-4D05-B87E-717944F00207}"/>
              </a:ext>
            </a:extLst>
          </p:cNvPr>
          <p:cNvSpPr/>
          <p:nvPr/>
        </p:nvSpPr>
        <p:spPr>
          <a:xfrm>
            <a:off x="7950200" y="5689600"/>
            <a:ext cx="3327400" cy="431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1F6F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92BE8AD-2309-4094-ADAF-2456578BE0E2}"/>
              </a:ext>
            </a:extLst>
          </p:cNvPr>
          <p:cNvSpPr/>
          <p:nvPr/>
        </p:nvSpPr>
        <p:spPr>
          <a:xfrm>
            <a:off x="8153400" y="5854700"/>
            <a:ext cx="114300" cy="114300"/>
          </a:xfrm>
          <a:prstGeom prst="ellipse">
            <a:avLst/>
          </a:prstGeom>
          <a:solidFill>
            <a:srgbClr val="C25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336EEBD-F7F3-48AD-9B01-F67197FE9EB2}"/>
              </a:ext>
            </a:extLst>
          </p:cNvPr>
          <p:cNvSpPr txBox="1"/>
          <p:nvPr/>
        </p:nvSpPr>
        <p:spPr>
          <a:xfrm>
            <a:off x="8407400" y="5715000"/>
            <a:ext cx="2794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250">
                <a:solidFill>
                  <a:srgbClr val="4A433B"/>
                </a:solidFill>
                <a:latin typeface="Calibri"/>
                <a:ea typeface="Calibri"/>
                <a:cs typeface="Calibri"/>
              </a:rPr>
              <a:t>Naming habits your future self will thank you for</a:t>
            </a:r>
          </a:p>
        </p:txBody>
      </p:sp>
    </p:spTree>
    <p:extLst>
      <p:ext uri="{BB962C8B-B14F-4D97-AF65-F5344CB8AC3E}">
        <p14:creationId xmlns:p14="http://schemas.microsoft.com/office/powerpoint/2010/main" val="3033604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3203234841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35DB3C3-7845-4FD7-A857-9C373D62814A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c6b4fe1-a725-44a0-ba8a-aa8cb55a2ca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878</TotalTime>
  <Words>2050</Words>
  <Application>Microsoft Office PowerPoint</Application>
  <PresentationFormat>Widescreen</PresentationFormat>
  <Paragraphs>239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Trebuchet MS</vt:lpstr>
      <vt:lpstr>Office Theme [1783203234841]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Shokran Rahiminezhad</cp:lastModifiedBy>
  <cp:revision>19</cp:revision>
  <dcterms:created xsi:type="dcterms:W3CDTF">2026-02-04T15:49:31Z</dcterms:created>
  <dcterms:modified xsi:type="dcterms:W3CDTF">2026-07-05T04:38:31Z</dcterms:modified>
</cp:coreProperties>
</file>