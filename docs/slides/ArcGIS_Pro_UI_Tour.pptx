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2.xml"/><Relationship Id="rId4" Type="http://schemas.openxmlformats.org/officeDocument/2006/relationships/slide" Target="slide19.xml"/><Relationship Id="rId5" Type="http://schemas.openxmlformats.org/officeDocument/2006/relationships/slide" Target="slide29.xml"/><Relationship Id="rId6" Type="http://schemas.openxmlformats.org/officeDocument/2006/relationships/slide" Target="slide34.xml"/><Relationship Id="rId7" Type="http://schemas.openxmlformats.org/officeDocument/2006/relationships/slide" Target="slide41.xml"/><Relationship Id="rId8" Type="http://schemas.openxmlformats.org/officeDocument/2006/relationships/slide" Target="slide49.xml"/><Relationship Id="rId9" Type="http://schemas.openxmlformats.org/officeDocument/2006/relationships/slide" Target="slide55.xml"/><Relationship Id="rId10" Type="http://schemas.openxmlformats.org/officeDocument/2006/relationships/slide" Target="slide60.xml"/><Relationship Id="rId11" Type="http://schemas.openxmlformats.org/officeDocument/2006/relationships/slide" Target="slide6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slide" Target="slide3.xml"/><Relationship Id="rId4" Type="http://schemas.openxmlformats.org/officeDocument/2006/relationships/slide" Target="slide12.xml"/><Relationship Id="rId5" Type="http://schemas.openxmlformats.org/officeDocument/2006/relationships/slide" Target="slide19.xml"/><Relationship Id="rId6" Type="http://schemas.openxmlformats.org/officeDocument/2006/relationships/slide" Target="slide29.xml"/><Relationship Id="rId7" Type="http://schemas.openxmlformats.org/officeDocument/2006/relationships/slide" Target="slide34.xml"/><Relationship Id="rId8" Type="http://schemas.openxmlformats.org/officeDocument/2006/relationships/slide" Target="slide41.xml"/><Relationship Id="rId9" Type="http://schemas.openxmlformats.org/officeDocument/2006/relationships/slide" Target="slide49.xml"/><Relationship Id="rId10" Type="http://schemas.openxmlformats.org/officeDocument/2006/relationships/slide" Target="slide55.xml"/><Relationship Id="rId11" Type="http://schemas.openxmlformats.org/officeDocument/2006/relationships/slide" Target="slide60.xml"/><Relationship Id="rId12" Type="http://schemas.openxmlformats.org/officeDocument/2006/relationships/slide" Target="slide6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4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5.png"/><Relationship Id="rId9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20.png"/><Relationship Id="rId9" Type="http://schemas.openxmlformats.org/officeDocument/2006/relationships/image" Target="../media/image10.png"/><Relationship Id="rId10" Type="http://schemas.openxmlformats.org/officeDocument/2006/relationships/image" Target="../media/image17.png"/><Relationship Id="rId11" Type="http://schemas.openxmlformats.org/officeDocument/2006/relationships/image" Target="../media/image4.png"/><Relationship Id="rId1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32.png"/><Relationship Id="rId5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32.png"/><Relationship Id="rId5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13.png"/><Relationship Id="rId4" Type="http://schemas.openxmlformats.org/officeDocument/2006/relationships/image" Target="../media/image3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5.png"/><Relationship Id="rId4" Type="http://schemas.openxmlformats.org/officeDocument/2006/relationships/image" Target="../media/image3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1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21.png"/><Relationship Id="rId4" Type="http://schemas.openxmlformats.org/officeDocument/2006/relationships/image" Target="../media/image4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41.png"/><Relationship Id="rId6" Type="http://schemas.openxmlformats.org/officeDocument/2006/relationships/image" Target="../media/image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12.png"/><Relationship Id="rId4" Type="http://schemas.openxmlformats.org/officeDocument/2006/relationships/image" Target="../media/image41.png"/><Relationship Id="rId5" Type="http://schemas.openxmlformats.org/officeDocument/2006/relationships/image" Target="../media/image2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4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1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1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29.png"/><Relationship Id="rId4" Type="http://schemas.openxmlformats.org/officeDocument/2006/relationships/image" Target="../media/image1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18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42.png"/><Relationship Id="rId4" Type="http://schemas.openxmlformats.org/officeDocument/2006/relationships/image" Target="../media/image8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54.png"/><Relationship Id="rId4" Type="http://schemas.openxmlformats.org/officeDocument/2006/relationships/image" Target="../media/image20.png"/><Relationship Id="rId5" Type="http://schemas.openxmlformats.org/officeDocument/2006/relationships/image" Target="../media/image4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9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06000" y="-900000"/>
            <a:ext cx="3200000" cy="3200000"/>
          </a:xfrm>
          <a:prstGeom prst="ellipse">
            <a:avLst/>
          </a:prstGeom>
          <a:solidFill>
            <a:srgbClr val="1C2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92000" y="-300000"/>
            <a:ext cx="1600000" cy="1600000"/>
          </a:xfrm>
          <a:prstGeom prst="ellipse">
            <a:avLst/>
          </a:prstGeom>
          <a:solidFill>
            <a:srgbClr val="15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19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 spc="250">
                <a:solidFill>
                  <a:srgbClr val="4BA3E0"/>
                </a:solidFill>
                <a:latin typeface="Segoe UI"/>
              </a:rPr>
              <a:t>ARCGIS PRO · SOFTWARE TOUR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2320000"/>
            <a:ext cx="10566400" cy="11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1" i="0">
                <a:solidFill>
                  <a:srgbClr val="FFFFFF"/>
                </a:solidFill>
                <a:latin typeface="Segoe UI"/>
              </a:rPr>
              <a:t>The Complete Interface Tour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3350000"/>
            <a:ext cx="10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A7B1C0"/>
                </a:solidFill>
                <a:latin typeface="Segoe UI"/>
              </a:rPr>
              <a:t>Ribbon by ribbon, pane by pane, box by box — a full map of where everything lives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3950000"/>
            <a:ext cx="10566400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4180000"/>
            <a:ext cx="9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 spc="200">
                <a:solidFill>
                  <a:srgbClr val="34D9C4"/>
                </a:solidFill>
                <a:latin typeface="Segoe UI"/>
              </a:rPr>
              <a:t>JUMP TO A SECTION</a:t>
            </a:r>
          </a:p>
        </p:txBody>
      </p:sp>
      <p:sp>
        <p:nvSpPr>
          <p:cNvPr id="10" name="Rounded Rectangle 9">
            <a:hlinkClick action="ppaction://hlinksldjump" r:id="rId2"/>
          </p:cNvPr>
          <p:cNvSpPr/>
          <p:nvPr/>
        </p:nvSpPr>
        <p:spPr>
          <a:xfrm>
            <a:off x="812800" y="4520000"/>
            <a:ext cx="2003552" cy="620000"/>
          </a:xfrm>
          <a:prstGeom prst="roundRect">
            <a:avLst>
              <a:gd name="adj" fmla="val 12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27100" y="4588580"/>
            <a:ext cx="1774952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4BA3E0"/>
                </a:solidFill>
                <a:latin typeface="Segoe UI"/>
              </a:rPr>
              <a:t>01</a:t>
            </a:r>
          </a:p>
        </p:txBody>
      </p:sp>
      <p:sp>
        <p:nvSpPr>
          <p:cNvPr id="12" name="TextBox 11">
            <a:hlinkClick action="ppaction://hlinksldjump" r:id="rId2"/>
          </p:cNvPr>
          <p:cNvSpPr txBox="1"/>
          <p:nvPr/>
        </p:nvSpPr>
        <p:spPr>
          <a:xfrm>
            <a:off x="927100" y="4840040"/>
            <a:ext cx="1774952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 u="sng">
                <a:solidFill>
                  <a:srgbClr val="FFFFFF"/>
                </a:solidFill>
                <a:latin typeface="Segoe UI"/>
              </a:rPr>
              <a:t>The ArcGIS Pro Window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2953512" y="4520000"/>
            <a:ext cx="2003552" cy="620000"/>
          </a:xfrm>
          <a:prstGeom prst="roundRect">
            <a:avLst>
              <a:gd name="adj" fmla="val 12000"/>
            </a:avLst>
          </a:prstGeom>
          <a:solidFill>
            <a:srgbClr val="1C212C"/>
          </a:solidFill>
          <a:ln w="9525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>
            <a:hlinkClick action="ppaction://hlinksldjump" r:id="rId3"/>
          </p:cNvPr>
          <p:cNvSpPr txBox="1"/>
          <p:nvPr/>
        </p:nvSpPr>
        <p:spPr>
          <a:xfrm>
            <a:off x="3067812" y="4588580"/>
            <a:ext cx="1774952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34D9C4"/>
                </a:solidFill>
                <a:latin typeface="Segoe UI"/>
              </a:rPr>
              <a:t>02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3067812" y="4840040"/>
            <a:ext cx="1774952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 u="sng">
                <a:solidFill>
                  <a:srgbClr val="FFFFFF"/>
                </a:solidFill>
                <a:latin typeface="Segoe UI"/>
              </a:rPr>
              <a:t>Project Tab (Backstage)</a:t>
            </a:r>
          </a:p>
        </p:txBody>
      </p:sp>
      <p:sp>
        <p:nvSpPr>
          <p:cNvPr id="16" name="Rounded Rectangle 15">
            <a:hlinkClick action="ppaction://hlinksldjump" r:id="rId4"/>
          </p:cNvPr>
          <p:cNvSpPr/>
          <p:nvPr/>
        </p:nvSpPr>
        <p:spPr>
          <a:xfrm>
            <a:off x="5094224" y="4520000"/>
            <a:ext cx="2003552" cy="620000"/>
          </a:xfrm>
          <a:prstGeom prst="roundRect">
            <a:avLst>
              <a:gd name="adj" fmla="val 12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>
            <a:hlinkClick action="ppaction://hlinksldjump" r:id="rId4"/>
          </p:cNvPr>
          <p:cNvSpPr txBox="1"/>
          <p:nvPr/>
        </p:nvSpPr>
        <p:spPr>
          <a:xfrm>
            <a:off x="5208524" y="4588580"/>
            <a:ext cx="1774952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E8B84B"/>
                </a:solidFill>
                <a:latin typeface="Segoe UI"/>
              </a:rPr>
              <a:t>03</a:t>
            </a:r>
          </a:p>
        </p:txBody>
      </p:sp>
      <p:sp>
        <p:nvSpPr>
          <p:cNvPr id="18" name="TextBox 17">
            <a:hlinkClick action="ppaction://hlinksldjump" r:id="rId4"/>
          </p:cNvPr>
          <p:cNvSpPr txBox="1"/>
          <p:nvPr/>
        </p:nvSpPr>
        <p:spPr>
          <a:xfrm>
            <a:off x="5208524" y="4840040"/>
            <a:ext cx="1774952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 u="sng">
                <a:solidFill>
                  <a:srgbClr val="FFFFFF"/>
                </a:solidFill>
                <a:latin typeface="Segoe UI"/>
              </a:rPr>
              <a:t>Map Tab</a:t>
            </a:r>
          </a:p>
        </p:txBody>
      </p:sp>
      <p:sp>
        <p:nvSpPr>
          <p:cNvPr id="19" name="Rounded Rectangle 18">
            <a:hlinkClick action="ppaction://hlinksldjump" r:id="rId5"/>
          </p:cNvPr>
          <p:cNvSpPr/>
          <p:nvPr/>
        </p:nvSpPr>
        <p:spPr>
          <a:xfrm>
            <a:off x="7234936" y="4520000"/>
            <a:ext cx="2003552" cy="620000"/>
          </a:xfrm>
          <a:prstGeom prst="roundRect">
            <a:avLst>
              <a:gd name="adj" fmla="val 12000"/>
            </a:avLst>
          </a:prstGeom>
          <a:solidFill>
            <a:srgbClr val="1C212C"/>
          </a:solidFill>
          <a:ln w="9525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5"/>
          </p:cNvPr>
          <p:cNvSpPr txBox="1"/>
          <p:nvPr/>
        </p:nvSpPr>
        <p:spPr>
          <a:xfrm>
            <a:off x="7349236" y="4588580"/>
            <a:ext cx="1774952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E8975A"/>
                </a:solidFill>
                <a:latin typeface="Segoe UI"/>
              </a:rPr>
              <a:t>04</a:t>
            </a:r>
          </a:p>
        </p:txBody>
      </p:sp>
      <p:sp>
        <p:nvSpPr>
          <p:cNvPr id="21" name="TextBox 20">
            <a:hlinkClick action="ppaction://hlinksldjump" r:id="rId5"/>
          </p:cNvPr>
          <p:cNvSpPr txBox="1"/>
          <p:nvPr/>
        </p:nvSpPr>
        <p:spPr>
          <a:xfrm>
            <a:off x="7349236" y="4840040"/>
            <a:ext cx="1774952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 u="sng">
                <a:solidFill>
                  <a:srgbClr val="FFFFFF"/>
                </a:solidFill>
                <a:latin typeface="Segoe UI"/>
              </a:rPr>
              <a:t>Insert Tab</a:t>
            </a:r>
          </a:p>
        </p:txBody>
      </p:sp>
      <p:sp>
        <p:nvSpPr>
          <p:cNvPr id="22" name="Rounded Rectangle 21">
            <a:hlinkClick action="ppaction://hlinksldjump" r:id="rId6"/>
          </p:cNvPr>
          <p:cNvSpPr/>
          <p:nvPr/>
        </p:nvSpPr>
        <p:spPr>
          <a:xfrm>
            <a:off x="9375648" y="4520000"/>
            <a:ext cx="2003552" cy="620000"/>
          </a:xfrm>
          <a:prstGeom prst="roundRect">
            <a:avLst>
              <a:gd name="adj" fmla="val 12000"/>
            </a:avLst>
          </a:prstGeom>
          <a:solidFill>
            <a:srgbClr val="1C212C"/>
          </a:solidFill>
          <a:ln w="9525">
            <a:solidFill>
              <a:srgbClr val="B9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>
            <a:hlinkClick action="ppaction://hlinksldjump" r:id="rId6"/>
          </p:cNvPr>
          <p:cNvSpPr txBox="1"/>
          <p:nvPr/>
        </p:nvSpPr>
        <p:spPr>
          <a:xfrm>
            <a:off x="9489948" y="4588580"/>
            <a:ext cx="1774952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B98BE6"/>
                </a:solidFill>
                <a:latin typeface="Segoe UI"/>
              </a:rPr>
              <a:t>05</a:t>
            </a:r>
          </a:p>
        </p:txBody>
      </p:sp>
      <p:sp>
        <p:nvSpPr>
          <p:cNvPr id="24" name="TextBox 23">
            <a:hlinkClick action="ppaction://hlinksldjump" r:id="rId6"/>
          </p:cNvPr>
          <p:cNvSpPr txBox="1"/>
          <p:nvPr/>
        </p:nvSpPr>
        <p:spPr>
          <a:xfrm>
            <a:off x="9489948" y="4840040"/>
            <a:ext cx="1774952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 u="sng">
                <a:solidFill>
                  <a:srgbClr val="FFFFFF"/>
                </a:solidFill>
                <a:latin typeface="Segoe UI"/>
              </a:rPr>
              <a:t>Analysis Tab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812800" y="5277160"/>
            <a:ext cx="2003552" cy="620000"/>
          </a:xfrm>
          <a:prstGeom prst="roundRect">
            <a:avLst>
              <a:gd name="adj" fmla="val 12000"/>
            </a:avLst>
          </a:prstGeom>
          <a:solidFill>
            <a:srgbClr val="1C212C"/>
          </a:solidFill>
          <a:ln w="9525">
            <a:solidFill>
              <a:srgbClr val="F07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7"/>
          </p:cNvPr>
          <p:cNvSpPr txBox="1"/>
          <p:nvPr/>
        </p:nvSpPr>
        <p:spPr>
          <a:xfrm>
            <a:off x="927100" y="5345740"/>
            <a:ext cx="1774952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0708F"/>
                </a:solidFill>
                <a:latin typeface="Segoe UI"/>
              </a:rPr>
              <a:t>06</a:t>
            </a:r>
          </a:p>
        </p:txBody>
      </p:sp>
      <p:sp>
        <p:nvSpPr>
          <p:cNvPr id="27" name="TextBox 26">
            <a:hlinkClick action="ppaction://hlinksldjump" r:id="rId7"/>
          </p:cNvPr>
          <p:cNvSpPr txBox="1"/>
          <p:nvPr/>
        </p:nvSpPr>
        <p:spPr>
          <a:xfrm>
            <a:off x="927100" y="5597200"/>
            <a:ext cx="1774952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 u="sng">
                <a:solidFill>
                  <a:srgbClr val="FFFFFF"/>
                </a:solidFill>
                <a:latin typeface="Segoe UI"/>
              </a:rPr>
              <a:t>View Tab</a:t>
            </a:r>
          </a:p>
        </p:txBody>
      </p:sp>
      <p:sp>
        <p:nvSpPr>
          <p:cNvPr id="28" name="Rounded Rectangle 27">
            <a:hlinkClick action="ppaction://hlinksldjump" r:id="rId8"/>
          </p:cNvPr>
          <p:cNvSpPr/>
          <p:nvPr/>
        </p:nvSpPr>
        <p:spPr>
          <a:xfrm>
            <a:off x="2953512" y="5277160"/>
            <a:ext cx="2003552" cy="620000"/>
          </a:xfrm>
          <a:prstGeom prst="roundRect">
            <a:avLst>
              <a:gd name="adj" fmla="val 12000"/>
            </a:avLst>
          </a:prstGeom>
          <a:solidFill>
            <a:srgbClr val="1C212C"/>
          </a:solidFill>
          <a:ln w="9525">
            <a:solidFill>
              <a:srgbClr val="7C8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>
            <a:hlinkClick action="ppaction://hlinksldjump" r:id="rId8"/>
          </p:cNvPr>
          <p:cNvSpPr txBox="1"/>
          <p:nvPr/>
        </p:nvSpPr>
        <p:spPr>
          <a:xfrm>
            <a:off x="3067812" y="5345740"/>
            <a:ext cx="1774952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7C88E8"/>
                </a:solidFill>
                <a:latin typeface="Segoe UI"/>
              </a:rPr>
              <a:t>07</a:t>
            </a:r>
          </a:p>
        </p:txBody>
      </p:sp>
      <p:sp>
        <p:nvSpPr>
          <p:cNvPr id="30" name="TextBox 29">
            <a:hlinkClick action="ppaction://hlinksldjump" r:id="rId8"/>
          </p:cNvPr>
          <p:cNvSpPr txBox="1"/>
          <p:nvPr/>
        </p:nvSpPr>
        <p:spPr>
          <a:xfrm>
            <a:off x="3067812" y="5597200"/>
            <a:ext cx="1774952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 u="sng">
                <a:solidFill>
                  <a:srgbClr val="FFFFFF"/>
                </a:solidFill>
                <a:latin typeface="Segoe UI"/>
              </a:rPr>
              <a:t>Edit Tab</a:t>
            </a:r>
          </a:p>
        </p:txBody>
      </p:sp>
      <p:sp>
        <p:nvSpPr>
          <p:cNvPr id="31" name="Rounded Rectangle 30">
            <a:hlinkClick action="ppaction://hlinksldjump" r:id="rId9"/>
          </p:cNvPr>
          <p:cNvSpPr/>
          <p:nvPr/>
        </p:nvSpPr>
        <p:spPr>
          <a:xfrm>
            <a:off x="5094224" y="5277160"/>
            <a:ext cx="2003552" cy="620000"/>
          </a:xfrm>
          <a:prstGeom prst="roundRect">
            <a:avLst>
              <a:gd name="adj" fmla="val 12000"/>
            </a:avLst>
          </a:prstGeom>
          <a:solidFill>
            <a:srgbClr val="1C212C"/>
          </a:solidFill>
          <a:ln w="9525">
            <a:solidFill>
              <a:srgbClr val="A8D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9"/>
          </p:cNvPr>
          <p:cNvSpPr txBox="1"/>
          <p:nvPr/>
        </p:nvSpPr>
        <p:spPr>
          <a:xfrm>
            <a:off x="5208524" y="5345740"/>
            <a:ext cx="1774952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A8D85A"/>
                </a:solidFill>
                <a:latin typeface="Segoe UI"/>
              </a:rPr>
              <a:t>08</a:t>
            </a:r>
          </a:p>
        </p:txBody>
      </p:sp>
      <p:sp>
        <p:nvSpPr>
          <p:cNvPr id="33" name="TextBox 32">
            <a:hlinkClick action="ppaction://hlinksldjump" r:id="rId9"/>
          </p:cNvPr>
          <p:cNvSpPr txBox="1"/>
          <p:nvPr/>
        </p:nvSpPr>
        <p:spPr>
          <a:xfrm>
            <a:off x="5208524" y="5597200"/>
            <a:ext cx="1774952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 u="sng">
                <a:solidFill>
                  <a:srgbClr val="FFFFFF"/>
                </a:solidFill>
                <a:latin typeface="Segoe UI"/>
              </a:rPr>
              <a:t>Imagery Tab</a:t>
            </a:r>
          </a:p>
        </p:txBody>
      </p:sp>
      <p:sp>
        <p:nvSpPr>
          <p:cNvPr id="34" name="Rounded Rectangle 33">
            <a:hlinkClick action="ppaction://hlinksldjump" r:id="rId10"/>
          </p:cNvPr>
          <p:cNvSpPr/>
          <p:nvPr/>
        </p:nvSpPr>
        <p:spPr>
          <a:xfrm>
            <a:off x="7234936" y="5277160"/>
            <a:ext cx="2003552" cy="620000"/>
          </a:xfrm>
          <a:prstGeom prst="roundRect">
            <a:avLst>
              <a:gd name="adj" fmla="val 12000"/>
            </a:avLst>
          </a:prstGeom>
          <a:solidFill>
            <a:srgbClr val="1C212C"/>
          </a:solidFill>
          <a:ln w="9525">
            <a:solidFill>
              <a:srgbClr val="4B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>
            <a:hlinkClick action="ppaction://hlinksldjump" r:id="rId10"/>
          </p:cNvPr>
          <p:cNvSpPr txBox="1"/>
          <p:nvPr/>
        </p:nvSpPr>
        <p:spPr>
          <a:xfrm>
            <a:off x="7349236" y="5345740"/>
            <a:ext cx="1774952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4BC8E0"/>
                </a:solidFill>
                <a:latin typeface="Segoe UI"/>
              </a:rPr>
              <a:t>09</a:t>
            </a:r>
          </a:p>
        </p:txBody>
      </p:sp>
      <p:sp>
        <p:nvSpPr>
          <p:cNvPr id="36" name="TextBox 35">
            <a:hlinkClick action="ppaction://hlinksldjump" r:id="rId10"/>
          </p:cNvPr>
          <p:cNvSpPr txBox="1"/>
          <p:nvPr/>
        </p:nvSpPr>
        <p:spPr>
          <a:xfrm>
            <a:off x="7349236" y="5597200"/>
            <a:ext cx="1774952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 u="sng">
                <a:solidFill>
                  <a:srgbClr val="FFFFFF"/>
                </a:solidFill>
                <a:latin typeface="Segoe UI"/>
              </a:rPr>
              <a:t>Share Tab</a:t>
            </a:r>
          </a:p>
        </p:txBody>
      </p:sp>
      <p:sp>
        <p:nvSpPr>
          <p:cNvPr id="37" name="Rounded Rectangle 36">
            <a:hlinkClick action="ppaction://hlinksldjump" r:id="rId11"/>
          </p:cNvPr>
          <p:cNvSpPr/>
          <p:nvPr/>
        </p:nvSpPr>
        <p:spPr>
          <a:xfrm>
            <a:off x="9375648" y="5277160"/>
            <a:ext cx="2003552" cy="620000"/>
          </a:xfrm>
          <a:prstGeom prst="roundRect">
            <a:avLst>
              <a:gd name="adj" fmla="val 12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9489948" y="5345740"/>
            <a:ext cx="1774952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E86A5E"/>
                </a:solidFill>
                <a:latin typeface="Segoe UI"/>
              </a:rPr>
              <a:t>10</a:t>
            </a:r>
          </a:p>
        </p:txBody>
      </p:sp>
      <p:sp>
        <p:nvSpPr>
          <p:cNvPr id="39" name="TextBox 38">
            <a:hlinkClick action="ppaction://hlinksldjump" r:id="rId11"/>
          </p:cNvPr>
          <p:cNvSpPr txBox="1"/>
          <p:nvPr/>
        </p:nvSpPr>
        <p:spPr>
          <a:xfrm>
            <a:off x="9489948" y="5597200"/>
            <a:ext cx="1774952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 u="sng">
                <a:solidFill>
                  <a:srgbClr val="FFFFFF"/>
                </a:solidFill>
                <a:latin typeface="Segoe UI"/>
              </a:rPr>
              <a:t>Core Panes &amp; Windows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800" y="6080040"/>
            <a:ext cx="8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1">
                <a:solidFill>
                  <a:srgbClr val="34D9C4"/>
                </a:solidFill>
                <a:latin typeface="Segoe UI"/>
              </a:rPr>
              <a:t>Click a card above to jump straight to that section 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72" y="366648"/>
            <a:ext cx="182880" cy="182880"/>
          </a:xfrm>
          <a:prstGeom prst="ellipse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34D9C4"/>
                </a:solidFill>
                <a:latin typeface="Segoe UI"/>
              </a:rPr>
              <a:t>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Where to find everything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Ten stops through the ArcGIS Pro interface, start to finish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566928" y="1905000"/>
            <a:ext cx="5414772" cy="811232"/>
          </a:xfrm>
          <a:prstGeom prst="roundRect">
            <a:avLst>
              <a:gd name="adj" fmla="val 8000"/>
            </a:avLst>
          </a:prstGeom>
          <a:solidFill>
            <a:srgbClr val="1C212C"/>
          </a:solidFill>
          <a:ln w="9525">
            <a:solidFill>
              <a:srgbClr val="2E3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>
            <a:hlinkClick action="ppaction://hlinksldjump" r:id="rId3"/>
          </p:cNvPr>
          <p:cNvSpPr txBox="1"/>
          <p:nvPr/>
        </p:nvSpPr>
        <p:spPr>
          <a:xfrm>
            <a:off x="719328" y="1905000"/>
            <a:ext cx="500000" cy="811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4BA3E0"/>
                </a:solidFill>
                <a:latin typeface="Segoe UI"/>
              </a:rPr>
              <a:t>01</a:t>
            </a:r>
          </a:p>
        </p:txBody>
      </p:sp>
      <p:sp>
        <p:nvSpPr>
          <p:cNvPr id="10" name="TextBox 9">
            <a:hlinkClick action="ppaction://hlinksldjump" r:id="rId3"/>
          </p:cNvPr>
          <p:cNvSpPr txBox="1"/>
          <p:nvPr/>
        </p:nvSpPr>
        <p:spPr>
          <a:xfrm>
            <a:off x="1207008" y="2018572"/>
            <a:ext cx="4114772" cy="340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 i="0" u="sng">
                <a:solidFill>
                  <a:srgbClr val="FFFFFF"/>
                </a:solidFill>
                <a:latin typeface="Segoe UI"/>
              </a:rPr>
              <a:t>The ArcGIS Pro Window</a:t>
            </a:r>
          </a:p>
        </p:txBody>
      </p:sp>
      <p:sp>
        <p:nvSpPr>
          <p:cNvPr id="11" name="TextBox 10">
            <a:hlinkClick action="ppaction://hlinksldjump" r:id="rId3"/>
          </p:cNvPr>
          <p:cNvSpPr txBox="1"/>
          <p:nvPr/>
        </p:nvSpPr>
        <p:spPr>
          <a:xfrm>
            <a:off x="1207008" y="2310616"/>
            <a:ext cx="4114772" cy="373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1">
                <a:solidFill>
                  <a:srgbClr val="A7B1C0"/>
                </a:solidFill>
                <a:latin typeface="Segoe UI"/>
              </a:rPr>
              <a:t>Ribbon, panes, and the status bar — the vocabulary for everything that follows</a:t>
            </a:r>
          </a:p>
        </p:txBody>
      </p:sp>
      <p:sp>
        <p:nvSpPr>
          <p:cNvPr id="12" name="Oval 11">
            <a:hlinkClick action="ppaction://hlinksldjump" r:id="rId3"/>
          </p:cNvPr>
          <p:cNvSpPr/>
          <p:nvPr/>
        </p:nvSpPr>
        <p:spPr>
          <a:xfrm>
            <a:off x="5503822" y="2140257"/>
            <a:ext cx="340717" cy="340717"/>
          </a:xfrm>
          <a:prstGeom prst="ellipse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.png">
            <a:hlinkClick action="ppaction://hlinksldjump"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594" y="2222029"/>
            <a:ext cx="177173" cy="177173"/>
          </a:xfrm>
          <a:prstGeom prst="rect">
            <a:avLst/>
          </a:prstGeom>
        </p:spPr>
      </p:pic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566928" y="2777192"/>
            <a:ext cx="5414772" cy="811232"/>
          </a:xfrm>
          <a:prstGeom prst="roundRect">
            <a:avLst>
              <a:gd name="adj" fmla="val 8000"/>
            </a:avLst>
          </a:prstGeom>
          <a:solidFill>
            <a:srgbClr val="1C212C"/>
          </a:solidFill>
          <a:ln w="9525">
            <a:solidFill>
              <a:srgbClr val="2E3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>
            <a:hlinkClick action="ppaction://hlinksldjump" r:id="rId4"/>
          </p:cNvPr>
          <p:cNvSpPr txBox="1"/>
          <p:nvPr/>
        </p:nvSpPr>
        <p:spPr>
          <a:xfrm>
            <a:off x="719328" y="2777192"/>
            <a:ext cx="500000" cy="811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34D9C4"/>
                </a:solidFill>
                <a:latin typeface="Segoe UI"/>
              </a:rPr>
              <a:t>02</a:t>
            </a:r>
          </a:p>
        </p:txBody>
      </p: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207008" y="2890764"/>
            <a:ext cx="4114772" cy="340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 i="0" u="sng">
                <a:solidFill>
                  <a:srgbClr val="FFFFFF"/>
                </a:solidFill>
                <a:latin typeface="Segoe UI"/>
              </a:rPr>
              <a:t>Project Tab (Backstage)</a:t>
            </a:r>
          </a:p>
        </p:txBody>
      </p:sp>
      <p:sp>
        <p:nvSpPr>
          <p:cNvPr id="17" name="TextBox 16">
            <a:hlinkClick action="ppaction://hlinksldjump" r:id="rId4"/>
          </p:cNvPr>
          <p:cNvSpPr txBox="1"/>
          <p:nvPr/>
        </p:nvSpPr>
        <p:spPr>
          <a:xfrm>
            <a:off x="1207008" y="3182808"/>
            <a:ext cx="4114772" cy="373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1">
                <a:solidFill>
                  <a:srgbClr val="A7B1C0"/>
                </a:solidFill>
                <a:latin typeface="Segoe UI"/>
              </a:rPr>
              <a:t>A full-screen view, not a ribbon — where projects, sharing, and app settings live</a:t>
            </a:r>
          </a:p>
        </p:txBody>
      </p:sp>
      <p:sp>
        <p:nvSpPr>
          <p:cNvPr id="18" name="Oval 17">
            <a:hlinkClick action="ppaction://hlinksldjump" r:id="rId4"/>
          </p:cNvPr>
          <p:cNvSpPr/>
          <p:nvPr/>
        </p:nvSpPr>
        <p:spPr>
          <a:xfrm>
            <a:off x="5503822" y="3012449"/>
            <a:ext cx="340717" cy="340717"/>
          </a:xfrm>
          <a:prstGeom prst="ellipse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rrow.png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594" y="3094221"/>
            <a:ext cx="177173" cy="177173"/>
          </a:xfrm>
          <a:prstGeom prst="rect">
            <a:avLst/>
          </a:prstGeom>
        </p:spPr>
      </p:pic>
      <p:sp>
        <p:nvSpPr>
          <p:cNvPr id="20" name="Rounded Rectangle 19">
            <a:hlinkClick action="ppaction://hlinksldjump" r:id="rId5"/>
          </p:cNvPr>
          <p:cNvSpPr/>
          <p:nvPr/>
        </p:nvSpPr>
        <p:spPr>
          <a:xfrm>
            <a:off x="566928" y="3649384"/>
            <a:ext cx="5414772" cy="811232"/>
          </a:xfrm>
          <a:prstGeom prst="roundRect">
            <a:avLst>
              <a:gd name="adj" fmla="val 8000"/>
            </a:avLst>
          </a:prstGeom>
          <a:solidFill>
            <a:srgbClr val="1C212C"/>
          </a:solidFill>
          <a:ln w="9525">
            <a:solidFill>
              <a:srgbClr val="2E3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>
            <a:hlinkClick action="ppaction://hlinksldjump" r:id="rId5"/>
          </p:cNvPr>
          <p:cNvSpPr txBox="1"/>
          <p:nvPr/>
        </p:nvSpPr>
        <p:spPr>
          <a:xfrm>
            <a:off x="719328" y="3649384"/>
            <a:ext cx="500000" cy="811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E8B84B"/>
                </a:solidFill>
                <a:latin typeface="Segoe UI"/>
              </a:rPr>
              <a:t>03</a:t>
            </a:r>
          </a:p>
        </p:txBody>
      </p:sp>
      <p:sp>
        <p:nvSpPr>
          <p:cNvPr id="22" name="TextBox 21">
            <a:hlinkClick action="ppaction://hlinksldjump" r:id="rId5"/>
          </p:cNvPr>
          <p:cNvSpPr txBox="1"/>
          <p:nvPr/>
        </p:nvSpPr>
        <p:spPr>
          <a:xfrm>
            <a:off x="1207008" y="3762956"/>
            <a:ext cx="4114772" cy="340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 i="0" u="sng">
                <a:solidFill>
                  <a:srgbClr val="FFFFFF"/>
                </a:solidFill>
                <a:latin typeface="Segoe UI"/>
              </a:rPr>
              <a:t>Map Tab</a:t>
            </a:r>
          </a:p>
        </p:txBody>
      </p:sp>
      <p:sp>
        <p:nvSpPr>
          <p:cNvPr id="23" name="TextBox 22">
            <a:hlinkClick action="ppaction://hlinksldjump" r:id="rId5"/>
          </p:cNvPr>
          <p:cNvSpPr txBox="1"/>
          <p:nvPr/>
        </p:nvSpPr>
        <p:spPr>
          <a:xfrm>
            <a:off x="1207008" y="4055000"/>
            <a:ext cx="4114772" cy="373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1">
                <a:solidFill>
                  <a:srgbClr val="A7B1C0"/>
                </a:solidFill>
                <a:latin typeface="Segoe UI"/>
              </a:rPr>
              <a:t>The tab you'll live in most — navigating, selecting, and labeling your data</a:t>
            </a:r>
          </a:p>
        </p:txBody>
      </p:sp>
      <p:sp>
        <p:nvSpPr>
          <p:cNvPr id="24" name="Oval 23">
            <a:hlinkClick action="ppaction://hlinksldjump" r:id="rId5"/>
          </p:cNvPr>
          <p:cNvSpPr/>
          <p:nvPr/>
        </p:nvSpPr>
        <p:spPr>
          <a:xfrm>
            <a:off x="5503822" y="3884641"/>
            <a:ext cx="340717" cy="340717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rrow.png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594" y="3966413"/>
            <a:ext cx="177173" cy="177173"/>
          </a:xfrm>
          <a:prstGeom prst="rect">
            <a:avLst/>
          </a:prstGeom>
        </p:spPr>
      </p:pic>
      <p:sp>
        <p:nvSpPr>
          <p:cNvPr id="26" name="Rounded Rectangle 25">
            <a:hlinkClick action="ppaction://hlinksldjump" r:id="rId6"/>
          </p:cNvPr>
          <p:cNvSpPr/>
          <p:nvPr/>
        </p:nvSpPr>
        <p:spPr>
          <a:xfrm>
            <a:off x="566928" y="4521576"/>
            <a:ext cx="5414772" cy="811232"/>
          </a:xfrm>
          <a:prstGeom prst="roundRect">
            <a:avLst>
              <a:gd name="adj" fmla="val 8000"/>
            </a:avLst>
          </a:prstGeom>
          <a:solidFill>
            <a:srgbClr val="1C212C"/>
          </a:solidFill>
          <a:ln w="9525">
            <a:solidFill>
              <a:srgbClr val="2E3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>
            <a:hlinkClick action="ppaction://hlinksldjump" r:id="rId6"/>
          </p:cNvPr>
          <p:cNvSpPr txBox="1"/>
          <p:nvPr/>
        </p:nvSpPr>
        <p:spPr>
          <a:xfrm>
            <a:off x="719328" y="4521576"/>
            <a:ext cx="500000" cy="811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E8975A"/>
                </a:solidFill>
                <a:latin typeface="Segoe UI"/>
              </a:rPr>
              <a:t>04</a:t>
            </a:r>
          </a:p>
        </p:txBody>
      </p:sp>
      <p:sp>
        <p:nvSpPr>
          <p:cNvPr id="28" name="TextBox 27">
            <a:hlinkClick action="ppaction://hlinksldjump" r:id="rId6"/>
          </p:cNvPr>
          <p:cNvSpPr txBox="1"/>
          <p:nvPr/>
        </p:nvSpPr>
        <p:spPr>
          <a:xfrm>
            <a:off x="1207008" y="4635148"/>
            <a:ext cx="4114772" cy="340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 i="0" u="sng">
                <a:solidFill>
                  <a:srgbClr val="FFFFFF"/>
                </a:solidFill>
                <a:latin typeface="Segoe UI"/>
              </a:rPr>
              <a:t>Insert Tab</a:t>
            </a:r>
          </a:p>
        </p:txBody>
      </p:sp>
      <p:sp>
        <p:nvSpPr>
          <p:cNvPr id="29" name="TextBox 28">
            <a:hlinkClick action="ppaction://hlinksldjump" r:id="rId6"/>
          </p:cNvPr>
          <p:cNvSpPr txBox="1"/>
          <p:nvPr/>
        </p:nvSpPr>
        <p:spPr>
          <a:xfrm>
            <a:off x="1207008" y="4927192"/>
            <a:ext cx="4114772" cy="373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1">
                <a:solidFill>
                  <a:srgbClr val="A7B1C0"/>
                </a:solidFill>
                <a:latin typeface="Segoe UI"/>
              </a:rPr>
              <a:t>Add new maps, layouts, and reporting elements to the project</a:t>
            </a:r>
          </a:p>
        </p:txBody>
      </p:sp>
      <p:sp>
        <p:nvSpPr>
          <p:cNvPr id="30" name="Oval 29">
            <a:hlinkClick action="ppaction://hlinksldjump" r:id="rId6"/>
          </p:cNvPr>
          <p:cNvSpPr/>
          <p:nvPr/>
        </p:nvSpPr>
        <p:spPr>
          <a:xfrm>
            <a:off x="5503822" y="4756833"/>
            <a:ext cx="340717" cy="340717"/>
          </a:xfrm>
          <a:prstGeom prst="ellipse">
            <a:avLst/>
          </a:prstGeom>
          <a:solidFill>
            <a:srgbClr val="E89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rrow.png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594" y="4838605"/>
            <a:ext cx="177173" cy="177173"/>
          </a:xfrm>
          <a:prstGeom prst="rect">
            <a:avLst/>
          </a:prstGeom>
        </p:spPr>
      </p:pic>
      <p:sp>
        <p:nvSpPr>
          <p:cNvPr id="32" name="Rounded Rectangle 31">
            <a:hlinkClick action="ppaction://hlinksldjump" r:id="rId7"/>
          </p:cNvPr>
          <p:cNvSpPr/>
          <p:nvPr/>
        </p:nvSpPr>
        <p:spPr>
          <a:xfrm>
            <a:off x="566928" y="5393768"/>
            <a:ext cx="5414772" cy="811232"/>
          </a:xfrm>
          <a:prstGeom prst="roundRect">
            <a:avLst>
              <a:gd name="adj" fmla="val 8000"/>
            </a:avLst>
          </a:prstGeom>
          <a:solidFill>
            <a:srgbClr val="1C212C"/>
          </a:solidFill>
          <a:ln w="9525">
            <a:solidFill>
              <a:srgbClr val="2E3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>
            <a:hlinkClick action="ppaction://hlinksldjump" r:id="rId7"/>
          </p:cNvPr>
          <p:cNvSpPr txBox="1"/>
          <p:nvPr/>
        </p:nvSpPr>
        <p:spPr>
          <a:xfrm>
            <a:off x="719328" y="5393768"/>
            <a:ext cx="500000" cy="811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B98BE6"/>
                </a:solidFill>
                <a:latin typeface="Segoe UI"/>
              </a:rPr>
              <a:t>05</a:t>
            </a:r>
          </a:p>
        </p:txBody>
      </p:sp>
      <p:sp>
        <p:nvSpPr>
          <p:cNvPr id="34" name="TextBox 33">
            <a:hlinkClick action="ppaction://hlinksldjump" r:id="rId7"/>
          </p:cNvPr>
          <p:cNvSpPr txBox="1"/>
          <p:nvPr/>
        </p:nvSpPr>
        <p:spPr>
          <a:xfrm>
            <a:off x="1207008" y="5507340"/>
            <a:ext cx="4114772" cy="340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 i="0" u="sng">
                <a:solidFill>
                  <a:srgbClr val="FFFFFF"/>
                </a:solidFill>
                <a:latin typeface="Segoe UI"/>
              </a:rPr>
              <a:t>Analysis Tab</a:t>
            </a:r>
          </a:p>
        </p:txBody>
      </p:sp>
      <p:sp>
        <p:nvSpPr>
          <p:cNvPr id="35" name="TextBox 34">
            <a:hlinkClick action="ppaction://hlinksldjump" r:id="rId7"/>
          </p:cNvPr>
          <p:cNvSpPr txBox="1"/>
          <p:nvPr/>
        </p:nvSpPr>
        <p:spPr>
          <a:xfrm>
            <a:off x="1207008" y="5799384"/>
            <a:ext cx="4114772" cy="373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1">
                <a:solidFill>
                  <a:srgbClr val="A7B1C0"/>
                </a:solidFill>
                <a:latin typeface="Segoe UI"/>
              </a:rPr>
              <a:t>Where geoprocessing tools, models, and environment settings live</a:t>
            </a:r>
          </a:p>
        </p:txBody>
      </p:sp>
      <p:sp>
        <p:nvSpPr>
          <p:cNvPr id="36" name="Oval 35">
            <a:hlinkClick action="ppaction://hlinksldjump" r:id="rId7"/>
          </p:cNvPr>
          <p:cNvSpPr/>
          <p:nvPr/>
        </p:nvSpPr>
        <p:spPr>
          <a:xfrm>
            <a:off x="5503822" y="5629025"/>
            <a:ext cx="340717" cy="340717"/>
          </a:xfrm>
          <a:prstGeom prst="ellipse">
            <a:avLst/>
          </a:prstGeom>
          <a:solidFill>
            <a:srgbClr val="B9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arrow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594" y="5710797"/>
            <a:ext cx="177173" cy="177173"/>
          </a:xfrm>
          <a:prstGeom prst="rect">
            <a:avLst/>
          </a:prstGeom>
        </p:spPr>
      </p:pic>
      <p:sp>
        <p:nvSpPr>
          <p:cNvPr id="38" name="Rounded Rectangle 37">
            <a:hlinkClick action="ppaction://hlinksldjump" r:id="rId8"/>
          </p:cNvPr>
          <p:cNvSpPr/>
          <p:nvPr/>
        </p:nvSpPr>
        <p:spPr>
          <a:xfrm>
            <a:off x="6210300" y="1905000"/>
            <a:ext cx="5414772" cy="811232"/>
          </a:xfrm>
          <a:prstGeom prst="roundRect">
            <a:avLst>
              <a:gd name="adj" fmla="val 8000"/>
            </a:avLst>
          </a:prstGeom>
          <a:solidFill>
            <a:srgbClr val="1C212C"/>
          </a:solidFill>
          <a:ln w="9525">
            <a:solidFill>
              <a:srgbClr val="2E3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>
            <a:hlinkClick action="ppaction://hlinksldjump" r:id="rId8"/>
          </p:cNvPr>
          <p:cNvSpPr txBox="1"/>
          <p:nvPr/>
        </p:nvSpPr>
        <p:spPr>
          <a:xfrm>
            <a:off x="6362700" y="1905000"/>
            <a:ext cx="500000" cy="811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F0708F"/>
                </a:solidFill>
                <a:latin typeface="Segoe UI"/>
              </a:rPr>
              <a:t>06</a:t>
            </a:r>
          </a:p>
        </p:txBody>
      </p:sp>
      <p:sp>
        <p:nvSpPr>
          <p:cNvPr id="40" name="TextBox 39">
            <a:hlinkClick action="ppaction://hlinksldjump" r:id="rId8"/>
          </p:cNvPr>
          <p:cNvSpPr txBox="1"/>
          <p:nvPr/>
        </p:nvSpPr>
        <p:spPr>
          <a:xfrm>
            <a:off x="6850380" y="2018572"/>
            <a:ext cx="4114772" cy="340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 i="0" u="sng">
                <a:solidFill>
                  <a:srgbClr val="FFFFFF"/>
                </a:solidFill>
                <a:latin typeface="Segoe UI"/>
              </a:rPr>
              <a:t>View Tab</a:t>
            </a:r>
          </a:p>
        </p:txBody>
      </p:sp>
      <p:sp>
        <p:nvSpPr>
          <p:cNvPr id="41" name="TextBox 40">
            <a:hlinkClick action="ppaction://hlinksldjump" r:id="rId8"/>
          </p:cNvPr>
          <p:cNvSpPr txBox="1"/>
          <p:nvPr/>
        </p:nvSpPr>
        <p:spPr>
          <a:xfrm>
            <a:off x="6850380" y="2310616"/>
            <a:ext cx="4114772" cy="373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1">
                <a:solidFill>
                  <a:srgbClr val="A7B1C0"/>
                </a:solidFill>
                <a:latin typeface="Segoe UI"/>
              </a:rPr>
              <a:t>Switch between views, arrange your panes, and set units for the whole project</a:t>
            </a:r>
          </a:p>
        </p:txBody>
      </p:sp>
      <p:sp>
        <p:nvSpPr>
          <p:cNvPr id="42" name="Oval 41">
            <a:hlinkClick action="ppaction://hlinksldjump" r:id="rId8"/>
          </p:cNvPr>
          <p:cNvSpPr/>
          <p:nvPr/>
        </p:nvSpPr>
        <p:spPr>
          <a:xfrm>
            <a:off x="11147194" y="2140257"/>
            <a:ext cx="340717" cy="340717"/>
          </a:xfrm>
          <a:prstGeom prst="ellipse">
            <a:avLst/>
          </a:prstGeom>
          <a:solidFill>
            <a:srgbClr val="F07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arrow.png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966" y="2222029"/>
            <a:ext cx="177173" cy="177173"/>
          </a:xfrm>
          <a:prstGeom prst="rect">
            <a:avLst/>
          </a:prstGeom>
        </p:spPr>
      </p:pic>
      <p:sp>
        <p:nvSpPr>
          <p:cNvPr id="44" name="Rounded Rectangle 43">
            <a:hlinkClick action="ppaction://hlinksldjump" r:id="rId9"/>
          </p:cNvPr>
          <p:cNvSpPr/>
          <p:nvPr/>
        </p:nvSpPr>
        <p:spPr>
          <a:xfrm>
            <a:off x="6210300" y="2777192"/>
            <a:ext cx="5414772" cy="811232"/>
          </a:xfrm>
          <a:prstGeom prst="roundRect">
            <a:avLst>
              <a:gd name="adj" fmla="val 8000"/>
            </a:avLst>
          </a:prstGeom>
          <a:solidFill>
            <a:srgbClr val="1C212C"/>
          </a:solidFill>
          <a:ln w="9525">
            <a:solidFill>
              <a:srgbClr val="2E3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>
            <a:hlinkClick action="ppaction://hlinksldjump" r:id="rId9"/>
          </p:cNvPr>
          <p:cNvSpPr txBox="1"/>
          <p:nvPr/>
        </p:nvSpPr>
        <p:spPr>
          <a:xfrm>
            <a:off x="6362700" y="2777192"/>
            <a:ext cx="500000" cy="811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7C88E8"/>
                </a:solidFill>
                <a:latin typeface="Segoe UI"/>
              </a:rPr>
              <a:t>07</a:t>
            </a:r>
          </a:p>
        </p:txBody>
      </p:sp>
      <p:sp>
        <p:nvSpPr>
          <p:cNvPr id="46" name="TextBox 45">
            <a:hlinkClick action="ppaction://hlinksldjump" r:id="rId9"/>
          </p:cNvPr>
          <p:cNvSpPr txBox="1"/>
          <p:nvPr/>
        </p:nvSpPr>
        <p:spPr>
          <a:xfrm>
            <a:off x="6850380" y="2890764"/>
            <a:ext cx="4114772" cy="340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 i="0" u="sng">
                <a:solidFill>
                  <a:srgbClr val="FFFFFF"/>
                </a:solidFill>
                <a:latin typeface="Segoe UI"/>
              </a:rPr>
              <a:t>Edit Tab</a:t>
            </a:r>
          </a:p>
        </p:txBody>
      </p:sp>
      <p:sp>
        <p:nvSpPr>
          <p:cNvPr id="47" name="TextBox 46">
            <a:hlinkClick action="ppaction://hlinksldjump" r:id="rId9"/>
          </p:cNvPr>
          <p:cNvSpPr txBox="1"/>
          <p:nvPr/>
        </p:nvSpPr>
        <p:spPr>
          <a:xfrm>
            <a:off x="6850380" y="3182808"/>
            <a:ext cx="4114772" cy="373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1">
                <a:solidFill>
                  <a:srgbClr val="A7B1C0"/>
                </a:solidFill>
                <a:latin typeface="Segoe UI"/>
              </a:rPr>
              <a:t>Create, reshape, and manage edits to your feature data</a:t>
            </a:r>
          </a:p>
        </p:txBody>
      </p:sp>
      <p:sp>
        <p:nvSpPr>
          <p:cNvPr id="48" name="Oval 47">
            <a:hlinkClick action="ppaction://hlinksldjump" r:id="rId9"/>
          </p:cNvPr>
          <p:cNvSpPr/>
          <p:nvPr/>
        </p:nvSpPr>
        <p:spPr>
          <a:xfrm>
            <a:off x="11147194" y="3012449"/>
            <a:ext cx="340717" cy="340717"/>
          </a:xfrm>
          <a:prstGeom prst="ellipse">
            <a:avLst/>
          </a:prstGeom>
          <a:solidFill>
            <a:srgbClr val="7C8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arrow.png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966" y="3094221"/>
            <a:ext cx="177173" cy="177173"/>
          </a:xfrm>
          <a:prstGeom prst="rect">
            <a:avLst/>
          </a:prstGeom>
        </p:spPr>
      </p:pic>
      <p:sp>
        <p:nvSpPr>
          <p:cNvPr id="50" name="Rounded Rectangle 49">
            <a:hlinkClick action="ppaction://hlinksldjump" r:id="rId10"/>
          </p:cNvPr>
          <p:cNvSpPr/>
          <p:nvPr/>
        </p:nvSpPr>
        <p:spPr>
          <a:xfrm>
            <a:off x="6210300" y="3649384"/>
            <a:ext cx="5414772" cy="811232"/>
          </a:xfrm>
          <a:prstGeom prst="roundRect">
            <a:avLst>
              <a:gd name="adj" fmla="val 8000"/>
            </a:avLst>
          </a:prstGeom>
          <a:solidFill>
            <a:srgbClr val="1C212C"/>
          </a:solidFill>
          <a:ln w="9525">
            <a:solidFill>
              <a:srgbClr val="2E3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>
            <a:hlinkClick action="ppaction://hlinksldjump" r:id="rId10"/>
          </p:cNvPr>
          <p:cNvSpPr txBox="1"/>
          <p:nvPr/>
        </p:nvSpPr>
        <p:spPr>
          <a:xfrm>
            <a:off x="6362700" y="3649384"/>
            <a:ext cx="500000" cy="811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A8D85A"/>
                </a:solidFill>
                <a:latin typeface="Segoe UI"/>
              </a:rPr>
              <a:t>08</a:t>
            </a:r>
          </a:p>
        </p:txBody>
      </p:sp>
      <p:sp>
        <p:nvSpPr>
          <p:cNvPr id="52" name="TextBox 51">
            <a:hlinkClick action="ppaction://hlinksldjump" r:id="rId10"/>
          </p:cNvPr>
          <p:cNvSpPr txBox="1"/>
          <p:nvPr/>
        </p:nvSpPr>
        <p:spPr>
          <a:xfrm>
            <a:off x="6850380" y="3762956"/>
            <a:ext cx="4114772" cy="340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 i="0" u="sng">
                <a:solidFill>
                  <a:srgbClr val="FFFFFF"/>
                </a:solidFill>
                <a:latin typeface="Segoe UI"/>
              </a:rPr>
              <a:t>Imagery Tab</a:t>
            </a:r>
          </a:p>
        </p:txBody>
      </p:sp>
      <p:sp>
        <p:nvSpPr>
          <p:cNvPr id="53" name="TextBox 52">
            <a:hlinkClick action="ppaction://hlinksldjump" r:id="rId10"/>
          </p:cNvPr>
          <p:cNvSpPr txBox="1"/>
          <p:nvPr/>
        </p:nvSpPr>
        <p:spPr>
          <a:xfrm>
            <a:off x="6850380" y="4055000"/>
            <a:ext cx="4114772" cy="373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1">
                <a:solidFill>
                  <a:srgbClr val="A7B1C0"/>
                </a:solidFill>
                <a:latin typeface="Segoe UI"/>
              </a:rPr>
              <a:t>A contextual tab for classifying and analyzing raster imagery directly</a:t>
            </a:r>
          </a:p>
        </p:txBody>
      </p:sp>
      <p:sp>
        <p:nvSpPr>
          <p:cNvPr id="54" name="Oval 53">
            <a:hlinkClick action="ppaction://hlinksldjump" r:id="rId10"/>
          </p:cNvPr>
          <p:cNvSpPr/>
          <p:nvPr/>
        </p:nvSpPr>
        <p:spPr>
          <a:xfrm>
            <a:off x="11147194" y="3884641"/>
            <a:ext cx="340717" cy="340717"/>
          </a:xfrm>
          <a:prstGeom prst="ellipse">
            <a:avLst/>
          </a:prstGeom>
          <a:solidFill>
            <a:srgbClr val="A8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arrow.png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966" y="3966413"/>
            <a:ext cx="177173" cy="177173"/>
          </a:xfrm>
          <a:prstGeom prst="rect">
            <a:avLst/>
          </a:prstGeom>
        </p:spPr>
      </p:pic>
      <p:sp>
        <p:nvSpPr>
          <p:cNvPr id="56" name="Rounded Rectangle 55">
            <a:hlinkClick action="ppaction://hlinksldjump" r:id="rId11"/>
          </p:cNvPr>
          <p:cNvSpPr/>
          <p:nvPr/>
        </p:nvSpPr>
        <p:spPr>
          <a:xfrm>
            <a:off x="6210300" y="4521576"/>
            <a:ext cx="5414772" cy="811232"/>
          </a:xfrm>
          <a:prstGeom prst="roundRect">
            <a:avLst>
              <a:gd name="adj" fmla="val 8000"/>
            </a:avLst>
          </a:prstGeom>
          <a:solidFill>
            <a:srgbClr val="1C212C"/>
          </a:solidFill>
          <a:ln w="9525">
            <a:solidFill>
              <a:srgbClr val="2E3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>
            <a:hlinkClick action="ppaction://hlinksldjump" r:id="rId11"/>
          </p:cNvPr>
          <p:cNvSpPr txBox="1"/>
          <p:nvPr/>
        </p:nvSpPr>
        <p:spPr>
          <a:xfrm>
            <a:off x="6362700" y="4521576"/>
            <a:ext cx="500000" cy="811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4BC8E0"/>
                </a:solidFill>
                <a:latin typeface="Segoe UI"/>
              </a:rPr>
              <a:t>09</a:t>
            </a:r>
          </a:p>
        </p:txBody>
      </p:sp>
      <p:sp>
        <p:nvSpPr>
          <p:cNvPr id="58" name="TextBox 57">
            <a:hlinkClick action="ppaction://hlinksldjump" r:id="rId11"/>
          </p:cNvPr>
          <p:cNvSpPr txBox="1"/>
          <p:nvPr/>
        </p:nvSpPr>
        <p:spPr>
          <a:xfrm>
            <a:off x="6850380" y="4635148"/>
            <a:ext cx="4114772" cy="340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 i="0" u="sng">
                <a:solidFill>
                  <a:srgbClr val="FFFFFF"/>
                </a:solidFill>
                <a:latin typeface="Segoe UI"/>
              </a:rPr>
              <a:t>Share Tab</a:t>
            </a:r>
          </a:p>
        </p:txBody>
      </p:sp>
      <p:sp>
        <p:nvSpPr>
          <p:cNvPr id="59" name="TextBox 58">
            <a:hlinkClick action="ppaction://hlinksldjump" r:id="rId11"/>
          </p:cNvPr>
          <p:cNvSpPr txBox="1"/>
          <p:nvPr/>
        </p:nvSpPr>
        <p:spPr>
          <a:xfrm>
            <a:off x="6850380" y="4927192"/>
            <a:ext cx="4114772" cy="373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1">
                <a:solidFill>
                  <a:srgbClr val="A7B1C0"/>
                </a:solidFill>
                <a:latin typeface="Segoe UI"/>
              </a:rPr>
              <a:t>Publish maps and layers to a portal, or export finished products</a:t>
            </a:r>
          </a:p>
        </p:txBody>
      </p:sp>
      <p:sp>
        <p:nvSpPr>
          <p:cNvPr id="60" name="Oval 59">
            <a:hlinkClick action="ppaction://hlinksldjump" r:id="rId11"/>
          </p:cNvPr>
          <p:cNvSpPr/>
          <p:nvPr/>
        </p:nvSpPr>
        <p:spPr>
          <a:xfrm>
            <a:off x="11147194" y="4756833"/>
            <a:ext cx="340717" cy="340717"/>
          </a:xfrm>
          <a:prstGeom prst="ellipse">
            <a:avLst/>
          </a:prstGeom>
          <a:solidFill>
            <a:srgbClr val="4B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arrow.png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966" y="4838605"/>
            <a:ext cx="177173" cy="177173"/>
          </a:xfrm>
          <a:prstGeom prst="rect">
            <a:avLst/>
          </a:prstGeom>
        </p:spPr>
      </p:pic>
      <p:sp>
        <p:nvSpPr>
          <p:cNvPr id="62" name="Rounded Rectangle 61">
            <a:hlinkClick action="ppaction://hlinksldjump" r:id="rId12"/>
          </p:cNvPr>
          <p:cNvSpPr/>
          <p:nvPr/>
        </p:nvSpPr>
        <p:spPr>
          <a:xfrm>
            <a:off x="6210300" y="5393768"/>
            <a:ext cx="5414772" cy="811232"/>
          </a:xfrm>
          <a:prstGeom prst="roundRect">
            <a:avLst>
              <a:gd name="adj" fmla="val 8000"/>
            </a:avLst>
          </a:prstGeom>
          <a:solidFill>
            <a:srgbClr val="1C212C"/>
          </a:solidFill>
          <a:ln w="9525">
            <a:solidFill>
              <a:srgbClr val="2E3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>
            <a:hlinkClick action="ppaction://hlinksldjump" r:id="rId12"/>
          </p:cNvPr>
          <p:cNvSpPr txBox="1"/>
          <p:nvPr/>
        </p:nvSpPr>
        <p:spPr>
          <a:xfrm>
            <a:off x="6362700" y="5393768"/>
            <a:ext cx="500000" cy="811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E86A5E"/>
                </a:solidFill>
                <a:latin typeface="Segoe UI"/>
              </a:rPr>
              <a:t>10</a:t>
            </a:r>
          </a:p>
        </p:txBody>
      </p:sp>
      <p:sp>
        <p:nvSpPr>
          <p:cNvPr id="64" name="TextBox 63">
            <a:hlinkClick action="ppaction://hlinksldjump" r:id="rId12"/>
          </p:cNvPr>
          <p:cNvSpPr txBox="1"/>
          <p:nvPr/>
        </p:nvSpPr>
        <p:spPr>
          <a:xfrm>
            <a:off x="6850380" y="5507340"/>
            <a:ext cx="4114772" cy="340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 i="0" u="sng">
                <a:solidFill>
                  <a:srgbClr val="FFFFFF"/>
                </a:solidFill>
                <a:latin typeface="Segoe UI"/>
              </a:rPr>
              <a:t>Core Panes &amp; Windows</a:t>
            </a:r>
          </a:p>
        </p:txBody>
      </p:sp>
      <p:sp>
        <p:nvSpPr>
          <p:cNvPr id="65" name="TextBox 64">
            <a:hlinkClick action="ppaction://hlinksldjump" r:id="rId12"/>
          </p:cNvPr>
          <p:cNvSpPr txBox="1"/>
          <p:nvPr/>
        </p:nvSpPr>
        <p:spPr>
          <a:xfrm>
            <a:off x="6850380" y="5799384"/>
            <a:ext cx="4114772" cy="373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1">
                <a:solidFill>
                  <a:srgbClr val="A7B1C0"/>
                </a:solidFill>
                <a:latin typeface="Segoe UI"/>
              </a:rPr>
              <a:t>A closer look at the dockable panes you'll open dozens of times a day</a:t>
            </a:r>
          </a:p>
        </p:txBody>
      </p:sp>
      <p:sp>
        <p:nvSpPr>
          <p:cNvPr id="66" name="Oval 65">
            <a:hlinkClick action="ppaction://hlinksldjump" r:id="rId12"/>
          </p:cNvPr>
          <p:cNvSpPr/>
          <p:nvPr/>
        </p:nvSpPr>
        <p:spPr>
          <a:xfrm>
            <a:off x="11147194" y="5629025"/>
            <a:ext cx="340717" cy="340717"/>
          </a:xfrm>
          <a:prstGeom prst="ellipse">
            <a:avLst/>
          </a:prstGeom>
          <a:solidFill>
            <a:srgbClr val="E8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arrow.png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966" y="5710797"/>
            <a:ext cx="177173" cy="177173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566928" y="6295960"/>
            <a:ext cx="80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1">
                <a:solidFill>
                  <a:srgbClr val="34D9C4"/>
                </a:solidFill>
                <a:latin typeface="Segoe UI"/>
              </a:rPr>
              <a:t>Click any section below to jump straight to it 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00000"/>
            <a:ext cx="4200000" cy="2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0" b="1" i="0">
                <a:solidFill>
                  <a:srgbClr val="222733"/>
                </a:solidFill>
                <a:latin typeface="Segoe U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6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50">
                <a:solidFill>
                  <a:srgbClr val="4BA3E0"/>
                </a:solidFill>
                <a:latin typeface="Segoe UI"/>
              </a:rPr>
              <a:t>SECTION 01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020000"/>
            <a:ext cx="10566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The ArcGIS Pro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3980000"/>
            <a:ext cx="8500000" cy="0"/>
          </a:xfrm>
          <a:prstGeom prst="rect">
            <a:avLst/>
          </a:prstGeom>
          <a:noFill/>
          <a:ln w="19050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4200000"/>
            <a:ext cx="92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 i="1">
                <a:solidFill>
                  <a:srgbClr val="A7B1C0"/>
                </a:solidFill>
                <a:latin typeface="Segoe UI"/>
              </a:rPr>
              <a:t>Ribbon, panes, and the status bar — the vocabulary for everything that follows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1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812800" y="6413500"/>
            <a:ext cx="24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1" u="sng">
                <a:solidFill>
                  <a:srgbClr val="747E8D"/>
                </a:solidFill>
                <a:latin typeface="Segoe UI"/>
              </a:rPr>
              <a:t>◂  Table of Contents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4BA3E0"/>
                </a:solidFill>
                <a:latin typeface="Segoe UI"/>
              </a:rPr>
              <a:t>ARCGIS PRO · THE ARCGIS PRO WINDOW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Meet the application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Five regions you'll come back to in every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10566400" cy="823424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9960" y="2036747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Quick Access Toolbar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960" y="2300243"/>
            <a:ext cx="10292080" cy="411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A short strip above the ribbon for your most-used commands — New, Open, Save, Undo, Redo by default.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2774144"/>
            <a:ext cx="10566400" cy="823424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" y="2905891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The Ribbon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" y="3169387"/>
            <a:ext cx="10292080" cy="411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Tabs group related commands. Some tabs are always there; others appear only when relevant (a selected layer, an open layout).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3643288"/>
            <a:ext cx="10566400" cy="823424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9960" y="3775035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Dockable panes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960" y="4038531"/>
            <a:ext cx="10292080" cy="411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Contents, Catalog, Geoprocessing and more — each pane can float, dock, or tab together with others.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4512432"/>
            <a:ext cx="10566400" cy="823424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9960" y="4644179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The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960" y="4907675"/>
            <a:ext cx="10292080" cy="411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Your Map, Scene, or Layout fills the center — this is what you're actually working 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800" y="5381576"/>
            <a:ext cx="10566400" cy="823424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9960" y="5513323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The status bar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960" y="5776819"/>
            <a:ext cx="10292080" cy="411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Scale, coordinates, and background-task progress live along the very bottom, always visible.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4BA3E0"/>
                </a:solidFill>
                <a:latin typeface="Segoe UI"/>
              </a:rPr>
              <a:t>ARCGIS PRO · THE ARCGIS PRO WINDOW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Quick Access Toolbar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Your five most-used commands, one click away, all the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10566400" cy="104071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9960" y="2071513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Fixed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960" y="2404540"/>
            <a:ext cx="10292080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Sits above the ribbon no matter which tab is active — it never changes when you switch tabs.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2991430"/>
            <a:ext cx="10566400" cy="104071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" y="3157943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Default commands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" y="3490970"/>
            <a:ext cx="10292080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New Project, Open Project, Save Project, Undo, and Redo ship there out of the box.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077860"/>
            <a:ext cx="10566400" cy="104071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9960" y="4244373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Fully customizable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960" y="4577400"/>
            <a:ext cx="10292080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Right-click almost any ribbon button and choose 'Add to Quick Access Toolbar' to pin it here.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164290"/>
            <a:ext cx="10566400" cy="104071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9960" y="5330803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Import / 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960" y="5663830"/>
            <a:ext cx="10292080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Your customized toolbar can be exported and shared with a whole class or team.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4BA3E0"/>
                </a:solidFill>
                <a:latin typeface="Segoe UI"/>
              </a:rPr>
              <a:t>ARCGIS PRO · THE ARCGIS PRO WINDOW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title bar, up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Everything above the ribbon, in one strip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3797400"/>
            <a:ext cx="6172200" cy="820000"/>
          </a:xfrm>
          <a:prstGeom prst="roundRect">
            <a:avLst>
              <a:gd name="adj" fmla="val 10000"/>
            </a:avLst>
          </a:prstGeom>
          <a:solidFill>
            <a:srgbClr val="141B2E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lipboard_d7de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" y="4117400"/>
            <a:ext cx="180000" cy="180000"/>
          </a:xfrm>
          <a:prstGeom prst="rect">
            <a:avLst/>
          </a:prstGeom>
        </p:spPr>
      </p:pic>
      <p:pic>
        <p:nvPicPr>
          <p:cNvPr id="14" name="Picture 13" descr="history_d7de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960" y="4117400"/>
            <a:ext cx="180000" cy="180000"/>
          </a:xfrm>
          <a:prstGeom prst="rect">
            <a:avLst/>
          </a:prstGeom>
        </p:spPr>
      </p:pic>
      <p:pic>
        <p:nvPicPr>
          <p:cNvPr id="15" name="Picture 14" descr="check_d7de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9960" y="4117400"/>
            <a:ext cx="180000" cy="180000"/>
          </a:xfrm>
          <a:prstGeom prst="rect">
            <a:avLst/>
          </a:prstGeom>
        </p:spPr>
      </p:pic>
      <p:pic>
        <p:nvPicPr>
          <p:cNvPr id="16" name="Picture 15" descr="history_d7de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960" y="4117400"/>
            <a:ext cx="180000" cy="180000"/>
          </a:xfrm>
          <a:prstGeom prst="rect">
            <a:avLst/>
          </a:prstGeom>
        </p:spPr>
      </p:pic>
      <p:pic>
        <p:nvPicPr>
          <p:cNvPr id="17" name="Picture 16" descr="history_d7de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960" y="4117400"/>
            <a:ext cx="180000" cy="180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399960" y="3977800"/>
            <a:ext cx="0" cy="459200"/>
          </a:xfrm>
          <a:prstGeom prst="rect">
            <a:avLst/>
          </a:prstGeom>
          <a:noFill/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29960" y="3994200"/>
            <a:ext cx="820000" cy="426400"/>
          </a:xfrm>
          <a:prstGeom prst="roundRect">
            <a:avLst>
              <a:gd name="adj" fmla="val 30000"/>
            </a:avLst>
          </a:prstGeom>
          <a:solidFill>
            <a:srgbClr val="1B243D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9960" y="3994200"/>
            <a:ext cx="820000" cy="42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4BA3E0"/>
                </a:solidFill>
                <a:latin typeface="Segoe UI"/>
              </a:rPr>
              <a:t>ArcPY  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87120" y="3961400"/>
            <a:ext cx="1710720" cy="492000"/>
          </a:xfrm>
          <a:prstGeom prst="roundRect">
            <a:avLst>
              <a:gd name="adj" fmla="val 50000"/>
            </a:avLst>
          </a:prstGeom>
          <a:solidFill>
            <a:srgbClr val="101626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earch_8a94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7120" y="4122400"/>
            <a:ext cx="170000" cy="170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817120" y="3961400"/>
            <a:ext cx="1360720" cy="4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8A94A8"/>
                </a:solidFill>
                <a:latin typeface="Segoe UI"/>
              </a:rPr>
              <a:t>Search (Alt+Q)</a:t>
            </a:r>
          </a:p>
        </p:txBody>
      </p:sp>
      <p:sp>
        <p:nvSpPr>
          <p:cNvPr id="24" name="Oval 23"/>
          <p:cNvSpPr/>
          <p:nvPr/>
        </p:nvSpPr>
        <p:spPr>
          <a:xfrm>
            <a:off x="5335000" y="4067400"/>
            <a:ext cx="280000" cy="280000"/>
          </a:xfrm>
          <a:prstGeom prst="ellipse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5000" y="4067400"/>
            <a:ext cx="28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41B2E"/>
                </a:solidFill>
                <a:latin typeface="Segoe UI"/>
              </a:rPr>
              <a:t>SR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5000" y="3945000"/>
            <a:ext cx="1220000" cy="26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FFFFFF"/>
                </a:solidFill>
                <a:latin typeface="Segoe UI"/>
              </a:rPr>
              <a:t>Shokran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25000" y="4240200"/>
            <a:ext cx="1220000" cy="26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 i="0">
                <a:solidFill>
                  <a:srgbClr val="8A94A8"/>
                </a:solidFill>
                <a:latin typeface="Segoe UI"/>
              </a:rPr>
              <a:t>CUNY Hunter College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7400" y="1905000"/>
            <a:ext cx="4487672" cy="104071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74560" y="207151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Quick Access icons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4560" y="2404540"/>
            <a:ext cx="4213352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New, Open, Save, Undo, Redo — the same five defaults, rendered exactly as they appear.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7400" y="2991430"/>
            <a:ext cx="4487672" cy="104071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74560" y="315794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The Python-environment dropdown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4560" y="3490970"/>
            <a:ext cx="4213352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Shows which conda environment ArcGIS Pro is running under — switch it here before running a custom script.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7400" y="4077860"/>
            <a:ext cx="4487672" cy="104071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74560" y="424437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Command Search (Alt+Q)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74560" y="4577400"/>
            <a:ext cx="4213352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Type any tool, pane, or command name and jump straight to it — often faster than hunting through the ribbon.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7400" y="5164290"/>
            <a:ext cx="4487672" cy="104071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74560" y="533080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Signed-in account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74560" y="5663830"/>
            <a:ext cx="4213352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Your organization and named user — this is what licensing and portal sharing key off of.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4BA3E0"/>
                </a:solidFill>
                <a:latin typeface="Segoe UI"/>
              </a:rPr>
              <a:t>ARCGIS PRO · THE ARCGIS PRO WINDOW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ribbon: tabs and 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Every tab is a set of groups; every group is a set of related buttons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99325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9325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lipboard_8a94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925" y="2575520"/>
            <a:ext cx="304800" cy="304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4325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Paste</a:t>
            </a:r>
          </a:p>
        </p:txBody>
      </p:sp>
      <p:pic>
        <p:nvPicPr>
          <p:cNvPr id="28" name="Picture 27" descr="clipboard_8a94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925" y="2575520"/>
            <a:ext cx="304800" cy="304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84325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Copy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800" y="3199800"/>
            <a:ext cx="148305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Clipboard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55850" y="2589800"/>
            <a:ext cx="0" cy="780000"/>
          </a:xfrm>
          <a:prstGeom prst="rect">
            <a:avLst/>
          </a:prstGeom>
          <a:noFill/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634975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ompass_4ba3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975" y="2575520"/>
            <a:ext cx="304800" cy="304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507375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Explore</a:t>
            </a:r>
          </a:p>
        </p:txBody>
      </p:sp>
      <p:pic>
        <p:nvPicPr>
          <p:cNvPr id="35" name="Picture 34" descr="book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975" y="2575520"/>
            <a:ext cx="304800" cy="304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127375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Bookmarks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85850" y="3199800"/>
            <a:ext cx="148305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Navigate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98900" y="2589800"/>
            <a:ext cx="0" cy="780000"/>
          </a:xfrm>
          <a:prstGeom prst="rect">
            <a:avLst/>
          </a:prstGeom>
          <a:noFill/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download_8a94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8025" y="2575520"/>
            <a:ext cx="304800" cy="3048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050425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Add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Data</a:t>
            </a:r>
          </a:p>
        </p:txBody>
      </p:sp>
      <p:pic>
        <p:nvPicPr>
          <p:cNvPr id="41" name="Picture 40" descr="globe_8a94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25" y="2575520"/>
            <a:ext cx="304800" cy="3048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670425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Basemap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28900" y="3199800"/>
            <a:ext cx="148305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Layer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1950" y="2589800"/>
            <a:ext cx="0" cy="780000"/>
          </a:xfrm>
          <a:prstGeom prst="rect">
            <a:avLst/>
          </a:prstGeom>
          <a:noFill/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bullseye_8a94a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1075" y="2575520"/>
            <a:ext cx="304800" cy="3048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593475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Select</a:t>
            </a:r>
          </a:p>
        </p:txBody>
      </p:sp>
      <p:pic>
        <p:nvPicPr>
          <p:cNvPr id="47" name="Picture 46" descr="database_8a94a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1075" y="2575520"/>
            <a:ext cx="304800" cy="3048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213475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Select By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Attributes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71950" y="3199800"/>
            <a:ext cx="148305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Selection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62" name="Oval 61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4BA3E0"/>
                </a:solidFill>
                <a:latin typeface="Segoe UI"/>
              </a:rPr>
              <a:t>›  </a:t>
            </a:r>
            <a:r>
              <a:rPr sz="900" i="1">
                <a:solidFill>
                  <a:srgbClr val="4BA3E0"/>
                </a:solidFill>
                <a:latin typeface="Segoe UI"/>
              </a:rPr>
              <a:t>the default pan/zoom navigation tool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137400" y="1905000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74560" y="2129456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Permanent tabs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74560" y="2578369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Project, Map, Insert, Analysis, View, Edit, Imagery, and Share are always present.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137400" y="3353573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74560" y="3578029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Contextual tabs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74560" y="4026942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Extra tabs like Labeling, Data, or Layout appear only while something relevant is selected or open.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137400" y="4802146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274560" y="502660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Groups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74560" y="5475516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Each tab splits into labeled groups (like 'Selection' or 'Navigate') — the group name is captioned underneath.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4BA3E0"/>
                </a:solidFill>
                <a:latin typeface="Segoe UI"/>
              </a:rPr>
              <a:t>ARCGIS PRO · THE ARCGIS PRO WINDOW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Contextual tabs, a real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Select a feature layer and three new tabs appear, bracketed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340836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3428360"/>
            <a:ext cx="547472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3700360"/>
            <a:ext cx="547472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3408360"/>
            <a:ext cx="547472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80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0272" y="3408360"/>
            <a:ext cx="547472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80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7745" y="3408360"/>
            <a:ext cx="547472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80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5218" y="3408360"/>
            <a:ext cx="547472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80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2690" y="3408360"/>
            <a:ext cx="547472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80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0163" y="3408360"/>
            <a:ext cx="547472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80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7636" y="3408360"/>
            <a:ext cx="547472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80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5109" y="3408360"/>
            <a:ext cx="547472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80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92581" y="3428360"/>
            <a:ext cx="547472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92581" y="3700360"/>
            <a:ext cx="547472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2581" y="3408360"/>
            <a:ext cx="547472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800" b="1" i="0">
                <a:solidFill>
                  <a:srgbClr val="FFFFFF"/>
                </a:solidFill>
                <a:latin typeface="Segoe UI"/>
              </a:rPr>
              <a:t>Feature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0054" y="3408360"/>
            <a:ext cx="547472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800" b="1" i="0">
                <a:solidFill>
                  <a:srgbClr val="4BA3E0"/>
                </a:solidFill>
                <a:latin typeface="Segoe UI"/>
              </a:rPr>
              <a:t>Labeling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7527" y="3408360"/>
            <a:ext cx="547472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800" b="1" i="0">
                <a:solidFill>
                  <a:srgbClr val="4BA3E0"/>
                </a:solidFill>
                <a:latin typeface="Segoe UI"/>
              </a:rPr>
              <a:t>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92581" y="3271200"/>
            <a:ext cx="1662418" cy="0"/>
          </a:xfrm>
          <a:prstGeom prst="rect">
            <a:avLst/>
          </a:prstGeom>
          <a:noFill/>
          <a:ln w="1587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92581" y="3271200"/>
            <a:ext cx="0" cy="91440"/>
          </a:xfrm>
          <a:prstGeom prst="rect">
            <a:avLst/>
          </a:prstGeom>
          <a:noFill/>
          <a:ln w="1587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55000" y="3271200"/>
            <a:ext cx="0" cy="91440"/>
          </a:xfrm>
          <a:prstGeom prst="rect">
            <a:avLst/>
          </a:prstGeom>
          <a:noFill/>
          <a:ln w="1587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73790" y="3011200"/>
            <a:ext cx="170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4BA3E0"/>
                </a:solidFill>
                <a:latin typeface="Segoe UI"/>
              </a:rPr>
              <a:t>CONTEXTUAL TABS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800" y="3728360"/>
            <a:ext cx="6172200" cy="247664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9960" y="3819800"/>
            <a:ext cx="589788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8A94A8"/>
                </a:solidFill>
                <a:latin typeface="Segoe UI"/>
              </a:rPr>
              <a:t>Click empty space on the map — these three tabs vanish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7400" y="1905000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74560" y="2129456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Grouped under one label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74560" y="2578369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Feature Layer, Labeling, and Data appear together, visually bracketed and colored to show they're a set.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7400" y="3353573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74560" y="3578029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Tied to your selection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74560" y="4026942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Select a raster instead and you'd see Imagery-specific contextual tabs here instead — the set changes with what's selected.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7400" y="4802146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74560" y="502660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Gone the moment it's not relevant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74560" y="5475516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Click empty map space, or select a different kind of layer, and the whole bracketed set disappears.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4BA3E0"/>
                </a:solidFill>
                <a:latin typeface="Segoe UI"/>
              </a:rPr>
              <a:t>ARCGIS PRO · THE ARCGIS PRO WINDOW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Panes and docking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Every pane can float, dock to an edge, or tab together with another pane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10566400" cy="104071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9960" y="2071513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Docked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960" y="2404540"/>
            <a:ext cx="10292080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Snapped to an edge of the window, resizable by dragging its border — the default for Contents and Catalog.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2991430"/>
            <a:ext cx="10566400" cy="104071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" y="3157943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Floating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" y="3490970"/>
            <a:ext cx="10292080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Dragged free of the window edges into its own movable panel, useful on a second monitor.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077860"/>
            <a:ext cx="10566400" cy="104071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9960" y="4244373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Tabbed together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960" y="4577400"/>
            <a:ext cx="10292080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Two panes sharing the same dock space, switchable by clicking their tab at the bottom — e.g. Contents and Catalog.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164290"/>
            <a:ext cx="10566400" cy="104071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9960" y="5330803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Auto-hide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960" y="5663830"/>
            <a:ext cx="10292080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Pin/unpin a pane so it slides in only when you hover its edge tab, freeing up screen space.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4BA3E0"/>
                </a:solidFill>
                <a:latin typeface="Segoe UI"/>
              </a:rPr>
              <a:t>ARCGIS PRO · THE ARCGIS PRO WINDOW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status 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A thin strip along the very bottom of the window — always visible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10566400" cy="104071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9960" y="2071513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Scale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960" y="2404540"/>
            <a:ext cx="10292080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Shows and lets you type an exact map scale — the one control that's never removable.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2991430"/>
            <a:ext cx="10566400" cy="104071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" y="3157943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Coordinate readout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" y="3490970"/>
            <a:ext cx="10292080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Live map coordinates under your cursor, in whatever units the view is set 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077860"/>
            <a:ext cx="10566400" cy="104071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9960" y="4244373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Background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960" y="4577400"/>
            <a:ext cx="10292080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A small progress indicator and notification bell for long-running geoprocessing jobs.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164290"/>
            <a:ext cx="10566400" cy="104071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9960" y="5330803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3D navigator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960" y="5663830"/>
            <a:ext cx="10292080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In a Scene, an on-screen compass/navigator widget appears here for tilting and rotating.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4BA3E0"/>
                </a:solidFill>
                <a:latin typeface="Segoe UI"/>
              </a:rPr>
              <a:t>ARCGIS PRO · THE ARCGIS PRO WINDOW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status bar, up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Scale, coordinates, and selection count, rendered exactly as they appear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3927400"/>
            <a:ext cx="6172200" cy="560000"/>
          </a:xfrm>
          <a:prstGeom prst="roundRect">
            <a:avLst>
              <a:gd name="adj" fmla="val 10000"/>
            </a:avLst>
          </a:prstGeom>
          <a:solidFill>
            <a:srgbClr val="141B2E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4240" y="4028200"/>
            <a:ext cx="1296162" cy="358400"/>
          </a:xfrm>
          <a:prstGeom prst="roundRect">
            <a:avLst>
              <a:gd name="adj" fmla="val 15000"/>
            </a:avLst>
          </a:prstGeom>
          <a:solidFill>
            <a:srgbClr val="101626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5680" y="3927400"/>
            <a:ext cx="1113282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D7DEEA"/>
                </a:solidFill>
                <a:latin typeface="Consolas"/>
              </a:rPr>
              <a:t>1:80,749,897</a:t>
            </a:r>
          </a:p>
        </p:txBody>
      </p:sp>
      <p:pic>
        <p:nvPicPr>
          <p:cNvPr id="15" name="Picture 14" descr="layer_8a94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562" y="4122400"/>
            <a:ext cx="170000" cy="170000"/>
          </a:xfrm>
          <a:prstGeom prst="rect">
            <a:avLst/>
          </a:prstGeom>
        </p:spPr>
      </p:pic>
      <p:pic>
        <p:nvPicPr>
          <p:cNvPr id="16" name="Picture 15" descr="database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562" y="4122400"/>
            <a:ext cx="170000" cy="170000"/>
          </a:xfrm>
          <a:prstGeom prst="rect">
            <a:avLst/>
          </a:prstGeom>
        </p:spPr>
      </p:pic>
      <p:pic>
        <p:nvPicPr>
          <p:cNvPr id="17" name="Picture 16" descr="route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562" y="4122400"/>
            <a:ext cx="170000" cy="170000"/>
          </a:xfrm>
          <a:prstGeom prst="rect">
            <a:avLst/>
          </a:prstGeom>
        </p:spPr>
      </p:pic>
      <p:pic>
        <p:nvPicPr>
          <p:cNvPr id="18" name="Picture 17" descr="compass_8a94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7562" y="4122400"/>
            <a:ext cx="170000" cy="17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463282" y="3927400"/>
            <a:ext cx="154305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8A94A8"/>
                </a:solidFill>
                <a:latin typeface="Consolas"/>
              </a:rPr>
              <a:t>27.18°E  56.50°N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2052" y="3927400"/>
            <a:ext cx="1110996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4BA3E0"/>
                </a:solidFill>
                <a:latin typeface="Segoe UI"/>
              </a:rPr>
              <a:t>Selected: 0</a:t>
            </a:r>
          </a:p>
        </p:txBody>
      </p:sp>
      <p:pic>
        <p:nvPicPr>
          <p:cNvPr id="21" name="Picture 20" descr="history_8a94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000" y="4122400"/>
            <a:ext cx="170000" cy="1700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445000" y="4127400"/>
            <a:ext cx="140000" cy="16000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8A9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80000" y="4157400"/>
            <a:ext cx="25000" cy="100000"/>
          </a:xfrm>
          <a:prstGeom prst="rect">
            <a:avLst/>
          </a:prstGeom>
          <a:solidFill>
            <a:srgbClr val="8A9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30000" y="4157400"/>
            <a:ext cx="25000" cy="100000"/>
          </a:xfrm>
          <a:prstGeom prst="rect">
            <a:avLst/>
          </a:prstGeom>
          <a:solidFill>
            <a:srgbClr val="8A9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37400" y="1905000"/>
            <a:ext cx="4487672" cy="104071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74560" y="207151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Scale box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4560" y="2404540"/>
            <a:ext cx="4213352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Type a number here to jump straight to an exact scale, instead of scrolling to zoom.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7400" y="2991430"/>
            <a:ext cx="4487672" cy="104071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74560" y="315794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Coordinate readout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4560" y="3490970"/>
            <a:ext cx="4213352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Updates live as you move the cursor — handy for reading off a location without a separate tool.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7400" y="4077860"/>
            <a:ext cx="4487672" cy="104071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74560" y="424437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Selected Features counter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4560" y="4577400"/>
            <a:ext cx="4213352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The fastest way to confirm a selection actually happened before you run a tool on 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7400" y="5164290"/>
            <a:ext cx="4487672" cy="104071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74560" y="533080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Background progress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74560" y="5663830"/>
            <a:ext cx="4213352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The small spinner on the far right tracks any geoprocessing job still running in the background.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00000"/>
            <a:ext cx="4200000" cy="2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0" b="1" i="0">
                <a:solidFill>
                  <a:srgbClr val="222733"/>
                </a:solidFill>
                <a:latin typeface="Segoe U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6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50">
                <a:solidFill>
                  <a:srgbClr val="34D9C4"/>
                </a:solidFill>
                <a:latin typeface="Segoe UI"/>
              </a:rPr>
              <a:t>SECTION 02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020000"/>
            <a:ext cx="10566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Project Tab (Backstage)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3980000"/>
            <a:ext cx="8500000" cy="0"/>
          </a:xfrm>
          <a:prstGeom prst="rect">
            <a:avLst/>
          </a:prstGeom>
          <a:noFill/>
          <a:ln w="19050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4200000"/>
            <a:ext cx="92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 i="1">
                <a:solidFill>
                  <a:srgbClr val="A7B1C0"/>
                </a:solidFill>
                <a:latin typeface="Segoe UI"/>
              </a:rPr>
              <a:t>A full-screen view, not a ribbon — where projects, sharing, and app settings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10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812800" y="6413500"/>
            <a:ext cx="24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1" u="sng">
                <a:solidFill>
                  <a:srgbClr val="747E8D"/>
                </a:solidFill>
                <a:latin typeface="Segoe UI"/>
              </a:rPr>
              <a:t>◂  Table of Contents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34D9C4"/>
                </a:solidFill>
                <a:latin typeface="Segoe UI"/>
              </a:rPr>
              <a:t>ARCGIS PRO · PROJECT TAB (BACKSTAGE)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Coming from a classic File menu? Here's the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ArcGIS Pro doesn't have a File menu — Project (Backstage) is the tab that does that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10566400" cy="823424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9960" y="2036747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There's no literal “File” tab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960" y="2300243"/>
            <a:ext cx="10292080" cy="411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Older desktop software (and ArcMap) put New/Open/Save under a File menu. Pro folds all of that into the Project tab instead.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2774144"/>
            <a:ext cx="10566400" cy="823424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" y="2905891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Always the first tab, always highlighted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" y="3169387"/>
            <a:ext cx="10292080" cy="411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Project sits at the far left of the ribbon and keeps a permanent gold accent in every screenshot in this deck — that's your visual cue it's the File-menu equivalent.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3643288"/>
            <a:ext cx="10566400" cy="823424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9960" y="3775035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File &gt; New / Open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960" y="4038531"/>
            <a:ext cx="10292080" cy="411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Now Project &gt; New and Project &gt; Open — same idea, same keyboard habit (Ctrl+N, Ctrl+O still work).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4512432"/>
            <a:ext cx="10566400" cy="823424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9960" y="4644179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File &gt; Save / Save As / 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960" y="4907675"/>
            <a:ext cx="10292080" cy="411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Now Project &gt; Save, Save As, and Print — covered on the next few slides.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800" y="5381576"/>
            <a:ext cx="10566400" cy="823424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9960" y="5513323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File &gt; Options / Exit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960" y="5776819"/>
            <a:ext cx="10292080" cy="411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Now Project &gt; Options for app-wide settings; Esc (or clicking any other tab) is your “Exit” back to the map.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34D9C4"/>
                </a:solidFill>
                <a:latin typeface="Segoe UI"/>
              </a:rPr>
              <a:t>ARCGIS PRO · PROJECT TAB (BACKSTAGE)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What is the Backstage view?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Clicking Project replaces the ribbon with a full-window 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9960" y="2129456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Not a ribbon tab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960" y="2578369"/>
            <a:ext cx="1029208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Unlike every other tab, Project opens a full-screen overlay covering your whole map — there's no ribbon underneath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353573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" y="3578029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Project-level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" y="4026942"/>
            <a:ext cx="1029208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Everything here acts on the .aprx project file itself, not on any one layer or map.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802146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9960" y="5026603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Esc to return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960" y="5475516"/>
            <a:ext cx="1029208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Press Esc or click any other tab along the left to go back to your map.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34D9C4"/>
                </a:solidFill>
                <a:latin typeface="Segoe UI"/>
              </a:rPr>
              <a:t>ARCGIS PRO · PROJECT TAB (BACKSTAGE)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New &amp;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Start a fresh project from a template, or reopen a recent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1905000"/>
            <a:ext cx="6172200" cy="43000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1905000"/>
            <a:ext cx="1604772" cy="430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005000"/>
            <a:ext cx="1604772" cy="391777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2800" y="2005000"/>
            <a:ext cx="40000" cy="391777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lipboar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" y="2109777"/>
            <a:ext cx="182222" cy="1822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23622" y="2005000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New</a:t>
            </a:r>
          </a:p>
        </p:txBody>
      </p:sp>
      <p:pic>
        <p:nvPicPr>
          <p:cNvPr id="14" name="Picture 13" descr="history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60" y="2565333"/>
            <a:ext cx="182222" cy="18222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23622" y="2460555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Open</a:t>
            </a:r>
          </a:p>
        </p:txBody>
      </p:sp>
      <p:pic>
        <p:nvPicPr>
          <p:cNvPr id="16" name="Picture 15" descr="check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60" y="3020888"/>
            <a:ext cx="182222" cy="18222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23622" y="2916111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Save</a:t>
            </a:r>
          </a:p>
        </p:txBody>
      </p:sp>
      <p:pic>
        <p:nvPicPr>
          <p:cNvPr id="18" name="Picture 17" descr="check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60" y="3476444"/>
            <a:ext cx="182222" cy="18222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23622" y="3371666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Save As</a:t>
            </a:r>
          </a:p>
        </p:txBody>
      </p:sp>
      <p:pic>
        <p:nvPicPr>
          <p:cNvPr id="20" name="Picture 19" descr="exchange_8a94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" y="3932000"/>
            <a:ext cx="182222" cy="18222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23622" y="3827222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pic>
        <p:nvPicPr>
          <p:cNvPr id="22" name="Picture 21" descr="desktop_8a94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960" y="4387555"/>
            <a:ext cx="182222" cy="18222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23622" y="4282777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Print</a:t>
            </a:r>
          </a:p>
        </p:txBody>
      </p:sp>
      <p:pic>
        <p:nvPicPr>
          <p:cNvPr id="24" name="Picture 23" descr="cog_8a94a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960" y="4843111"/>
            <a:ext cx="182222" cy="18222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23622" y="4738333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Options</a:t>
            </a:r>
          </a:p>
        </p:txBody>
      </p:sp>
      <p:pic>
        <p:nvPicPr>
          <p:cNvPr id="26" name="Picture 25" descr="bolt_8a94a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960" y="5298666"/>
            <a:ext cx="182222" cy="18222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23622" y="5193888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Add-Ins</a:t>
            </a:r>
          </a:p>
        </p:txBody>
      </p:sp>
      <p:pic>
        <p:nvPicPr>
          <p:cNvPr id="28" name="Picture 27" descr="key_8a94a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960" y="5754222"/>
            <a:ext cx="182222" cy="18222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23622" y="5649444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Licensing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77572" y="2042160"/>
            <a:ext cx="4447428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New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77572" y="2425000"/>
            <a:ext cx="4447428" cy="3660000"/>
          </a:xfrm>
          <a:prstGeom prst="roundRect">
            <a:avLst>
              <a:gd name="adj" fmla="val 3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23292" y="5745000"/>
            <a:ext cx="43559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34D9C4"/>
                </a:solidFill>
                <a:latin typeface="Segoe UI"/>
              </a:rPr>
              <a:t>›  </a:t>
            </a:r>
            <a:r>
              <a:rPr sz="900" i="1">
                <a:solidFill>
                  <a:srgbClr val="34D9C4"/>
                </a:solidFill>
                <a:latin typeface="Segoe UI"/>
              </a:rPr>
              <a:t>blank project, or start from a saved template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New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Start from a blank project or a template (e.g. Map, Catalog, Global Scene).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Open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Reopen a recent project, or browse to any .aprx on disk or in a portal.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34D9C4"/>
                </a:solidFill>
                <a:latin typeface="Segoe UI"/>
              </a:rPr>
              <a:t>ARCGIS PRO · PROJECT TAB (BACKSTAGE)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Save, Save As &amp; Share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Save the whole project, or package it up to hand 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1905000"/>
            <a:ext cx="6172200" cy="43000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1905000"/>
            <a:ext cx="1604772" cy="430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ipboard_8a94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" y="2109777"/>
            <a:ext cx="182222" cy="1822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23622" y="2005000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New</a:t>
            </a:r>
          </a:p>
        </p:txBody>
      </p:sp>
      <p:pic>
        <p:nvPicPr>
          <p:cNvPr id="12" name="Picture 11" descr="history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60" y="2565333"/>
            <a:ext cx="182222" cy="1822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23622" y="2460555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Open</a:t>
            </a:r>
          </a:p>
        </p:txBody>
      </p:sp>
      <p:pic>
        <p:nvPicPr>
          <p:cNvPr id="14" name="Picture 13" descr="check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60" y="3020888"/>
            <a:ext cx="182222" cy="18222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23622" y="2916111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Save</a:t>
            </a:r>
          </a:p>
        </p:txBody>
      </p:sp>
      <p:pic>
        <p:nvPicPr>
          <p:cNvPr id="16" name="Picture 15" descr="check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60" y="3476444"/>
            <a:ext cx="182222" cy="18222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23622" y="3371666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Save 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800" y="3827222"/>
            <a:ext cx="1604772" cy="391777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800" y="3827222"/>
            <a:ext cx="40000" cy="391777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exchang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" y="3932000"/>
            <a:ext cx="182222" cy="18222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23622" y="3827222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Share</a:t>
            </a:r>
          </a:p>
        </p:txBody>
      </p:sp>
      <p:pic>
        <p:nvPicPr>
          <p:cNvPr id="22" name="Picture 21" descr="desktop_8a94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960" y="4387555"/>
            <a:ext cx="182222" cy="18222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23622" y="4282777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Print</a:t>
            </a:r>
          </a:p>
        </p:txBody>
      </p:sp>
      <p:pic>
        <p:nvPicPr>
          <p:cNvPr id="24" name="Picture 23" descr="cog_8a94a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960" y="4843111"/>
            <a:ext cx="182222" cy="18222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23622" y="4738333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Options</a:t>
            </a:r>
          </a:p>
        </p:txBody>
      </p:sp>
      <p:pic>
        <p:nvPicPr>
          <p:cNvPr id="26" name="Picture 25" descr="bolt_8a94a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960" y="5298666"/>
            <a:ext cx="182222" cy="18222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23622" y="5193888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Add-Ins</a:t>
            </a:r>
          </a:p>
        </p:txBody>
      </p:sp>
      <p:pic>
        <p:nvPicPr>
          <p:cNvPr id="28" name="Picture 27" descr="key_8a94a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960" y="5754222"/>
            <a:ext cx="182222" cy="18222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23622" y="5649444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Licensing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77572" y="2042160"/>
            <a:ext cx="4447428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Share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77572" y="2425000"/>
            <a:ext cx="4447428" cy="3660000"/>
          </a:xfrm>
          <a:prstGeom prst="roundRect">
            <a:avLst>
              <a:gd name="adj" fmla="val 3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23292" y="5745000"/>
            <a:ext cx="43559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34D9C4"/>
                </a:solidFill>
                <a:latin typeface="Segoe UI"/>
              </a:rPr>
              <a:t>›  </a:t>
            </a:r>
            <a:r>
              <a:rPr sz="900" i="1">
                <a:solidFill>
                  <a:srgbClr val="34D9C4"/>
                </a:solidFill>
                <a:latin typeface="Segoe UI"/>
              </a:rPr>
              <a:t>bundles the whole project into one file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Save / Save 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Save writes your current .aprx; Save As branches off a copy under a new name or location.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Share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Package the whole project — maps, layers, and toolboxes — into a single file to send to a colleague.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34D9C4"/>
                </a:solidFill>
                <a:latin typeface="Segoe UI"/>
              </a:rPr>
              <a:t>ARCGIS PRO · PROJECT TAB (BACKSTAGE)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Application-wide settings that apply across every project you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1905000"/>
            <a:ext cx="6172200" cy="43000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1905000"/>
            <a:ext cx="1604772" cy="430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ipboard_8a94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" y="2109777"/>
            <a:ext cx="182222" cy="1822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23622" y="2005000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New</a:t>
            </a:r>
          </a:p>
        </p:txBody>
      </p:sp>
      <p:pic>
        <p:nvPicPr>
          <p:cNvPr id="12" name="Picture 11" descr="history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60" y="2565333"/>
            <a:ext cx="182222" cy="1822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23622" y="2460555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Open</a:t>
            </a:r>
          </a:p>
        </p:txBody>
      </p:sp>
      <p:pic>
        <p:nvPicPr>
          <p:cNvPr id="14" name="Picture 13" descr="check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60" y="3020888"/>
            <a:ext cx="182222" cy="18222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23622" y="2916111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Save</a:t>
            </a:r>
          </a:p>
        </p:txBody>
      </p:sp>
      <p:pic>
        <p:nvPicPr>
          <p:cNvPr id="16" name="Picture 15" descr="check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60" y="3476444"/>
            <a:ext cx="182222" cy="18222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23622" y="3371666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Save As</a:t>
            </a:r>
          </a:p>
        </p:txBody>
      </p:sp>
      <p:pic>
        <p:nvPicPr>
          <p:cNvPr id="18" name="Picture 17" descr="exchange_8a94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" y="3932000"/>
            <a:ext cx="182222" cy="18222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23622" y="3827222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pic>
        <p:nvPicPr>
          <p:cNvPr id="20" name="Picture 19" descr="desktop_8a94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960" y="4387555"/>
            <a:ext cx="182222" cy="18222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23622" y="4282777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Print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" y="4738333"/>
            <a:ext cx="1604772" cy="391777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800" y="4738333"/>
            <a:ext cx="40000" cy="391777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og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960" y="4843111"/>
            <a:ext cx="182222" cy="18222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23622" y="4738333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Options</a:t>
            </a:r>
          </a:p>
        </p:txBody>
      </p:sp>
      <p:pic>
        <p:nvPicPr>
          <p:cNvPr id="26" name="Picture 25" descr="bolt_8a94a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960" y="5298666"/>
            <a:ext cx="182222" cy="18222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23622" y="5193888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Add-Ins</a:t>
            </a:r>
          </a:p>
        </p:txBody>
      </p:sp>
      <p:pic>
        <p:nvPicPr>
          <p:cNvPr id="28" name="Picture 27" descr="key_8a94a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960" y="5754222"/>
            <a:ext cx="182222" cy="18222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23622" y="5649444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Licensing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77572" y="2042160"/>
            <a:ext cx="4447428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Options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77572" y="2425000"/>
            <a:ext cx="4447428" cy="3660000"/>
          </a:xfrm>
          <a:prstGeom prst="roundRect">
            <a:avLst>
              <a:gd name="adj" fmla="val 3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23292" y="5745000"/>
            <a:ext cx="43559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34D9C4"/>
                </a:solidFill>
                <a:latin typeface="Segoe UI"/>
              </a:rPr>
              <a:t>›  </a:t>
            </a:r>
            <a:r>
              <a:rPr sz="900" i="1">
                <a:solidFill>
                  <a:srgbClr val="34D9C4"/>
                </a:solidFill>
                <a:latin typeface="Segoe UI"/>
              </a:rPr>
              <a:t>app-wide defaults, not per-project settings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Application options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Default file locations, display units, and general behavior for ArcGIS Pro itself.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Editing options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Default snapping, sketch tolerances, and editing templates used across all projects.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34D9C4"/>
                </a:solidFill>
                <a:latin typeface="Segoe UI"/>
              </a:rPr>
              <a:t>ARCGIS PRO · PROJECT TAB (BACKSTAGE)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Add-Ins &amp; Licensing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Manage installed extensions and see what your license unlocks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1905000"/>
            <a:ext cx="6172200" cy="43000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1905000"/>
            <a:ext cx="1604772" cy="430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ipboard_8a94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" y="2109777"/>
            <a:ext cx="182222" cy="1822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23622" y="2005000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New</a:t>
            </a:r>
          </a:p>
        </p:txBody>
      </p:sp>
      <p:pic>
        <p:nvPicPr>
          <p:cNvPr id="12" name="Picture 11" descr="history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60" y="2565333"/>
            <a:ext cx="182222" cy="1822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23622" y="2460555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Open</a:t>
            </a:r>
          </a:p>
        </p:txBody>
      </p:sp>
      <p:pic>
        <p:nvPicPr>
          <p:cNvPr id="14" name="Picture 13" descr="check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60" y="3020888"/>
            <a:ext cx="182222" cy="18222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23622" y="2916111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Save</a:t>
            </a:r>
          </a:p>
        </p:txBody>
      </p:sp>
      <p:pic>
        <p:nvPicPr>
          <p:cNvPr id="16" name="Picture 15" descr="check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60" y="3476444"/>
            <a:ext cx="182222" cy="18222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23622" y="3371666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Save As</a:t>
            </a:r>
          </a:p>
        </p:txBody>
      </p:sp>
      <p:pic>
        <p:nvPicPr>
          <p:cNvPr id="18" name="Picture 17" descr="exchange_8a94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" y="3932000"/>
            <a:ext cx="182222" cy="18222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23622" y="3827222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pic>
        <p:nvPicPr>
          <p:cNvPr id="20" name="Picture 19" descr="desktop_8a94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960" y="4387555"/>
            <a:ext cx="182222" cy="18222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23622" y="4282777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Print</a:t>
            </a:r>
          </a:p>
        </p:txBody>
      </p:sp>
      <p:pic>
        <p:nvPicPr>
          <p:cNvPr id="22" name="Picture 21" descr="cog_8a94a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960" y="4843111"/>
            <a:ext cx="182222" cy="18222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23622" y="4738333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Options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00" y="5193888"/>
            <a:ext cx="1604772" cy="391777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2800" y="5193888"/>
            <a:ext cx="40000" cy="391777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bolt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960" y="5298666"/>
            <a:ext cx="182222" cy="18222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23622" y="5193888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Add-Ins</a:t>
            </a:r>
          </a:p>
        </p:txBody>
      </p:sp>
      <p:pic>
        <p:nvPicPr>
          <p:cNvPr id="28" name="Picture 27" descr="key_8a94a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960" y="5754222"/>
            <a:ext cx="182222" cy="18222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23622" y="5649444"/>
            <a:ext cx="1031109" cy="39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8A94A8"/>
                </a:solidFill>
                <a:latin typeface="Segoe UI"/>
              </a:rPr>
              <a:t>Licensing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77572" y="2042160"/>
            <a:ext cx="4447428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Add-Ins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77572" y="2425000"/>
            <a:ext cx="4447428" cy="3660000"/>
          </a:xfrm>
          <a:prstGeom prst="roundRect">
            <a:avLst>
              <a:gd name="adj" fmla="val 3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23292" y="5745000"/>
            <a:ext cx="43559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34D9C4"/>
                </a:solidFill>
                <a:latin typeface="Segoe UI"/>
              </a:rPr>
              <a:t>›  </a:t>
            </a:r>
            <a:r>
              <a:rPr sz="900" i="1">
                <a:solidFill>
                  <a:srgbClr val="34D9C4"/>
                </a:solidFill>
                <a:latin typeface="Segoe UI"/>
              </a:rPr>
              <a:t>install or remove third-party extensions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Add-In Manager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Install, enable, or remove third-party and custom add-ins.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Licensing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Shows your license level (Basic/Standard/Advanced) and which extensions are currently checked out.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00000"/>
            <a:ext cx="4200000" cy="2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0" b="1" i="0">
                <a:solidFill>
                  <a:srgbClr val="222733"/>
                </a:solidFill>
                <a:latin typeface="Segoe U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6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50">
                <a:solidFill>
                  <a:srgbClr val="E8B84B"/>
                </a:solidFill>
                <a:latin typeface="Segoe UI"/>
              </a:rPr>
              <a:t>SECTION 03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020000"/>
            <a:ext cx="10566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Map Tab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3980000"/>
            <a:ext cx="8500000" cy="0"/>
          </a:xfrm>
          <a:prstGeom prst="rect">
            <a:avLst/>
          </a:prstGeom>
          <a:noFill/>
          <a:ln w="1905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4200000"/>
            <a:ext cx="92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 i="1">
                <a:solidFill>
                  <a:srgbClr val="A7B1C0"/>
                </a:solidFill>
                <a:latin typeface="Segoe UI"/>
              </a:rPr>
              <a:t>The tab you'll live in most — navigating, selecting, and labeling your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17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812800" y="6413500"/>
            <a:ext cx="24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1" u="sng">
                <a:solidFill>
                  <a:srgbClr val="747E8D"/>
                </a:solidFill>
                <a:latin typeface="Segoe UI"/>
              </a:rPr>
              <a:t>◂  Table of Contents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B84B"/>
                </a:solidFill>
                <a:latin typeface="Segoe UI"/>
              </a:rPr>
              <a:t>ARCGIS PRO · MAP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Map tab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Seven groups cover almost everything you'll do with a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99325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9325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lipboard_8a94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575" y="2575520"/>
            <a:ext cx="304800" cy="304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42800" y="2900320"/>
            <a:ext cx="48435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Paste</a:t>
            </a:r>
          </a:p>
        </p:txBody>
      </p:sp>
      <p:pic>
        <p:nvPicPr>
          <p:cNvPr id="28" name="Picture 27" descr="clipboard_8a94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925" y="2575520"/>
            <a:ext cx="304800" cy="304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27150" y="2900320"/>
            <a:ext cx="48435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Copy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800" y="3199800"/>
            <a:ext cx="9687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Clipboard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41500" y="2589800"/>
            <a:ext cx="0" cy="780000"/>
          </a:xfrm>
          <a:prstGeom prst="rect">
            <a:avLst/>
          </a:prstGeom>
          <a:noFill/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931275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ompass_e8b8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275" y="2575520"/>
            <a:ext cx="304800" cy="304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871500" y="2900320"/>
            <a:ext cx="48435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Explore</a:t>
            </a:r>
          </a:p>
        </p:txBody>
      </p:sp>
      <p:pic>
        <p:nvPicPr>
          <p:cNvPr id="35" name="Picture 34" descr="book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5625" y="2575520"/>
            <a:ext cx="304800" cy="304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355850" y="2900320"/>
            <a:ext cx="48435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Bookmarks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1500" y="3199800"/>
            <a:ext cx="9687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Navigate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70200" y="2589800"/>
            <a:ext cx="0" cy="780000"/>
          </a:xfrm>
          <a:prstGeom prst="rect">
            <a:avLst/>
          </a:prstGeom>
          <a:noFill/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download_8a94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9975" y="2575520"/>
            <a:ext cx="304800" cy="3048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900200" y="2900320"/>
            <a:ext cx="48435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Add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Data</a:t>
            </a:r>
          </a:p>
        </p:txBody>
      </p:sp>
      <p:pic>
        <p:nvPicPr>
          <p:cNvPr id="41" name="Picture 40" descr="globe_8a94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325" y="2575520"/>
            <a:ext cx="304800" cy="3048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384550" y="2900320"/>
            <a:ext cx="48435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Basemap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00200" y="3199800"/>
            <a:ext cx="9687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Layer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98900" y="2589800"/>
            <a:ext cx="0" cy="780000"/>
          </a:xfrm>
          <a:prstGeom prst="rect">
            <a:avLst/>
          </a:prstGeom>
          <a:noFill/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bookopen_8a94a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8675" y="2575520"/>
            <a:ext cx="304800" cy="3048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928900" y="2900320"/>
            <a:ext cx="48435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Label</a:t>
            </a:r>
          </a:p>
        </p:txBody>
      </p:sp>
      <p:pic>
        <p:nvPicPr>
          <p:cNvPr id="47" name="Picture 46" descr="cog_8a94a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3025" y="2575520"/>
            <a:ext cx="304800" cy="3048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413250" y="2900320"/>
            <a:ext cx="48435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Label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Class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28900" y="3199800"/>
            <a:ext cx="9687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Labeling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27600" y="2589800"/>
            <a:ext cx="0" cy="780000"/>
          </a:xfrm>
          <a:prstGeom prst="rect">
            <a:avLst/>
          </a:prstGeom>
          <a:noFill/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bullseye_8a94a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7375" y="2575520"/>
            <a:ext cx="304800" cy="3048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957600" y="2900320"/>
            <a:ext cx="48435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Select</a:t>
            </a:r>
          </a:p>
        </p:txBody>
      </p:sp>
      <p:pic>
        <p:nvPicPr>
          <p:cNvPr id="53" name="Picture 52" descr="check_8a94a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1725" y="2575520"/>
            <a:ext cx="304800" cy="3048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441950" y="2900320"/>
            <a:ext cx="48435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Clear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57600" y="3199800"/>
            <a:ext cx="9687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Selection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56300" y="2589800"/>
            <a:ext cx="0" cy="780000"/>
          </a:xfrm>
          <a:prstGeom prst="rect">
            <a:avLst/>
          </a:prstGeom>
          <a:noFill/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search_8a94a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76075" y="2575520"/>
            <a:ext cx="304800" cy="3048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986300" y="2900320"/>
            <a:ext cx="48435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Locate</a:t>
            </a:r>
          </a:p>
        </p:txBody>
      </p:sp>
      <p:pic>
        <p:nvPicPr>
          <p:cNvPr id="59" name="Picture 58" descr="route_8a94a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0425" y="2575520"/>
            <a:ext cx="304800" cy="3048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470650" y="2900320"/>
            <a:ext cx="48435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Measure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86300" y="3199800"/>
            <a:ext cx="9687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Inquiry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74" name="Oval 73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E8B84B"/>
                </a:solidFill>
                <a:latin typeface="Segoe UI"/>
              </a:rPr>
              <a:t>›  </a:t>
            </a:r>
            <a:r>
              <a:rPr sz="900" i="1">
                <a:solidFill>
                  <a:srgbClr val="E8B84B"/>
                </a:solidFill>
                <a:latin typeface="Segoe UI"/>
              </a:rPr>
              <a:t>each group gets its own close-up on the slides that follow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One tab, seven groups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Clipboard, Navigate, Layer, Labeling, Selection, Inquiry, and Map — each is its own slide next.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Always available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Unlike contextual tabs, Map is present the moment any map or scene is open.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B84B"/>
                </a:solidFill>
                <a:latin typeface="Segoe UI"/>
              </a:rPr>
              <a:t>ARCGIS PRO · MAP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Clipboard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Copy and paste layers, features, or whole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99325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9325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965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lipboard_e8b8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500" y="2575520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96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Paste</a:t>
            </a:r>
          </a:p>
        </p:txBody>
      </p:sp>
      <p:pic>
        <p:nvPicPr>
          <p:cNvPr id="29" name="Picture 28" descr="clipboard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0" y="2575520"/>
            <a:ext cx="3048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8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Copy</a:t>
            </a:r>
          </a:p>
        </p:txBody>
      </p:sp>
      <p:pic>
        <p:nvPicPr>
          <p:cNvPr id="31" name="Picture 30" descr="chart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500" y="2575520"/>
            <a:ext cx="304800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20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Copy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800" y="3199800"/>
            <a:ext cx="61122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Clipboard group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46" name="Oval 45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E8B84B"/>
                </a:solidFill>
                <a:latin typeface="Segoe UI"/>
              </a:rPr>
              <a:t>›  </a:t>
            </a:r>
            <a:r>
              <a:rPr sz="900" i="1">
                <a:solidFill>
                  <a:srgbClr val="E8B84B"/>
                </a:solidFill>
                <a:latin typeface="Segoe UI"/>
              </a:rPr>
              <a:t>Copy Map grabs the whole view as an image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7400" y="1905000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74560" y="2129456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Copy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4560" y="2578369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Copies the selected layer or features to the clipboard.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7400" y="3353573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74560" y="3578029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Paste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4560" y="4026942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Pastes a copied layer into the active map, or copied features into an editable layer.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37400" y="4802146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74560" y="502660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Copy Map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74560" y="5475516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Copies the entire map as an image, ready to drop into a document or slide.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B84B"/>
                </a:solidFill>
                <a:latin typeface="Segoe UI"/>
              </a:rPr>
              <a:t>ARCGIS PRO · MAP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Navigate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Pan, zoom, and bookmark your way around the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99325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9325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965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ompass_e8b8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500" y="2575520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96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Explore</a:t>
            </a:r>
          </a:p>
        </p:txBody>
      </p:sp>
      <p:pic>
        <p:nvPicPr>
          <p:cNvPr id="29" name="Picture 28" descr="book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0" y="2575520"/>
            <a:ext cx="3048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8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Bookmarks</a:t>
            </a:r>
          </a:p>
        </p:txBody>
      </p:sp>
      <p:pic>
        <p:nvPicPr>
          <p:cNvPr id="31" name="Picture 30" descr="search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500" y="2575520"/>
            <a:ext cx="304800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20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Zoom to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800" y="3199800"/>
            <a:ext cx="61122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Navigate group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46" name="Oval 45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E8B84B"/>
                </a:solidFill>
                <a:latin typeface="Segoe UI"/>
              </a:rPr>
              <a:t>›  </a:t>
            </a:r>
            <a:r>
              <a:rPr sz="900" i="1">
                <a:solidFill>
                  <a:srgbClr val="E8B84B"/>
                </a:solidFill>
                <a:latin typeface="Segoe UI"/>
              </a:rPr>
              <a:t>drag to pan, scroll to zoom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7400" y="1905000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74560" y="2129456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Explore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4560" y="2578369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The default navigation tool — drag to pan, scroll to zoom, right-click-drag to tilt in 3D.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7400" y="3353573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74560" y="3578029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Bookmarks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4560" y="4026942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Jump straight back to a saved map extent you set up earlier.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37400" y="4802146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74560" y="502660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Zoom to Layer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74560" y="5475516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Frames the map on one layer's full extent with a single click.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B84B"/>
                </a:solidFill>
                <a:latin typeface="Segoe UI"/>
              </a:rPr>
              <a:t>ARCGIS PRO · MAP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Layer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Bring new data into the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99325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9325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965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ownload_e8b8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500" y="2575520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96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Add</a:t>
            </a:r>
          </a:p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Data</a:t>
            </a:r>
          </a:p>
        </p:txBody>
      </p:sp>
      <p:pic>
        <p:nvPicPr>
          <p:cNvPr id="29" name="Picture 28" descr="globe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0" y="2575520"/>
            <a:ext cx="3048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8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Basemap</a:t>
            </a:r>
          </a:p>
        </p:txBody>
      </p:sp>
      <p:pic>
        <p:nvPicPr>
          <p:cNvPr id="31" name="Picture 30" descr="route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500" y="2575520"/>
            <a:ext cx="304800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20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Add Data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From Path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800" y="3199800"/>
            <a:ext cx="61122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Layer group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46" name="Oval 45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E8B84B"/>
                </a:solidFill>
                <a:latin typeface="Segoe UI"/>
              </a:rPr>
              <a:t>›  </a:t>
            </a:r>
            <a:r>
              <a:rPr sz="900" i="1">
                <a:solidFill>
                  <a:srgbClr val="E8B84B"/>
                </a:solidFill>
                <a:latin typeface="Segoe UI"/>
              </a:rPr>
              <a:t>the fastest way to bring in a new layer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7400" y="1905000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74560" y="2129456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Add Data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4560" y="2578369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Browse to a feature class, shapefile, table, or service and add it as a new layer.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7400" y="3353573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74560" y="3578029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Basemap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4560" y="4026942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Swap in an Esri basemap — imagery, streets, topographic — as your reference backdrop.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37400" y="4802146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74560" y="502660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Add Data From Path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74560" y="5475516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Paste a direct file path or URL to add data without browsing.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B84B"/>
                </a:solidFill>
                <a:latin typeface="Segoe UI"/>
              </a:rPr>
              <a:t>ARCGIS PRO · MAP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Labeling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Turn cartographic text on and configure how it's placed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99325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9325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965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ookopen_e8b8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500" y="2575520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96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Label</a:t>
            </a:r>
          </a:p>
        </p:txBody>
      </p:sp>
      <p:pic>
        <p:nvPicPr>
          <p:cNvPr id="29" name="Picture 28" descr="cog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0" y="2575520"/>
            <a:ext cx="3048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8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Label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Class</a:t>
            </a:r>
          </a:p>
        </p:txBody>
      </p:sp>
      <p:pic>
        <p:nvPicPr>
          <p:cNvPr id="31" name="Picture 30" descr="bolt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500" y="2575520"/>
            <a:ext cx="304800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20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Maplex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800" y="3199800"/>
            <a:ext cx="61122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Labeling group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46" name="Oval 45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E8B84B"/>
                </a:solidFill>
                <a:latin typeface="Segoe UI"/>
              </a:rPr>
              <a:t>›  </a:t>
            </a:r>
            <a:r>
              <a:rPr sz="900" i="1">
                <a:solidFill>
                  <a:srgbClr val="E8B84B"/>
                </a:solidFill>
                <a:latin typeface="Segoe UI"/>
              </a:rPr>
              <a:t>one click toggles labels for the selected layer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7400" y="1905000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74560" y="2129456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Label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4560" y="2578369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Toggles labels on/off for the selected layer.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7400" y="3353573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74560" y="3578029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Label Class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4560" y="4026942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Opens rules for which features label and with what expression.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37400" y="4802146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74560" y="502660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Maplex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74560" y="5475516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Switches on Esri's advanced label-placement engine for crowded maps.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B84B"/>
                </a:solidFill>
                <a:latin typeface="Segoe UI"/>
              </a:rPr>
              <a:t>ARCGIS PRO · MAP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Selection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Choose features by clicking, drawing, or building a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99325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9325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bullseye_8a94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500" y="2575520"/>
            <a:ext cx="304800" cy="304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65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Select</a:t>
            </a:r>
          </a:p>
        </p:txBody>
      </p:sp>
      <p:pic>
        <p:nvPicPr>
          <p:cNvPr id="28" name="Picture 27" descr="database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500" y="2575520"/>
            <a:ext cx="304800" cy="304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27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Select By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Attributes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265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mapmarker_e8b8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6500" y="2575520"/>
            <a:ext cx="304800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89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Select By</a:t>
            </a:r>
          </a:p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Location</a:t>
            </a:r>
          </a:p>
        </p:txBody>
      </p:sp>
      <p:pic>
        <p:nvPicPr>
          <p:cNvPr id="33" name="Picture 32" descr="check_8a94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6500" y="2575520"/>
            <a:ext cx="304800" cy="304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1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Clear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800" y="3199800"/>
            <a:ext cx="61122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Selection group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48" name="Oval 47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E8B84B"/>
                </a:solidFill>
                <a:latin typeface="Segoe UI"/>
              </a:rPr>
              <a:t>›  </a:t>
            </a:r>
            <a:r>
              <a:rPr sz="900" i="1">
                <a:solidFill>
                  <a:srgbClr val="E8B84B"/>
                </a:solidFill>
                <a:latin typeface="Segoe UI"/>
              </a:rPr>
              <a:t>tests a spatial relationship against another layer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37400" y="1905000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74560" y="2129456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Select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74560" y="2578369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Click or drag a box over features on the map to select them interactively.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137400" y="3353573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74560" y="3578029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Select By Attributes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74560" y="4026942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Build a SQL-style query against the table — covered in its own deck.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137400" y="4802146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74560" y="502660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Select By Location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74560" y="5475516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Select by spatial relationship to another layer — also its own deck.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B84B"/>
                </a:solidFill>
                <a:latin typeface="Segoe UI"/>
              </a:rPr>
              <a:t>ARCGIS PRO · MAP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Worked example: the Select By Location dialog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The exact dialog this whole deck started from — now you know exactly which button opens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99325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9325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bullseye_8a94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500" y="2575520"/>
            <a:ext cx="304800" cy="304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65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Select</a:t>
            </a:r>
          </a:p>
        </p:txBody>
      </p:sp>
      <p:pic>
        <p:nvPicPr>
          <p:cNvPr id="28" name="Picture 27" descr="database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500" y="2575520"/>
            <a:ext cx="304800" cy="304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27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Select By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Attributes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265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mapmarker_e8b8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6500" y="2575520"/>
            <a:ext cx="304800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89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Select By</a:t>
            </a:r>
          </a:p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Location</a:t>
            </a:r>
          </a:p>
        </p:txBody>
      </p:sp>
      <p:pic>
        <p:nvPicPr>
          <p:cNvPr id="33" name="Picture 32" descr="check_8a94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6500" y="2575520"/>
            <a:ext cx="304800" cy="304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1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Clear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800" y="3199800"/>
            <a:ext cx="61122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Selection group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48" name="Oval 47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E8B84B"/>
                </a:solidFill>
                <a:latin typeface="Segoe UI"/>
              </a:rPr>
              <a:t>›  </a:t>
            </a:r>
            <a:r>
              <a:rPr sz="900" i="1">
                <a:solidFill>
                  <a:srgbClr val="E8B84B"/>
                </a:solidFill>
                <a:latin typeface="Segoe UI"/>
              </a:rPr>
              <a:t>the same button, opened from the Selection group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37400" y="1905000"/>
            <a:ext cx="4487672" cy="104071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74560" y="207151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Input Features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74560" y="2404540"/>
            <a:ext cx="4213352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The layer whose features you're trying to select — e.g. parks.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137400" y="2991430"/>
            <a:ext cx="4487672" cy="104071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74560" y="315794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Relationship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74560" y="3490970"/>
            <a:ext cx="4213352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The spatial rule to test: Intersect, Within a Distance, Contains, and more.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137400" y="4077860"/>
            <a:ext cx="4487672" cy="104071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74560" y="424437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Selecting Features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74560" y="4577400"/>
            <a:ext cx="4213352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The reference layer to test against — e.g. flood_zones.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137400" y="5164290"/>
            <a:ext cx="4487672" cy="104071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74560" y="533080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Search Distance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74560" y="5663830"/>
            <a:ext cx="4213352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Only needed for distance-based relationships — how far counts as “near”.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B84B"/>
                </a:solidFill>
                <a:latin typeface="Segoe UI"/>
              </a:rPr>
              <a:t>ARCGIS PRO · MAP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Inquiry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Ask questions about specific features on the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99325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9325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965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earch_e8b8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500" y="2575520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96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Locate</a:t>
            </a:r>
          </a:p>
        </p:txBody>
      </p:sp>
      <p:pic>
        <p:nvPicPr>
          <p:cNvPr id="29" name="Picture 28" descr="route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0" y="2575520"/>
            <a:ext cx="3048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8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Measure</a:t>
            </a:r>
          </a:p>
        </p:txBody>
      </p:sp>
      <p:pic>
        <p:nvPicPr>
          <p:cNvPr id="31" name="Picture 30" descr="question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500" y="2575520"/>
            <a:ext cx="304800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20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Identify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800" y="3199800"/>
            <a:ext cx="61122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Inquiry group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46" name="Oval 45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E8B84B"/>
                </a:solidFill>
                <a:latin typeface="Segoe UI"/>
              </a:rPr>
              <a:t>›  </a:t>
            </a:r>
            <a:r>
              <a:rPr sz="900" i="1">
                <a:solidFill>
                  <a:srgbClr val="E8B84B"/>
                </a:solidFill>
                <a:latin typeface="Segoe UI"/>
              </a:rPr>
              <a:t>click any feature to see all its attributes at once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7400" y="1905000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74560" y="2129456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Locate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4560" y="2578369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Opens the Locate pane to search for a place or address and fly to it.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7400" y="3353573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74560" y="3578029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Measure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4560" y="4026942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Measures distance or area interactively on the map.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37400" y="4802146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74560" y="502660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Identify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74560" y="5475516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Click any feature to pop up all of its attribute values at once.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B84B"/>
                </a:solidFill>
                <a:latin typeface="Segoe UI"/>
              </a:rPr>
              <a:t>ARCGIS PRO · MAP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Map &amp; Windows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Create new maps and toggle the panes you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99325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9325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965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apmarked_e8b8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500" y="2575520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96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New</a:t>
            </a:r>
          </a:p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Map</a:t>
            </a:r>
          </a:p>
        </p:txBody>
      </p:sp>
      <p:pic>
        <p:nvPicPr>
          <p:cNvPr id="29" name="Picture 28" descr="database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0" y="2575520"/>
            <a:ext cx="3048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8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Catalog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Pane</a:t>
            </a:r>
          </a:p>
        </p:txBody>
      </p:sp>
      <p:pic>
        <p:nvPicPr>
          <p:cNvPr id="31" name="Picture 30" descr="layer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500" y="2575520"/>
            <a:ext cx="304800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20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Contents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800" y="3199800"/>
            <a:ext cx="61122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Map group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46" name="Oval 45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E8B84B"/>
                </a:solidFill>
                <a:latin typeface="Segoe UI"/>
              </a:rPr>
              <a:t>›  </a:t>
            </a:r>
            <a:r>
              <a:rPr sz="900" i="1">
                <a:solidFill>
                  <a:srgbClr val="E8B84B"/>
                </a:solidFill>
                <a:latin typeface="Segoe UI"/>
              </a:rPr>
              <a:t>the fastest way to reopen a closed pane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7400" y="1905000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74560" y="2129456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New Map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4560" y="2578369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Adds a brand-new blank map tab to the project.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7400" y="3353573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74560" y="3578029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Catalog Pane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4560" y="4026942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Toggles the Catalog pane open or closed.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37400" y="4802146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74560" y="502660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74560" y="5475516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Toggles the Contents pane open or closed.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00000"/>
            <a:ext cx="4200000" cy="2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0" b="1" i="0">
                <a:solidFill>
                  <a:srgbClr val="222733"/>
                </a:solidFill>
                <a:latin typeface="Segoe U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6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50">
                <a:solidFill>
                  <a:srgbClr val="E8975A"/>
                </a:solidFill>
                <a:latin typeface="Segoe UI"/>
              </a:rPr>
              <a:t>SECTION 04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020000"/>
            <a:ext cx="10566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Insert Tab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3980000"/>
            <a:ext cx="8500000" cy="0"/>
          </a:xfrm>
          <a:prstGeom prst="rect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4200000"/>
            <a:ext cx="92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 i="1">
                <a:solidFill>
                  <a:srgbClr val="A7B1C0"/>
                </a:solidFill>
                <a:latin typeface="Segoe UI"/>
              </a:rPr>
              <a:t>Add new maps, layouts, and reporting elements to the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27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812800" y="6413500"/>
            <a:ext cx="24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1" u="sng">
                <a:solidFill>
                  <a:srgbClr val="747E8D"/>
                </a:solidFill>
                <a:latin typeface="Segoe UI"/>
              </a:rPr>
              <a:t>◂  Table of Contents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975A"/>
                </a:solidFill>
                <a:latin typeface="Segoe UI"/>
              </a:rPr>
              <a:t>ARCGIS PRO · INSERT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Insert tab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Everything you add to a project — new views, templates, and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6585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65850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Insert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491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apmarked_e897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100" y="2575520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215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New</a:t>
            </a:r>
          </a:p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Map</a:t>
            </a:r>
          </a:p>
        </p:txBody>
      </p:sp>
      <p:pic>
        <p:nvPicPr>
          <p:cNvPr id="29" name="Picture 28" descr="clipboard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100" y="2575520"/>
            <a:ext cx="3048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8415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New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Layout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800" y="3199800"/>
            <a:ext cx="19974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Project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70200" y="2589800"/>
            <a:ext cx="0" cy="780000"/>
          </a:xfrm>
          <a:prstGeom prst="rect">
            <a:avLst/>
          </a:prstGeom>
          <a:noFill/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download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6500" y="2575520"/>
            <a:ext cx="304800" cy="304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58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Import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00200" y="3199800"/>
            <a:ext cx="19974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Templates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27600" y="2589800"/>
            <a:ext cx="0" cy="780000"/>
          </a:xfrm>
          <a:prstGeom prst="rect">
            <a:avLst/>
          </a:prstGeom>
          <a:noFill/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hart_8a94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3900" y="2575520"/>
            <a:ext cx="304800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6463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New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57600" y="3199800"/>
            <a:ext cx="19974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Reports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52" name="Oval 51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E8975A"/>
                </a:solidFill>
                <a:latin typeface="Segoe UI"/>
              </a:rPr>
              <a:t>›  </a:t>
            </a:r>
            <a:r>
              <a:rPr sz="900" i="1">
                <a:solidFill>
                  <a:srgbClr val="E8975A"/>
                </a:solidFill>
                <a:latin typeface="Segoe UI"/>
              </a:rPr>
              <a:t>adds new views and pages — never edits existing data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Adds to the project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Insert doesn't edit existing data — it adds new views, layouts, and pages to work in.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Templates save setup time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Both maps and layouts can start from a saved template instead of blank.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975A"/>
                </a:solidFill>
                <a:latin typeface="Segoe UI"/>
              </a:rPr>
              <a:t>ARCGIS PRO · INSERT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New Map &amp; New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The two most common things you'll insert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6585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65850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Insert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965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apmarked_e897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500" y="2575520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96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New</a:t>
            </a:r>
          </a:p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Map</a:t>
            </a:r>
          </a:p>
        </p:txBody>
      </p:sp>
      <p:pic>
        <p:nvPicPr>
          <p:cNvPr id="29" name="Picture 28" descr="clipboard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0" y="2575520"/>
            <a:ext cx="3048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8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New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Layout</a:t>
            </a:r>
          </a:p>
        </p:txBody>
      </p:sp>
      <p:pic>
        <p:nvPicPr>
          <p:cNvPr id="31" name="Picture 30" descr="city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500" y="2575520"/>
            <a:ext cx="304800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20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New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Scene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800" y="3199800"/>
            <a:ext cx="61122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Project group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46" name="Oval 45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E8975A"/>
                </a:solidFill>
                <a:latin typeface="Segoe UI"/>
              </a:rPr>
              <a:t>›  </a:t>
            </a:r>
            <a:r>
              <a:rPr sz="900" i="1">
                <a:solidFill>
                  <a:srgbClr val="E8975A"/>
                </a:solidFill>
                <a:latin typeface="Segoe UI"/>
              </a:rPr>
              <a:t>start blank, or from a saved template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7400" y="1905000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74560" y="2129456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New Map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4560" y="2578369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Adds a blank 2D map, ready for you to add data to.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7400" y="3353573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74560" y="3578029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New Layout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4560" y="4026942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Adds a blank print/export page for composing a finished map.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37400" y="4802146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74560" y="502660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New Scene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74560" y="5475516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Adds a 3D scene view for terrain and extruded features.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975A"/>
                </a:solidFill>
                <a:latin typeface="Segoe UI"/>
              </a:rPr>
              <a:t>ARCGIS PRO · INSERT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Import Map &amp; Connections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Bring in a map document, or connect to a shared data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6585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65850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Insert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965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ownload_e897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500" y="2575520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96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Import</a:t>
            </a:r>
          </a:p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Map</a:t>
            </a:r>
          </a:p>
        </p:txBody>
      </p:sp>
      <p:pic>
        <p:nvPicPr>
          <p:cNvPr id="29" name="Picture 28" descr="cog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0" y="2575520"/>
            <a:ext cx="3048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8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Toolbox</a:t>
            </a:r>
          </a:p>
        </p:txBody>
      </p:sp>
      <p:pic>
        <p:nvPicPr>
          <p:cNvPr id="31" name="Picture 30" descr="exchange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500" y="2575520"/>
            <a:ext cx="304800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20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Connections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800" y="3199800"/>
            <a:ext cx="61122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Templates group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46" name="Oval 45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E8975A"/>
                </a:solidFill>
                <a:latin typeface="Segoe UI"/>
              </a:rPr>
              <a:t>›  </a:t>
            </a:r>
            <a:r>
              <a:rPr sz="900" i="1">
                <a:solidFill>
                  <a:srgbClr val="E8975A"/>
                </a:solidFill>
                <a:latin typeface="Segoe UI"/>
              </a:rPr>
              <a:t>brings an older ArcMap document into Pro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7400" y="1905000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74560" y="2129456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Import Map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4560" y="2578369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Converts an older ArcMap .mxd document into a Pro map.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7400" y="3353573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74560" y="3578029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Toolbox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4560" y="4026942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Adds a new, empty custom toolbox to the project.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37400" y="4802146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74560" y="502660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Connections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74560" y="5475516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Adds a folder, database, or server connection you'll reuse across maps.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975A"/>
                </a:solidFill>
                <a:latin typeface="Segoe UI"/>
              </a:rPr>
              <a:t>ARCGIS PRO · INSERT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Reports &amp; Link Charts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Two ways to summarize your data outside the map itself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6585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65850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Insert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065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art_e897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500" y="2575520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7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New</a:t>
            </a:r>
          </a:p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Report</a:t>
            </a:r>
          </a:p>
        </p:txBody>
      </p:sp>
      <p:pic>
        <p:nvPicPr>
          <p:cNvPr id="29" name="Picture 28" descr="exchange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500" y="2575520"/>
            <a:ext cx="3048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89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Link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Chart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800" y="3199800"/>
            <a:ext cx="61122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Reports group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44" name="Oval 43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E8975A"/>
                </a:solidFill>
                <a:latin typeface="Segoe UI"/>
              </a:rPr>
              <a:t>›  </a:t>
            </a:r>
            <a:r>
              <a:rPr sz="900" i="1">
                <a:solidFill>
                  <a:srgbClr val="E8975A"/>
                </a:solidFill>
                <a:latin typeface="Segoe UI"/>
              </a:rPr>
              <a:t>a mail-merge style summary of your attributes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New Report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Builds a printable, tabular report from a layer's attributes, grouped and sorted like a mail-merge.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Link Chart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Visualizes relationships between records — who's connected to what — for investigative analysis.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00000"/>
            <a:ext cx="4200000" cy="2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0" b="1" i="0">
                <a:solidFill>
                  <a:srgbClr val="222733"/>
                </a:solidFill>
                <a:latin typeface="Segoe U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6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50">
                <a:solidFill>
                  <a:srgbClr val="B98BE6"/>
                </a:solidFill>
                <a:latin typeface="Segoe UI"/>
              </a:rPr>
              <a:t>SECTION 05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020000"/>
            <a:ext cx="10566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Analysis Tab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3980000"/>
            <a:ext cx="8500000" cy="0"/>
          </a:xfrm>
          <a:prstGeom prst="rect">
            <a:avLst/>
          </a:prstGeom>
          <a:noFill/>
          <a:ln w="19050">
            <a:solidFill>
              <a:srgbClr val="B9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4200000"/>
            <a:ext cx="92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 i="1">
                <a:solidFill>
                  <a:srgbClr val="A7B1C0"/>
                </a:solidFill>
                <a:latin typeface="Segoe UI"/>
              </a:rPr>
              <a:t>Where geoprocessing tools, models, and environment settings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32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812800" y="6413500"/>
            <a:ext cx="24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1" u="sng">
                <a:solidFill>
                  <a:srgbClr val="747E8D"/>
                </a:solidFill>
                <a:latin typeface="Segoe UI"/>
              </a:rPr>
              <a:t>◂  Table of Contents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B98BE6"/>
                </a:solidFill>
                <a:latin typeface="Segoe UI"/>
              </a:rPr>
              <a:t>ARCGIS PRO · ANALYSIS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Analysis tab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From a single tool to a whole reusable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32375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32375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491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B9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og_b98b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100" y="2575520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215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Tools</a:t>
            </a:r>
          </a:p>
        </p:txBody>
      </p:sp>
      <p:pic>
        <p:nvPicPr>
          <p:cNvPr id="29" name="Picture 28" descr="laptop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100" y="2575520"/>
            <a:ext cx="3048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8415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Python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800" y="3199800"/>
            <a:ext cx="19974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Geoprocessing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70200" y="2589800"/>
            <a:ext cx="0" cy="780000"/>
          </a:xfrm>
          <a:prstGeom prst="rect">
            <a:avLst/>
          </a:prstGeom>
          <a:noFill/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project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6500" y="2575520"/>
            <a:ext cx="304800" cy="304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58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Model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Builder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00200" y="3199800"/>
            <a:ext cx="19974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Workflows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27600" y="2589800"/>
            <a:ext cx="0" cy="780000"/>
          </a:xfrm>
          <a:prstGeom prst="rect">
            <a:avLst/>
          </a:prstGeom>
          <a:noFill/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globe_8a94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3900" y="2575520"/>
            <a:ext cx="304800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6463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Environ-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57600" y="3199800"/>
            <a:ext cx="19974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Environments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52" name="Oval 51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B98BE6"/>
                </a:solidFill>
                <a:latin typeface="Segoe UI"/>
              </a:rPr>
              <a:t>›  </a:t>
            </a:r>
            <a:r>
              <a:rPr sz="900" i="1">
                <a:solidFill>
                  <a:srgbClr val="B98BE6"/>
                </a:solidFill>
                <a:latin typeface="Segoe UI"/>
              </a:rPr>
              <a:t>from a single tool to a whole reusable model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B9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This is where analysis happens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Every tool from the Table Join, Select By, and Geoprocessing decks is launched from here.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B9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Scales up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Start with one tool, then chain several into a reusable ModelBuilder diagram.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B98BE6"/>
                </a:solidFill>
                <a:latin typeface="Segoe UI"/>
              </a:rPr>
              <a:t>ARCGIS PRO · ANALYSIS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Geoprocessing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Search, run, and track every analysis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960" y="2209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Buffer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960" y="260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Input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9960" y="2849800"/>
            <a:ext cx="5897880" cy="28000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2800" y="284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960" y="318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Distance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9960" y="3429800"/>
            <a:ext cx="5897880" cy="28000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2800" y="342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Consolas"/>
              </a:rPr>
              <a:t>500 Meters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960" y="376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Output Feature Class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9960" y="4009800"/>
            <a:ext cx="5897880" cy="28000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2800" y="400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Consolas"/>
              </a:rPr>
              <a:t>parks_buffer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960" y="5845000"/>
            <a:ext cx="5843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B98BE6"/>
                </a:solidFill>
                <a:latin typeface="Segoe UI"/>
              </a:rPr>
              <a:t>›  </a:t>
            </a:r>
            <a:r>
              <a:rPr sz="900" i="1">
                <a:solidFill>
                  <a:srgbClr val="B98BE6"/>
                </a:solidFill>
                <a:latin typeface="Segoe UI"/>
              </a:rPr>
              <a:t>type a tool name to find it instantly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7400" y="1905000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B9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74560" y="2129456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4560" y="2578369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Opens the Geoprocessing pane's search box — type a tool name to find it instantly.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7400" y="3353573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B9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74560" y="3578029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Python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4560" y="4026942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Opens the Python window for scripting the same tools with arcpy.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7400" y="4802146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B9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74560" y="502660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History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4560" y="5475516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Lists every tool you've run this session, with its exact parameters, for easy re-run.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B98BE6"/>
                </a:solidFill>
                <a:latin typeface="Segoe UI"/>
              </a:rPr>
              <a:t>ARCGIS PRO · ANALYSIS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ModelBuilder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Chain tools together into a single, reusable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B9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9960" y="2129456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Visual, not written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960" y="2578369"/>
            <a:ext cx="1029208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Tools become boxes, data becomes ovals, and you connect them with arrows instead of writing a script.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353573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B9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" y="3578029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Reusable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" y="4026942"/>
            <a:ext cx="1029208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Save a model once, then re-run the entire chain on new data with one click.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802146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B9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9960" y="5026603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Exports to 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960" y="5475516"/>
            <a:ext cx="1029208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Any model can be exported to a Python script automatically — a gentle bridge to scripting.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B98BE6"/>
                </a:solidFill>
                <a:latin typeface="Segoe UI"/>
              </a:rPr>
              <a:t>ARCGIS PRO · ANALYSIS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A ModelBuilder diagram, close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Pill shapes are data, boxes are tools — read it left to right like a sentence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5621" y="3608120"/>
            <a:ext cx="888796" cy="1198560"/>
          </a:xfrm>
          <a:prstGeom prst="roundRect">
            <a:avLst>
              <a:gd name="adj" fmla="val 50000"/>
            </a:avLst>
          </a:prstGeom>
          <a:solidFill>
            <a:srgbClr val="151922"/>
          </a:solidFill>
          <a:ln w="12700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5621" y="3608120"/>
            <a:ext cx="888796" cy="1198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parks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20061" y="3608120"/>
            <a:ext cx="888796" cy="1198560"/>
          </a:xfrm>
          <a:prstGeom prst="roundRect">
            <a:avLst>
              <a:gd name="adj" fmla="val 15000"/>
            </a:avLst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20061" y="3608120"/>
            <a:ext cx="888796" cy="1198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A2208"/>
                </a:solidFill>
                <a:latin typeface="Segoe UI"/>
              </a:rPr>
              <a:t>Buffer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501" y="3608120"/>
            <a:ext cx="888796" cy="1198560"/>
          </a:xfrm>
          <a:prstGeom prst="roundRect">
            <a:avLst>
              <a:gd name="adj" fmla="val 50000"/>
            </a:avLst>
          </a:prstGeom>
          <a:solidFill>
            <a:srgbClr val="151922"/>
          </a:solidFill>
          <a:ln w="12700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4501" y="3608120"/>
            <a:ext cx="888796" cy="1198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parks_buffer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88941" y="3608120"/>
            <a:ext cx="888796" cy="1198560"/>
          </a:xfrm>
          <a:prstGeom prst="roundRect">
            <a:avLst>
              <a:gd name="adj" fmla="val 15000"/>
            </a:avLst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8941" y="3608120"/>
            <a:ext cx="888796" cy="1198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A2208"/>
                </a:solidFill>
                <a:latin typeface="Segoe UI"/>
              </a:rPr>
              <a:t>Clip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23381" y="3608120"/>
            <a:ext cx="888796" cy="1198560"/>
          </a:xfrm>
          <a:prstGeom prst="roundRect">
            <a:avLst>
              <a:gd name="adj" fmla="val 50000"/>
            </a:avLst>
          </a:prstGeom>
          <a:solidFill>
            <a:srgbClr val="151922"/>
          </a:solidFill>
          <a:ln w="12700">
            <a:solidFill>
              <a:srgbClr val="4B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23381" y="3608120"/>
            <a:ext cx="888796" cy="1198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clipped_result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74418" y="4201050"/>
            <a:ext cx="285643" cy="12700"/>
          </a:xfrm>
          <a:prstGeom prst="rect">
            <a:avLst/>
          </a:prstGeom>
          <a:solidFill>
            <a:srgbClr val="A7B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30061" y="4162400"/>
            <a:ext cx="90000" cy="90000"/>
          </a:xfrm>
          <a:prstGeom prst="ellipse">
            <a:avLst/>
          </a:prstGeom>
          <a:solidFill>
            <a:srgbClr val="A7B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08858" y="4201050"/>
            <a:ext cx="285643" cy="12700"/>
          </a:xfrm>
          <a:prstGeom prst="rect">
            <a:avLst/>
          </a:prstGeom>
          <a:solidFill>
            <a:srgbClr val="A7B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364501" y="4162400"/>
            <a:ext cx="90000" cy="90000"/>
          </a:xfrm>
          <a:prstGeom prst="ellipse">
            <a:avLst/>
          </a:prstGeom>
          <a:solidFill>
            <a:srgbClr val="A7B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298" y="4201050"/>
            <a:ext cx="285643" cy="12700"/>
          </a:xfrm>
          <a:prstGeom prst="rect">
            <a:avLst/>
          </a:prstGeom>
          <a:solidFill>
            <a:srgbClr val="A7B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98941" y="4162400"/>
            <a:ext cx="90000" cy="90000"/>
          </a:xfrm>
          <a:prstGeom prst="ellipse">
            <a:avLst/>
          </a:prstGeom>
          <a:solidFill>
            <a:srgbClr val="A7B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77738" y="4201050"/>
            <a:ext cx="285643" cy="12700"/>
          </a:xfrm>
          <a:prstGeom prst="rect">
            <a:avLst/>
          </a:prstGeom>
          <a:solidFill>
            <a:srgbClr val="A7B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33381" y="4162400"/>
            <a:ext cx="90000" cy="90000"/>
          </a:xfrm>
          <a:prstGeom prst="ellipse">
            <a:avLst/>
          </a:prstGeom>
          <a:solidFill>
            <a:srgbClr val="A7B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9960" y="5845000"/>
            <a:ext cx="5897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B98BE6"/>
                </a:solidFill>
                <a:latin typeface="Segoe UI"/>
              </a:rPr>
              <a:t>›  </a:t>
            </a:r>
            <a:r>
              <a:rPr sz="900" i="1">
                <a:solidFill>
                  <a:srgbClr val="B98BE6"/>
                </a:solidFill>
                <a:latin typeface="Segoe UI"/>
              </a:rPr>
              <a:t>read left to right, like a sentence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7400" y="1905000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B9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74560" y="2129456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Read it as a sentence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74560" y="2578369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“parks, buffered, then clipped, produces clipped_result” — the whole model in one line.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7400" y="3353573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B9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74560" y="3578029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Any box can run alone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74560" y="4026942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Double-click a single tool to run just that step while you're building the chain.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7400" y="4802146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B9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74560" y="502660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Color means status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74560" y="5475516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Tools turn a different shade once they've successfully run, so you can see progress across a long model at a glance.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B98BE6"/>
                </a:solidFill>
                <a:latin typeface="Segoe UI"/>
              </a:rPr>
              <a:t>ARCGIS PRO · ANALYSIS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Environments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Default settings every geoprocessing tool inherits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960" y="2209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Environments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960" y="260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Current Workspace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9960" y="2849800"/>
            <a:ext cx="5897880" cy="28000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2800" y="284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Consolas"/>
              </a:rPr>
              <a:t>RasterAnalysis.gdb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960" y="318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Extent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9960" y="3429800"/>
            <a:ext cx="5897880" cy="28000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2800" y="342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Consolas"/>
              </a:rPr>
              <a:t>Same as Display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960" y="376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Output Coordinate System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9960" y="4009800"/>
            <a:ext cx="5897880" cy="28000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2800" y="400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Consolas"/>
              </a:rPr>
              <a:t>NAD 1983 UTM Zone 11N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960" y="5845000"/>
            <a:ext cx="5843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B98BE6"/>
                </a:solidFill>
                <a:latin typeface="Segoe UI"/>
              </a:rPr>
              <a:t>›  </a:t>
            </a:r>
            <a:r>
              <a:rPr sz="900" i="1">
                <a:solidFill>
                  <a:srgbClr val="B98BE6"/>
                </a:solidFill>
                <a:latin typeface="Segoe UI"/>
              </a:rPr>
              <a:t>set once here, every tool inherits 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B9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Set once, apply everywhere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Workspace, extent, and coordinate system set here apply to every tool you run afterward.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B9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Override per-tool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Any tool's own parameters can still override these shared defaults.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B98BE6"/>
                </a:solidFill>
                <a:latin typeface="Segoe UI"/>
              </a:rPr>
              <a:t>ARCGIS PRO · ANALYSIS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Raster &amp; Image analysis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A preview of the toolset the Raster Data Analysis deck covers in 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32375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32375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965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B9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ownload_b98b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500" y="2575520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96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Extract</a:t>
            </a:r>
          </a:p>
        </p:txBody>
      </p:sp>
      <p:pic>
        <p:nvPicPr>
          <p:cNvPr id="29" name="Picture 28" descr="bolt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0" y="2575520"/>
            <a:ext cx="3048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8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Map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Algebra</a:t>
            </a:r>
          </a:p>
        </p:txBody>
      </p:sp>
      <p:pic>
        <p:nvPicPr>
          <p:cNvPr id="31" name="Picture 30" descr="triangle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500" y="2575520"/>
            <a:ext cx="304800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20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Surface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800" y="3199800"/>
            <a:ext cx="61122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Raster group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46" name="Oval 45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B98BE6"/>
                </a:solidFill>
                <a:latin typeface="Segoe UI"/>
              </a:rPr>
              <a:t>›  </a:t>
            </a:r>
            <a:r>
              <a:rPr sz="900" i="1">
                <a:solidFill>
                  <a:srgbClr val="B98BE6"/>
                </a:solidFill>
                <a:latin typeface="Segoe UI"/>
              </a:rPr>
              <a:t>covered in full in the Raster Data Analysis deck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B9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Lives on Analysis, not Imagery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Core raster tools like Extract, Map Algebra, and Surface are geoprocessing tools here.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B9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Imagery tab is different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The Imagery tab (later) is for visually classifying and adjusting the raster itself, not running tools on it.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00000"/>
            <a:ext cx="4200000" cy="2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0" b="1" i="0">
                <a:solidFill>
                  <a:srgbClr val="222733"/>
                </a:solidFill>
                <a:latin typeface="Segoe U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6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50">
                <a:solidFill>
                  <a:srgbClr val="F0708F"/>
                </a:solidFill>
                <a:latin typeface="Segoe UI"/>
              </a:rPr>
              <a:t>SECTION 06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020000"/>
            <a:ext cx="10566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View Tab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3980000"/>
            <a:ext cx="8500000" cy="0"/>
          </a:xfrm>
          <a:prstGeom prst="rect">
            <a:avLst/>
          </a:prstGeom>
          <a:noFill/>
          <a:ln w="19050">
            <a:solidFill>
              <a:srgbClr val="F07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4200000"/>
            <a:ext cx="92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 i="1">
                <a:solidFill>
                  <a:srgbClr val="A7B1C0"/>
                </a:solidFill>
                <a:latin typeface="Segoe UI"/>
              </a:rPr>
              <a:t>Switch between views, arrange your panes, and set units for the whole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39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812800" y="6413500"/>
            <a:ext cx="24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1" u="sng">
                <a:solidFill>
                  <a:srgbClr val="747E8D"/>
                </a:solidFill>
                <a:latin typeface="Segoe UI"/>
              </a:rPr>
              <a:t>◂  Table of Contents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F0708F"/>
                </a:solidFill>
                <a:latin typeface="Segoe UI"/>
              </a:rPr>
              <a:t>ARCGIS PRO · VIEW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View tab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How you look at your data, and how the window is arranged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989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98900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491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F07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apmarked_f070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100" y="2575520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215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New</a:t>
            </a:r>
          </a:p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Map</a:t>
            </a:r>
          </a:p>
        </p:txBody>
      </p:sp>
      <p:pic>
        <p:nvPicPr>
          <p:cNvPr id="29" name="Picture 28" descr="clipboard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100" y="2575520"/>
            <a:ext cx="3048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8415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Layout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800" y="3199800"/>
            <a:ext cx="19974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Views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70200" y="2589800"/>
            <a:ext cx="0" cy="780000"/>
          </a:xfrm>
          <a:prstGeom prst="rect">
            <a:avLst/>
          </a:prstGeom>
          <a:noFill/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database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6500" y="2575520"/>
            <a:ext cx="304800" cy="304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27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Catalog</a:t>
            </a:r>
          </a:p>
        </p:txBody>
      </p:sp>
      <p:pic>
        <p:nvPicPr>
          <p:cNvPr id="35" name="Picture 34" descr="laptop_8a94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6500" y="2575520"/>
            <a:ext cx="304800" cy="304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89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Python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00200" y="3199800"/>
            <a:ext cx="19974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Windows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27600" y="2589800"/>
            <a:ext cx="0" cy="780000"/>
          </a:xfrm>
          <a:prstGeom prst="rect">
            <a:avLst/>
          </a:prstGeom>
          <a:noFill/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globe_8a94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3900" y="2575520"/>
            <a:ext cx="304800" cy="3048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6463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Units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7600" y="3199800"/>
            <a:ext cx="19974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Locale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54" name="Oval 53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F0708F"/>
                </a:solidFill>
                <a:latin typeface="Segoe UI"/>
              </a:rPr>
              <a:t>›  </a:t>
            </a:r>
            <a:r>
              <a:rPr sz="900" i="1">
                <a:solidFill>
                  <a:srgbClr val="F0708F"/>
                </a:solidFill>
                <a:latin typeface="Segoe UI"/>
              </a:rPr>
              <a:t>controls how the window looks, not your data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F07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Not about data — about display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View controls how the window looks, not what's in your layers.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F07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Richest tab in the ribbon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More individual groups than any other tab, though you'll only need a handful day to day.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F0708F"/>
                </a:solidFill>
                <a:latin typeface="Segoe UI"/>
              </a:rPr>
              <a:t>ARCGIS PRO · VIEW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Data view vs. Layout view vs. Scene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Three different canvases for three different jobs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F07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9960" y="2129456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Map (Data view)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960" y="2578369"/>
            <a:ext cx="1029208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Your everyday working view — explore, select, and analyze without any page borders.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353573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F07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" y="3578029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Layout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" y="4026942"/>
            <a:ext cx="1029208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A print page you compose for output — map frames, legends, scale bars, titles.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802146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F07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9960" y="5026603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Scene (3D)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960" y="5475516"/>
            <a:ext cx="1029208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The same layers rendered in three dimensions, with terrain and extruded buildings.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F0708F"/>
                </a:solidFill>
                <a:latin typeface="Segoe UI"/>
              </a:rPr>
              <a:t>ARCGIS PRO · VIEW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Windows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Toggle any dockable pane on or off from one 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989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98900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7865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F07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atabase_f070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500" y="2575520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65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Catalog</a:t>
            </a:r>
          </a:p>
        </p:txBody>
      </p:sp>
      <p:pic>
        <p:nvPicPr>
          <p:cNvPr id="29" name="Picture 28" descr="layer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500" y="2575520"/>
            <a:ext cx="3048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27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Contents</a:t>
            </a:r>
          </a:p>
        </p:txBody>
      </p:sp>
      <p:pic>
        <p:nvPicPr>
          <p:cNvPr id="31" name="Picture 30" descr="laptop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6500" y="2575520"/>
            <a:ext cx="304800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89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Python</a:t>
            </a:r>
          </a:p>
        </p:txBody>
      </p:sp>
      <p:pic>
        <p:nvPicPr>
          <p:cNvPr id="33" name="Picture 32" descr="cog_8a94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6500" y="2575520"/>
            <a:ext cx="304800" cy="304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1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Geoproc-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essing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800" y="3199800"/>
            <a:ext cx="61122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Windows group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48" name="Oval 47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F0708F"/>
                </a:solidFill>
                <a:latin typeface="Segoe UI"/>
              </a:rPr>
              <a:t>›  </a:t>
            </a:r>
            <a:r>
              <a:rPr sz="900" i="1">
                <a:solidFill>
                  <a:srgbClr val="F0708F"/>
                </a:solidFill>
                <a:latin typeface="Segoe UI"/>
              </a:rPr>
              <a:t>reopen any pane you've ever closed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F07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One switchboard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Every pane in the app — even ones you've closed entirely — can be reopened from this group.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F07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Resets layout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'Reset Panes' here restores the default window arrangement if things get rearranged.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F0708F"/>
                </a:solidFill>
                <a:latin typeface="Segoe UI"/>
              </a:rPr>
              <a:t>ARCGIS PRO · VIEW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Locale: units &amp; coordinates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Set the display units the whole project 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960" y="2209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Locale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960" y="260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Distance units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9960" y="2849800"/>
            <a:ext cx="5897880" cy="28000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2800" y="284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Consolas"/>
              </a:rPr>
              <a:t>Meters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960" y="318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Area units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9960" y="3429800"/>
            <a:ext cx="5897880" cy="28000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2800" y="342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Consolas"/>
              </a:rPr>
              <a:t>Acres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960" y="376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Coordinate format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9960" y="4009800"/>
            <a:ext cx="5897880" cy="28000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2800" y="400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Consolas"/>
              </a:rPr>
              <a:t>Decimal Degrees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960" y="5845000"/>
            <a:ext cx="5843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F0708F"/>
                </a:solidFill>
                <a:latin typeface="Segoe UI"/>
              </a:rPr>
              <a:t>›  </a:t>
            </a:r>
            <a:r>
              <a:rPr sz="900" i="1">
                <a:solidFill>
                  <a:srgbClr val="F0708F"/>
                </a:solidFill>
                <a:latin typeface="Segoe UI"/>
              </a:rPr>
              <a:t>changes display only, never the stored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F07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Display, not 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This changes how numbers are shown, not the underlying data's actual coordinate system.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F07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Applies project-wide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Set once here rather than per map for consistency across every view.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F0708F"/>
                </a:solidFill>
                <a:latin typeface="Segoe UI"/>
              </a:rPr>
              <a:t>ARCGIS PRO · VIEW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Animation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Turn a sequence of map views into a video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F07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9960" y="2129456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Timeline of keyframes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960" y="2578369"/>
            <a:ext cx="1029208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Each keyframe captures a map extent, layer visibility, or time slider position.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353573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F07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" y="3578029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Pro interpolates between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" y="4026942"/>
            <a:ext cx="1029208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ArcGIS Pro smoothly animates from one keyframe to the next automatically.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802146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F07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9960" y="5026603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Exports to video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960" y="5475516"/>
            <a:ext cx="1029208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The finished animation exports as an MP4 or a sequence of image frames.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F0708F"/>
                </a:solidFill>
                <a:latin typeface="Segoe UI"/>
              </a:rPr>
              <a:t>ARCGIS PRO · VIEW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Linked views &amp; Split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Compare two views of the same area side by 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F07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9960" y="2129456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Link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960" y="2578369"/>
            <a:ext cx="1029208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Panning or zooming in one map view moves a second linked view in sync.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353573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F07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" y="3578029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Split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" y="4026942"/>
            <a:ext cx="1029208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Shows the same map twice — handy for before/after or 2D-vs-3D comparisons.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802146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F07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9960" y="5026603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Great for 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960" y="5475516"/>
            <a:ext cx="1029208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Compare a draft symbology against a finished one without switching tabs back and forth.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F0708F"/>
                </a:solidFill>
                <a:latin typeface="Segoe UI"/>
              </a:rPr>
              <a:t>ARCGIS PRO · VIEW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Split view, side by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Two linked views of the same map, moving in 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3040380" cy="399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240" y="2270760"/>
            <a:ext cx="28575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2D Map</a:t>
            </a:r>
          </a:p>
        </p:txBody>
      </p:sp>
      <p:sp>
        <p:nvSpPr>
          <p:cNvPr id="14" name="Oval 13"/>
          <p:cNvSpPr/>
          <p:nvPr/>
        </p:nvSpPr>
        <p:spPr>
          <a:xfrm>
            <a:off x="1876933" y="3797063"/>
            <a:ext cx="912114" cy="912114"/>
          </a:xfrm>
          <a:prstGeom prst="ellipse">
            <a:avLst/>
          </a:prstGeom>
          <a:noFill/>
          <a:ln w="15875">
            <a:solidFill>
              <a:srgbClr val="F07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44620" y="2209800"/>
            <a:ext cx="3040380" cy="399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36060" y="2270760"/>
            <a:ext cx="28575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3D Scene</a:t>
            </a:r>
          </a:p>
        </p:txBody>
      </p:sp>
      <p:sp>
        <p:nvSpPr>
          <p:cNvPr id="17" name="Oval 16"/>
          <p:cNvSpPr/>
          <p:nvPr/>
        </p:nvSpPr>
        <p:spPr>
          <a:xfrm>
            <a:off x="5008753" y="3797063"/>
            <a:ext cx="912114" cy="912114"/>
          </a:xfrm>
          <a:prstGeom prst="ellipse">
            <a:avLst/>
          </a:prstGeom>
          <a:noFill/>
          <a:ln w="15875">
            <a:solidFill>
              <a:srgbClr val="F07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23640" y="4032140"/>
            <a:ext cx="350520" cy="350520"/>
          </a:xfrm>
          <a:prstGeom prst="ellipse">
            <a:avLst/>
          </a:prstGeom>
          <a:solidFill>
            <a:srgbClr val="1C212C"/>
          </a:solidFill>
          <a:ln w="12700">
            <a:solidFill>
              <a:srgbClr val="F07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3640" y="4412660"/>
            <a:ext cx="75052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0708F"/>
                </a:solidFill>
                <a:latin typeface="Segoe UI"/>
              </a:rPr>
              <a:t>LINKED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F07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One extent, two views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Pan or zoom in either pane and the other follows automatically — no separate navigation.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F07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Any combination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2D vs. 3D is common, but you can just as easily link two 2D maps for before/after.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00000"/>
            <a:ext cx="4200000" cy="2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0" b="1" i="0">
                <a:solidFill>
                  <a:srgbClr val="222733"/>
                </a:solidFill>
                <a:latin typeface="Segoe U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6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50">
                <a:solidFill>
                  <a:srgbClr val="7C88E8"/>
                </a:solidFill>
                <a:latin typeface="Segoe UI"/>
              </a:rPr>
              <a:t>SECTION 07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020000"/>
            <a:ext cx="10566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Edit Tab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3980000"/>
            <a:ext cx="8500000" cy="0"/>
          </a:xfrm>
          <a:prstGeom prst="rect">
            <a:avLst/>
          </a:prstGeom>
          <a:noFill/>
          <a:ln w="19050">
            <a:solidFill>
              <a:srgbClr val="7C8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4200000"/>
            <a:ext cx="92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 i="1">
                <a:solidFill>
                  <a:srgbClr val="A7B1C0"/>
                </a:solidFill>
                <a:latin typeface="Segoe UI"/>
              </a:rPr>
              <a:t>Create, reshape, and manage edits to your feature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47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812800" y="6413500"/>
            <a:ext cx="24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1" u="sng">
                <a:solidFill>
                  <a:srgbClr val="747E8D"/>
                </a:solidFill>
                <a:latin typeface="Segoe UI"/>
              </a:rPr>
              <a:t>◂  Table of Contents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7C88E8"/>
                </a:solidFill>
                <a:latin typeface="Segoe UI"/>
              </a:rPr>
              <a:t>ARCGIS PRO · EDIT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Edit tab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Only appears once a layer is editable — five groups cover the whole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5425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5425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491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7C8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eck_7c88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100" y="2575520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215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Save</a:t>
            </a:r>
          </a:p>
        </p:txBody>
      </p:sp>
      <p:pic>
        <p:nvPicPr>
          <p:cNvPr id="29" name="Picture 28" descr="history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100" y="2575520"/>
            <a:ext cx="3048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8415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Discard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800" y="3199800"/>
            <a:ext cx="19974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Manage Edits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70200" y="2589800"/>
            <a:ext cx="0" cy="780000"/>
          </a:xfrm>
          <a:prstGeom prst="rect">
            <a:avLst/>
          </a:prstGeom>
          <a:noFill/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bolt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6500" y="2575520"/>
            <a:ext cx="304800" cy="304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58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Create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00200" y="3199800"/>
            <a:ext cx="19974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Features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27600" y="2589800"/>
            <a:ext cx="0" cy="780000"/>
          </a:xfrm>
          <a:prstGeom prst="rect">
            <a:avLst/>
          </a:prstGeom>
          <a:noFill/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triangle_8a94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3900" y="2575520"/>
            <a:ext cx="304800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6463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Snapping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57600" y="3199800"/>
            <a:ext cx="19974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Snapping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52" name="Oval 51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7C88E8"/>
                </a:solidFill>
                <a:latin typeface="Segoe UI"/>
              </a:rPr>
              <a:t>›  </a:t>
            </a:r>
            <a:r>
              <a:rPr sz="900" i="1">
                <a:solidFill>
                  <a:srgbClr val="7C88E8"/>
                </a:solidFill>
                <a:latin typeface="Segoe UI"/>
              </a:rPr>
              <a:t>only appears once a layer is editable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7C8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Session-based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Edits accumulate in a session until you explicitly Save — nothing writes to disk automatically.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7C8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Snapping is the safety net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Turning it on is the single biggest factor in whether your edits line up cleanly.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7C88E8"/>
                </a:solidFill>
                <a:latin typeface="Segoe UI"/>
              </a:rPr>
              <a:t>ARCGIS PRO · EDIT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Manage Edits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Commit your edit session, or back it out entirely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5425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5425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065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7C8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eck_7c88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500" y="2575520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7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Save</a:t>
            </a:r>
          </a:p>
        </p:txBody>
      </p:sp>
      <p:pic>
        <p:nvPicPr>
          <p:cNvPr id="29" name="Picture 28" descr="history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500" y="2575520"/>
            <a:ext cx="3048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89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Discard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800" y="3199800"/>
            <a:ext cx="61122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Manage Edits group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44" name="Oval 43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7C88E8"/>
                </a:solidFill>
                <a:latin typeface="Segoe UI"/>
              </a:rPr>
              <a:t>›  </a:t>
            </a:r>
            <a:r>
              <a:rPr sz="900" i="1">
                <a:solidFill>
                  <a:srgbClr val="7C88E8"/>
                </a:solidFill>
                <a:latin typeface="Segoe UI"/>
              </a:rPr>
              <a:t>nothing writes to disk until you click Save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7C8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Save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Writes every change in the current edit session permanently to the data.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7C8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Discard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Throws away every change in the session, reverting to how the data looked when you started.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7C88E8"/>
                </a:solidFill>
                <a:latin typeface="Segoe UI"/>
              </a:rPr>
              <a:t>ARCGIS PRO · EDIT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Features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Digitize brand-new features onto an editable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5425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5425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965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7C8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olt_7c88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500" y="2575520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96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Create</a:t>
            </a:r>
          </a:p>
        </p:txBody>
      </p:sp>
      <p:pic>
        <p:nvPicPr>
          <p:cNvPr id="29" name="Picture 28" descr="clipboard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0" y="2575520"/>
            <a:ext cx="3048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8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Attributes</a:t>
            </a:r>
          </a:p>
        </p:txBody>
      </p:sp>
      <p:pic>
        <p:nvPicPr>
          <p:cNvPr id="31" name="Picture 30" descr="check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500" y="2575520"/>
            <a:ext cx="304800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20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Delete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800" y="3199800"/>
            <a:ext cx="61122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Features group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46" name="Oval 45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7C88E8"/>
                </a:solidFill>
                <a:latin typeface="Segoe UI"/>
              </a:rPr>
              <a:t>›  </a:t>
            </a:r>
            <a:r>
              <a:rPr sz="900" i="1">
                <a:solidFill>
                  <a:srgbClr val="7C88E8"/>
                </a:solidFill>
                <a:latin typeface="Segoe UI"/>
              </a:rPr>
              <a:t>lists every editable layer's symbol templates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7400" y="1905000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7C8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74560" y="2129456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Create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4560" y="2578369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Opens the Create Features pane, listing every editable layer's available symbol templates.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7400" y="3353573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7C8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74560" y="3578029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Attributes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4560" y="4026942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Opens the Attributes pane to fill in field values for the feature you just drew.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37400" y="4802146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7C8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74560" y="502660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Delete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74560" y="5475516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Removes the selected feature(s) from the layer entirely.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7C88E8"/>
                </a:solidFill>
                <a:latin typeface="Segoe UI"/>
              </a:rPr>
              <a:t>ARCGIS PRO · EDIT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Snapping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Makes new vertices lock onto existing geometry automatically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7C8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9960" y="2129456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Snap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960" y="2578369"/>
            <a:ext cx="1029208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Endpoint, vertex, edge, and intersection snapping can each be toggled independently.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353573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7C8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" y="3578029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Snapping tolerance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" y="4026942"/>
            <a:ext cx="1029208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A pixel radius around your cursor — anything closer snaps; anything farther doesn't.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802146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7C8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9960" y="5026603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960" y="5475516"/>
            <a:ext cx="1029208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Snapping is what keeps shared boundaries (like two adjacent parcels) truly touching, not just close.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7C88E8"/>
                </a:solidFill>
                <a:latin typeface="Segoe UI"/>
              </a:rPr>
              <a:t>ARCGIS PRO · EDIT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Selection &amp; Tools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Modify the shape of features that already exist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5425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5425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965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7C8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og_7c88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500" y="2575520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96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Modify</a:t>
            </a:r>
          </a:p>
        </p:txBody>
      </p:sp>
      <p:pic>
        <p:nvPicPr>
          <p:cNvPr id="29" name="Picture 28" descr="route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0" y="2575520"/>
            <a:ext cx="3048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8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Reshape</a:t>
            </a:r>
          </a:p>
        </p:txBody>
      </p:sp>
      <p:pic>
        <p:nvPicPr>
          <p:cNvPr id="31" name="Picture 30" descr="exchange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500" y="2575520"/>
            <a:ext cx="304800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20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Merge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800" y="3199800"/>
            <a:ext cx="61122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Tools group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46" name="Oval 45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7C88E8"/>
                </a:solidFill>
                <a:latin typeface="Segoe UI"/>
              </a:rPr>
              <a:t>›  </a:t>
            </a:r>
            <a:r>
              <a:rPr sz="900" i="1">
                <a:solidFill>
                  <a:srgbClr val="7C88E8"/>
                </a:solidFill>
                <a:latin typeface="Segoe UI"/>
              </a:rPr>
              <a:t>drag vertices individually once selected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7400" y="1905000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7C8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74560" y="2129456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Modify Features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4560" y="2578369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Opens handles on a selected feature's vertices so you can drag them individually.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7400" y="3353573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7C8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74560" y="3578029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Reshape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4560" y="4026942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Redraws part of a line or polygon's boundary by sketching a replacement segment.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37400" y="4802146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7C8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74560" y="502660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Merge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74560" y="5475516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Combines two or more selected features into one, keeping a single set of attributes.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00000"/>
            <a:ext cx="4200000" cy="2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0" b="1" i="0">
                <a:solidFill>
                  <a:srgbClr val="222733"/>
                </a:solidFill>
                <a:latin typeface="Segoe U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6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50">
                <a:solidFill>
                  <a:srgbClr val="A8D85A"/>
                </a:solidFill>
                <a:latin typeface="Segoe UI"/>
              </a:rPr>
              <a:t>SECTION 08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020000"/>
            <a:ext cx="10566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Imagery Tab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3980000"/>
            <a:ext cx="8500000" cy="0"/>
          </a:xfrm>
          <a:prstGeom prst="rect">
            <a:avLst/>
          </a:prstGeom>
          <a:noFill/>
          <a:ln w="19050">
            <a:solidFill>
              <a:srgbClr val="A8D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4200000"/>
            <a:ext cx="92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 i="1">
                <a:solidFill>
                  <a:srgbClr val="A7B1C0"/>
                </a:solidFill>
                <a:latin typeface="Segoe UI"/>
              </a:rPr>
              <a:t>A contextual tab for classifying and analyzing raster imagery directly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53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812800" y="6413500"/>
            <a:ext cx="24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1" u="sng">
                <a:solidFill>
                  <a:srgbClr val="747E8D"/>
                </a:solidFill>
                <a:latin typeface="Segoe UI"/>
              </a:rPr>
              <a:t>◂  Table of Contents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A8D85A"/>
                </a:solidFill>
                <a:latin typeface="Segoe UI"/>
              </a:rPr>
              <a:t>ARCGIS PRO · IMAGERY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Imagery tab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Appears only when an imagery or mosaic layer is selected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A8D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9960" y="2129456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Contextual, not permanent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960" y="2578369"/>
            <a:ext cx="1029208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Unlike Map or Edit, Imagery only shows up once you click on a raster/imagery layer.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353573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A8D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" y="3578029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Visual, interactive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" y="4026942"/>
            <a:ext cx="1029208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Focused on classifying and adjusting pixels directly on screen, rather than running a geoprocessing tool.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802146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A8D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9960" y="5026603"/>
            <a:ext cx="102920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Complements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960" y="5475516"/>
            <a:ext cx="1029208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Raster geoprocessing tools (Map Algebra, Extract) still live on the Analysis tab — Imagery is for the interactive side.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A8D85A"/>
                </a:solidFill>
                <a:latin typeface="Segoe UI"/>
              </a:rPr>
              <a:t>ARCGIS PRO · IMAGERY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Image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Turn pixel values into meaningful categories interactively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3195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31950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065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A8D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art_a8d8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500" y="2575520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7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Classify</a:t>
            </a:r>
          </a:p>
        </p:txBody>
      </p:sp>
      <p:pic>
        <p:nvPicPr>
          <p:cNvPr id="29" name="Picture 28" descr="bullseye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500" y="2575520"/>
            <a:ext cx="3048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89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Training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Samples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800" y="3199800"/>
            <a:ext cx="61122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Classification group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44" name="Oval 43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A8D85A"/>
                </a:solidFill>
                <a:latin typeface="Segoe UI"/>
              </a:rPr>
              <a:t>›  </a:t>
            </a:r>
            <a:r>
              <a:rPr sz="900" i="1">
                <a:solidFill>
                  <a:srgbClr val="A8D85A"/>
                </a:solidFill>
                <a:latin typeface="Segoe UI"/>
              </a:rPr>
              <a:t>teach it with a few representative pixels first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A8D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Training Samples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Click representative pixels for each class (water, forest, urban) to teach the classifier.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A8D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Classify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Runs the classification across the whole image using those training samples.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A8D85A"/>
                </a:solidFill>
                <a:latin typeface="Segoe UI"/>
              </a:rPr>
              <a:t>ARCGIS PRO · IMAGERY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Analysis &amp; Measurement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Quick interactive checks without leaving the imagery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3195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31950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965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A8D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exchange_a8d8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500" y="2575520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96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Swipe</a:t>
            </a:r>
          </a:p>
        </p:txBody>
      </p:sp>
      <p:pic>
        <p:nvPicPr>
          <p:cNvPr id="29" name="Picture 28" descr="chart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0" y="2575520"/>
            <a:ext cx="3048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8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Spectral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Profile</a:t>
            </a:r>
          </a:p>
        </p:txBody>
      </p:sp>
      <p:pic>
        <p:nvPicPr>
          <p:cNvPr id="31" name="Picture 30" descr="route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500" y="2575520"/>
            <a:ext cx="304800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20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Measure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800" y="3199800"/>
            <a:ext cx="61122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Analysis group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46" name="Oval 45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A8D85A"/>
                </a:solidFill>
                <a:latin typeface="Segoe UI"/>
              </a:rPr>
              <a:t>›  </a:t>
            </a:r>
            <a:r>
              <a:rPr sz="900" i="1">
                <a:solidFill>
                  <a:srgbClr val="A8D85A"/>
                </a:solidFill>
                <a:latin typeface="Segoe UI"/>
              </a:rPr>
              <a:t>drag the curtain to compare two images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7400" y="1905000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A8D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74560" y="2129456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Swipe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4560" y="2578369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Drag a curtain across the screen to compare this image against the basemap beneath it.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7400" y="3353573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A8D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74560" y="3578029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Spectral Profile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4560" y="4026942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Charts how a pixel's brightness varies across the image's different bands.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37400" y="4802146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A8D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74560" y="502660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Measure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74560" y="5475516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Measures real-world distance or area directly on the imagery.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A8D85A"/>
                </a:solidFill>
                <a:latin typeface="Segoe UI"/>
              </a:rPr>
              <a:t>ARCGIS PRO · IMAGERY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Worked example: the Swipe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Drag the handle to reveal one image underneath another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" y="2209800"/>
            <a:ext cx="3394710" cy="3995200"/>
          </a:xfrm>
          <a:prstGeom prst="rect">
            <a:avLst/>
          </a:prstGeom>
          <a:solidFill>
            <a:srgbClr val="14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7510" y="2209800"/>
            <a:ext cx="2777490" cy="3995200"/>
          </a:xfrm>
          <a:prstGeom prst="rect">
            <a:avLst/>
          </a:prstGeom>
          <a:solidFill>
            <a:srgbClr val="2A1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240" y="2270760"/>
            <a:ext cx="325755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Segoe UI"/>
              </a:rPr>
              <a:t>Before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8950" y="2270760"/>
            <a:ext cx="264033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Segoe UI"/>
              </a:rPr>
              <a:t>After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1160" y="2209800"/>
            <a:ext cx="12700" cy="399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057510" y="4057400"/>
            <a:ext cx="300000" cy="300000"/>
          </a:xfrm>
          <a:prstGeom prst="ellipse">
            <a:avLst/>
          </a:prstGeom>
          <a:solidFill>
            <a:srgbClr val="A8D85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A8D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Two layers, one canvas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Swipe works on any two overlapping layers — before/after imagery, or imagery over a basemap.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A8D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The handle is draggable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Click and drag left or right; everything on one side of the line hides the layer beneath it.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00000"/>
            <a:ext cx="4200000" cy="2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0" b="1" i="0">
                <a:solidFill>
                  <a:srgbClr val="222733"/>
                </a:solidFill>
                <a:latin typeface="Segoe U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6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50">
                <a:solidFill>
                  <a:srgbClr val="4BC8E0"/>
                </a:solidFill>
                <a:latin typeface="Segoe UI"/>
              </a:rPr>
              <a:t>SECTION 09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020000"/>
            <a:ext cx="10566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Share Tab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3980000"/>
            <a:ext cx="8500000" cy="0"/>
          </a:xfrm>
          <a:prstGeom prst="rect">
            <a:avLst/>
          </a:prstGeom>
          <a:noFill/>
          <a:ln w="19050">
            <a:solidFill>
              <a:srgbClr val="4B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4200000"/>
            <a:ext cx="92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 i="1">
                <a:solidFill>
                  <a:srgbClr val="A7B1C0"/>
                </a:solidFill>
                <a:latin typeface="Segoe UI"/>
              </a:rPr>
              <a:t>Publish maps and layers to a portal, or export finished 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58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812800" y="6413500"/>
            <a:ext cx="24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1" u="sng">
                <a:solidFill>
                  <a:srgbClr val="747E8D"/>
                </a:solidFill>
                <a:latin typeface="Segoe UI"/>
              </a:rPr>
              <a:t>◂  Table of Contents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4BC8E0"/>
                </a:solidFill>
                <a:latin typeface="Segoe UI"/>
              </a:rPr>
              <a:t>ARCGIS PRO · SHARE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Share tab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Getting your work out of ArcGIS Pro and to other people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8475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8475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591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4B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ayer_4bc8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2575520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315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Layer</a:t>
            </a:r>
          </a:p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Package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2800" y="3199800"/>
            <a:ext cx="19974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Package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70200" y="2589800"/>
            <a:ext cx="0" cy="780000"/>
          </a:xfrm>
          <a:prstGeom prst="rect">
            <a:avLst/>
          </a:prstGeom>
          <a:noFill/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globe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0" y="2575520"/>
            <a:ext cx="304800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58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Web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00200" y="3199800"/>
            <a:ext cx="19974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Web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27600" y="2589800"/>
            <a:ext cx="0" cy="780000"/>
          </a:xfrm>
          <a:prstGeom prst="rect">
            <a:avLst/>
          </a:prstGeom>
          <a:noFill/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download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900" y="2575520"/>
            <a:ext cx="304800" cy="304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6463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Export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57600" y="3199800"/>
            <a:ext cx="19974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Print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50" name="Oval 49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4BC8E0"/>
                </a:solidFill>
                <a:latin typeface="Segoe UI"/>
              </a:rPr>
              <a:t>›  </a:t>
            </a:r>
            <a:r>
              <a:rPr sz="900" i="1">
                <a:solidFill>
                  <a:srgbClr val="4BC8E0"/>
                </a:solidFill>
                <a:latin typeface="Segoe UI"/>
              </a:rPr>
              <a:t>package for GIS users, Web Layer for anyone else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Two audiences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Package/Save As is for other GIS users; Web Layer/Web Map is for anyone with a browser.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Print is its own path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Exporting a finished Layout for a PDF or poster is separate from publishing to the web.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4BC8E0"/>
                </a:solidFill>
                <a:latin typeface="Segoe UI"/>
              </a:rPr>
              <a:t>ARCGIS PRO · SHARE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Web Layer &amp; Web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Publish live data to your organization's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8475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8475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065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4B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globe_4bc8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500" y="2575520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7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Web</a:t>
            </a:r>
          </a:p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Layer</a:t>
            </a:r>
          </a:p>
        </p:txBody>
      </p:sp>
      <p:pic>
        <p:nvPicPr>
          <p:cNvPr id="29" name="Picture 28" descr="exchange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500" y="2575520"/>
            <a:ext cx="3048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89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Web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800" y="3199800"/>
            <a:ext cx="61122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Web group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44" name="Oval 43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4BC8E0"/>
                </a:solidFill>
                <a:latin typeface="Segoe UI"/>
              </a:rPr>
              <a:t>›  </a:t>
            </a:r>
            <a:r>
              <a:rPr sz="900" i="1">
                <a:solidFill>
                  <a:srgbClr val="4BC8E0"/>
                </a:solidFill>
                <a:latin typeface="Segoe UI"/>
              </a:rPr>
              <a:t>the only path that reaches a browser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Web Layer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Publishes one layer's data and symbology to the portal as a hosted feature or tile layer.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Web Map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Publishes the entire map — every layer, its symbology, and the extent — as one shareable web map.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4BC8E0"/>
                </a:solidFill>
                <a:latin typeface="Segoe UI"/>
              </a:rPr>
              <a:t>ARCGIS PRO · SHARE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Packages, Print &amp; 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Everything that leaves as a file rather than a live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8475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8475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965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4B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ayer_4bc8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500" y="2575520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96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Layer</a:t>
            </a:r>
          </a:p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Package</a:t>
            </a:r>
          </a:p>
        </p:txBody>
      </p:sp>
      <p:pic>
        <p:nvPicPr>
          <p:cNvPr id="29" name="Picture 28" descr="project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0" y="2575520"/>
            <a:ext cx="3048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8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Project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Package</a:t>
            </a:r>
          </a:p>
        </p:txBody>
      </p:sp>
      <p:pic>
        <p:nvPicPr>
          <p:cNvPr id="31" name="Picture 30" descr="download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500" y="2575520"/>
            <a:ext cx="304800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20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Export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800" y="3199800"/>
            <a:ext cx="61122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Package group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34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parks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boundaries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roads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Consolas"/>
              </a:rPr>
              <a:t>basemap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46" name="Oval 45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0784" y="5845000"/>
            <a:ext cx="38770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4BC8E0"/>
                </a:solidFill>
                <a:latin typeface="Segoe UI"/>
              </a:rPr>
              <a:t>›  </a:t>
            </a:r>
            <a:r>
              <a:rPr sz="900" i="1">
                <a:solidFill>
                  <a:srgbClr val="4BC8E0"/>
                </a:solidFill>
                <a:latin typeface="Segoe UI"/>
              </a:rPr>
              <a:t>the only path that leaves as a file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Layer/Project Package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Bundles data and symbology into a single portable file another Pro user can open.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Export Map/Layout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Renders the current Layout to PDF, PNG, or another image format for printing or embedding.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4BC8E0"/>
                </a:solidFill>
                <a:latin typeface="Segoe UI"/>
              </a:rPr>
              <a:t>ARCGIS PRO · SHARE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Worked example: Export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Turning a finished Layout into a file you can hand 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960" y="2209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Export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960" y="260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Format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9960" y="2849800"/>
            <a:ext cx="5897880" cy="28000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2800" y="284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Consolas"/>
              </a:rPr>
              <a:t>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960" y="318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Extent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9960" y="3429800"/>
            <a:ext cx="5897880" cy="28000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2800" y="342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Consolas"/>
              </a:rPr>
              <a:t>Current Layout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960" y="376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Resolution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9960" y="4009800"/>
            <a:ext cx="5897880" cy="28000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2800" y="400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Consolas"/>
              </a:rPr>
              <a:t>300 DPI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960" y="5845000"/>
            <a:ext cx="5843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4BC8E0"/>
                </a:solidFill>
                <a:latin typeface="Segoe UI"/>
              </a:rPr>
              <a:t>›  </a:t>
            </a:r>
            <a:r>
              <a:rPr sz="900" i="1">
                <a:solidFill>
                  <a:srgbClr val="4BC8E0"/>
                </a:solidFill>
                <a:latin typeface="Segoe UI"/>
              </a:rPr>
              <a:t>PDF for print, PNG for a slide or webpage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Format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PDF is the safest default for printing; PNG/JPEG are better for embedding in a slide or webpage.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4B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Resolution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300 DPI is print-quality; 96–150 DPI is plenty for on-screen use and keeps the file smaller.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00000"/>
            <a:ext cx="4200000" cy="2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0" b="1" i="0">
                <a:solidFill>
                  <a:srgbClr val="222733"/>
                </a:solidFill>
                <a:latin typeface="Segoe U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6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50">
                <a:solidFill>
                  <a:srgbClr val="E86A5E"/>
                </a:solidFill>
                <a:latin typeface="Segoe UI"/>
              </a:rPr>
              <a:t>SECTION 10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020000"/>
            <a:ext cx="10566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Core Panes &amp;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3980000"/>
            <a:ext cx="8500000" cy="0"/>
          </a:xfrm>
          <a:prstGeom prst="rect">
            <a:avLst/>
          </a:prstGeom>
          <a:noFill/>
          <a:ln w="19050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4200000"/>
            <a:ext cx="92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 i="1">
                <a:solidFill>
                  <a:srgbClr val="A7B1C0"/>
                </a:solidFill>
                <a:latin typeface="Segoe UI"/>
              </a:rPr>
              <a:t>A closer look at the dockable panes you'll open dozens of times a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63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812800" y="6413500"/>
            <a:ext cx="24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1" u="sng">
                <a:solidFill>
                  <a:srgbClr val="747E8D"/>
                </a:solidFill>
                <a:latin typeface="Segoe UI"/>
              </a:rPr>
              <a:t>◂  Table of Contents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6A5E"/>
                </a:solidFill>
                <a:latin typeface="Segoe UI"/>
              </a:rPr>
              <a:t>ARCGIS PRO · CORE PANES &amp; WINDOWS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Catalog pane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Your project's file browser — databases, toolboxes, and connections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960" y="2209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Catalog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2800" y="2609800"/>
            <a:ext cx="57722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7B1C0"/>
                </a:solidFill>
                <a:latin typeface="Consolas"/>
              </a:rPr>
              <a:t>▸ Databases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2800" y="2869800"/>
            <a:ext cx="57722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7B1C0"/>
                </a:solidFill>
                <a:latin typeface="Consolas"/>
              </a:rPr>
              <a:t>    RasterAnalysis.gdb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2800" y="3129800"/>
            <a:ext cx="57722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7B1C0"/>
                </a:solidFill>
                <a:latin typeface="Consolas"/>
              </a:rPr>
              <a:t>▸ Toolboxes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2800" y="3389800"/>
            <a:ext cx="57722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7B1C0"/>
                </a:solidFill>
                <a:latin typeface="Consolas"/>
              </a:rPr>
              <a:t>    RasterAnalysis.tbx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2800" y="3649800"/>
            <a:ext cx="57722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7B1C0"/>
                </a:solidFill>
                <a:latin typeface="Consolas"/>
              </a:rPr>
              <a:t>▸ Folders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2800" y="3909800"/>
            <a:ext cx="57722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7B1C0"/>
                </a:solidFill>
                <a:latin typeface="Consolas"/>
              </a:rPr>
              <a:t>▸ Portal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3960" y="5845000"/>
            <a:ext cx="5843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E86A5E"/>
                </a:solidFill>
                <a:latin typeface="Segoe UI"/>
              </a:rPr>
              <a:t>›  </a:t>
            </a:r>
            <a:r>
              <a:rPr sz="900" i="1">
                <a:solidFill>
                  <a:srgbClr val="E86A5E"/>
                </a:solidFill>
                <a:latin typeface="Segoe UI"/>
              </a:rPr>
              <a:t>what exists on disk or portal, not just on the 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Everything the project knows about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Every database, toolbox, and folder connection you've added lives in this one tree.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Different from Contents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Catalog shows what exists on disk/portal; Contents shows what's actually drawn on the current map.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6A5E"/>
                </a:solidFill>
                <a:latin typeface="Segoe UI"/>
              </a:rPr>
              <a:t>ARCGIS PRO · CORE PANES &amp; WINDOWS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Catalog pane, up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Project, Portal, Computer, and Favorites — four places to browse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240" y="2270760"/>
            <a:ext cx="149733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E86A5E"/>
                </a:solidFill>
                <a:latin typeface="Segoe UI"/>
              </a:rPr>
              <a:t>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4240" y="2539800"/>
            <a:ext cx="1497330" cy="30000"/>
          </a:xfrm>
          <a:prstGeom prst="rect">
            <a:avLst/>
          </a:prstGeom>
          <a:solidFill>
            <a:srgbClr val="E8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1570" y="2270760"/>
            <a:ext cx="149733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A94A8"/>
                </a:solidFill>
                <a:latin typeface="Segoe UI"/>
              </a:rPr>
              <a:t>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8900" y="2270760"/>
            <a:ext cx="149733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A94A8"/>
                </a:solidFill>
                <a:latin typeface="Segoe UI"/>
              </a:rPr>
              <a:t>Computer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6230" y="2270760"/>
            <a:ext cx="149733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A94A8"/>
                </a:solidFill>
                <a:latin typeface="Segoe UI"/>
              </a:rPr>
              <a:t>Favorites</a:t>
            </a:r>
          </a:p>
        </p:txBody>
      </p:sp>
      <p:pic>
        <p:nvPicPr>
          <p:cNvPr id="18" name="Picture 17" descr="history_8a94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240" y="2629800"/>
            <a:ext cx="190000" cy="190000"/>
          </a:xfrm>
          <a:prstGeom prst="rect">
            <a:avLst/>
          </a:prstGeom>
        </p:spPr>
      </p:pic>
      <p:pic>
        <p:nvPicPr>
          <p:cNvPr id="19" name="Picture 18" descr="home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400" y="2629800"/>
            <a:ext cx="190000" cy="190000"/>
          </a:xfrm>
          <a:prstGeom prst="rect">
            <a:avLst/>
          </a:prstGeom>
        </p:spPr>
      </p:pic>
      <p:pic>
        <p:nvPicPr>
          <p:cNvPr id="20" name="Picture 19" descr="cog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8560" y="2629800"/>
            <a:ext cx="190000" cy="1900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885720" y="2599800"/>
            <a:ext cx="5007840" cy="250000"/>
          </a:xfrm>
          <a:prstGeom prst="roundRect">
            <a:avLst>
              <a:gd name="adj" fmla="val 20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earch_8a94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5720" y="2629800"/>
            <a:ext cx="190000" cy="190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195720" y="2599800"/>
            <a:ext cx="463784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8A94A8"/>
                </a:solidFill>
                <a:latin typeface="Segoe UI"/>
              </a:rPr>
              <a:t>Search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960" y="2979820"/>
            <a:ext cx="5897880" cy="2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Segoe UI"/>
              </a:rPr>
              <a:t>▸ Maps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960" y="3259820"/>
            <a:ext cx="5897880" cy="2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Segoe UI"/>
              </a:rPr>
              <a:t>▸ Toolboxes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960" y="3539820"/>
            <a:ext cx="5897880" cy="2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Segoe UI"/>
              </a:rPr>
              <a:t>▸ Databases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960" y="3819820"/>
            <a:ext cx="5897880" cy="2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Segoe UI"/>
              </a:rPr>
              <a:t>▸ Styles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960" y="4099820"/>
            <a:ext cx="5897880" cy="2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Segoe UI"/>
              </a:rPr>
              <a:t>▸ Folders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9960" y="4379820"/>
            <a:ext cx="5897880" cy="2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A7B1C0"/>
                </a:solidFill>
                <a:latin typeface="Segoe UI"/>
              </a:rPr>
              <a:t>▸ Locators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7400" y="1905000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74560" y="2129456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Four browsing scopes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74560" y="2578369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Project (this project's items), Portal (your organization's shared content), Computer (local disk), and Favorites (pinned shortcuts).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7400" y="3353573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4560" y="3578029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Search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74560" y="4026942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Filters the whole tree live as you type — faster than expanding every folder by hand.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7400" y="4802146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74560" y="502660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Same tree, everywhere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74560" y="5475516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Maps, Toolboxes, Databases, Styles, Folders, and Locators are always grouped in that order.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6A5E"/>
                </a:solidFill>
                <a:latin typeface="Segoe UI"/>
              </a:rPr>
              <a:t>ARCGIS PRO · CORE PANES &amp; WINDOWS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Contents pane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The layers in your active map, top to bottom, in drawing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960" y="2209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2800" y="2609800"/>
            <a:ext cx="57722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7B1C0"/>
                </a:solidFill>
                <a:latin typeface="Consolas"/>
              </a:rPr>
              <a:t>☑ parks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2800" y="2869800"/>
            <a:ext cx="57722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7B1C0"/>
                </a:solidFill>
                <a:latin typeface="Consolas"/>
              </a:rPr>
              <a:t>☑ boundaries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2800" y="3129800"/>
            <a:ext cx="57722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7B1C0"/>
                </a:solidFill>
                <a:latin typeface="Consolas"/>
              </a:rPr>
              <a:t>☑ roads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2800" y="3389800"/>
            <a:ext cx="57722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7B1C0"/>
                </a:solidFill>
                <a:latin typeface="Consolas"/>
              </a:rPr>
              <a:t>☑ basemap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3960" y="5845000"/>
            <a:ext cx="5843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E86A5E"/>
                </a:solidFill>
                <a:latin typeface="Segoe UI"/>
              </a:rPr>
              <a:t>›  </a:t>
            </a:r>
            <a:r>
              <a:rPr sz="900" i="1">
                <a:solidFill>
                  <a:srgbClr val="E86A5E"/>
                </a:solidFill>
                <a:latin typeface="Segoe UI"/>
              </a:rPr>
              <a:t>uncheck to hide, without removing from the project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7400" y="1905000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74560" y="2129456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Drawing order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4560" y="2578369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Layers higher in the list draw on top of layers below them.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7400" y="3353573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4560" y="3578029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Checkbox = visibility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4560" y="4026942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Unchecking a layer hides it from the map without removing it from the project.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7400" y="4802146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74560" y="502660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Right-click for properties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4560" y="5475516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Symbology, labeling, and joins are all one right-click away from here.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6A5E"/>
                </a:solidFill>
                <a:latin typeface="Segoe UI"/>
              </a:rPr>
              <a:t>ARCGIS PRO · CORE PANES &amp; WINDOWS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Contents pane, up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The search box, the “add data” icon row, and a layer's own symbol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4240" y="2301240"/>
            <a:ext cx="5989320" cy="320000"/>
          </a:xfrm>
          <a:prstGeom prst="roundRect">
            <a:avLst>
              <a:gd name="adj" fmla="val 15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earch_8a94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" y="2381240"/>
            <a:ext cx="160000" cy="16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69960" y="2301240"/>
            <a:ext cx="56722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8A94A8"/>
                </a:solidFill>
                <a:latin typeface="Segoe UI"/>
              </a:rPr>
              <a:t>Search</a:t>
            </a:r>
          </a:p>
        </p:txBody>
      </p:sp>
      <p:pic>
        <p:nvPicPr>
          <p:cNvPr id="16" name="Picture 15" descr="layer_e86a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240" y="2709800"/>
            <a:ext cx="200000" cy="200000"/>
          </a:xfrm>
          <a:prstGeom prst="rect">
            <a:avLst/>
          </a:prstGeom>
        </p:spPr>
      </p:pic>
      <p:pic>
        <p:nvPicPr>
          <p:cNvPr id="17" name="Picture 16" descr="database_e86a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260" y="2709800"/>
            <a:ext cx="200000" cy="200000"/>
          </a:xfrm>
          <a:prstGeom prst="rect">
            <a:avLst/>
          </a:prstGeom>
        </p:spPr>
      </p:pic>
      <p:pic>
        <p:nvPicPr>
          <p:cNvPr id="18" name="Picture 17" descr="route_e86a5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4280" y="2709800"/>
            <a:ext cx="200000" cy="200000"/>
          </a:xfrm>
          <a:prstGeom prst="rect">
            <a:avLst/>
          </a:prstGeom>
        </p:spPr>
      </p:pic>
      <p:pic>
        <p:nvPicPr>
          <p:cNvPr id="19" name="Picture 18" descr="globe_e86a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4300" y="2709800"/>
            <a:ext cx="200000" cy="200000"/>
          </a:xfrm>
          <a:prstGeom prst="rect">
            <a:avLst/>
          </a:prstGeom>
        </p:spPr>
      </p:pic>
      <p:pic>
        <p:nvPicPr>
          <p:cNvPr id="20" name="Picture 19" descr="mapmarker_e86a5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4320" y="2709800"/>
            <a:ext cx="200000" cy="2000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04240" y="2969800"/>
            <a:ext cx="5989320" cy="0"/>
          </a:xfrm>
          <a:prstGeom prst="rect">
            <a:avLst/>
          </a:prstGeom>
          <a:noFill/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4240" y="3069820"/>
            <a:ext cx="598932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1">
                <a:solidFill>
                  <a:srgbClr val="8A94A8"/>
                </a:solidFill>
                <a:latin typeface="Segoe UI"/>
              </a:rPr>
              <a:t>Drawing Order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960" y="332982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FFFFFF"/>
                </a:solidFill>
                <a:latin typeface="Consolas"/>
              </a:rPr>
              <a:t>☑ NUTS_RG_10M_2021_4326_LEVL_1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2800" y="3609820"/>
            <a:ext cx="137160" cy="137160"/>
          </a:xfrm>
          <a:prstGeom prst="rect">
            <a:avLst/>
          </a:prstGeom>
          <a:solidFill>
            <a:srgbClr val="F0708F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32800" y="3589820"/>
            <a:ext cx="5532200" cy="2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1">
                <a:solidFill>
                  <a:srgbClr val="A7B1C0"/>
                </a:solidFill>
                <a:latin typeface="Segoe UI"/>
              </a:rPr>
              <a:t>single symbol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960" y="388982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7B1C0"/>
                </a:solidFill>
                <a:latin typeface="Consolas"/>
              </a:rPr>
              <a:t>☑ World Topographic 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960" y="414982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7B1C0"/>
                </a:solidFill>
                <a:latin typeface="Consolas"/>
              </a:rPr>
              <a:t>☑ World Hillshade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7400" y="1905000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74560" y="2129456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The icon row adds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4560" y="2578369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Each icon is a different way in: a feature class, a database, a path, a basemap, or a location service.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7400" y="3353573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74560" y="3578029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Layers show their own symbol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4560" y="4026942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A simple layer expands right there in Contents to show exactly how it's currently drawn — no need to open Symbology just to check.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7400" y="4802146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74560" y="502660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Search filters the 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74560" y="5475516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On a map with dozens of layers, typing here is faster than scrolling to find one by name.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6A5E"/>
                </a:solidFill>
                <a:latin typeface="Segoe UI"/>
              </a:rPr>
              <a:t>ARCGIS PRO · CORE PANES &amp; WINDOWS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Worked example: the right-click menu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The fastest way to reach almost anything about a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9960" y="2301240"/>
            <a:ext cx="246888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8A94A8"/>
                </a:solidFill>
                <a:latin typeface="Segoe UI"/>
              </a:rPr>
              <a:t>parks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64460" y="2808820"/>
            <a:ext cx="2590800" cy="2797160"/>
          </a:xfrm>
          <a:prstGeom prst="roundRect">
            <a:avLst>
              <a:gd name="adj" fmla="val 4000"/>
            </a:avLst>
          </a:prstGeom>
          <a:solidFill>
            <a:srgbClr val="1C212C"/>
          </a:solidFill>
          <a:ln w="9525">
            <a:solidFill>
              <a:srgbClr val="2E3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1620" y="2877400"/>
            <a:ext cx="2316480" cy="334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A7B1C0"/>
                </a:solidFill>
                <a:latin typeface="Segoe UI"/>
              </a:rPr>
              <a:t>Zoom 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1620" y="3257400"/>
            <a:ext cx="2316480" cy="334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A7B1C0"/>
                </a:solidFill>
                <a:latin typeface="Segoe UI"/>
              </a:rPr>
              <a:t>Attribute 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10180" y="3614540"/>
            <a:ext cx="2499360" cy="334280"/>
          </a:xfrm>
          <a:prstGeom prst="roundRect">
            <a:avLst>
              <a:gd name="adj" fmla="val 10000"/>
            </a:avLst>
          </a:prstGeom>
          <a:solidFill>
            <a:srgbClr val="E8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1620" y="3637400"/>
            <a:ext cx="2316480" cy="334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Segoe UI"/>
              </a:rPr>
              <a:t>Symbology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1620" y="4017400"/>
            <a:ext cx="2316480" cy="334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A7B1C0"/>
                </a:solidFill>
                <a:latin typeface="Segoe UI"/>
              </a:rPr>
              <a:t>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1620" y="4397400"/>
            <a:ext cx="2316480" cy="334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A7B1C0"/>
                </a:solidFill>
                <a:latin typeface="Segoe UI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1620" y="4777400"/>
            <a:ext cx="2316480" cy="334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A7B1C0"/>
                </a:solidFill>
                <a:latin typeface="Segoe UI"/>
              </a:rPr>
              <a:t>Sharing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1620" y="5157400"/>
            <a:ext cx="2316480" cy="334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A7B1C0"/>
                </a:solidFill>
                <a:latin typeface="Segoe UI"/>
              </a:rPr>
              <a:t>Properties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960" y="5845000"/>
            <a:ext cx="5897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E86A5E"/>
                </a:solidFill>
                <a:latin typeface="Segoe UI"/>
              </a:rPr>
              <a:t>›  </a:t>
            </a:r>
            <a:r>
              <a:rPr sz="900" i="1">
                <a:solidFill>
                  <a:srgbClr val="E86A5E"/>
                </a:solidFill>
                <a:latin typeface="Segoe UI"/>
              </a:rPr>
              <a:t>Symbology is the one you'll use most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Same menu, every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Every layer in Contents gets this exact menu — the options just gray out if they don't apply.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Symbology is the one you'll use most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It's the fastest path to changing how a layer is drawn, faster than digging through the ribbon.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6A5E"/>
                </a:solidFill>
                <a:latin typeface="Segoe UI"/>
              </a:rPr>
              <a:t>ARCGIS PRO · CORE PANES &amp; WINDOWS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Symbology pane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Controls exactly how a layer's features are drawn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960" y="2209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Symbology — parks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960" y="260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Primary symbology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9960" y="2849800"/>
            <a:ext cx="5897880" cy="28000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2800" y="284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Consolas"/>
              </a:rPr>
              <a:t>Single Symbol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960" y="318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Color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9960" y="3429800"/>
            <a:ext cx="5897880" cy="28000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2800" y="342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Consolas"/>
              </a:rPr>
              <a:t>Teal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960" y="376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Outline width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9960" y="4009800"/>
            <a:ext cx="5897880" cy="28000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2800" y="400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Consolas"/>
              </a:rPr>
              <a:t>1 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960" y="5845000"/>
            <a:ext cx="5843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E86A5E"/>
                </a:solidFill>
                <a:latin typeface="Segoe UI"/>
              </a:rPr>
              <a:t>›  </a:t>
            </a:r>
            <a:r>
              <a:rPr sz="900" i="1">
                <a:solidFill>
                  <a:srgbClr val="E86A5E"/>
                </a:solidFill>
                <a:latin typeface="Segoe UI"/>
              </a:rPr>
              <a:t>right-click a layer in Contents → Symbology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Opens per-layer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Right-click any layer in Contents and choose Symbology to open this pane for 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Many rendering types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Single symbol, unique values, graduated colors, and more — each with its own set of controls here.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6A5E"/>
                </a:solidFill>
                <a:latin typeface="Segoe UI"/>
              </a:rPr>
              <a:t>ARCGIS PRO · CORE PANES &amp; WINDOWS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Locate pane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Search for a place, address, or coordinate and fly right to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960" y="2209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Locate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2800" y="2609800"/>
            <a:ext cx="57722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7B1C0"/>
                </a:solidFill>
                <a:latin typeface="Consolas"/>
              </a:rPr>
              <a:t>🔍 central park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2800" y="2869800"/>
            <a:ext cx="57722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7B1C0"/>
                </a:solidFill>
                <a:latin typeface="Consolas"/>
              </a:rPr>
              <a:t>→ Central Park, New York, 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2800" y="3129800"/>
            <a:ext cx="57722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7B1C0"/>
                </a:solidFill>
                <a:latin typeface="Consolas"/>
              </a:rPr>
              <a:t>→ Central Park West, 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2800" y="3389800"/>
            <a:ext cx="57722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7B1C0"/>
                </a:solidFill>
                <a:latin typeface="Consolas"/>
              </a:rPr>
              <a:t>→ Central Ave, Newark, NJ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3960" y="5845000"/>
            <a:ext cx="5843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E86A5E"/>
                </a:solidFill>
                <a:latin typeface="Segoe UI"/>
              </a:rPr>
              <a:t>›  </a:t>
            </a:r>
            <a:r>
              <a:rPr sz="900" i="1">
                <a:solidFill>
                  <a:srgbClr val="E86A5E"/>
                </a:solidFill>
                <a:latin typeface="Segoe UI"/>
              </a:rPr>
              <a:t>can search Esri's geocoder or your own org's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Opens from Inquiry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Launched from the Map tab's Locate button.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Multiple locators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Can search Esri's world geocoder, your organization's locator, or both at once.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6A5E"/>
                </a:solidFill>
                <a:latin typeface="Segoe UI"/>
              </a:rPr>
              <a:t>ARCGIS PRO · CORE PANES &amp; WINDOWS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Attribute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Every record and field for a layer or table, in rows and columns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960" y="2209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parks — Attribute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960" y="2609800"/>
            <a:ext cx="192596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FFFFFF"/>
                </a:solidFill>
                <a:latin typeface="Consolas"/>
              </a:rPr>
              <a:t>OBJECTID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5920" y="2609800"/>
            <a:ext cx="192596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FFFFFF"/>
                </a:solidFill>
                <a:latin typeface="Consolas"/>
              </a:rPr>
              <a:t>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1880" y="2609800"/>
            <a:ext cx="192596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FFFFFF"/>
                </a:solidFill>
                <a:latin typeface="Consolas"/>
              </a:rPr>
              <a:t>ACRES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9960" y="2839800"/>
            <a:ext cx="5897880" cy="0"/>
          </a:xfrm>
          <a:prstGeom prst="rect">
            <a:avLst/>
          </a:prstGeom>
          <a:noFill/>
          <a:ln w="6350">
            <a:solidFill>
              <a:srgbClr val="22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9960" y="2869800"/>
            <a:ext cx="192596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Consola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5920" y="2869800"/>
            <a:ext cx="192596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Consolas"/>
              </a:rPr>
              <a:t>Riverside Park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880" y="2869800"/>
            <a:ext cx="192596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Consolas"/>
              </a:rPr>
              <a:t>12.4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9960" y="3099800"/>
            <a:ext cx="5897880" cy="0"/>
          </a:xfrm>
          <a:prstGeom prst="rect">
            <a:avLst/>
          </a:prstGeom>
          <a:noFill/>
          <a:ln w="6350">
            <a:solidFill>
              <a:srgbClr val="22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9960" y="3129800"/>
            <a:ext cx="192596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Consola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15920" y="3129800"/>
            <a:ext cx="192596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Consolas"/>
              </a:rPr>
              <a:t>Fort Greene Park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81880" y="3129800"/>
            <a:ext cx="192596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Consolas"/>
              </a:rPr>
              <a:t>30.2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9960" y="3359800"/>
            <a:ext cx="5897880" cy="0"/>
          </a:xfrm>
          <a:prstGeom prst="rect">
            <a:avLst/>
          </a:prstGeom>
          <a:noFill/>
          <a:ln w="6350">
            <a:solidFill>
              <a:srgbClr val="22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9960" y="3389800"/>
            <a:ext cx="192596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Consola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15920" y="3389800"/>
            <a:ext cx="192596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Consolas"/>
              </a:rPr>
              <a:t>Prospect Park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81880" y="3389800"/>
            <a:ext cx="192596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Consolas"/>
              </a:rPr>
              <a:t>526.3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9960" y="3619800"/>
            <a:ext cx="5897880" cy="0"/>
          </a:xfrm>
          <a:prstGeom prst="rect">
            <a:avLst/>
          </a:prstGeom>
          <a:noFill/>
          <a:ln w="6350">
            <a:solidFill>
              <a:srgbClr val="22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3960" y="5845000"/>
            <a:ext cx="5843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E86A5E"/>
                </a:solidFill>
                <a:latin typeface="Segoe UI"/>
              </a:rPr>
              <a:t>›  </a:t>
            </a:r>
            <a:r>
              <a:rPr sz="900" i="1">
                <a:solidFill>
                  <a:srgbClr val="E86A5E"/>
                </a:solidFill>
                <a:latin typeface="Segoe UI"/>
              </a:rPr>
              <a:t>click a row to select that feature on the map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Selection syncs with the 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Selecting a row highlights that feature on the map, and vice versa.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Sort, filter, calculate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Click a column header to sort; right-click to calculate a new field's values for every row.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6A5E"/>
                </a:solidFill>
                <a:latin typeface="Segoe UI"/>
              </a:rPr>
              <a:t>ARCGIS PRO · CORE PANES &amp; WINDOWS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Attribute table, toolbar &amp; bottom 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What sits above and below the grid — and lives at the very bottom of the whole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" y="2209800"/>
            <a:ext cx="2468880" cy="3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960" y="2209800"/>
            <a:ext cx="216888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FFFFFF"/>
                </a:solidFill>
                <a:latin typeface="Consolas"/>
              </a:rPr>
              <a:t>NUTS_RG_10M_2021_4326_LEVL_1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1680" y="2209800"/>
            <a:ext cx="15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8A94A8"/>
                </a:solidFill>
                <a:latin typeface="Segoe UI"/>
              </a:rPr>
              <a:t>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00" y="2509800"/>
            <a:ext cx="6172200" cy="34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4240" y="2509800"/>
            <a:ext cx="5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0" i="1">
                <a:solidFill>
                  <a:srgbClr val="8A94A8"/>
                </a:solidFill>
                <a:latin typeface="Segoe UI"/>
              </a:rPr>
              <a:t>Field:</a:t>
            </a:r>
          </a:p>
        </p:txBody>
      </p:sp>
      <p:pic>
        <p:nvPicPr>
          <p:cNvPr id="18" name="Picture 17" descr="clipboard_8a94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240" y="2599800"/>
            <a:ext cx="160020" cy="1600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44240" y="2759820"/>
            <a:ext cx="240020" cy="1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8A94A8"/>
                </a:solidFill>
                <a:latin typeface="Segoe UI"/>
              </a:rPr>
              <a:t>Add</a:t>
            </a:r>
          </a:p>
        </p:txBody>
      </p:sp>
      <p:pic>
        <p:nvPicPr>
          <p:cNvPr id="20" name="Picture 19" descr="chart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260" y="2599800"/>
            <a:ext cx="160020" cy="1600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84260" y="2759820"/>
            <a:ext cx="240020" cy="1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8A94A8"/>
                </a:solidFill>
                <a:latin typeface="Segoe UI"/>
              </a:rPr>
              <a:t>Calc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64280" y="2549800"/>
            <a:ext cx="0" cy="260000"/>
          </a:xfrm>
          <a:prstGeom prst="rect">
            <a:avLst/>
          </a:prstGeom>
          <a:noFill/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01440" y="2509800"/>
            <a:ext cx="9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0" i="1">
                <a:solidFill>
                  <a:srgbClr val="8A94A8"/>
                </a:solidFill>
                <a:latin typeface="Segoe UI"/>
              </a:rPr>
              <a:t>Selection:</a:t>
            </a:r>
          </a:p>
        </p:txBody>
      </p:sp>
      <p:pic>
        <p:nvPicPr>
          <p:cNvPr id="24" name="Picture 23" descr="database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1440" y="2599800"/>
            <a:ext cx="160020" cy="1600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951440" y="2759820"/>
            <a:ext cx="260020" cy="1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A94A8"/>
                </a:solidFill>
                <a:latin typeface="Segoe UI"/>
              </a:rPr>
              <a:t>Sel. By Attr</a:t>
            </a:r>
          </a:p>
        </p:txBody>
      </p:sp>
      <p:pic>
        <p:nvPicPr>
          <p:cNvPr id="26" name="Picture 25" descr="search_8a94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1460" y="2599800"/>
            <a:ext cx="160020" cy="1600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301460" y="2759820"/>
            <a:ext cx="260020" cy="1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A94A8"/>
                </a:solidFill>
                <a:latin typeface="Segoe UI"/>
              </a:rPr>
              <a:t>Zoom To</a:t>
            </a:r>
          </a:p>
        </p:txBody>
      </p:sp>
      <p:pic>
        <p:nvPicPr>
          <p:cNvPr id="28" name="Picture 27" descr="exchange_8a94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1480" y="2599800"/>
            <a:ext cx="160020" cy="1600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651480" y="2759820"/>
            <a:ext cx="260020" cy="1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A94A8"/>
                </a:solidFill>
                <a:latin typeface="Segoe UI"/>
              </a:rPr>
              <a:t>Switch</a:t>
            </a:r>
          </a:p>
        </p:txBody>
      </p:sp>
      <p:pic>
        <p:nvPicPr>
          <p:cNvPr id="30" name="Picture 29" descr="check_8a94a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1500" y="2599800"/>
            <a:ext cx="160020" cy="1600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001500" y="2759820"/>
            <a:ext cx="260020" cy="1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A94A8"/>
                </a:solidFill>
                <a:latin typeface="Segoe UI"/>
              </a:rPr>
              <a:t>Clear</a:t>
            </a:r>
          </a:p>
        </p:txBody>
      </p:sp>
      <p:pic>
        <p:nvPicPr>
          <p:cNvPr id="32" name="Picture 31" descr="check_8a94a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1520" y="2599800"/>
            <a:ext cx="160020" cy="1600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351520" y="2759820"/>
            <a:ext cx="260020" cy="1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A94A8"/>
                </a:solidFill>
                <a:latin typeface="Segoe UI"/>
              </a:rPr>
              <a:t>Delete</a:t>
            </a:r>
          </a:p>
        </p:txBody>
      </p:sp>
      <p:pic>
        <p:nvPicPr>
          <p:cNvPr id="34" name="Picture 33" descr="clipboard_8a94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540" y="2599800"/>
            <a:ext cx="160020" cy="1600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701540" y="2759820"/>
            <a:ext cx="260020" cy="1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A94A8"/>
                </a:solidFill>
                <a:latin typeface="Segoe UI"/>
              </a:rPr>
              <a:t>Copy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2800" y="2849800"/>
            <a:ext cx="6172200" cy="29352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8520" y="2849800"/>
            <a:ext cx="149733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FFFFFF"/>
                </a:solidFill>
                <a:latin typeface="Consolas"/>
              </a:rPr>
              <a:t>FID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01570" y="2849800"/>
            <a:ext cx="149733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FFFFFF"/>
                </a:solidFill>
                <a:latin typeface="Consolas"/>
              </a:rPr>
              <a:t>Shape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44620" y="2849800"/>
            <a:ext cx="149733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FFFFFF"/>
                </a:solidFill>
                <a:latin typeface="Consolas"/>
              </a:rPr>
              <a:t>NUTS_ID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7670" y="2849800"/>
            <a:ext cx="149733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FFFFFF"/>
                </a:solidFill>
                <a:latin typeface="Consolas"/>
              </a:rPr>
              <a:t>NAME_LATN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8520" y="3089800"/>
            <a:ext cx="149733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 i="0">
                <a:solidFill>
                  <a:srgbClr val="A7B1C0"/>
                </a:solidFill>
                <a:latin typeface="Consolas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01570" y="3089800"/>
            <a:ext cx="149733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 i="0">
                <a:solidFill>
                  <a:srgbClr val="A7B1C0"/>
                </a:solidFill>
                <a:latin typeface="Consolas"/>
              </a:rPr>
              <a:t>Polygon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44620" y="3089800"/>
            <a:ext cx="149733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 i="0">
                <a:solidFill>
                  <a:srgbClr val="A7B1C0"/>
                </a:solidFill>
                <a:latin typeface="Consolas"/>
              </a:rPr>
              <a:t>AT1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7670" y="3089800"/>
            <a:ext cx="149733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 i="0">
                <a:solidFill>
                  <a:srgbClr val="A7B1C0"/>
                </a:solidFill>
                <a:latin typeface="Consolas"/>
              </a:rPr>
              <a:t>Ostosterreich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2800" y="3289800"/>
            <a:ext cx="6172200" cy="0"/>
          </a:xfrm>
          <a:prstGeom prst="rect">
            <a:avLst/>
          </a:prstGeom>
          <a:noFill/>
          <a:ln w="6350">
            <a:solidFill>
              <a:srgbClr val="22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8520" y="3309800"/>
            <a:ext cx="149733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 i="0">
                <a:solidFill>
                  <a:srgbClr val="A7B1C0"/>
                </a:solidFill>
                <a:latin typeface="Consolas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01570" y="3309800"/>
            <a:ext cx="149733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 i="0">
                <a:solidFill>
                  <a:srgbClr val="A7B1C0"/>
                </a:solidFill>
                <a:latin typeface="Consolas"/>
              </a:rPr>
              <a:t>Polygon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44620" y="3309800"/>
            <a:ext cx="149733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 i="0">
                <a:solidFill>
                  <a:srgbClr val="A7B1C0"/>
                </a:solidFill>
                <a:latin typeface="Consolas"/>
              </a:rPr>
              <a:t>AT2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7670" y="3309800"/>
            <a:ext cx="149733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 i="0">
                <a:solidFill>
                  <a:srgbClr val="A7B1C0"/>
                </a:solidFill>
                <a:latin typeface="Consolas"/>
              </a:rPr>
              <a:t>Sudosterreich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2800" y="3509800"/>
            <a:ext cx="6172200" cy="0"/>
          </a:xfrm>
          <a:prstGeom prst="rect">
            <a:avLst/>
          </a:prstGeom>
          <a:noFill/>
          <a:ln w="6350">
            <a:solidFill>
              <a:srgbClr val="22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8520" y="3529800"/>
            <a:ext cx="149733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 i="0">
                <a:solidFill>
                  <a:srgbClr val="A7B1C0"/>
                </a:solidFill>
                <a:latin typeface="Consolas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01570" y="3529800"/>
            <a:ext cx="149733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 i="0">
                <a:solidFill>
                  <a:srgbClr val="A7B1C0"/>
                </a:solidFill>
                <a:latin typeface="Consolas"/>
              </a:rPr>
              <a:t>Polygon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44620" y="3529800"/>
            <a:ext cx="149733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 i="0">
                <a:solidFill>
                  <a:srgbClr val="A7B1C0"/>
                </a:solidFill>
                <a:latin typeface="Consolas"/>
              </a:rPr>
              <a:t>EL4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7670" y="3529800"/>
            <a:ext cx="149733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 i="0">
                <a:solidFill>
                  <a:srgbClr val="A7B1C0"/>
                </a:solidFill>
                <a:latin typeface="Consolas"/>
              </a:rPr>
              <a:t>Nisia Aigaiou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2800" y="3729800"/>
            <a:ext cx="6172200" cy="0"/>
          </a:xfrm>
          <a:prstGeom prst="rect">
            <a:avLst/>
          </a:prstGeom>
          <a:noFill/>
          <a:ln w="6350">
            <a:solidFill>
              <a:srgbClr val="22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2800" y="5865000"/>
            <a:ext cx="6172200" cy="34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4240" y="5865000"/>
            <a:ext cx="9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8A94A8"/>
                </a:solidFill>
                <a:latin typeface="Segoe UI"/>
              </a:rPr>
              <a:t>◄◄ ◄ ▶ ▶▶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12800" y="5865000"/>
            <a:ext cx="15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7B1C0"/>
                </a:solidFill>
                <a:latin typeface="Segoe UI"/>
              </a:rPr>
              <a:t>0 of 125 selected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85000" y="5865000"/>
            <a:ext cx="7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0" i="1">
                <a:solidFill>
                  <a:srgbClr val="8A94A8"/>
                </a:solidFill>
                <a:latin typeface="Segoe UI"/>
              </a:rPr>
              <a:t>Filters: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85000" y="5975000"/>
            <a:ext cx="550000" cy="30000"/>
          </a:xfrm>
          <a:prstGeom prst="rect">
            <a:avLst/>
          </a:prstGeom>
          <a:solidFill>
            <a:srgbClr val="8A9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15000" y="5955000"/>
            <a:ext cx="70000" cy="70000"/>
          </a:xfrm>
          <a:prstGeom prst="ellipse">
            <a:avLst/>
          </a:prstGeom>
          <a:solidFill>
            <a:srgbClr val="E8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55000" y="5865000"/>
            <a:ext cx="3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0" i="0">
                <a:solidFill>
                  <a:srgbClr val="8A94A8"/>
                </a:solidFill>
                <a:latin typeface="Segoe UI"/>
              </a:rPr>
              <a:t>100%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137400" y="1905000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74560" y="2129456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Field vs. Selection toolbars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74560" y="2578369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Field tools (Add, Calculate) change the table's structure; Selection tools (Select By Attributes, Zoom To, Switch, Clear, Delete, Copy) act on rows.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137400" y="3353573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74560" y="3578029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The bottom bar is the record navigator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74560" y="4026942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Row-by-row navigation, a live “X of Y selected” count, quick filters, and a zoom slider for the grid itself.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137400" y="4802146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74560" y="502660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This is the bottom of the whole app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74560" y="5475516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When a table's docked here, this bar — not the status bar — is the last thing along the bottom of the window.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6A5E"/>
                </a:solidFill>
                <a:latin typeface="Segoe UI"/>
              </a:rPr>
              <a:t>ARCGIS PRO · CORE PANES &amp; WINDOWS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Python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An interactive Python console running inside ArcGIS Pro itself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960" y="2209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2800" y="2609800"/>
            <a:ext cx="57722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7B1C0"/>
                </a:solidFill>
                <a:latin typeface="Consolas"/>
              </a:rPr>
              <a:t>&gt;&gt;&gt; import arcpy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2800" y="2869800"/>
            <a:ext cx="57722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7B1C0"/>
                </a:solidFill>
                <a:latin typeface="Consolas"/>
              </a:rPr>
              <a:t>&gt;&gt;&gt; arcpy.env.workspace = 'C:/gis'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2800" y="3129800"/>
            <a:ext cx="57722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7B1C0"/>
                </a:solidFill>
                <a:latin typeface="Consolas"/>
              </a:rPr>
              <a:t>&gt;&gt;&gt; arcpy.Buffer_analysis(...)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2800" y="3389800"/>
            <a:ext cx="57722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7B1C0"/>
                </a:solidFill>
                <a:latin typeface="Consolas"/>
              </a:rPr>
              <a:t>&gt;&gt;&gt;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3960" y="5845000"/>
            <a:ext cx="5843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E86A5E"/>
                </a:solidFill>
                <a:latin typeface="Segoe UI"/>
              </a:rPr>
              <a:t>›  </a:t>
            </a:r>
            <a:r>
              <a:rPr sz="900" i="1">
                <a:solidFill>
                  <a:srgbClr val="E86A5E"/>
                </a:solidFill>
                <a:latin typeface="Segoe UI"/>
              </a:rPr>
              <a:t>every click-through tool is also an arcpy 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Same tools, scripted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Every geoprocessing tool you can click through is also an arcpy function you can call here.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Great for repetition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A three-line loop can do in seconds what would be dozens of manual clicks.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6A5E"/>
                </a:solidFill>
                <a:latin typeface="Segoe UI"/>
              </a:rPr>
              <a:t>ARCGIS PRO · CORE PANES &amp; WINDOWS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Layout view, revisited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Composing the map frame, legend, scale bar, and title into a finished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ECECE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76908" y="2346960"/>
            <a:ext cx="4443984" cy="2477024"/>
          </a:xfrm>
          <a:prstGeom prst="rect">
            <a:avLst/>
          </a:prstGeom>
          <a:solidFill>
            <a:srgbClr val="0B0F1A"/>
          </a:solidFill>
          <a:ln w="12700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20892" y="4573984"/>
            <a:ext cx="460000" cy="210000"/>
          </a:xfrm>
          <a:prstGeom prst="roundRect">
            <a:avLst>
              <a:gd name="adj" fmla="val 18000"/>
            </a:avLst>
          </a:prstGeom>
          <a:solidFill>
            <a:srgbClr val="F6F6F3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0892" y="4573984"/>
            <a:ext cx="460000" cy="2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2A2E38"/>
                </a:solidFill>
                <a:latin typeface="Segoe UI"/>
              </a:rPr>
              <a:t>Legend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76908" y="4883984"/>
            <a:ext cx="1333195" cy="40000"/>
          </a:xfrm>
          <a:prstGeom prst="rect">
            <a:avLst/>
          </a:prstGeom>
          <a:solidFill>
            <a:srgbClr val="E8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76908" y="5905000"/>
            <a:ext cx="4443984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A2E38"/>
                </a:solidFill>
                <a:latin typeface="Segoe UI"/>
              </a:rPr>
              <a:t>Map Title Goes Here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7400" y="1905000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74560" y="2129456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Map frame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4560" y="2578369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A window onto one of your maps, sized and positioned on the page — you can have more than 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7400" y="3353573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74560" y="3578029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Legend &amp; scale bar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4560" y="4026942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Cartographic elements that stay linked to the map frame's current symbology and scale.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7400" y="4802146"/>
            <a:ext cx="4487672" cy="1402853"/>
          </a:xfrm>
          <a:prstGeom prst="roundRect">
            <a:avLst>
              <a:gd name="adj" fmla="val 6000"/>
            </a:avLst>
          </a:prstGeom>
          <a:solidFill>
            <a:srgbClr val="1C212C"/>
          </a:solidFill>
          <a:ln w="9525">
            <a:solidFill>
              <a:srgbClr val="E8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74560" y="5026603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Export from 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4560" y="5475516"/>
            <a:ext cx="4213352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The Share tab's Export Map command renders exactly what this Layout view shows.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4BA3E0"/>
                </a:solidFill>
                <a:latin typeface="Segoe UI"/>
              </a:rPr>
              <a:t>ARCGIS PRO · QUICK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Quick reference — which tab has what?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A map from 'I want to...' to the tab that gets you there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10566400" cy="511250"/>
          </a:xfrm>
          <a:prstGeom prst="roundRect">
            <a:avLst>
              <a:gd name="adj" fmla="val 10000"/>
            </a:avLst>
          </a:prstGeom>
          <a:solidFill>
            <a:srgbClr val="1C212C"/>
          </a:solidFill>
          <a:ln w="6350">
            <a:solidFill>
              <a:srgbClr val="2E3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1400" y="1905000"/>
            <a:ext cx="6551168" cy="51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 i="1">
                <a:solidFill>
                  <a:srgbClr val="A7B1C0"/>
                </a:solidFill>
                <a:latin typeface="Segoe UI"/>
              </a:rPr>
              <a:t>...open or save my 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7952" y="1997025"/>
            <a:ext cx="0" cy="327200"/>
          </a:xfrm>
          <a:prstGeom prst="rect">
            <a:avLst/>
          </a:prstGeom>
          <a:noFill/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9279" y="1905000"/>
            <a:ext cx="2958592" cy="51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4BA3E0"/>
                </a:solidFill>
                <a:latin typeface="Segoe UI"/>
              </a:rPr>
              <a:t>Project (Backstage)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2446250"/>
            <a:ext cx="10566400" cy="511250"/>
          </a:xfrm>
          <a:prstGeom prst="roundRect">
            <a:avLst>
              <a:gd name="adj" fmla="val 10000"/>
            </a:avLst>
          </a:prstGeom>
          <a:solidFill>
            <a:srgbClr val="151922"/>
          </a:solidFill>
          <a:ln w="6350">
            <a:solidFill>
              <a:srgbClr val="2E3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1400" y="2446250"/>
            <a:ext cx="6551168" cy="51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 i="1">
                <a:solidFill>
                  <a:srgbClr val="A7B1C0"/>
                </a:solidFill>
                <a:latin typeface="Segoe UI"/>
              </a:rPr>
              <a:t>...add data or navigate the 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7952" y="2538275"/>
            <a:ext cx="0" cy="327200"/>
          </a:xfrm>
          <a:prstGeom prst="rect">
            <a:avLst/>
          </a:prstGeom>
          <a:noFill/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9279" y="2446250"/>
            <a:ext cx="2958592" cy="51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4BA3E0"/>
                </a:solidFill>
                <a:latin typeface="Segoe UI"/>
              </a:rPr>
              <a:t>Map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2987500"/>
            <a:ext cx="10566400" cy="511250"/>
          </a:xfrm>
          <a:prstGeom prst="roundRect">
            <a:avLst>
              <a:gd name="adj" fmla="val 10000"/>
            </a:avLst>
          </a:prstGeom>
          <a:solidFill>
            <a:srgbClr val="1C212C"/>
          </a:solidFill>
          <a:ln w="6350">
            <a:solidFill>
              <a:srgbClr val="2E3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2987500"/>
            <a:ext cx="6551168" cy="51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 i="1">
                <a:solidFill>
                  <a:srgbClr val="A7B1C0"/>
                </a:solidFill>
                <a:latin typeface="Segoe UI"/>
              </a:rPr>
              <a:t>...add a new map, layout, or report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97952" y="3079525"/>
            <a:ext cx="0" cy="327200"/>
          </a:xfrm>
          <a:prstGeom prst="rect">
            <a:avLst/>
          </a:prstGeom>
          <a:noFill/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9279" y="2987500"/>
            <a:ext cx="2958592" cy="51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4BA3E0"/>
                </a:solidFill>
                <a:latin typeface="Segoe UI"/>
              </a:rPr>
              <a:t>Insert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800" y="3528750"/>
            <a:ext cx="10566400" cy="511250"/>
          </a:xfrm>
          <a:prstGeom prst="roundRect">
            <a:avLst>
              <a:gd name="adj" fmla="val 10000"/>
            </a:avLst>
          </a:prstGeom>
          <a:solidFill>
            <a:srgbClr val="151922"/>
          </a:solidFill>
          <a:ln w="6350">
            <a:solidFill>
              <a:srgbClr val="2E3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1400" y="3528750"/>
            <a:ext cx="6551168" cy="51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 i="1">
                <a:solidFill>
                  <a:srgbClr val="A7B1C0"/>
                </a:solidFill>
                <a:latin typeface="Segoe UI"/>
              </a:rPr>
              <a:t>...run or chain analysis tools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7952" y="3620775"/>
            <a:ext cx="0" cy="327200"/>
          </a:xfrm>
          <a:prstGeom prst="rect">
            <a:avLst/>
          </a:prstGeom>
          <a:noFill/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9279" y="3528750"/>
            <a:ext cx="2958592" cy="51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4BA3E0"/>
                </a:solidFill>
                <a:latin typeface="Segoe UI"/>
              </a:rPr>
              <a:t>Analysis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800" y="4070000"/>
            <a:ext cx="10566400" cy="511250"/>
          </a:xfrm>
          <a:prstGeom prst="roundRect">
            <a:avLst>
              <a:gd name="adj" fmla="val 10000"/>
            </a:avLst>
          </a:prstGeom>
          <a:solidFill>
            <a:srgbClr val="1C212C"/>
          </a:solidFill>
          <a:ln w="6350">
            <a:solidFill>
              <a:srgbClr val="2E3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1400" y="4070000"/>
            <a:ext cx="6551168" cy="51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 i="1">
                <a:solidFill>
                  <a:srgbClr val="A7B1C0"/>
                </a:solidFill>
                <a:latin typeface="Segoe UI"/>
              </a:rPr>
              <a:t>...change how the window looks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97952" y="4162025"/>
            <a:ext cx="0" cy="327200"/>
          </a:xfrm>
          <a:prstGeom prst="rect">
            <a:avLst/>
          </a:prstGeom>
          <a:noFill/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09279" y="4070000"/>
            <a:ext cx="2958592" cy="51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4BA3E0"/>
                </a:solidFill>
                <a:latin typeface="Segoe UI"/>
              </a:rPr>
              <a:t>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" y="4611250"/>
            <a:ext cx="10566400" cy="511250"/>
          </a:xfrm>
          <a:prstGeom prst="roundRect">
            <a:avLst>
              <a:gd name="adj" fmla="val 10000"/>
            </a:avLst>
          </a:prstGeom>
          <a:solidFill>
            <a:srgbClr val="151922"/>
          </a:solidFill>
          <a:ln w="6350">
            <a:solidFill>
              <a:srgbClr val="2E3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1400" y="4611250"/>
            <a:ext cx="6551168" cy="51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 i="1">
                <a:solidFill>
                  <a:srgbClr val="A7B1C0"/>
                </a:solidFill>
                <a:latin typeface="Segoe UI"/>
              </a:rPr>
              <a:t>...digitize or modify features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97952" y="4703275"/>
            <a:ext cx="0" cy="327200"/>
          </a:xfrm>
          <a:prstGeom prst="rect">
            <a:avLst/>
          </a:prstGeom>
          <a:noFill/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9279" y="4611250"/>
            <a:ext cx="2958592" cy="51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4BA3E0"/>
                </a:solidFill>
                <a:latin typeface="Segoe UI"/>
              </a:rPr>
              <a:t>Edit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800" y="5152500"/>
            <a:ext cx="10566400" cy="511250"/>
          </a:xfrm>
          <a:prstGeom prst="roundRect">
            <a:avLst>
              <a:gd name="adj" fmla="val 10000"/>
            </a:avLst>
          </a:prstGeom>
          <a:solidFill>
            <a:srgbClr val="1C212C"/>
          </a:solidFill>
          <a:ln w="6350">
            <a:solidFill>
              <a:srgbClr val="2E3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400" y="5152500"/>
            <a:ext cx="6551168" cy="51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 i="1">
                <a:solidFill>
                  <a:srgbClr val="A7B1C0"/>
                </a:solidFill>
                <a:latin typeface="Segoe UI"/>
              </a:rPr>
              <a:t>...classify raster imagery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97952" y="5244525"/>
            <a:ext cx="0" cy="327200"/>
          </a:xfrm>
          <a:prstGeom prst="rect">
            <a:avLst/>
          </a:prstGeom>
          <a:noFill/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09279" y="5152500"/>
            <a:ext cx="2958592" cy="51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4BA3E0"/>
                </a:solidFill>
                <a:latin typeface="Segoe UI"/>
              </a:rPr>
              <a:t>Imagery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2800" y="5693750"/>
            <a:ext cx="10566400" cy="511250"/>
          </a:xfrm>
          <a:prstGeom prst="roundRect">
            <a:avLst>
              <a:gd name="adj" fmla="val 10000"/>
            </a:avLst>
          </a:prstGeom>
          <a:solidFill>
            <a:srgbClr val="151922"/>
          </a:solidFill>
          <a:ln w="6350">
            <a:solidFill>
              <a:srgbClr val="2E3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400" y="5693750"/>
            <a:ext cx="6551168" cy="51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 i="1">
                <a:solidFill>
                  <a:srgbClr val="A7B1C0"/>
                </a:solidFill>
                <a:latin typeface="Segoe UI"/>
              </a:rPr>
              <a:t>...publish or export my work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97952" y="5785775"/>
            <a:ext cx="0" cy="327200"/>
          </a:xfrm>
          <a:prstGeom prst="rect">
            <a:avLst/>
          </a:prstGeom>
          <a:noFill/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09279" y="5693750"/>
            <a:ext cx="2958592" cy="511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4BA3E0"/>
                </a:solidFill>
                <a:latin typeface="Segoe UI"/>
              </a:rPr>
              <a:t>Share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34D9C4"/>
                </a:solidFill>
                <a:latin typeface="Segoe UI"/>
              </a:rPr>
              <a:t>ARCGIS PRO · KNOWLEDGE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Quick check: do you know your way around?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Click each card's “Click to reveal” box to see the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5168900" cy="2035700"/>
          </a:xfrm>
          <a:prstGeom prst="roundRect">
            <a:avLst>
              <a:gd name="adj" fmla="val 5000"/>
            </a:avLst>
          </a:prstGeom>
          <a:solidFill>
            <a:srgbClr val="1C212C"/>
          </a:solidFill>
          <a:ln w="12700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3300" y="2055000"/>
            <a:ext cx="4787900" cy="8549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Which tab opens as a full-screen view instead of a normal ribbon?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3300" y="3090712"/>
            <a:ext cx="4787900" cy="6414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A7B1C0"/>
                </a:solidFill>
                <a:latin typeface="Segoe UI"/>
              </a:rPr>
              <a:t>Project — its Backstage view covers the whole window.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3300" y="3044992"/>
            <a:ext cx="4787900" cy="732852"/>
          </a:xfrm>
          <a:prstGeom prst="roundRect">
            <a:avLst>
              <a:gd name="adj" fmla="val 12000"/>
            </a:avLst>
          </a:prstGeom>
          <a:solidFill>
            <a:srgbClr val="151922"/>
          </a:solidFill>
          <a:ln w="9525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3300" y="3044992"/>
            <a:ext cx="4787900" cy="732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1">
                <a:solidFill>
                  <a:srgbClr val="34D9C4"/>
                </a:solidFill>
                <a:latin typeface="Segoe UI"/>
              </a:rPr>
              <a:t>Click to reveal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300" y="1905000"/>
            <a:ext cx="5168900" cy="2035700"/>
          </a:xfrm>
          <a:prstGeom prst="roundRect">
            <a:avLst>
              <a:gd name="adj" fmla="val 5000"/>
            </a:avLst>
          </a:prstGeom>
          <a:solidFill>
            <a:srgbClr val="1C212C"/>
          </a:solidFill>
          <a:ln w="12700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55000"/>
            <a:ext cx="4787900" cy="8549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Where would you go to chain several geoprocessing tools into one reusable diagram?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90712"/>
            <a:ext cx="4787900" cy="6414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A7B1C0"/>
                </a:solidFill>
                <a:latin typeface="Segoe UI"/>
              </a:rPr>
              <a:t>The Analysis tab's Workflows group — ModelBuilder.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044992"/>
            <a:ext cx="4787900" cy="732852"/>
          </a:xfrm>
          <a:prstGeom prst="roundRect">
            <a:avLst>
              <a:gd name="adj" fmla="val 12000"/>
            </a:avLst>
          </a:prstGeom>
          <a:solidFill>
            <a:srgbClr val="151922"/>
          </a:solidFill>
          <a:ln w="9525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044992"/>
            <a:ext cx="4787900" cy="732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1">
                <a:solidFill>
                  <a:srgbClr val="34D9C4"/>
                </a:solidFill>
                <a:latin typeface="Segoe UI"/>
              </a:rPr>
              <a:t>Click to reveal answer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800" y="4169300"/>
            <a:ext cx="5168900" cy="2035700"/>
          </a:xfrm>
          <a:prstGeom prst="roundRect">
            <a:avLst>
              <a:gd name="adj" fmla="val 5000"/>
            </a:avLst>
          </a:prstGeom>
          <a:solidFill>
            <a:srgbClr val="1C212C"/>
          </a:solidFill>
          <a:ln w="12700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300" y="4319300"/>
            <a:ext cx="4787900" cy="8549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 layer's Edit tab has disappeared. What's the most likely reason?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3300" y="5355012"/>
            <a:ext cx="4787900" cy="6414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A7B1C0"/>
                </a:solidFill>
                <a:latin typeface="Segoe UI"/>
              </a:rPr>
              <a:t>It's a contextual tab — it only appears while an editable layer is selected.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3300" y="5309292"/>
            <a:ext cx="4787900" cy="732852"/>
          </a:xfrm>
          <a:prstGeom prst="roundRect">
            <a:avLst>
              <a:gd name="adj" fmla="val 12000"/>
            </a:avLst>
          </a:prstGeom>
          <a:solidFill>
            <a:srgbClr val="151922"/>
          </a:solidFill>
          <a:ln w="9525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3300" y="5309292"/>
            <a:ext cx="4787900" cy="732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1">
                <a:solidFill>
                  <a:srgbClr val="34D9C4"/>
                </a:solidFill>
                <a:latin typeface="Segoe UI"/>
              </a:rPr>
              <a:t>Click to reveal answer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0300" y="4169300"/>
            <a:ext cx="5168900" cy="2035700"/>
          </a:xfrm>
          <a:prstGeom prst="roundRect">
            <a:avLst>
              <a:gd name="adj" fmla="val 5000"/>
            </a:avLst>
          </a:prstGeom>
          <a:solidFill>
            <a:srgbClr val="1C212C"/>
          </a:solidFill>
          <a:ln w="12700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319300"/>
            <a:ext cx="4787900" cy="8549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You want a checkbox to turn a layer's visibility on and off. Which pane has that?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55012"/>
            <a:ext cx="4787900" cy="6414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A7B1C0"/>
                </a:solidFill>
                <a:latin typeface="Segoe UI"/>
              </a:rPr>
              <a:t>The Contents pane — every layer gets a visibility checkbox there.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5309292"/>
            <a:ext cx="4787900" cy="732852"/>
          </a:xfrm>
          <a:prstGeom prst="roundRect">
            <a:avLst>
              <a:gd name="adj" fmla="val 12000"/>
            </a:avLst>
          </a:prstGeom>
          <a:solidFill>
            <a:srgbClr val="151922"/>
          </a:solidFill>
          <a:ln w="9525">
            <a:solidFill>
              <a:srgbClr val="34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309292"/>
            <a:ext cx="4787900" cy="732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1">
                <a:solidFill>
                  <a:srgbClr val="34D9C4"/>
                </a:solidFill>
                <a:latin typeface="Segoe UI"/>
              </a:rPr>
              <a:t>Click to reveal answer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00" restart="whenNotActive" fill="hold" nodeType="interactiveSeq">
                <p:stCondLst>
                  <p:cond evt="onClick" delay="0">
                    <p:tgtEl>
                      <p:spTgt spid="8"/>
                    </p:tgtEl>
                  </p:cond>
                  <p:cond evt="onClick" delay="0">
                    <p:tgtEl>
                      <p:spTgt spid="11"/>
                    </p:tgtEl>
                  </p:cond>
                  <p:cond evt="onClick" delay="0">
                    <p:tgtEl>
                      <p:spTgt spid="12"/>
                    </p:tgtEl>
                  </p:cond>
                </p:stCondLst>
                <p:childTnLst>
                  <p:par>
                    <p:cTn id="1001" fill="hold">
                      <p:stCondLst>
                        <p:cond delay="0"/>
                      </p:stCondLst>
                      <p:childTnLst>
                        <p:par>
                          <p:cTn id="1002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003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20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00" restart="whenNotActive" fill="hold" nodeType="interactiveSeq">
                <p:stCondLst>
                  <p:cond evt="onClick" delay="0">
                    <p:tgtEl>
                      <p:spTgt spid="13"/>
                    </p:tgtEl>
                  </p:cond>
                  <p:cond evt="onClick" delay="0">
                    <p:tgtEl>
                      <p:spTgt spid="16"/>
                    </p:tgtEl>
                  </p:cond>
                  <p:cond evt="onClick" delay="0">
                    <p:tgtEl>
                      <p:spTgt spid="17"/>
                    </p:tgtEl>
                  </p:cond>
                </p:stCondLst>
                <p:childTnLst>
                  <p:par>
                    <p:cTn id="1301" fill="hold">
                      <p:stCondLst>
                        <p:cond delay="0"/>
                      </p:stCondLst>
                      <p:childTnLst>
                        <p:par>
                          <p:cTn id="1302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303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50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00" restart="whenNotActive" fill="hold" nodeType="interactiveSeq">
                <p:stCondLst>
                  <p:cond evt="onClick" delay="0">
                    <p:tgtEl>
                      <p:spTgt spid="18"/>
                    </p:tgtEl>
                  </p:cond>
                  <p:cond evt="onClick" delay="0">
                    <p:tgtEl>
                      <p:spTgt spid="21"/>
                    </p:tgtEl>
                  </p:cond>
                  <p:cond evt="onClick" delay="0">
                    <p:tgtEl>
                      <p:spTgt spid="22"/>
                    </p:tgtEl>
                  </p:cond>
                </p:stCondLst>
                <p:childTnLst>
                  <p:par>
                    <p:cTn id="1601" fill="hold">
                      <p:stCondLst>
                        <p:cond delay="0"/>
                      </p:stCondLst>
                      <p:childTnLst>
                        <p:par>
                          <p:cTn id="1602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603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80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00" restart="whenNotActive" fill="hold" nodeType="interactiveSeq">
                <p:stCondLst>
                  <p:cond evt="onClick" delay="0">
                    <p:tgtEl>
                      <p:spTgt spid="23"/>
                    </p:tgtEl>
                  </p:cond>
                  <p:cond evt="onClick" delay="0">
                    <p:tgtEl>
                      <p:spTgt spid="26"/>
                    </p:tgtEl>
                  </p:cond>
                  <p:cond evt="onClick" delay="0">
                    <p:tgtEl>
                      <p:spTgt spid="27"/>
                    </p:tgtEl>
                  </p:cond>
                </p:stCondLst>
                <p:childTnLst>
                  <p:par>
                    <p:cTn id="1901" fill="hold">
                      <p:stCondLst>
                        <p:cond delay="0"/>
                      </p:stCondLst>
                      <p:childTnLst>
                        <p:par>
                          <p:cTn id="1902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903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210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02B"/>
              </a:gs>
              <a:gs pos="100000">
                <a:srgbClr val="0C0E1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E8975A"/>
                </a:solidFill>
                <a:latin typeface="Segoe UI"/>
              </a:rPr>
              <a:t>ARCGIS PRO · 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You've toured the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A7B1C0"/>
                </a:solidFill>
                <a:latin typeface="Segoe UI"/>
              </a:rPr>
              <a:t>You know your way around the window — next, put it to work on a real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6270"/>
                </a:solidFill>
                <a:latin typeface="Segoe UI"/>
              </a:rPr>
              <a:t>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1040710"/>
          </a:xfrm>
          <a:prstGeom prst="roundRect">
            <a:avLst>
              <a:gd name="adj" fmla="val 8000"/>
            </a:avLst>
          </a:prstGeom>
          <a:solidFill>
            <a:srgbClr val="1C212C"/>
          </a:solidFill>
          <a:ln w="9525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3300" y="2050699"/>
            <a:ext cx="5791200" cy="4162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The ribbon is organized, not random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3300" y="2425355"/>
            <a:ext cx="5791200" cy="4787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Permanent tabs cover the whole workflow; contextual tabs appear only when relevant.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2991430"/>
            <a:ext cx="6172200" cy="1040710"/>
          </a:xfrm>
          <a:prstGeom prst="roundRect">
            <a:avLst>
              <a:gd name="adj" fmla="val 8000"/>
            </a:avLst>
          </a:prstGeom>
          <a:solidFill>
            <a:srgbClr val="1C212C"/>
          </a:solidFill>
          <a:ln w="9525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3300" y="3137129"/>
            <a:ext cx="5791200" cy="4162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Panes can be rearranged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3300" y="3511785"/>
            <a:ext cx="5791200" cy="4787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Dock, float, or tab any pane together — the layout is yours to customize.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077860"/>
            <a:ext cx="6172200" cy="1040710"/>
          </a:xfrm>
          <a:prstGeom prst="roundRect">
            <a:avLst>
              <a:gd name="adj" fmla="val 8000"/>
            </a:avLst>
          </a:prstGeom>
          <a:solidFill>
            <a:srgbClr val="1C212C"/>
          </a:solidFill>
          <a:ln w="9525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3300" y="4223559"/>
            <a:ext cx="5791200" cy="4162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Analysis has a growth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3300" y="4598215"/>
            <a:ext cx="5791200" cy="4787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Start with one tool, graduate to ModelBuilder, then to Python — same tools, three ways to run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164290"/>
            <a:ext cx="6172200" cy="1040710"/>
          </a:xfrm>
          <a:prstGeom prst="roundRect">
            <a:avLst>
              <a:gd name="adj" fmla="val 8000"/>
            </a:avLst>
          </a:prstGeom>
          <a:solidFill>
            <a:srgbClr val="1C212C"/>
          </a:solidFill>
          <a:ln w="9525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3300" y="5309989"/>
            <a:ext cx="5791200" cy="4162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Backstage is project-level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3300" y="5684645"/>
            <a:ext cx="5791200" cy="4787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Project, Save, Share, and Options act on the whole project, not on any single layer.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13600" y="1905000"/>
            <a:ext cx="4411472" cy="4300000"/>
          </a:xfrm>
          <a:prstGeom prst="roundRect">
            <a:avLst>
              <a:gd name="adj" fmla="val 6000"/>
            </a:avLst>
          </a:prstGeom>
          <a:solidFill>
            <a:srgbClr val="151922"/>
          </a:solidFill>
          <a:ln w="12700">
            <a:solidFill>
              <a:srgbClr val="E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42200" y="2095500"/>
            <a:ext cx="3954272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E8975A"/>
                </a:solidFill>
                <a:latin typeface="Segoe UI"/>
              </a:rPr>
              <a:t>Up next: Data Types — Vector &amp; Raster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2200" y="2705000"/>
            <a:ext cx="4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E8975A"/>
                </a:solidFill>
                <a:latin typeface="Segoe UI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3600" y="2705000"/>
            <a:ext cx="3561472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Segoe UI"/>
              </a:rPr>
              <a:t>New 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3600" y="3073000"/>
            <a:ext cx="3561472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is your data made of discrete points/lines/polygons, or a continuous grid of cells?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2200" y="3505000"/>
            <a:ext cx="4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E8975A"/>
                </a:solidFill>
                <a:latin typeface="Segoe UI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3600" y="3505000"/>
            <a:ext cx="3561472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Segoe UI"/>
              </a:rPr>
              <a:t>New vocabulary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3600" y="3873000"/>
            <a:ext cx="3561472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features and attributes vs. pixels, bands, and cell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2200" y="4305000"/>
            <a:ext cx="4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E8975A"/>
                </a:solidFill>
                <a:latin typeface="Segoe UI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3600" y="4305000"/>
            <a:ext cx="3561472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Segoe UI"/>
              </a:rPr>
              <a:t>Same habit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3600" y="4673000"/>
            <a:ext cx="3561472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you'll still find both in the same Contents pane, styled from the same Symbology pane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2200" y="5105000"/>
            <a:ext cx="4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E8975A"/>
                </a:solidFill>
                <a:latin typeface="Segoe UI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3600" y="5105000"/>
            <a:ext cx="3561472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Segoe UI"/>
              </a:rPr>
              <a:t>Carry it 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33600" y="5473000"/>
            <a:ext cx="3561472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A7B1C0"/>
                </a:solidFill>
                <a:latin typeface="Segoe UI"/>
              </a:rPr>
              <a:t>every ribbon tab and pane from this tour works on both data types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42200" y="6185000"/>
            <a:ext cx="0" cy="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" b="0" i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800" y="6265000"/>
            <a:ext cx="105664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A7B1C0"/>
                </a:solidFill>
                <a:latin typeface="Segoe UI"/>
              </a:rPr>
              <a:t>You've toured the workshop — now let's pick up the first tool.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