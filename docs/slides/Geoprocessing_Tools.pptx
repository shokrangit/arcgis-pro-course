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57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3" y="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2C62-48B8-723A-0701-6C75107A7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C17F7-F68E-C197-9283-3CABFE0C7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FDB4A-7780-59E3-07CE-1B21B3CD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5425-6AF4-CB08-A6E2-1EBE3B0B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C5810-BAE0-5A45-C199-235E24E2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0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D955-BF50-B2E1-1BA9-1951C2CB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D0F9A-0717-C5B2-6606-C09CC061C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336E-D88B-F958-4321-09715AFB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0B951-F376-381E-8D63-13156F98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0850E-B1BC-C02A-B75A-A015C13E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8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3B5D-39E3-BFA0-AEB4-C7545A21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3DDA8-2D4B-B87D-468C-171778742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B6898-431B-7C4D-8E56-4942433E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915D6-5C05-F217-6A36-6CE38D26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A1B9C-4926-3008-921C-183B1515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4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D016-7635-D239-DD8B-082B4194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CA32-A82F-E8E3-C19A-B1FA1A728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42AD8-81D7-EFB8-E7B4-CD6A63E85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58D4E-A4D0-7AF4-15DE-DDF84F0F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B960-4711-DACF-14CA-668ECF47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3D107-D884-26E3-E912-86A69B0D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9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D54D-59B3-A4F1-B694-35C78533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1FE8D-8F76-C746-4BCB-5A01FFF1F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9363B-C2E8-6F9E-2BDE-F809D4D55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14884-E6A0-289C-9F51-7BE75FE8C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51206-8D9A-D7A5-2A85-F7FF0AB3D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505FA-E575-FB9B-F5E6-2FC3179A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C944F-8B8C-BDBB-20DB-65C2EA8C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21370-66B4-0568-3C6D-E6309816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3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5DDB-D5F7-E92A-4417-C7E6ECD7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C50E8-1711-47CA-B824-8B9FD8A6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B179C-5EA9-2608-55C3-3B5BDF51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95228-27D0-4982-15D5-10B350BA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2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FAE29-FBB2-BAF7-F336-1FB3EFF8A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81580-14A0-C766-17B9-C548C0BA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894E2-532D-AC52-FED2-FE970288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C37F-C96E-9B6D-6360-98385458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7DA7-D200-1DCA-2B8E-ED1FA1670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EF299-9A9E-7598-3545-547C5A980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2289A-4D1F-FD14-42EA-404C7E64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4072A-9395-ABFD-4D71-04A482018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2431A-BB18-308C-3281-8AD29B71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3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F896-9889-538F-FE36-CE00DC91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0E94BF-CFD9-F7C8-6C70-D92854C40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13B75-19B1-7E31-6FB1-0EB20EE93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44B27-179A-C781-275E-D7C83915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86195-72E3-FAA8-0F6F-2D7AAD7E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7995E-AF03-34AC-1382-1F0DC469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1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1CE4-8268-41D6-CB54-DBB43D5A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CA6C6-FD5A-691A-1320-A2FD73BE2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88329-B94B-59DA-DC7B-8F1CF244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20374-E6CD-0C0B-395B-64862D95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BB760-F947-D693-E022-2A3A14ED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3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75E09-126F-5F0B-B96C-D2FFF46F5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2E9E6-9C29-EF1E-E9C2-06FD380B2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E9B75-814F-C162-DAAF-AC6C1110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5AF9D-56ED-6B3A-0F39-21842DEF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7450-A302-E369-C0B7-15ECD9FF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782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1519"/>
            </a:gs>
            <a:gs pos="100000">
              <a:srgbClr val="160A0C"/>
            </a:gs>
          </a:gsLst>
          <a:lin ang="30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4F888-F065-C119-E63A-DB3388C85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DED18-B590-1DF7-3D35-4EF52AF6B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CF97-1A38-2C45-21FF-221D5FA98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66589-1F31-4757-B388-88E21421478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1BEB4-3606-2322-35DB-ED9E3E923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1F94-9280-9A95-F2E5-444352141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3EFB9-CBF5-424D-A905-ABE867964F37}" type="slidenum">
              <a:rPr lang="en-US" smtClean="0"/>
              <a:t>‹#›</a:t>
            </a:fld>
            <a:endParaRPr lang="en-US"/>
          </a:p>
        </p:txBody>
      </p:sp>
      <p:sp>
        <p:nvSpPr>
          <p:cNvPr id="820" name="ripple821"/>
          <p:cNvSpPr/>
          <p:nvPr/>
        </p:nvSpPr>
        <p:spPr>
          <a:xfrm>
            <a:off x="10985500" y="-2540000"/>
            <a:ext cx="3810000" cy="3810000"/>
          </a:xfrm>
          <a:prstGeom prst="ellipse">
            <a:avLst/>
          </a:prstGeom>
          <a:noFill/>
          <a:ln w="16000">
            <a:solidFill>
              <a:srgbClr val="4BB3D4">
                <a:alpha val="27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1" name="ripple822"/>
          <p:cNvSpPr/>
          <p:nvPr/>
        </p:nvSpPr>
        <p:spPr>
          <a:xfrm>
            <a:off x="10198100" y="-3327400"/>
            <a:ext cx="5384800" cy="5384800"/>
          </a:xfrm>
          <a:prstGeom prst="ellipse">
            <a:avLst/>
          </a:prstGeom>
          <a:noFill/>
          <a:ln w="16000">
            <a:solidFill>
              <a:srgbClr val="34B39A">
                <a:alpha val="236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2" name="ripple823"/>
          <p:cNvSpPr/>
          <p:nvPr/>
        </p:nvSpPr>
        <p:spPr>
          <a:xfrm>
            <a:off x="9410700" y="-4114800"/>
            <a:ext cx="6959600" cy="6959600"/>
          </a:xfrm>
          <a:prstGeom prst="ellipse">
            <a:avLst/>
          </a:prstGeom>
          <a:noFill/>
          <a:ln w="13000">
            <a:solidFill>
              <a:srgbClr val="4BB3D4">
                <a:alpha val="202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3" name="ripple824"/>
          <p:cNvSpPr/>
          <p:nvPr/>
        </p:nvSpPr>
        <p:spPr>
          <a:xfrm>
            <a:off x="8623300" y="-4902200"/>
            <a:ext cx="8534400" cy="8534400"/>
          </a:xfrm>
          <a:prstGeom prst="ellipse">
            <a:avLst/>
          </a:prstGeom>
          <a:noFill/>
          <a:ln w="13000">
            <a:solidFill>
              <a:srgbClr val="34B39A">
                <a:alpha val="168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4" name="ripple825"/>
          <p:cNvSpPr/>
          <p:nvPr/>
        </p:nvSpPr>
        <p:spPr>
          <a:xfrm>
            <a:off x="7835900" y="-5689600"/>
            <a:ext cx="10109200" cy="10109200"/>
          </a:xfrm>
          <a:prstGeom prst="ellipse">
            <a:avLst/>
          </a:prstGeom>
          <a:noFill/>
          <a:ln w="13000">
            <a:solidFill>
              <a:srgbClr val="4BB3D4">
                <a:alpha val="134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5" name="ripple826"/>
          <p:cNvSpPr/>
          <p:nvPr/>
        </p:nvSpPr>
        <p:spPr>
          <a:xfrm>
            <a:off x="7048500" y="-6477000"/>
            <a:ext cx="11684000" cy="11684000"/>
          </a:xfrm>
          <a:prstGeom prst="ellipse">
            <a:avLst/>
          </a:prstGeom>
          <a:noFill/>
          <a:ln w="13000">
            <a:solidFill>
              <a:srgbClr val="34B39A">
                <a:alpha val="1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6" name="ripple827"/>
          <p:cNvSpPr/>
          <p:nvPr/>
        </p:nvSpPr>
        <p:spPr>
          <a:xfrm>
            <a:off x="9271000" y="-2590800"/>
            <a:ext cx="3251200" cy="3251200"/>
          </a:xfrm>
          <a:prstGeom prst="ellipse">
            <a:avLst/>
          </a:prstGeom>
          <a:noFill/>
          <a:ln w="16000">
            <a:solidFill>
              <a:srgbClr val="F0708F">
                <a:alpha val="27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7" name="ripple828"/>
          <p:cNvSpPr/>
          <p:nvPr/>
        </p:nvSpPr>
        <p:spPr>
          <a:xfrm>
            <a:off x="8483600" y="-3378200"/>
            <a:ext cx="4826000" cy="4826000"/>
          </a:xfrm>
          <a:prstGeom prst="ellipse">
            <a:avLst/>
          </a:prstGeom>
          <a:noFill/>
          <a:ln w="16000">
            <a:solidFill>
              <a:srgbClr val="B98BE6">
                <a:alpha val="236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8" name="ripple829"/>
          <p:cNvSpPr/>
          <p:nvPr/>
        </p:nvSpPr>
        <p:spPr>
          <a:xfrm>
            <a:off x="7696200" y="-4165600"/>
            <a:ext cx="6400800" cy="6400800"/>
          </a:xfrm>
          <a:prstGeom prst="ellipse">
            <a:avLst/>
          </a:prstGeom>
          <a:noFill/>
          <a:ln w="13000">
            <a:solidFill>
              <a:srgbClr val="E0B54C">
                <a:alpha val="202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9" name="ripple830"/>
          <p:cNvSpPr/>
          <p:nvPr/>
        </p:nvSpPr>
        <p:spPr>
          <a:xfrm>
            <a:off x="6908800" y="-4953000"/>
            <a:ext cx="7975600" cy="7975600"/>
          </a:xfrm>
          <a:prstGeom prst="ellipse">
            <a:avLst/>
          </a:prstGeom>
          <a:noFill/>
          <a:ln w="13000">
            <a:solidFill>
              <a:srgbClr val="F0708F">
                <a:alpha val="168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0" name="ripple831"/>
          <p:cNvSpPr/>
          <p:nvPr/>
        </p:nvSpPr>
        <p:spPr>
          <a:xfrm>
            <a:off x="6121400" y="-5740400"/>
            <a:ext cx="9550400" cy="9550400"/>
          </a:xfrm>
          <a:prstGeom prst="ellipse">
            <a:avLst/>
          </a:prstGeom>
          <a:noFill/>
          <a:ln w="13000">
            <a:solidFill>
              <a:srgbClr val="B98BE6">
                <a:alpha val="13400"/>
              </a:srgbClr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209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4EF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6C7C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.xml"/><Relationship Id="rId3" Type="http://schemas.openxmlformats.org/officeDocument/2006/relationships/image" Target="../media/image1.png"/><Relationship Id="rId4" Type="http://schemas.openxmlformats.org/officeDocument/2006/relationships/slide" Target="slide11.xml"/><Relationship Id="rId5" Type="http://schemas.openxmlformats.org/officeDocument/2006/relationships/slide" Target="slide14.xml"/><Relationship Id="rId6" Type="http://schemas.openxmlformats.org/officeDocument/2006/relationships/slide" Target="slide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image" Target="../media/image1.png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slide" Target="slide14.xml"/><Relationship Id="rId7" Type="http://schemas.openxmlformats.org/officeDocument/2006/relationships/slide" Target="slide17.xml"/><Relationship Id="rId8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51"/>
          <p:cNvSpPr/>
          <p:nvPr/>
        </p:nvSpPr>
        <p:spPr>
          <a:xfrm>
            <a:off x="1524000" y="939800"/>
            <a:ext cx="152400" cy="1524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b52"/>
          <p:cNvSpPr txBox="1"/>
          <p:nvPr/>
        </p:nvSpPr>
        <p:spPr>
          <a:xfrm>
            <a:off x="1803400" y="914400"/>
            <a:ext cx="8128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6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6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52" name="tb53"/>
          <p:cNvSpPr txBox="1"/>
          <p:nvPr/>
        </p:nvSpPr>
        <p:spPr>
          <a:xfrm>
            <a:off x="1498600" y="1320800"/>
            <a:ext cx="9652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5400" b="1" dirty="0">
                <a:solidFill>
                  <a:srgbClr val="F4EFE9"/>
                </a:solidFill>
                <a:latin typeface="Georgia"/>
                <a:cs typeface="Georgia"/>
              </a:rPr>
              <a:t>Geoprocessing Tools</a:t>
            </a:r>
          </a:p>
        </p:txBody>
      </p:sp>
      <p:sp>
        <p:nvSpPr>
          <p:cNvPr id="53" name="r54"/>
          <p:cNvSpPr/>
          <p:nvPr/>
        </p:nvSpPr>
        <p:spPr>
          <a:xfrm>
            <a:off x="1524000" y="2717800"/>
            <a:ext cx="177800" cy="177800"/>
          </a:xfrm>
          <a:prstGeom prst="rect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r55"/>
          <p:cNvSpPr/>
          <p:nvPr/>
        </p:nvSpPr>
        <p:spPr>
          <a:xfrm>
            <a:off x="1803400" y="2794000"/>
            <a:ext cx="2413000" cy="31750"/>
          </a:xfrm>
          <a:prstGeom prst="rect">
            <a:avLst/>
          </a:prstGeom>
          <a:solidFill>
            <a:srgbClr val="4C27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tb56"/>
          <p:cNvSpPr txBox="1"/>
          <p:nvPr/>
        </p:nvSpPr>
        <p:spPr>
          <a:xfrm>
            <a:off x="1524000" y="3124200"/>
            <a:ext cx="8382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750" dirty="0">
                <a:solidFill>
                  <a:srgbClr val="D6C7C2"/>
                </a:solidFill>
                <a:latin typeface="Segoe UI"/>
                <a:cs typeface="Segoe UI"/>
              </a:rPr>
              <a:t>Four core vector operations — </a:t>
            </a:r>
            <a:r>
              <a:rPr lang="en-US" sz="1750" b="1" dirty="0">
                <a:solidFill>
                  <a:srgbClr val="F4EFE9"/>
                </a:solidFill>
                <a:latin typeface="Segoe UI"/>
                <a:cs typeface="Segoe UI"/>
              </a:rPr>
              <a:t>Buffer, Clip, Dissolve, and Overlay</a:t>
            </a:r>
            <a:r>
              <a:rPr lang="en-US" sz="1750" dirty="0">
                <a:solidFill>
                  <a:srgbClr val="D6C7C2"/>
                </a:solidFill>
                <a:latin typeface="Segoe UI"/>
                <a:cs typeface="Segoe UI"/>
              </a:rPr>
              <a:t> — that turn raw layers into spatial answers.</a:t>
            </a:r>
          </a:p>
        </p:txBody>
      </p:sp>
      <p:sp>
        <p:nvSpPr>
          <p:cNvPr id="56" name="card57">
            <a:hlinkClick action="ppaction://hlinksldjump" r:id="rId2"/>
          </p:cNvPr>
          <p:cNvSpPr/>
          <p:nvPr/>
        </p:nvSpPr>
        <p:spPr>
          <a:xfrm>
            <a:off x="711200" y="4572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chip58">
            <a:hlinkClick action="ppaction://hlinksldjump" r:id="rId2"/>
          </p:cNvPr>
          <p:cNvSpPr/>
          <p:nvPr/>
        </p:nvSpPr>
        <p:spPr>
          <a:xfrm>
            <a:off x="990600" y="4876800"/>
            <a:ext cx="558800" cy="5588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</a:p>
        </p:txBody>
      </p:sp>
      <p:sp>
        <p:nvSpPr>
          <p:cNvPr id="58" name="tb59">
            <a:hlinkClick action="ppaction://hlinksldjump" r:id="rId2"/>
          </p:cNvPr>
          <p:cNvSpPr txBox="1"/>
          <p:nvPr/>
        </p:nvSpPr>
        <p:spPr>
          <a:xfrm>
            <a:off x="990600" y="5613400"/>
            <a:ext cx="1981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50" b="1" dirty="0" u="sng">
                <a:solidFill>
                  <a:srgbClr val="F4EFE9"/>
                </a:solidFill>
                <a:latin typeface="Georgia"/>
                <a:cs typeface="Georgia"/>
              </a:rPr>
              <a:t>Buffer</a:t>
            </a:r>
          </a:p>
        </p:txBody>
      </p:sp>
      <p:sp>
        <p:nvSpPr>
          <p:cNvPr id="59" name="tb60">
            <a:hlinkClick action="ppaction://hlinksldjump" r:id="rId2"/>
          </p:cNvPr>
          <p:cNvSpPr txBox="1"/>
          <p:nvPr/>
        </p:nvSpPr>
        <p:spPr>
          <a:xfrm>
            <a:off x="990600" y="5969000"/>
            <a:ext cx="1981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Zones of proximity</a:t>
            </a:r>
          </a:p>
        </p:txBody>
      </p:sp>
      <p:sp>
        <p:nvSpPr>
          <p:cNvPr id="60" name="card61">
            <a:hlinkClick action="ppaction://hlinksldjump" r:id="rId4"/>
          </p:cNvPr>
          <p:cNvSpPr/>
          <p:nvPr/>
        </p:nvSpPr>
        <p:spPr>
          <a:xfrm>
            <a:off x="3429000" y="4572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chip62">
            <a:hlinkClick action="ppaction://hlinksldjump" r:id="rId4"/>
          </p:cNvPr>
          <p:cNvSpPr/>
          <p:nvPr/>
        </p:nvSpPr>
        <p:spPr>
          <a:xfrm>
            <a:off x="3708400" y="4876800"/>
            <a:ext cx="558800" cy="5588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</a:p>
        </p:txBody>
      </p:sp>
      <p:sp>
        <p:nvSpPr>
          <p:cNvPr id="62" name="tb63">
            <a:hlinkClick action="ppaction://hlinksldjump" r:id="rId4"/>
          </p:cNvPr>
          <p:cNvSpPr txBox="1"/>
          <p:nvPr/>
        </p:nvSpPr>
        <p:spPr>
          <a:xfrm>
            <a:off x="3708400" y="5613400"/>
            <a:ext cx="1981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50" b="1" dirty="0" u="sng">
                <a:solidFill>
                  <a:srgbClr val="F4EFE9"/>
                </a:solidFill>
                <a:latin typeface="Georgia"/>
                <a:cs typeface="Georgia"/>
              </a:rPr>
              <a:t>Clip</a:t>
            </a:r>
          </a:p>
        </p:txBody>
      </p:sp>
      <p:sp>
        <p:nvSpPr>
          <p:cNvPr id="63" name="tb64">
            <a:hlinkClick action="ppaction://hlinksldjump" r:id="rId4"/>
          </p:cNvPr>
          <p:cNvSpPr txBox="1"/>
          <p:nvPr/>
        </p:nvSpPr>
        <p:spPr>
          <a:xfrm>
            <a:off x="3708400" y="5969000"/>
            <a:ext cx="1981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Cookie-cutter extract</a:t>
            </a:r>
          </a:p>
        </p:txBody>
      </p:sp>
      <p:sp>
        <p:nvSpPr>
          <p:cNvPr id="64" name="card65">
            <a:hlinkClick action="ppaction://hlinksldjump" r:id="rId5"/>
          </p:cNvPr>
          <p:cNvSpPr/>
          <p:nvPr/>
        </p:nvSpPr>
        <p:spPr>
          <a:xfrm>
            <a:off x="6146800" y="4572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5" name="chip66">
            <a:hlinkClick action="ppaction://hlinksldjump" r:id="rId5"/>
          </p:cNvPr>
          <p:cNvSpPr/>
          <p:nvPr/>
        </p:nvSpPr>
        <p:spPr>
          <a:xfrm>
            <a:off x="6426200" y="4876800"/>
            <a:ext cx="558800" cy="5588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</a:p>
        </p:txBody>
      </p:sp>
      <p:sp>
        <p:nvSpPr>
          <p:cNvPr id="66" name="tb67">
            <a:hlinkClick action="ppaction://hlinksldjump" r:id="rId5"/>
          </p:cNvPr>
          <p:cNvSpPr txBox="1"/>
          <p:nvPr/>
        </p:nvSpPr>
        <p:spPr>
          <a:xfrm>
            <a:off x="6426200" y="5613400"/>
            <a:ext cx="1981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50" b="1" dirty="0" u="sng">
                <a:solidFill>
                  <a:srgbClr val="F4EFE9"/>
                </a:solidFill>
                <a:latin typeface="Georgia"/>
                <a:cs typeface="Georgia"/>
              </a:rPr>
              <a:t>Dissolve</a:t>
            </a:r>
          </a:p>
        </p:txBody>
      </p:sp>
      <p:sp>
        <p:nvSpPr>
          <p:cNvPr id="67" name="tb68">
            <a:hlinkClick action="ppaction://hlinksldjump" r:id="rId5"/>
          </p:cNvPr>
          <p:cNvSpPr txBox="1"/>
          <p:nvPr/>
        </p:nvSpPr>
        <p:spPr>
          <a:xfrm>
            <a:off x="6426200" y="5969000"/>
            <a:ext cx="1981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Merge by attribute</a:t>
            </a:r>
          </a:p>
        </p:txBody>
      </p:sp>
      <p:sp>
        <p:nvSpPr>
          <p:cNvPr id="68" name="card69">
            <a:hlinkClick action="ppaction://hlinksldjump" r:id="rId6"/>
          </p:cNvPr>
          <p:cNvSpPr/>
          <p:nvPr/>
        </p:nvSpPr>
        <p:spPr>
          <a:xfrm>
            <a:off x="8864600" y="4572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chip70">
            <a:hlinkClick action="ppaction://hlinksldjump" r:id="rId6"/>
          </p:cNvPr>
          <p:cNvSpPr/>
          <p:nvPr/>
        </p:nvSpPr>
        <p:spPr>
          <a:xfrm>
            <a:off x="9144000" y="4876800"/>
            <a:ext cx="558800" cy="5588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O</a:t>
            </a:r>
          </a:p>
        </p:txBody>
      </p:sp>
      <p:sp>
        <p:nvSpPr>
          <p:cNvPr id="70" name="tb71">
            <a:hlinkClick action="ppaction://hlinksldjump" r:id="rId6"/>
          </p:cNvPr>
          <p:cNvSpPr txBox="1"/>
          <p:nvPr/>
        </p:nvSpPr>
        <p:spPr>
          <a:xfrm>
            <a:off x="9144000" y="5613400"/>
            <a:ext cx="1981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50" b="1" dirty="0" u="sng">
                <a:solidFill>
                  <a:srgbClr val="F4EFE9"/>
                </a:solidFill>
                <a:latin typeface="Georgia"/>
                <a:cs typeface="Georgia"/>
              </a:rPr>
              <a:t>Overlay</a:t>
            </a:r>
          </a:p>
        </p:txBody>
      </p:sp>
      <p:sp>
        <p:nvSpPr>
          <p:cNvPr id="71" name="tb72">
            <a:hlinkClick action="ppaction://hlinksldjump" r:id="rId6"/>
          </p:cNvPr>
          <p:cNvSpPr txBox="1"/>
          <p:nvPr/>
        </p:nvSpPr>
        <p:spPr>
          <a:xfrm>
            <a:off x="9144000" y="5969000"/>
            <a:ext cx="1981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Union · Intersect</a:t>
            </a:r>
          </a:p>
        </p:txBody>
      </p:sp>
      <p:sp>
        <p:nvSpPr>
          <p:cNvPr id="72" name="tb73"/>
          <p:cNvSpPr txBox="1"/>
          <p:nvPr/>
        </p:nvSpPr>
        <p:spPr>
          <a:xfrm>
            <a:off x="8890000" y="63754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01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73" name="Oval 72">
            <a:hlinkClick action="ppaction://hlinksldjump" r:id="rId2"/>
          </p:cNvPr>
          <p:cNvSpPr/>
          <p:nvPr/>
        </p:nvSpPr>
        <p:spPr>
          <a:xfrm>
            <a:off x="2705100" y="5981700"/>
            <a:ext cx="304800" cy="304800"/>
          </a:xfrm>
          <a:prstGeom prst="ellipse">
            <a:avLst/>
          </a:prstGeom>
          <a:solidFill>
            <a:srgbClr val="4B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arrow.png">
            <a:hlinkClick action="ppaction://hlinksldjump"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724" y="6021324"/>
            <a:ext cx="225552" cy="225552"/>
          </a:xfrm>
          <a:prstGeom prst="rect">
            <a:avLst/>
          </a:prstGeom>
        </p:spPr>
      </p:pic>
      <p:sp>
        <p:nvSpPr>
          <p:cNvPr id="75" name="Oval 74">
            <a:hlinkClick action="ppaction://hlinksldjump" r:id="rId4"/>
          </p:cNvPr>
          <p:cNvSpPr/>
          <p:nvPr/>
        </p:nvSpPr>
        <p:spPr>
          <a:xfrm>
            <a:off x="5422900" y="5981700"/>
            <a:ext cx="304800" cy="304800"/>
          </a:xfrm>
          <a:prstGeom prst="ellipse">
            <a:avLst/>
          </a:prstGeom>
          <a:solidFill>
            <a:srgbClr val="34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arrow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24" y="6021324"/>
            <a:ext cx="225552" cy="225552"/>
          </a:xfrm>
          <a:prstGeom prst="rect">
            <a:avLst/>
          </a:prstGeom>
        </p:spPr>
      </p:pic>
      <p:sp>
        <p:nvSpPr>
          <p:cNvPr id="77" name="Oval 76">
            <a:hlinkClick action="ppaction://hlinksldjump" r:id="rId5"/>
          </p:cNvPr>
          <p:cNvSpPr/>
          <p:nvPr/>
        </p:nvSpPr>
        <p:spPr>
          <a:xfrm>
            <a:off x="8140700" y="5981700"/>
            <a:ext cx="304800" cy="304800"/>
          </a:xfrm>
          <a:prstGeom prst="ellipse">
            <a:avLst/>
          </a:prstGeom>
          <a:solidFill>
            <a:srgbClr val="B9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arrow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324" y="6021324"/>
            <a:ext cx="225552" cy="225552"/>
          </a:xfrm>
          <a:prstGeom prst="rect">
            <a:avLst/>
          </a:prstGeom>
        </p:spPr>
      </p:pic>
      <p:sp>
        <p:nvSpPr>
          <p:cNvPr id="79" name="Oval 78">
            <a:hlinkClick action="ppaction://hlinksldjump" r:id="rId6"/>
          </p:cNvPr>
          <p:cNvSpPr/>
          <p:nvPr/>
        </p:nvSpPr>
        <p:spPr>
          <a:xfrm>
            <a:off x="10858500" y="5981700"/>
            <a:ext cx="304800" cy="304800"/>
          </a:xfrm>
          <a:prstGeom prst="ellipse">
            <a:avLst/>
          </a:prstGeom>
          <a:solidFill>
            <a:srgbClr val="F0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arrow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124" y="6021324"/>
            <a:ext cx="225552" cy="22555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11200" y="4196080"/>
            <a:ext cx="8382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i="1" b="1">
                <a:solidFill>
                  <a:srgbClr val="C9B8B2"/>
                </a:solidFill>
                <a:latin typeface="Segoe UI"/>
              </a:rPr>
              <a:t>Click a tool below to jump straight to that section  →</a:t>
            </a:r>
          </a:p>
        </p:txBody>
      </p:sp>
    </p:spTree>
    <p:extLst>
      <p:ext uri="{BB962C8B-B14F-4D97-AF65-F5344CB8AC3E}">
        <p14:creationId xmlns:p14="http://schemas.microsoft.com/office/powerpoint/2010/main" val="289036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02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652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What we'll cover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9906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A guided tour — from fundamentals to a full working pipeline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c67">
            <a:hlinkClick action="ppaction://hlinksldjump" r:id="rId2"/>
          </p:cNvPr>
          <p:cNvSpPr/>
          <p:nvPr/>
        </p:nvSpPr>
        <p:spPr>
          <a:xfrm>
            <a:off x="762000" y="2362200"/>
            <a:ext cx="3454400" cy="1828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s68">
            <a:hlinkClick action="ppaction://hlinksldjump" r:id="rId2"/>
          </p:cNvPr>
          <p:cNvSpPr/>
          <p:nvPr/>
        </p:nvSpPr>
        <p:spPr>
          <a:xfrm>
            <a:off x="762000" y="2362200"/>
            <a:ext cx="69850" cy="1828800"/>
          </a:xfrm>
          <a:prstGeom prst="roundRect">
            <a:avLst>
              <a:gd name="adj" fmla="val 40000"/>
            </a:avLst>
          </a:prstGeom>
          <a:solidFill>
            <a:srgbClr val="4B5A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69">
            <a:hlinkClick action="ppaction://hlinksldjump" r:id="rId2"/>
          </p:cNvPr>
          <p:cNvSpPr txBox="1"/>
          <p:nvPr/>
        </p:nvSpPr>
        <p:spPr>
          <a:xfrm>
            <a:off x="1041400" y="2590800"/>
            <a:ext cx="294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D6C7C2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69" name="t70">
            <a:hlinkClick action="ppaction://hlinksldjump" r:id="rId2"/>
          </p:cNvPr>
          <p:cNvSpPr txBox="1"/>
          <p:nvPr/>
        </p:nvSpPr>
        <p:spPr>
          <a:xfrm>
            <a:off x="1041400" y="3276600"/>
            <a:ext cx="289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50" b="1" dirty="0" u="sng">
                <a:solidFill>
                  <a:srgbClr val="F4EFE9"/>
                </a:solidFill>
                <a:latin typeface="Georgia"/>
                <a:cs typeface="Georgia"/>
              </a:rPr>
              <a:t>Foundations</a:t>
            </a:r>
          </a:p>
        </p:txBody>
      </p:sp>
      <p:sp>
        <p:nvSpPr>
          <p:cNvPr id="70" name="t71">
            <a:hlinkClick action="ppaction://hlinksldjump" r:id="rId2"/>
          </p:cNvPr>
          <p:cNvSpPr txBox="1"/>
          <p:nvPr/>
        </p:nvSpPr>
        <p:spPr>
          <a:xfrm>
            <a:off x="1041400" y="3632200"/>
            <a:ext cx="2895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What geoprocessing is, the ArcGIS Pro environment, and geometry types.</a:t>
            </a:r>
          </a:p>
        </p:txBody>
      </p:sp>
      <p:sp>
        <p:nvSpPr>
          <p:cNvPr id="71" name="c72">
            <a:hlinkClick action="ppaction://hlinksldjump" r:id="rId4"/>
          </p:cNvPr>
          <p:cNvSpPr/>
          <p:nvPr/>
        </p:nvSpPr>
        <p:spPr>
          <a:xfrm>
            <a:off x="4419600" y="2362200"/>
            <a:ext cx="3454400" cy="1828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2" name="s73">
            <a:hlinkClick action="ppaction://hlinksldjump" r:id="rId4"/>
          </p:cNvPr>
          <p:cNvSpPr/>
          <p:nvPr/>
        </p:nvSpPr>
        <p:spPr>
          <a:xfrm>
            <a:off x="4419600" y="2362200"/>
            <a:ext cx="69850" cy="18288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74">
            <a:hlinkClick action="ppaction://hlinksldjump" r:id="rId4"/>
          </p:cNvPr>
          <p:cNvSpPr txBox="1"/>
          <p:nvPr/>
        </p:nvSpPr>
        <p:spPr>
          <a:xfrm>
            <a:off x="4699000" y="2590800"/>
            <a:ext cx="294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4BB3D4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74" name="t75">
            <a:hlinkClick action="ppaction://hlinksldjump" r:id="rId4"/>
          </p:cNvPr>
          <p:cNvSpPr txBox="1"/>
          <p:nvPr/>
        </p:nvSpPr>
        <p:spPr>
          <a:xfrm>
            <a:off x="4699000" y="3276600"/>
            <a:ext cx="289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50" b="1" dirty="0" u="sng">
                <a:solidFill>
                  <a:srgbClr val="F4EFE9"/>
                </a:solidFill>
                <a:latin typeface="Georgia"/>
                <a:cs typeface="Georgia"/>
              </a:rPr>
              <a:t>Buffer</a:t>
            </a:r>
          </a:p>
        </p:txBody>
      </p:sp>
      <p:sp>
        <p:nvSpPr>
          <p:cNvPr id="75" name="t76">
            <a:hlinkClick action="ppaction://hlinksldjump" r:id="rId4"/>
          </p:cNvPr>
          <p:cNvSpPr txBox="1"/>
          <p:nvPr/>
        </p:nvSpPr>
        <p:spPr>
          <a:xfrm>
            <a:off x="4699000" y="3632200"/>
            <a:ext cx="2895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Build distance zones of proximity around features.</a:t>
            </a:r>
          </a:p>
        </p:txBody>
      </p:sp>
      <p:sp>
        <p:nvSpPr>
          <p:cNvPr id="76" name="c77">
            <a:hlinkClick action="ppaction://hlinksldjump" r:id="rId5"/>
          </p:cNvPr>
          <p:cNvSpPr/>
          <p:nvPr/>
        </p:nvSpPr>
        <p:spPr>
          <a:xfrm>
            <a:off x="8077200" y="2362200"/>
            <a:ext cx="3454400" cy="1828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78">
            <a:hlinkClick action="ppaction://hlinksldjump" r:id="rId5"/>
          </p:cNvPr>
          <p:cNvSpPr/>
          <p:nvPr/>
        </p:nvSpPr>
        <p:spPr>
          <a:xfrm>
            <a:off x="8077200" y="2362200"/>
            <a:ext cx="69850" cy="18288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79">
            <a:hlinkClick action="ppaction://hlinksldjump" r:id="rId5"/>
          </p:cNvPr>
          <p:cNvSpPr txBox="1"/>
          <p:nvPr/>
        </p:nvSpPr>
        <p:spPr>
          <a:xfrm>
            <a:off x="8356600" y="2590800"/>
            <a:ext cx="294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34B39A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79" name="t80">
            <a:hlinkClick action="ppaction://hlinksldjump" r:id="rId5"/>
          </p:cNvPr>
          <p:cNvSpPr txBox="1"/>
          <p:nvPr/>
        </p:nvSpPr>
        <p:spPr>
          <a:xfrm>
            <a:off x="8356600" y="3276600"/>
            <a:ext cx="289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50" b="1" dirty="0" u="sng">
                <a:solidFill>
                  <a:srgbClr val="F4EFE9"/>
                </a:solidFill>
                <a:latin typeface="Georgia"/>
                <a:cs typeface="Georgia"/>
              </a:rPr>
              <a:t>Clip</a:t>
            </a:r>
          </a:p>
        </p:txBody>
      </p:sp>
      <p:sp>
        <p:nvSpPr>
          <p:cNvPr id="80" name="t81">
            <a:hlinkClick action="ppaction://hlinksldjump" r:id="rId5"/>
          </p:cNvPr>
          <p:cNvSpPr txBox="1"/>
          <p:nvPr/>
        </p:nvSpPr>
        <p:spPr>
          <a:xfrm>
            <a:off x="8356600" y="3632200"/>
            <a:ext cx="2895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Trim a layer to the outline of a study area.</a:t>
            </a:r>
          </a:p>
        </p:txBody>
      </p:sp>
      <p:sp>
        <p:nvSpPr>
          <p:cNvPr id="81" name="c82">
            <a:hlinkClick action="ppaction://hlinksldjump" r:id="rId6"/>
          </p:cNvPr>
          <p:cNvSpPr/>
          <p:nvPr/>
        </p:nvSpPr>
        <p:spPr>
          <a:xfrm>
            <a:off x="762000" y="4394200"/>
            <a:ext cx="3454400" cy="1828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" name="s83">
            <a:hlinkClick action="ppaction://hlinksldjump" r:id="rId6"/>
          </p:cNvPr>
          <p:cNvSpPr/>
          <p:nvPr/>
        </p:nvSpPr>
        <p:spPr>
          <a:xfrm>
            <a:off x="762000" y="4394200"/>
            <a:ext cx="69850" cy="18288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84">
            <a:hlinkClick action="ppaction://hlinksldjump" r:id="rId6"/>
          </p:cNvPr>
          <p:cNvSpPr txBox="1"/>
          <p:nvPr/>
        </p:nvSpPr>
        <p:spPr>
          <a:xfrm>
            <a:off x="1041400" y="4622800"/>
            <a:ext cx="294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B98BE6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84" name="t85">
            <a:hlinkClick action="ppaction://hlinksldjump" r:id="rId6"/>
          </p:cNvPr>
          <p:cNvSpPr txBox="1"/>
          <p:nvPr/>
        </p:nvSpPr>
        <p:spPr>
          <a:xfrm>
            <a:off x="1041400" y="5308600"/>
            <a:ext cx="289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50" b="1" dirty="0" u="sng">
                <a:solidFill>
                  <a:srgbClr val="F4EFE9"/>
                </a:solidFill>
                <a:latin typeface="Georgia"/>
                <a:cs typeface="Georgia"/>
              </a:rPr>
              <a:t>Dissolve</a:t>
            </a:r>
          </a:p>
        </p:txBody>
      </p:sp>
      <p:sp>
        <p:nvSpPr>
          <p:cNvPr id="85" name="t86">
            <a:hlinkClick action="ppaction://hlinksldjump" r:id="rId6"/>
          </p:cNvPr>
          <p:cNvSpPr txBox="1"/>
          <p:nvPr/>
        </p:nvSpPr>
        <p:spPr>
          <a:xfrm>
            <a:off x="1041400" y="5664200"/>
            <a:ext cx="2895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Merge features that share an attribute value.</a:t>
            </a:r>
          </a:p>
        </p:txBody>
      </p:sp>
      <p:sp>
        <p:nvSpPr>
          <p:cNvPr id="86" name="c87">
            <a:hlinkClick action="ppaction://hlinksldjump" r:id="rId7"/>
          </p:cNvPr>
          <p:cNvSpPr/>
          <p:nvPr/>
        </p:nvSpPr>
        <p:spPr>
          <a:xfrm>
            <a:off x="4419600" y="4394200"/>
            <a:ext cx="3454400" cy="1828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7" name="s88">
            <a:hlinkClick action="ppaction://hlinksldjump" r:id="rId7"/>
          </p:cNvPr>
          <p:cNvSpPr/>
          <p:nvPr/>
        </p:nvSpPr>
        <p:spPr>
          <a:xfrm>
            <a:off x="4419600" y="4394200"/>
            <a:ext cx="69850" cy="18288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t89">
            <a:hlinkClick action="ppaction://hlinksldjump" r:id="rId7"/>
          </p:cNvPr>
          <p:cNvSpPr txBox="1"/>
          <p:nvPr/>
        </p:nvSpPr>
        <p:spPr>
          <a:xfrm>
            <a:off x="4699000" y="4622800"/>
            <a:ext cx="294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F0708F"/>
                </a:solidFill>
                <a:latin typeface="Georgia"/>
                <a:cs typeface="Georgia"/>
              </a:rPr>
              <a:t>05</a:t>
            </a:r>
          </a:p>
        </p:txBody>
      </p:sp>
      <p:sp>
        <p:nvSpPr>
          <p:cNvPr id="89" name="t90">
            <a:hlinkClick action="ppaction://hlinksldjump" r:id="rId7"/>
          </p:cNvPr>
          <p:cNvSpPr txBox="1"/>
          <p:nvPr/>
        </p:nvSpPr>
        <p:spPr>
          <a:xfrm>
            <a:off x="4699000" y="5308600"/>
            <a:ext cx="289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50" b="1" dirty="0" u="sng">
                <a:solidFill>
                  <a:srgbClr val="F4EFE9"/>
                </a:solidFill>
                <a:latin typeface="Georgia"/>
                <a:cs typeface="Georgia"/>
              </a:rPr>
              <a:t>Overlay</a:t>
            </a:r>
          </a:p>
        </p:txBody>
      </p:sp>
      <p:sp>
        <p:nvSpPr>
          <p:cNvPr id="90" name="t91">
            <a:hlinkClick action="ppaction://hlinksldjump" r:id="rId7"/>
          </p:cNvPr>
          <p:cNvSpPr txBox="1"/>
          <p:nvPr/>
        </p:nvSpPr>
        <p:spPr>
          <a:xfrm>
            <a:off x="4699000" y="5664200"/>
            <a:ext cx="2895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Combine two layers with Union and Intersect.</a:t>
            </a:r>
          </a:p>
        </p:txBody>
      </p:sp>
      <p:sp>
        <p:nvSpPr>
          <p:cNvPr id="91" name="c92">
            <a:hlinkClick action="ppaction://hlinksldjump" r:id="rId8"/>
          </p:cNvPr>
          <p:cNvSpPr/>
          <p:nvPr/>
        </p:nvSpPr>
        <p:spPr>
          <a:xfrm>
            <a:off x="8077200" y="4394200"/>
            <a:ext cx="3454400" cy="1828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2" name="s93">
            <a:hlinkClick action="ppaction://hlinksldjump" r:id="rId8"/>
          </p:cNvPr>
          <p:cNvSpPr/>
          <p:nvPr/>
        </p:nvSpPr>
        <p:spPr>
          <a:xfrm>
            <a:off x="8077200" y="4394200"/>
            <a:ext cx="69850" cy="1828800"/>
          </a:xfrm>
          <a:prstGeom prst="roundRect">
            <a:avLst>
              <a:gd name="adj" fmla="val 40000"/>
            </a:avLst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94">
            <a:hlinkClick action="ppaction://hlinksldjump" r:id="rId8"/>
          </p:cNvPr>
          <p:cNvSpPr txBox="1"/>
          <p:nvPr/>
        </p:nvSpPr>
        <p:spPr>
          <a:xfrm>
            <a:off x="8356600" y="4622800"/>
            <a:ext cx="294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E0B54C"/>
                </a:solidFill>
                <a:latin typeface="Georgia"/>
                <a:cs typeface="Georgia"/>
              </a:rPr>
              <a:t>06</a:t>
            </a:r>
          </a:p>
        </p:txBody>
      </p:sp>
      <p:sp>
        <p:nvSpPr>
          <p:cNvPr id="94" name="t95">
            <a:hlinkClick action="ppaction://hlinksldjump" r:id="rId8"/>
          </p:cNvPr>
          <p:cNvSpPr txBox="1"/>
          <p:nvPr/>
        </p:nvSpPr>
        <p:spPr>
          <a:xfrm>
            <a:off x="8356600" y="5308600"/>
            <a:ext cx="289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50" b="1" dirty="0" u="sng">
                <a:solidFill>
                  <a:srgbClr val="F4EFE9"/>
                </a:solidFill>
                <a:latin typeface="Georgia"/>
                <a:cs typeface="Georgia"/>
              </a:rPr>
              <a:t>In practice</a:t>
            </a:r>
          </a:p>
        </p:txBody>
      </p:sp>
      <p:sp>
        <p:nvSpPr>
          <p:cNvPr id="95" name="t96">
            <a:hlinkClick action="ppaction://hlinksldjump" r:id="rId8"/>
          </p:cNvPr>
          <p:cNvSpPr txBox="1"/>
          <p:nvPr/>
        </p:nvSpPr>
        <p:spPr>
          <a:xfrm>
            <a:off x="8356600" y="5664200"/>
            <a:ext cx="2895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A comparison, a hands-on lab, and a knowledge check.</a:t>
            </a:r>
          </a:p>
        </p:txBody>
      </p:sp>
      <p:sp>
        <p:nvSpPr>
          <p:cNvPr id="96" name="Oval 95">
            <a:hlinkClick action="ppaction://hlinksldjump" r:id="rId2"/>
          </p:cNvPr>
          <p:cNvSpPr/>
          <p:nvPr/>
        </p:nvSpPr>
        <p:spPr>
          <a:xfrm>
            <a:off x="3771300" y="2527300"/>
            <a:ext cx="280000" cy="280000"/>
          </a:xfrm>
          <a:prstGeom prst="ellipse">
            <a:avLst/>
          </a:prstGeom>
          <a:solidFill>
            <a:srgbClr val="4B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arrow.png">
            <a:hlinkClick action="ppaction://hlinksldjump"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700" y="2563700"/>
            <a:ext cx="207200" cy="207200"/>
          </a:xfrm>
          <a:prstGeom prst="rect">
            <a:avLst/>
          </a:prstGeom>
        </p:spPr>
      </p:pic>
      <p:sp>
        <p:nvSpPr>
          <p:cNvPr id="98" name="Oval 97">
            <a:hlinkClick action="ppaction://hlinksldjump" r:id="rId4"/>
          </p:cNvPr>
          <p:cNvSpPr/>
          <p:nvPr/>
        </p:nvSpPr>
        <p:spPr>
          <a:xfrm>
            <a:off x="7428900" y="2527300"/>
            <a:ext cx="280000" cy="280000"/>
          </a:xfrm>
          <a:prstGeom prst="ellipse">
            <a:avLst/>
          </a:prstGeom>
          <a:solidFill>
            <a:srgbClr val="4B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arrow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300" y="2563700"/>
            <a:ext cx="207200" cy="207200"/>
          </a:xfrm>
          <a:prstGeom prst="rect">
            <a:avLst/>
          </a:prstGeom>
        </p:spPr>
      </p:pic>
      <p:sp>
        <p:nvSpPr>
          <p:cNvPr id="100" name="Oval 99">
            <a:hlinkClick action="ppaction://hlinksldjump" r:id="rId5"/>
          </p:cNvPr>
          <p:cNvSpPr/>
          <p:nvPr/>
        </p:nvSpPr>
        <p:spPr>
          <a:xfrm>
            <a:off x="11086500" y="2527300"/>
            <a:ext cx="280000" cy="280000"/>
          </a:xfrm>
          <a:prstGeom prst="ellipse">
            <a:avLst/>
          </a:prstGeom>
          <a:solidFill>
            <a:srgbClr val="34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arrow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900" y="2563700"/>
            <a:ext cx="207200" cy="207200"/>
          </a:xfrm>
          <a:prstGeom prst="rect">
            <a:avLst/>
          </a:prstGeom>
        </p:spPr>
      </p:pic>
      <p:sp>
        <p:nvSpPr>
          <p:cNvPr id="102" name="Oval 101">
            <a:hlinkClick action="ppaction://hlinksldjump" r:id="rId6"/>
          </p:cNvPr>
          <p:cNvSpPr/>
          <p:nvPr/>
        </p:nvSpPr>
        <p:spPr>
          <a:xfrm>
            <a:off x="3771300" y="4559300"/>
            <a:ext cx="280000" cy="280000"/>
          </a:xfrm>
          <a:prstGeom prst="ellipse">
            <a:avLst/>
          </a:prstGeom>
          <a:solidFill>
            <a:srgbClr val="B9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arrow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700" y="4595700"/>
            <a:ext cx="207200" cy="207200"/>
          </a:xfrm>
          <a:prstGeom prst="rect">
            <a:avLst/>
          </a:prstGeom>
        </p:spPr>
      </p:pic>
      <p:sp>
        <p:nvSpPr>
          <p:cNvPr id="104" name="Oval 103">
            <a:hlinkClick action="ppaction://hlinksldjump" r:id="rId7"/>
          </p:cNvPr>
          <p:cNvSpPr/>
          <p:nvPr/>
        </p:nvSpPr>
        <p:spPr>
          <a:xfrm>
            <a:off x="7428900" y="4559300"/>
            <a:ext cx="280000" cy="280000"/>
          </a:xfrm>
          <a:prstGeom prst="ellipse">
            <a:avLst/>
          </a:prstGeom>
          <a:solidFill>
            <a:srgbClr val="F0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arrow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300" y="4595700"/>
            <a:ext cx="207200" cy="207200"/>
          </a:xfrm>
          <a:prstGeom prst="rect">
            <a:avLst/>
          </a:prstGeom>
        </p:spPr>
      </p:pic>
      <p:sp>
        <p:nvSpPr>
          <p:cNvPr id="106" name="Oval 105">
            <a:hlinkClick action="ppaction://hlinksldjump" r:id="rId8"/>
          </p:cNvPr>
          <p:cNvSpPr/>
          <p:nvPr/>
        </p:nvSpPr>
        <p:spPr>
          <a:xfrm>
            <a:off x="11086500" y="4559300"/>
            <a:ext cx="280000" cy="280000"/>
          </a:xfrm>
          <a:prstGeom prst="ellipse">
            <a:avLst/>
          </a:prstGeom>
          <a:solidFill>
            <a:srgbClr val="E0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arrow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900" y="4595700"/>
            <a:ext cx="207200" cy="2072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762000" y="1962780"/>
            <a:ext cx="102108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i="1" b="1">
                <a:solidFill>
                  <a:srgbClr val="C9B8B2"/>
                </a:solidFill>
                <a:latin typeface="Segoe UI"/>
              </a:rPr>
              <a:t>Click any topic below to jump straight to that section  →</a:t>
            </a:r>
          </a:p>
        </p:txBody>
      </p:sp>
    </p:spTree>
    <p:extLst>
      <p:ext uri="{BB962C8B-B14F-4D97-AF65-F5344CB8AC3E}">
        <p14:creationId xmlns:p14="http://schemas.microsoft.com/office/powerpoint/2010/main" val="240125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b"/>
          <p:cNvSpPr txBox="1"/>
          <p:nvPr/>
        </p:nvSpPr>
        <p:spPr>
          <a:xfrm>
            <a:off x="1778000" y="5588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b"/>
          <p:cNvSpPr txBox="1"/>
          <p:nvPr/>
        </p:nvSpPr>
        <p:spPr>
          <a:xfrm>
            <a:off x="8890000" y="63754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03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b"/>
          <p:cNvSpPr txBox="1"/>
          <p:nvPr/>
        </p:nvSpPr>
        <p:spPr>
          <a:xfrm>
            <a:off x="1498600" y="8128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Learning objectives</a:t>
            </a:r>
          </a:p>
        </p:txBody>
      </p:sp>
      <p:sp>
        <p:nvSpPr>
          <p:cNvPr id="64" name="tb"/>
          <p:cNvSpPr txBox="1"/>
          <p:nvPr/>
        </p:nvSpPr>
        <p:spPr>
          <a:xfrm>
            <a:off x="1524000" y="1422400"/>
            <a:ext cx="965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What you'll be able to do by the end of this lesson</a:t>
            </a:r>
          </a:p>
        </p:txBody>
      </p:sp>
      <p:sp>
        <p:nvSpPr>
          <p:cNvPr id="65" name="r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card"/>
          <p:cNvSpPr/>
          <p:nvPr/>
        </p:nvSpPr>
        <p:spPr>
          <a:xfrm>
            <a:off x="762000" y="2311400"/>
            <a:ext cx="10668000" cy="4038600"/>
          </a:xfrm>
          <a:prstGeom prst="roundRect">
            <a:avLst>
              <a:gd name="adj" fmla="val 3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chip"/>
          <p:cNvSpPr/>
          <p:nvPr/>
        </p:nvSpPr>
        <p:spPr>
          <a:xfrm>
            <a:off x="1168400" y="2641600"/>
            <a:ext cx="457200" cy="457200"/>
          </a:xfrm>
          <a:prstGeom prst="ellipse">
            <a:avLst/>
          </a:prstGeom>
          <a:solidFill>
            <a:srgbClr val="5E6B7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68" name="tb"/>
          <p:cNvSpPr txBox="1"/>
          <p:nvPr/>
        </p:nvSpPr>
        <p:spPr>
          <a:xfrm>
            <a:off x="1854200" y="2565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4EFE9"/>
                </a:solidFill>
                <a:latin typeface="Georgia"/>
                <a:cs typeface="Georgia"/>
              </a:rPr>
              <a:t>Frame the toolkit</a:t>
            </a:r>
          </a:p>
        </p:txBody>
      </p:sp>
      <p:sp>
        <p:nvSpPr>
          <p:cNvPr id="69" name="tb"/>
          <p:cNvSpPr txBox="1"/>
          <p:nvPr/>
        </p:nvSpPr>
        <p:spPr>
          <a:xfrm>
            <a:off x="1854200" y="2870200"/>
            <a:ext cx="29464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70" name="tb"/>
          <p:cNvSpPr txBox="1"/>
          <p:nvPr/>
        </p:nvSpPr>
        <p:spPr>
          <a:xfrm>
            <a:off x="4800600" y="2641600"/>
            <a:ext cx="62992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See how Buffer, Clip, Dissolve and Overlay fit together as a workflow.</a:t>
            </a:r>
          </a:p>
        </p:txBody>
      </p:sp>
      <p:sp>
        <p:nvSpPr>
          <p:cNvPr id="71" name="r"/>
          <p:cNvSpPr/>
          <p:nvPr/>
        </p:nvSpPr>
        <p:spPr>
          <a:xfrm>
            <a:off x="1854200" y="3200400"/>
            <a:ext cx="9245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chip"/>
          <p:cNvSpPr/>
          <p:nvPr/>
        </p:nvSpPr>
        <p:spPr>
          <a:xfrm>
            <a:off x="1168400" y="3403600"/>
            <a:ext cx="457200" cy="457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73" name="tb"/>
          <p:cNvSpPr txBox="1"/>
          <p:nvPr/>
        </p:nvSpPr>
        <p:spPr>
          <a:xfrm>
            <a:off x="1854200" y="3327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4EFE9"/>
                </a:solidFill>
                <a:latin typeface="Georgia"/>
                <a:cs typeface="Georgia"/>
              </a:rPr>
              <a:t>Build proximity zones</a:t>
            </a:r>
          </a:p>
        </p:txBody>
      </p:sp>
      <p:sp>
        <p:nvSpPr>
          <p:cNvPr id="74" name="tb"/>
          <p:cNvSpPr txBox="1"/>
          <p:nvPr/>
        </p:nvSpPr>
        <p:spPr>
          <a:xfrm>
            <a:off x="1854200" y="3632200"/>
            <a:ext cx="29464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75" name="tb"/>
          <p:cNvSpPr txBox="1"/>
          <p:nvPr/>
        </p:nvSpPr>
        <p:spPr>
          <a:xfrm>
            <a:off x="4800600" y="3403600"/>
            <a:ext cx="62992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Use Buffer to create distance-based areas around points, lines or polygons.</a:t>
            </a:r>
          </a:p>
        </p:txBody>
      </p:sp>
      <p:sp>
        <p:nvSpPr>
          <p:cNvPr id="76" name="r"/>
          <p:cNvSpPr/>
          <p:nvPr/>
        </p:nvSpPr>
        <p:spPr>
          <a:xfrm>
            <a:off x="1854200" y="3962400"/>
            <a:ext cx="9245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chip"/>
          <p:cNvSpPr/>
          <p:nvPr/>
        </p:nvSpPr>
        <p:spPr>
          <a:xfrm>
            <a:off x="1168400" y="4165600"/>
            <a:ext cx="457200" cy="457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78" name="tb"/>
          <p:cNvSpPr txBox="1"/>
          <p:nvPr/>
        </p:nvSpPr>
        <p:spPr>
          <a:xfrm>
            <a:off x="1854200" y="4089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4EFE9"/>
                </a:solidFill>
                <a:latin typeface="Georgia"/>
                <a:cs typeface="Georgia"/>
              </a:rPr>
              <a:t>Extract by boundary</a:t>
            </a:r>
          </a:p>
        </p:txBody>
      </p:sp>
      <p:sp>
        <p:nvSpPr>
          <p:cNvPr id="79" name="tb"/>
          <p:cNvSpPr txBox="1"/>
          <p:nvPr/>
        </p:nvSpPr>
        <p:spPr>
          <a:xfrm>
            <a:off x="1854200" y="4394200"/>
            <a:ext cx="29464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80" name="tb"/>
          <p:cNvSpPr txBox="1"/>
          <p:nvPr/>
        </p:nvSpPr>
        <p:spPr>
          <a:xfrm>
            <a:off x="4800600" y="4165600"/>
            <a:ext cx="62992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Use Clip to cut a working layer down to a study-area outline.</a:t>
            </a:r>
          </a:p>
        </p:txBody>
      </p:sp>
      <p:sp>
        <p:nvSpPr>
          <p:cNvPr id="81" name="r"/>
          <p:cNvSpPr/>
          <p:nvPr/>
        </p:nvSpPr>
        <p:spPr>
          <a:xfrm>
            <a:off x="1854200" y="4724400"/>
            <a:ext cx="9245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chip"/>
          <p:cNvSpPr/>
          <p:nvPr/>
        </p:nvSpPr>
        <p:spPr>
          <a:xfrm>
            <a:off x="1168400" y="4927600"/>
            <a:ext cx="457200" cy="4572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83" name="tb"/>
          <p:cNvSpPr txBox="1"/>
          <p:nvPr/>
        </p:nvSpPr>
        <p:spPr>
          <a:xfrm>
            <a:off x="1854200" y="4851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4EFE9"/>
                </a:solidFill>
                <a:latin typeface="Georgia"/>
                <a:cs typeface="Georgia"/>
              </a:rPr>
              <a:t>Simplify by attribute</a:t>
            </a:r>
          </a:p>
        </p:txBody>
      </p:sp>
      <p:sp>
        <p:nvSpPr>
          <p:cNvPr id="84" name="tb"/>
          <p:cNvSpPr txBox="1"/>
          <p:nvPr/>
        </p:nvSpPr>
        <p:spPr>
          <a:xfrm>
            <a:off x="1854200" y="5156200"/>
            <a:ext cx="29464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85" name="tb"/>
          <p:cNvSpPr txBox="1"/>
          <p:nvPr/>
        </p:nvSpPr>
        <p:spPr>
          <a:xfrm>
            <a:off x="4800600" y="4927600"/>
            <a:ext cx="62992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Use Dissolve to merge adjacent features that share the same value.</a:t>
            </a:r>
          </a:p>
        </p:txBody>
      </p:sp>
      <p:sp>
        <p:nvSpPr>
          <p:cNvPr id="86" name="r"/>
          <p:cNvSpPr/>
          <p:nvPr/>
        </p:nvSpPr>
        <p:spPr>
          <a:xfrm>
            <a:off x="1854200" y="5486400"/>
            <a:ext cx="9245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chip"/>
          <p:cNvSpPr/>
          <p:nvPr/>
        </p:nvSpPr>
        <p:spPr>
          <a:xfrm>
            <a:off x="1168400" y="5689600"/>
            <a:ext cx="457200" cy="4572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88" name="tb"/>
          <p:cNvSpPr txBox="1"/>
          <p:nvPr/>
        </p:nvSpPr>
        <p:spPr>
          <a:xfrm>
            <a:off x="1854200" y="5613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4EFE9"/>
                </a:solidFill>
                <a:latin typeface="Georgia"/>
                <a:cs typeface="Georgia"/>
              </a:rPr>
              <a:t>Combine two layers</a:t>
            </a:r>
          </a:p>
        </p:txBody>
      </p:sp>
      <p:sp>
        <p:nvSpPr>
          <p:cNvPr id="89" name="tb"/>
          <p:cNvSpPr txBox="1"/>
          <p:nvPr/>
        </p:nvSpPr>
        <p:spPr>
          <a:xfrm>
            <a:off x="1854200" y="5918200"/>
            <a:ext cx="29464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90" name="tb"/>
          <p:cNvSpPr txBox="1"/>
          <p:nvPr/>
        </p:nvSpPr>
        <p:spPr>
          <a:xfrm>
            <a:off x="4800600" y="5689600"/>
            <a:ext cx="62992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Use Union and Intersect to overlay layers and blend their attributes.</a:t>
            </a:r>
          </a:p>
        </p:txBody>
      </p:sp>
    </p:spTree>
    <p:extLst>
      <p:ext uri="{BB962C8B-B14F-4D97-AF65-F5344CB8AC3E}">
        <p14:creationId xmlns:p14="http://schemas.microsoft.com/office/powerpoint/2010/main" val="1369316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b"/>
          <p:cNvSpPr txBox="1"/>
          <p:nvPr/>
        </p:nvSpPr>
        <p:spPr>
          <a:xfrm>
            <a:off x="1778000" y="5588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b"/>
          <p:cNvSpPr txBox="1"/>
          <p:nvPr/>
        </p:nvSpPr>
        <p:spPr>
          <a:xfrm>
            <a:off x="8890000" y="63754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04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b"/>
          <p:cNvSpPr txBox="1"/>
          <p:nvPr/>
        </p:nvSpPr>
        <p:spPr>
          <a:xfrm>
            <a:off x="1498600" y="812800"/>
            <a:ext cx="914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What is geoprocessing?</a:t>
            </a:r>
          </a:p>
        </p:txBody>
      </p:sp>
      <p:sp>
        <p:nvSpPr>
          <p:cNvPr id="64" name="tb"/>
          <p:cNvSpPr txBox="1"/>
          <p:nvPr/>
        </p:nvSpPr>
        <p:spPr>
          <a:xfrm>
            <a:off x="1524000" y="142240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Operations that take spatial layers in and write brand-new layers out</a:t>
            </a:r>
          </a:p>
        </p:txBody>
      </p:sp>
      <p:sp>
        <p:nvSpPr>
          <p:cNvPr id="65" name="r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card"/>
          <p:cNvSpPr/>
          <p:nvPr/>
        </p:nvSpPr>
        <p:spPr>
          <a:xfrm>
            <a:off x="762000" y="2603500"/>
            <a:ext cx="3048000" cy="21844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80000" dist="25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r"/>
          <p:cNvSpPr/>
          <p:nvPr/>
        </p:nvSpPr>
        <p:spPr>
          <a:xfrm>
            <a:off x="1066800" y="2933700"/>
            <a:ext cx="431800" cy="50800"/>
          </a:xfrm>
          <a:prstGeom prst="rect">
            <a:avLst/>
          </a:prstGeom>
          <a:solidFill>
            <a:srgbClr val="5E6B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b"/>
          <p:cNvSpPr txBox="1"/>
          <p:nvPr/>
        </p:nvSpPr>
        <p:spPr>
          <a:xfrm>
            <a:off x="1066800" y="311150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spc="180" dirty="0">
                <a:solidFill>
                  <a:srgbClr val="AE978E"/>
                </a:solidFill>
                <a:latin typeface="Segoe UI"/>
                <a:cs typeface="Segoe UI"/>
              </a:rPr>
              <a:t>INPUT</a:t>
            </a:r>
          </a:p>
        </p:txBody>
      </p:sp>
      <p:sp>
        <p:nvSpPr>
          <p:cNvPr id="69" name="tb"/>
          <p:cNvSpPr txBox="1"/>
          <p:nvPr/>
        </p:nvSpPr>
        <p:spPr>
          <a:xfrm>
            <a:off x="1066800" y="3390900"/>
            <a:ext cx="243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50" b="1" dirty="0">
                <a:solidFill>
                  <a:srgbClr val="F4EFE9"/>
                </a:solidFill>
                <a:latin typeface="Georgia"/>
                <a:cs typeface="Georgia"/>
              </a:rPr>
              <a:t>Feature layers</a:t>
            </a:r>
          </a:p>
        </p:txBody>
      </p:sp>
      <p:sp>
        <p:nvSpPr>
          <p:cNvPr id="70" name="tb"/>
          <p:cNvSpPr txBox="1"/>
          <p:nvPr/>
        </p:nvSpPr>
        <p:spPr>
          <a:xfrm>
            <a:off x="1066800" y="3873500"/>
            <a:ext cx="2438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One or more existing layers — points, lines or polygons on your map.</a:t>
            </a:r>
          </a:p>
        </p:txBody>
      </p:sp>
      <p:sp>
        <p:nvSpPr>
          <p:cNvPr id="71" name="card"/>
          <p:cNvSpPr/>
          <p:nvPr/>
        </p:nvSpPr>
        <p:spPr>
          <a:xfrm>
            <a:off x="4572000" y="2603500"/>
            <a:ext cx="3048000" cy="21844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22225">
            <a:solidFill>
              <a:srgbClr val="4BB3D4"/>
            </a:solidFill>
          </a:ln>
          <a:effectLst>
            <a:outerShdw blurRad="80000" dist="25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2" name="r"/>
          <p:cNvSpPr/>
          <p:nvPr/>
        </p:nvSpPr>
        <p:spPr>
          <a:xfrm>
            <a:off x="4876800" y="2933700"/>
            <a:ext cx="431800" cy="508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b"/>
          <p:cNvSpPr txBox="1"/>
          <p:nvPr/>
        </p:nvSpPr>
        <p:spPr>
          <a:xfrm>
            <a:off x="4876800" y="311150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spc="180" dirty="0">
                <a:solidFill>
                  <a:srgbClr val="4BB3D4"/>
                </a:solidFill>
                <a:latin typeface="Segoe UI"/>
                <a:cs typeface="Segoe UI"/>
              </a:rPr>
              <a:t>OPERATION</a:t>
            </a:r>
          </a:p>
        </p:txBody>
      </p:sp>
      <p:sp>
        <p:nvSpPr>
          <p:cNvPr id="74" name="tb"/>
          <p:cNvSpPr txBox="1"/>
          <p:nvPr/>
        </p:nvSpPr>
        <p:spPr>
          <a:xfrm>
            <a:off x="4876800" y="3390900"/>
            <a:ext cx="243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950" b="1" dirty="0">
                <a:solidFill>
                  <a:srgbClr val="F4EFE9"/>
                </a:solidFill>
                <a:latin typeface="Georgia"/>
                <a:cs typeface="Georgia"/>
              </a:rPr>
              <a:t>A geoprocessing tool</a:t>
            </a:r>
          </a:p>
        </p:txBody>
      </p:sp>
      <p:sp>
        <p:nvSpPr>
          <p:cNvPr id="75" name="tb"/>
          <p:cNvSpPr txBox="1"/>
          <p:nvPr/>
        </p:nvSpPr>
        <p:spPr>
          <a:xfrm>
            <a:off x="4876800" y="4102100"/>
            <a:ext cx="2438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A defined spatial rule with parameters you set before it runs.</a:t>
            </a:r>
          </a:p>
        </p:txBody>
      </p:sp>
      <p:sp>
        <p:nvSpPr>
          <p:cNvPr id="76" name="card"/>
          <p:cNvSpPr/>
          <p:nvPr/>
        </p:nvSpPr>
        <p:spPr>
          <a:xfrm>
            <a:off x="8382000" y="2603500"/>
            <a:ext cx="3048000" cy="21844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80000" dist="25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r"/>
          <p:cNvSpPr/>
          <p:nvPr/>
        </p:nvSpPr>
        <p:spPr>
          <a:xfrm>
            <a:off x="8686800" y="2933700"/>
            <a:ext cx="431800" cy="508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b"/>
          <p:cNvSpPr txBox="1"/>
          <p:nvPr/>
        </p:nvSpPr>
        <p:spPr>
          <a:xfrm>
            <a:off x="8686800" y="311150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1" spc="180" dirty="0">
                <a:solidFill>
                  <a:srgbClr val="34B39A"/>
                </a:solidFill>
                <a:latin typeface="Segoe UI"/>
                <a:cs typeface="Segoe UI"/>
              </a:rPr>
              <a:t>OUTPUT</a:t>
            </a:r>
          </a:p>
        </p:txBody>
      </p:sp>
      <p:sp>
        <p:nvSpPr>
          <p:cNvPr id="79" name="tb"/>
          <p:cNvSpPr txBox="1"/>
          <p:nvPr/>
        </p:nvSpPr>
        <p:spPr>
          <a:xfrm>
            <a:off x="8686800" y="3390900"/>
            <a:ext cx="243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50" b="1" dirty="0">
                <a:solidFill>
                  <a:srgbClr val="F4EFE9"/>
                </a:solidFill>
                <a:latin typeface="Georgia"/>
                <a:cs typeface="Georgia"/>
              </a:rPr>
              <a:t>A new layer</a:t>
            </a:r>
          </a:p>
        </p:txBody>
      </p:sp>
      <p:sp>
        <p:nvSpPr>
          <p:cNvPr id="80" name="tb"/>
          <p:cNvSpPr txBox="1"/>
          <p:nvPr/>
        </p:nvSpPr>
        <p:spPr>
          <a:xfrm>
            <a:off x="8686800" y="3873500"/>
            <a:ext cx="2438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A fresh dataset written to disk; the inputs stay untouched.</a:t>
            </a:r>
          </a:p>
        </p:txBody>
      </p:sp>
      <p:sp>
        <p:nvSpPr>
          <p:cNvPr id="81" name="arr"/>
          <p:cNvSpPr/>
          <p:nvPr/>
        </p:nvSpPr>
        <p:spPr>
          <a:xfrm>
            <a:off x="3962400" y="3390900"/>
            <a:ext cx="457200" cy="584200"/>
          </a:xfrm>
          <a:prstGeom prst="chevron">
            <a:avLst/>
          </a:prstGeom>
          <a:solidFill>
            <a:srgbClr val="C3CD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arr"/>
          <p:cNvSpPr/>
          <p:nvPr/>
        </p:nvSpPr>
        <p:spPr>
          <a:xfrm>
            <a:off x="7772400" y="3390900"/>
            <a:ext cx="457200" cy="584200"/>
          </a:xfrm>
          <a:prstGeom prst="chevron">
            <a:avLst/>
          </a:prstGeom>
          <a:solidFill>
            <a:srgbClr val="C3CD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r"/>
          <p:cNvSpPr/>
          <p:nvPr/>
        </p:nvSpPr>
        <p:spPr>
          <a:xfrm>
            <a:off x="762000" y="5257800"/>
            <a:ext cx="10668000" cy="889000"/>
          </a:xfrm>
          <a:prstGeom prst="roundRect">
            <a:avLst/>
          </a:prstGeom>
          <a:solidFill>
            <a:srgbClr val="2230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r"/>
          <p:cNvSpPr/>
          <p:nvPr/>
        </p:nvSpPr>
        <p:spPr>
          <a:xfrm>
            <a:off x="762000" y="5257800"/>
            <a:ext cx="76200" cy="889000"/>
          </a:xfrm>
          <a:prstGeom prst="round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tb"/>
          <p:cNvSpPr txBox="1"/>
          <p:nvPr/>
        </p:nvSpPr>
        <p:spPr>
          <a:xfrm>
            <a:off x="1219200" y="54356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8FD6EA"/>
                </a:solidFill>
                <a:latin typeface="Segoe UI"/>
                <a:cs typeface="Segoe UI"/>
              </a:rPr>
              <a:t>Non-destructive by design — </a:t>
            </a: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every tool writes a new output layer and leaves your source data completely untouched.</a:t>
            </a:r>
          </a:p>
        </p:txBody>
      </p:sp>
    </p:spTree>
    <p:extLst>
      <p:ext uri="{BB962C8B-B14F-4D97-AF65-F5344CB8AC3E}">
        <p14:creationId xmlns:p14="http://schemas.microsoft.com/office/powerpoint/2010/main" val="296766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05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The geoprocessing environment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03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Where these tools live — and how you run them — in ArcGIS Pro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622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4BB3D4"/>
                </a:solidFill>
                <a:latin typeface="Segoe UI"/>
                <a:cs typeface="Segoe UI"/>
              </a:rPr>
              <a:t>THE GEOPROCESSING PANE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762000" y="2667000"/>
            <a:ext cx="5207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Open a tool, fill in its parameters, and click Run. Every tool reads existing layers and writes a brand-new output — added straight to your map.</a:t>
            </a:r>
          </a:p>
        </p:txBody>
      </p:sp>
      <p:sp>
        <p:nvSpPr>
          <p:cNvPr id="68" name="s69"/>
          <p:cNvSpPr/>
          <p:nvPr/>
        </p:nvSpPr>
        <p:spPr>
          <a:xfrm>
            <a:off x="928370" y="3733800"/>
            <a:ext cx="22860" cy="1600200"/>
          </a:xfrm>
          <a:prstGeom prst="rect">
            <a:avLst/>
          </a:prstGeom>
          <a:solidFill>
            <a:srgbClr val="4C27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s70"/>
          <p:cNvSpPr/>
          <p:nvPr/>
        </p:nvSpPr>
        <p:spPr>
          <a:xfrm>
            <a:off x="762000" y="3556000"/>
            <a:ext cx="355600" cy="3556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320800" y="35433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Search the tool by name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1320800" y="37973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in the Geoprocessing pane</a:t>
            </a:r>
          </a:p>
        </p:txBody>
      </p:sp>
      <p:sp>
        <p:nvSpPr>
          <p:cNvPr id="72" name="s73"/>
          <p:cNvSpPr/>
          <p:nvPr/>
        </p:nvSpPr>
        <p:spPr>
          <a:xfrm>
            <a:off x="762000" y="4089400"/>
            <a:ext cx="355600" cy="3556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1320800" y="40767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Set inputs &amp; parameters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320800" y="43307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distance, fields, tolerances…</a:t>
            </a:r>
          </a:p>
        </p:txBody>
      </p:sp>
      <p:sp>
        <p:nvSpPr>
          <p:cNvPr id="75" name="s76"/>
          <p:cNvSpPr/>
          <p:nvPr/>
        </p:nvSpPr>
        <p:spPr>
          <a:xfrm>
            <a:off x="762000" y="4622800"/>
            <a:ext cx="355600" cy="3556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76" name="t77"/>
          <p:cNvSpPr txBox="1"/>
          <p:nvPr/>
        </p:nvSpPr>
        <p:spPr>
          <a:xfrm>
            <a:off x="1320800" y="46101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Check Environments</a:t>
            </a:r>
          </a:p>
        </p:txBody>
      </p:sp>
      <p:sp>
        <p:nvSpPr>
          <p:cNvPr id="77" name="t78"/>
          <p:cNvSpPr txBox="1"/>
          <p:nvPr/>
        </p:nvSpPr>
        <p:spPr>
          <a:xfrm>
            <a:off x="1320800" y="48641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output coordinate system, extent, mask</a:t>
            </a:r>
          </a:p>
        </p:txBody>
      </p:sp>
      <p:sp>
        <p:nvSpPr>
          <p:cNvPr id="78" name="s79"/>
          <p:cNvSpPr/>
          <p:nvPr/>
        </p:nvSpPr>
        <p:spPr>
          <a:xfrm>
            <a:off x="762000" y="5156200"/>
            <a:ext cx="355600" cy="3556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79" name="t80"/>
          <p:cNvSpPr txBox="1"/>
          <p:nvPr/>
        </p:nvSpPr>
        <p:spPr>
          <a:xfrm>
            <a:off x="1320800" y="51435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Run — output is added</a:t>
            </a:r>
          </a:p>
        </p:txBody>
      </p:sp>
      <p:sp>
        <p:nvSpPr>
          <p:cNvPr id="80" name="t81"/>
          <p:cNvSpPr txBox="1"/>
          <p:nvPr/>
        </p:nvSpPr>
        <p:spPr>
          <a:xfrm>
            <a:off x="1320800" y="53975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and logged in the History</a:t>
            </a:r>
          </a:p>
        </p:txBody>
      </p:sp>
      <p:sp>
        <p:nvSpPr>
          <p:cNvPr id="81" name="t82"/>
          <p:cNvSpPr txBox="1"/>
          <p:nvPr/>
        </p:nvSpPr>
        <p:spPr>
          <a:xfrm>
            <a:off x="6324600" y="2362200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AE978E"/>
                </a:solidFill>
                <a:latin typeface="Segoe UI"/>
                <a:cs typeface="Segoe UI"/>
              </a:rPr>
              <a:t>THREE WAYS TO RUN A TOOL</a:t>
            </a:r>
          </a:p>
        </p:txBody>
      </p:sp>
      <p:sp>
        <p:nvSpPr>
          <p:cNvPr id="82" name="c83"/>
          <p:cNvSpPr/>
          <p:nvPr/>
        </p:nvSpPr>
        <p:spPr>
          <a:xfrm>
            <a:off x="6324600" y="2717800"/>
            <a:ext cx="5105400" cy="889000"/>
          </a:xfrm>
          <a:prstGeom prst="roundRect">
            <a:avLst>
              <a:gd name="adj" fmla="val 4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3" name="s84"/>
          <p:cNvSpPr/>
          <p:nvPr/>
        </p:nvSpPr>
        <p:spPr>
          <a:xfrm>
            <a:off x="6324600" y="2717800"/>
            <a:ext cx="69850" cy="889000"/>
          </a:xfrm>
          <a:prstGeom prst="round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t85"/>
          <p:cNvSpPr txBox="1"/>
          <p:nvPr/>
        </p:nvSpPr>
        <p:spPr>
          <a:xfrm>
            <a:off x="6654800" y="28829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Geoprocessing pane</a:t>
            </a:r>
          </a:p>
        </p:txBody>
      </p:sp>
      <p:sp>
        <p:nvSpPr>
          <p:cNvPr id="85" name="t86"/>
          <p:cNvSpPr txBox="1"/>
          <p:nvPr/>
        </p:nvSpPr>
        <p:spPr>
          <a:xfrm>
            <a:off x="6654800" y="32004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One tool at a time, interactively — the everyday way to work.</a:t>
            </a:r>
          </a:p>
        </p:txBody>
      </p:sp>
      <p:sp>
        <p:nvSpPr>
          <p:cNvPr id="86" name="c87"/>
          <p:cNvSpPr/>
          <p:nvPr/>
        </p:nvSpPr>
        <p:spPr>
          <a:xfrm>
            <a:off x="6324600" y="3759200"/>
            <a:ext cx="5105400" cy="889000"/>
          </a:xfrm>
          <a:prstGeom prst="roundRect">
            <a:avLst>
              <a:gd name="adj" fmla="val 4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7" name="s88"/>
          <p:cNvSpPr/>
          <p:nvPr/>
        </p:nvSpPr>
        <p:spPr>
          <a:xfrm>
            <a:off x="6324600" y="3759200"/>
            <a:ext cx="69850" cy="889000"/>
          </a:xfrm>
          <a:prstGeom prst="roundRect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t89"/>
          <p:cNvSpPr txBox="1"/>
          <p:nvPr/>
        </p:nvSpPr>
        <p:spPr>
          <a:xfrm>
            <a:off x="6654800" y="39243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ModelBuilder</a:t>
            </a:r>
          </a:p>
        </p:txBody>
      </p:sp>
      <p:sp>
        <p:nvSpPr>
          <p:cNvPr id="89" name="t90"/>
          <p:cNvSpPr txBox="1"/>
          <p:nvPr/>
        </p:nvSpPr>
        <p:spPr>
          <a:xfrm>
            <a:off x="6654800" y="42418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Chain many tools into a visual, reusable workflow you can re-run.</a:t>
            </a:r>
          </a:p>
        </p:txBody>
      </p:sp>
      <p:sp>
        <p:nvSpPr>
          <p:cNvPr id="90" name="c91"/>
          <p:cNvSpPr/>
          <p:nvPr/>
        </p:nvSpPr>
        <p:spPr>
          <a:xfrm>
            <a:off x="6324600" y="4800600"/>
            <a:ext cx="5105400" cy="889000"/>
          </a:xfrm>
          <a:prstGeom prst="roundRect">
            <a:avLst>
              <a:gd name="adj" fmla="val 4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6324600" y="4800600"/>
            <a:ext cx="69850" cy="889000"/>
          </a:xfrm>
          <a:prstGeom prst="round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t93"/>
          <p:cNvSpPr txBox="1"/>
          <p:nvPr/>
        </p:nvSpPr>
        <p:spPr>
          <a:xfrm>
            <a:off x="6654800" y="49657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Batch &amp; Python</a:t>
            </a:r>
          </a:p>
        </p:txBody>
      </p:sp>
      <p:sp>
        <p:nvSpPr>
          <p:cNvPr id="93" name="t94"/>
          <p:cNvSpPr txBox="1"/>
          <p:nvPr/>
        </p:nvSpPr>
        <p:spPr>
          <a:xfrm>
            <a:off x="6654800" y="52832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Run one tool across many datasets, or automate with arcpy scripting.</a:t>
            </a:r>
          </a:p>
        </p:txBody>
      </p:sp>
    </p:spTree>
    <p:extLst>
      <p:ext uri="{BB962C8B-B14F-4D97-AF65-F5344CB8AC3E}">
        <p14:creationId xmlns:p14="http://schemas.microsoft.com/office/powerpoint/2010/main" val="83932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06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10160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Geometry types &amp; compatibility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What each tool accepts as input — and the geometry it returns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1066800" y="2311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150" dirty="0">
                <a:solidFill>
                  <a:srgbClr val="AE978E"/>
                </a:solidFill>
                <a:latin typeface="Segoe UI"/>
                <a:cs typeface="Segoe UI"/>
              </a:rPr>
              <a:t>TOOL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3238500" y="23114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050" b="1" spc="120" dirty="0">
                <a:solidFill>
                  <a:srgbClr val="AE978E"/>
                </a:solidFill>
                <a:latin typeface="Segoe UI"/>
                <a:cs typeface="Segoe UI"/>
              </a:rPr>
              <a:t>POINT</a:t>
            </a:r>
          </a:p>
        </p:txBody>
      </p:sp>
      <p:sp>
        <p:nvSpPr>
          <p:cNvPr id="68" name="t69"/>
          <p:cNvSpPr txBox="1"/>
          <p:nvPr/>
        </p:nvSpPr>
        <p:spPr>
          <a:xfrm>
            <a:off x="4406900" y="23114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050" b="1" spc="120" dirty="0">
                <a:solidFill>
                  <a:srgbClr val="AE978E"/>
                </a:solidFill>
                <a:latin typeface="Segoe UI"/>
                <a:cs typeface="Segoe UI"/>
              </a:rPr>
              <a:t>LINE</a:t>
            </a:r>
          </a:p>
        </p:txBody>
      </p:sp>
      <p:sp>
        <p:nvSpPr>
          <p:cNvPr id="69" name="t70"/>
          <p:cNvSpPr txBox="1"/>
          <p:nvPr/>
        </p:nvSpPr>
        <p:spPr>
          <a:xfrm>
            <a:off x="5486400" y="2311400"/>
            <a:ext cx="1320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050" b="1" spc="120" dirty="0">
                <a:solidFill>
                  <a:srgbClr val="AE978E"/>
                </a:solidFill>
                <a:latin typeface="Segoe UI"/>
                <a:cs typeface="Segoe UI"/>
              </a:rPr>
              <a:t>POLYGON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7112000" y="2311400"/>
            <a:ext cx="381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150" dirty="0">
                <a:solidFill>
                  <a:srgbClr val="AE978E"/>
                </a:solidFill>
                <a:latin typeface="Segoe UI"/>
                <a:cs typeface="Segoe UI"/>
              </a:rPr>
              <a:t>OUTPUT</a:t>
            </a:r>
          </a:p>
        </p:txBody>
      </p:sp>
      <p:sp>
        <p:nvSpPr>
          <p:cNvPr id="71" name="rr72"/>
          <p:cNvSpPr/>
          <p:nvPr/>
        </p:nvSpPr>
        <p:spPr>
          <a:xfrm>
            <a:off x="965200" y="2616200"/>
            <a:ext cx="10261600" cy="558800"/>
          </a:xfrm>
          <a:prstGeom prst="roundRect">
            <a:avLst>
              <a:gd name="adj" fmla="val 6000"/>
            </a:avLst>
          </a:prstGeom>
          <a:solidFill>
            <a:srgbClr val="351A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73"/>
          <p:cNvSpPr txBox="1"/>
          <p:nvPr/>
        </p:nvSpPr>
        <p:spPr>
          <a:xfrm>
            <a:off x="1219200" y="27559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4BB3D4"/>
                </a:solidFill>
                <a:latin typeface="Georgia"/>
                <a:cs typeface="Georgia"/>
              </a:rPr>
              <a:t>Buffer</a:t>
            </a:r>
          </a:p>
        </p:txBody>
      </p:sp>
      <p:sp>
        <p:nvSpPr>
          <p:cNvPr id="73" name="s74"/>
          <p:cNvSpPr/>
          <p:nvPr/>
        </p:nvSpPr>
        <p:spPr>
          <a:xfrm>
            <a:off x="3708400" y="2794000"/>
            <a:ext cx="203200" cy="203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s75"/>
          <p:cNvSpPr/>
          <p:nvPr/>
        </p:nvSpPr>
        <p:spPr>
          <a:xfrm>
            <a:off x="4876800" y="2794000"/>
            <a:ext cx="203200" cy="203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s76"/>
          <p:cNvSpPr/>
          <p:nvPr/>
        </p:nvSpPr>
        <p:spPr>
          <a:xfrm>
            <a:off x="6045200" y="2794000"/>
            <a:ext cx="203200" cy="203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t77"/>
          <p:cNvSpPr txBox="1"/>
          <p:nvPr/>
        </p:nvSpPr>
        <p:spPr>
          <a:xfrm>
            <a:off x="7112000" y="2781300"/>
            <a:ext cx="4064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Polygon buffer zones</a:t>
            </a:r>
          </a:p>
        </p:txBody>
      </p:sp>
      <p:sp>
        <p:nvSpPr>
          <p:cNvPr id="77" name="t78"/>
          <p:cNvSpPr txBox="1"/>
          <p:nvPr/>
        </p:nvSpPr>
        <p:spPr>
          <a:xfrm>
            <a:off x="1219200" y="34163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34B39A"/>
                </a:solidFill>
                <a:latin typeface="Georgia"/>
                <a:cs typeface="Georgia"/>
              </a:rPr>
              <a:t>Clip</a:t>
            </a:r>
          </a:p>
        </p:txBody>
      </p:sp>
      <p:sp>
        <p:nvSpPr>
          <p:cNvPr id="78" name="s79"/>
          <p:cNvSpPr/>
          <p:nvPr/>
        </p:nvSpPr>
        <p:spPr>
          <a:xfrm>
            <a:off x="3708400" y="3454400"/>
            <a:ext cx="203200" cy="203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s80"/>
          <p:cNvSpPr/>
          <p:nvPr/>
        </p:nvSpPr>
        <p:spPr>
          <a:xfrm>
            <a:off x="4876800" y="3454400"/>
            <a:ext cx="203200" cy="203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s81"/>
          <p:cNvSpPr/>
          <p:nvPr/>
        </p:nvSpPr>
        <p:spPr>
          <a:xfrm>
            <a:off x="6045200" y="3454400"/>
            <a:ext cx="203200" cy="203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82"/>
          <p:cNvSpPr txBox="1"/>
          <p:nvPr/>
        </p:nvSpPr>
        <p:spPr>
          <a:xfrm>
            <a:off x="7112000" y="3441700"/>
            <a:ext cx="4064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Same geometry, trimmed to the boundary</a:t>
            </a:r>
          </a:p>
        </p:txBody>
      </p:sp>
      <p:sp>
        <p:nvSpPr>
          <p:cNvPr id="82" name="rr83"/>
          <p:cNvSpPr/>
          <p:nvPr/>
        </p:nvSpPr>
        <p:spPr>
          <a:xfrm>
            <a:off x="965200" y="3937000"/>
            <a:ext cx="10261600" cy="558800"/>
          </a:xfrm>
          <a:prstGeom prst="roundRect">
            <a:avLst>
              <a:gd name="adj" fmla="val 6000"/>
            </a:avLst>
          </a:prstGeom>
          <a:solidFill>
            <a:srgbClr val="351A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84"/>
          <p:cNvSpPr txBox="1"/>
          <p:nvPr/>
        </p:nvSpPr>
        <p:spPr>
          <a:xfrm>
            <a:off x="1219200" y="40767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B98BE6"/>
                </a:solidFill>
                <a:latin typeface="Georgia"/>
                <a:cs typeface="Georgia"/>
              </a:rPr>
              <a:t>Dissolve</a:t>
            </a:r>
          </a:p>
        </p:txBody>
      </p:sp>
      <p:sp>
        <p:nvSpPr>
          <p:cNvPr id="84" name="s85"/>
          <p:cNvSpPr/>
          <p:nvPr/>
        </p:nvSpPr>
        <p:spPr>
          <a:xfrm>
            <a:off x="3695700" y="4197350"/>
            <a:ext cx="228600" cy="38100"/>
          </a:xfrm>
          <a:prstGeom prst="rect">
            <a:avLst/>
          </a:prstGeom>
          <a:solidFill>
            <a:srgbClr val="C4CD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s86"/>
          <p:cNvSpPr/>
          <p:nvPr/>
        </p:nvSpPr>
        <p:spPr>
          <a:xfrm>
            <a:off x="4876800" y="4114800"/>
            <a:ext cx="203200" cy="2032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s87"/>
          <p:cNvSpPr/>
          <p:nvPr/>
        </p:nvSpPr>
        <p:spPr>
          <a:xfrm>
            <a:off x="6045200" y="4114800"/>
            <a:ext cx="203200" cy="2032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t88"/>
          <p:cNvSpPr txBox="1"/>
          <p:nvPr/>
        </p:nvSpPr>
        <p:spPr>
          <a:xfrm>
            <a:off x="7112000" y="4102100"/>
            <a:ext cx="4064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Fewer, merged features</a:t>
            </a:r>
          </a:p>
        </p:txBody>
      </p:sp>
      <p:sp>
        <p:nvSpPr>
          <p:cNvPr id="88" name="t89"/>
          <p:cNvSpPr txBox="1"/>
          <p:nvPr/>
        </p:nvSpPr>
        <p:spPr>
          <a:xfrm>
            <a:off x="1219200" y="47371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F0708F"/>
                </a:solidFill>
                <a:latin typeface="Georgia"/>
                <a:cs typeface="Georgia"/>
              </a:rPr>
              <a:t>Overlay</a:t>
            </a:r>
          </a:p>
        </p:txBody>
      </p:sp>
      <p:sp>
        <p:nvSpPr>
          <p:cNvPr id="89" name="s90"/>
          <p:cNvSpPr/>
          <p:nvPr/>
        </p:nvSpPr>
        <p:spPr>
          <a:xfrm>
            <a:off x="3695700" y="4857750"/>
            <a:ext cx="228600" cy="38100"/>
          </a:xfrm>
          <a:prstGeom prst="rect">
            <a:avLst/>
          </a:prstGeom>
          <a:solidFill>
            <a:srgbClr val="C4CD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91"/>
          <p:cNvSpPr/>
          <p:nvPr/>
        </p:nvSpPr>
        <p:spPr>
          <a:xfrm>
            <a:off x="4876800" y="4775200"/>
            <a:ext cx="203200" cy="2032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6045200" y="4775200"/>
            <a:ext cx="203200" cy="2032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t93"/>
          <p:cNvSpPr txBox="1"/>
          <p:nvPr/>
        </p:nvSpPr>
        <p:spPr>
          <a:xfrm>
            <a:off x="7112000" y="4762500"/>
            <a:ext cx="4064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Polygon (line where it crosses a polygon)</a:t>
            </a:r>
          </a:p>
        </p:txBody>
      </p:sp>
      <p:sp>
        <p:nvSpPr>
          <p:cNvPr id="93" name="s94"/>
          <p:cNvSpPr/>
          <p:nvPr/>
        </p:nvSpPr>
        <p:spPr>
          <a:xfrm>
            <a:off x="1219200" y="5435600"/>
            <a:ext cx="177800" cy="177800"/>
          </a:xfrm>
          <a:prstGeom prst="ellipse">
            <a:avLst/>
          </a:prstGeom>
          <a:solidFill>
            <a:srgbClr val="4B5A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t95"/>
          <p:cNvSpPr txBox="1"/>
          <p:nvPr/>
        </p:nvSpPr>
        <p:spPr>
          <a:xfrm>
            <a:off x="1498600" y="53848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supported input</a:t>
            </a:r>
          </a:p>
        </p:txBody>
      </p:sp>
      <p:sp>
        <p:nvSpPr>
          <p:cNvPr id="95" name="s96"/>
          <p:cNvSpPr/>
          <p:nvPr/>
        </p:nvSpPr>
        <p:spPr>
          <a:xfrm>
            <a:off x="3175000" y="5499100"/>
            <a:ext cx="203200" cy="38100"/>
          </a:xfrm>
          <a:prstGeom prst="rect">
            <a:avLst/>
          </a:prstGeom>
          <a:solidFill>
            <a:srgbClr val="C4CD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t97"/>
          <p:cNvSpPr txBox="1"/>
          <p:nvPr/>
        </p:nvSpPr>
        <p:spPr>
          <a:xfrm>
            <a:off x="3505200" y="53848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not a typical input</a:t>
            </a:r>
          </a:p>
        </p:txBody>
      </p:sp>
    </p:spTree>
    <p:extLst>
      <p:ext uri="{BB962C8B-B14F-4D97-AF65-F5344CB8AC3E}">
        <p14:creationId xmlns:p14="http://schemas.microsoft.com/office/powerpoint/2010/main" val="350136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b"/>
          <p:cNvSpPr txBox="1"/>
          <p:nvPr/>
        </p:nvSpPr>
        <p:spPr>
          <a:xfrm>
            <a:off x="1778000" y="5588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b"/>
          <p:cNvSpPr txBox="1"/>
          <p:nvPr/>
        </p:nvSpPr>
        <p:spPr>
          <a:xfrm>
            <a:off x="8890000" y="63754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07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b"/>
          <p:cNvSpPr txBox="1"/>
          <p:nvPr/>
        </p:nvSpPr>
        <p:spPr>
          <a:xfrm>
            <a:off x="1498600" y="8128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The four tools at a glance</a:t>
            </a:r>
          </a:p>
        </p:txBody>
      </p:sp>
      <p:sp>
        <p:nvSpPr>
          <p:cNvPr id="64" name="tb"/>
          <p:cNvSpPr txBox="1"/>
          <p:nvPr/>
        </p:nvSpPr>
        <p:spPr>
          <a:xfrm>
            <a:off x="1524000" y="1422400"/>
            <a:ext cx="965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One color per tool — carried through the rest of the deck</a:t>
            </a:r>
          </a:p>
        </p:txBody>
      </p:sp>
      <p:sp>
        <p:nvSpPr>
          <p:cNvPr id="65" name="r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card"/>
          <p:cNvSpPr/>
          <p:nvPr/>
        </p:nvSpPr>
        <p:spPr>
          <a:xfrm>
            <a:off x="762000" y="2362200"/>
            <a:ext cx="5143500" cy="18415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80000" dist="26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r"/>
          <p:cNvSpPr/>
          <p:nvPr/>
        </p:nvSpPr>
        <p:spPr>
          <a:xfrm>
            <a:off x="762000" y="2565400"/>
            <a:ext cx="63500" cy="1435100"/>
          </a:xfrm>
          <a:prstGeom prst="round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chip"/>
          <p:cNvSpPr/>
          <p:nvPr/>
        </p:nvSpPr>
        <p:spPr>
          <a:xfrm>
            <a:off x="1092200" y="2641600"/>
            <a:ext cx="533400" cy="5334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</a:p>
        </p:txBody>
      </p:sp>
      <p:sp>
        <p:nvSpPr>
          <p:cNvPr id="69" name="tb"/>
          <p:cNvSpPr txBox="1"/>
          <p:nvPr/>
        </p:nvSpPr>
        <p:spPr>
          <a:xfrm>
            <a:off x="1803400" y="2667000"/>
            <a:ext cx="387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100" b="1" dirty="0">
                <a:solidFill>
                  <a:srgbClr val="F4EFE9"/>
                </a:solidFill>
                <a:latin typeface="Georgia"/>
                <a:cs typeface="Georgia"/>
              </a:rPr>
              <a:t>Buffer</a:t>
            </a:r>
          </a:p>
        </p:txBody>
      </p:sp>
      <p:sp>
        <p:nvSpPr>
          <p:cNvPr id="70" name="tb"/>
          <p:cNvSpPr txBox="1"/>
          <p:nvPr/>
        </p:nvSpPr>
        <p:spPr>
          <a:xfrm>
            <a:off x="1803400" y="3098800"/>
            <a:ext cx="38227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Creates a zone a set distance around features.</a:t>
            </a:r>
          </a:p>
        </p:txBody>
      </p:sp>
      <p:sp>
        <p:nvSpPr>
          <p:cNvPr id="71" name="r"/>
          <p:cNvSpPr/>
          <p:nvPr/>
        </p:nvSpPr>
        <p:spPr>
          <a:xfrm>
            <a:off x="1803400" y="3771900"/>
            <a:ext cx="3873500" cy="279400"/>
          </a:xfrm>
          <a:prstGeom prst="roundRect">
            <a:avLst/>
          </a:prstGeom>
          <a:solidFill>
            <a:srgbClr val="2230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b"/>
          <p:cNvSpPr txBox="1"/>
          <p:nvPr/>
        </p:nvSpPr>
        <p:spPr>
          <a:xfrm>
            <a:off x="1803400" y="3784600"/>
            <a:ext cx="38735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050" b="1" spc="40" dirty="0">
                <a:solidFill>
                  <a:srgbClr val="8FD6EA"/>
                </a:solidFill>
                <a:latin typeface="Segoe UI"/>
                <a:cs typeface="Segoe UI"/>
              </a:rPr>
              <a:t>e.g. 500 m around every well</a:t>
            </a:r>
          </a:p>
        </p:txBody>
      </p:sp>
      <p:sp>
        <p:nvSpPr>
          <p:cNvPr id="73" name="card"/>
          <p:cNvSpPr/>
          <p:nvPr/>
        </p:nvSpPr>
        <p:spPr>
          <a:xfrm>
            <a:off x="6159500" y="2362200"/>
            <a:ext cx="5143500" cy="18415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80000" dist="26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4" name="r"/>
          <p:cNvSpPr/>
          <p:nvPr/>
        </p:nvSpPr>
        <p:spPr>
          <a:xfrm>
            <a:off x="6159500" y="2565400"/>
            <a:ext cx="63500" cy="1435100"/>
          </a:xfrm>
          <a:prstGeom prst="round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chip"/>
          <p:cNvSpPr/>
          <p:nvPr/>
        </p:nvSpPr>
        <p:spPr>
          <a:xfrm>
            <a:off x="6489700" y="2641600"/>
            <a:ext cx="533400" cy="5334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</a:p>
        </p:txBody>
      </p:sp>
      <p:sp>
        <p:nvSpPr>
          <p:cNvPr id="76" name="tb"/>
          <p:cNvSpPr txBox="1"/>
          <p:nvPr/>
        </p:nvSpPr>
        <p:spPr>
          <a:xfrm>
            <a:off x="7200900" y="2667000"/>
            <a:ext cx="387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100" b="1" dirty="0">
                <a:solidFill>
                  <a:srgbClr val="F4EFE9"/>
                </a:solidFill>
                <a:latin typeface="Georgia"/>
                <a:cs typeface="Georgia"/>
              </a:rPr>
              <a:t>Clip</a:t>
            </a:r>
          </a:p>
        </p:txBody>
      </p:sp>
      <p:sp>
        <p:nvSpPr>
          <p:cNvPr id="77" name="tb"/>
          <p:cNvSpPr txBox="1"/>
          <p:nvPr/>
        </p:nvSpPr>
        <p:spPr>
          <a:xfrm>
            <a:off x="7200900" y="3098800"/>
            <a:ext cx="38227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Cuts a layer to the outline of another layer.</a:t>
            </a:r>
          </a:p>
        </p:txBody>
      </p:sp>
      <p:sp>
        <p:nvSpPr>
          <p:cNvPr id="78" name="r"/>
          <p:cNvSpPr/>
          <p:nvPr/>
        </p:nvSpPr>
        <p:spPr>
          <a:xfrm>
            <a:off x="7200900" y="3771900"/>
            <a:ext cx="3873500" cy="279400"/>
          </a:xfrm>
          <a:prstGeom prst="roundRect">
            <a:avLst/>
          </a:prstGeom>
          <a:solidFill>
            <a:srgbClr val="1C33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tb"/>
          <p:cNvSpPr txBox="1"/>
          <p:nvPr/>
        </p:nvSpPr>
        <p:spPr>
          <a:xfrm>
            <a:off x="7200900" y="3784600"/>
            <a:ext cx="38735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050" b="1" spc="40" dirty="0">
                <a:solidFill>
                  <a:srgbClr val="7FD9C2"/>
                </a:solidFill>
                <a:latin typeface="Segoe UI"/>
                <a:cs typeface="Segoe UI"/>
              </a:rPr>
              <a:t>e.g. roads inside one county</a:t>
            </a:r>
          </a:p>
        </p:txBody>
      </p:sp>
      <p:sp>
        <p:nvSpPr>
          <p:cNvPr id="80" name="card"/>
          <p:cNvSpPr/>
          <p:nvPr/>
        </p:nvSpPr>
        <p:spPr>
          <a:xfrm>
            <a:off x="762000" y="4457700"/>
            <a:ext cx="5143500" cy="18415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80000" dist="26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1" name="r"/>
          <p:cNvSpPr/>
          <p:nvPr/>
        </p:nvSpPr>
        <p:spPr>
          <a:xfrm>
            <a:off x="762000" y="4660900"/>
            <a:ext cx="63500" cy="1435100"/>
          </a:xfrm>
          <a:prstGeom prst="roundRect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chip"/>
          <p:cNvSpPr/>
          <p:nvPr/>
        </p:nvSpPr>
        <p:spPr>
          <a:xfrm>
            <a:off x="1092200" y="4737100"/>
            <a:ext cx="533400" cy="5334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</a:p>
        </p:txBody>
      </p:sp>
      <p:sp>
        <p:nvSpPr>
          <p:cNvPr id="83" name="tb"/>
          <p:cNvSpPr txBox="1"/>
          <p:nvPr/>
        </p:nvSpPr>
        <p:spPr>
          <a:xfrm>
            <a:off x="1803400" y="4762500"/>
            <a:ext cx="387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100" b="1" dirty="0">
                <a:solidFill>
                  <a:srgbClr val="F4EFE9"/>
                </a:solidFill>
                <a:latin typeface="Georgia"/>
                <a:cs typeface="Georgia"/>
              </a:rPr>
              <a:t>Dissolve</a:t>
            </a:r>
          </a:p>
        </p:txBody>
      </p:sp>
      <p:sp>
        <p:nvSpPr>
          <p:cNvPr id="84" name="tb"/>
          <p:cNvSpPr txBox="1"/>
          <p:nvPr/>
        </p:nvSpPr>
        <p:spPr>
          <a:xfrm>
            <a:off x="1803400" y="5194300"/>
            <a:ext cx="38227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Merges features that share an attribute value.</a:t>
            </a:r>
          </a:p>
        </p:txBody>
      </p:sp>
      <p:sp>
        <p:nvSpPr>
          <p:cNvPr id="85" name="r"/>
          <p:cNvSpPr/>
          <p:nvPr/>
        </p:nvSpPr>
        <p:spPr>
          <a:xfrm>
            <a:off x="1803400" y="5867400"/>
            <a:ext cx="3873500" cy="279400"/>
          </a:xfrm>
          <a:prstGeom prst="roundRect">
            <a:avLst/>
          </a:prstGeom>
          <a:solidFill>
            <a:srgbClr val="3D1F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tb"/>
          <p:cNvSpPr txBox="1"/>
          <p:nvPr/>
        </p:nvSpPr>
        <p:spPr>
          <a:xfrm>
            <a:off x="1803400" y="5880100"/>
            <a:ext cx="38735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050" b="1" spc="40" dirty="0">
                <a:solidFill>
                  <a:srgbClr val="D6BAF2"/>
                </a:solidFill>
                <a:latin typeface="Segoe UI"/>
                <a:cs typeface="Segoe UI"/>
              </a:rPr>
              <a:t>e.g. counties → states</a:t>
            </a:r>
          </a:p>
        </p:txBody>
      </p:sp>
      <p:sp>
        <p:nvSpPr>
          <p:cNvPr id="87" name="card"/>
          <p:cNvSpPr/>
          <p:nvPr/>
        </p:nvSpPr>
        <p:spPr>
          <a:xfrm>
            <a:off x="6159500" y="4457700"/>
            <a:ext cx="5143500" cy="18415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80000" dist="26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8" name="r"/>
          <p:cNvSpPr/>
          <p:nvPr/>
        </p:nvSpPr>
        <p:spPr>
          <a:xfrm>
            <a:off x="6159500" y="4660900"/>
            <a:ext cx="63500" cy="1435100"/>
          </a:xfrm>
          <a:prstGeom prst="roundRect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chip"/>
          <p:cNvSpPr/>
          <p:nvPr/>
        </p:nvSpPr>
        <p:spPr>
          <a:xfrm>
            <a:off x="6489700" y="4737100"/>
            <a:ext cx="533400" cy="5334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cs typeface="Georgia"/>
              </a:rPr>
              <a:t>O</a:t>
            </a:r>
          </a:p>
        </p:txBody>
      </p:sp>
      <p:sp>
        <p:nvSpPr>
          <p:cNvPr id="90" name="tb"/>
          <p:cNvSpPr txBox="1"/>
          <p:nvPr/>
        </p:nvSpPr>
        <p:spPr>
          <a:xfrm>
            <a:off x="7200900" y="4762500"/>
            <a:ext cx="387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100" b="1" dirty="0">
                <a:solidFill>
                  <a:srgbClr val="F4EFE9"/>
                </a:solidFill>
                <a:latin typeface="Georgia"/>
                <a:cs typeface="Georgia"/>
              </a:rPr>
              <a:t>Overlay</a:t>
            </a:r>
          </a:p>
        </p:txBody>
      </p:sp>
      <p:sp>
        <p:nvSpPr>
          <p:cNvPr id="91" name="tb"/>
          <p:cNvSpPr txBox="1"/>
          <p:nvPr/>
        </p:nvSpPr>
        <p:spPr>
          <a:xfrm>
            <a:off x="7200900" y="5194300"/>
            <a:ext cx="38227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Combines two layers — Union keeps all, Intersect keeps the shared part.</a:t>
            </a:r>
          </a:p>
        </p:txBody>
      </p:sp>
      <p:sp>
        <p:nvSpPr>
          <p:cNvPr id="92" name="r"/>
          <p:cNvSpPr/>
          <p:nvPr/>
        </p:nvSpPr>
        <p:spPr>
          <a:xfrm>
            <a:off x="7200900" y="5867400"/>
            <a:ext cx="3873500" cy="279400"/>
          </a:xfrm>
          <a:prstGeom prst="roundRect">
            <a:avLst/>
          </a:prstGeom>
          <a:solidFill>
            <a:srgbClr val="3A28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b"/>
          <p:cNvSpPr txBox="1"/>
          <p:nvPr/>
        </p:nvSpPr>
        <p:spPr>
          <a:xfrm>
            <a:off x="7200900" y="5880100"/>
            <a:ext cx="38735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050" b="1" spc="40" dirty="0">
                <a:solidFill>
                  <a:srgbClr val="F7A6BC"/>
                </a:solidFill>
                <a:latin typeface="Segoe UI"/>
                <a:cs typeface="Segoe UI"/>
              </a:rPr>
              <a:t>e.g. soils × zoning</a:t>
            </a:r>
          </a:p>
        </p:txBody>
      </p:sp>
    </p:spTree>
    <p:extLst>
      <p:ext uri="{BB962C8B-B14F-4D97-AF65-F5344CB8AC3E}">
        <p14:creationId xmlns:p14="http://schemas.microsoft.com/office/powerpoint/2010/main" val="249900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4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42"/>
          <p:cNvSpPr txBox="1"/>
          <p:nvPr/>
        </p:nvSpPr>
        <p:spPr>
          <a:xfrm>
            <a:off x="1778000" y="5715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42" name="t43"/>
          <p:cNvSpPr txBox="1"/>
          <p:nvPr/>
        </p:nvSpPr>
        <p:spPr>
          <a:xfrm>
            <a:off x="8890000" y="6375400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08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43" name="t44"/>
          <p:cNvSpPr txBox="1"/>
          <p:nvPr/>
        </p:nvSpPr>
        <p:spPr>
          <a:xfrm>
            <a:off x="1498600" y="812800"/>
            <a:ext cx="88900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Buffer</a:t>
            </a:r>
          </a:p>
        </p:txBody>
      </p:sp>
      <p:sp>
        <p:nvSpPr>
          <p:cNvPr id="44" name="t45"/>
          <p:cNvSpPr txBox="1"/>
          <p:nvPr/>
        </p:nvSpPr>
        <p:spPr>
          <a:xfrm>
            <a:off x="1524000" y="1422400"/>
            <a:ext cx="965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Zones of proximity around your features</a:t>
            </a:r>
          </a:p>
        </p:txBody>
      </p:sp>
      <p:sp>
        <p:nvSpPr>
          <p:cNvPr id="45" name="s4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47"/>
          <p:cNvSpPr txBox="1"/>
          <p:nvPr/>
        </p:nvSpPr>
        <p:spPr>
          <a:xfrm>
            <a:off x="762000" y="23622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180" dirty="0">
                <a:solidFill>
                  <a:srgbClr val="4BB3D4"/>
                </a:solidFill>
                <a:latin typeface="Segoe UI"/>
                <a:cs typeface="Segoe UI"/>
              </a:rPr>
              <a:t>HOW IT WORKS</a:t>
            </a:r>
          </a:p>
        </p:txBody>
      </p:sp>
      <p:sp>
        <p:nvSpPr>
          <p:cNvPr id="47" name="t48"/>
          <p:cNvSpPr txBox="1"/>
          <p:nvPr/>
        </p:nvSpPr>
        <p:spPr>
          <a:xfrm>
            <a:off x="762000" y="2641600"/>
            <a:ext cx="5270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Buffer draws a new polygon at a fixed distance around each input feature — the classic way to ask </a:t>
            </a: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“what lies within X?”</a:t>
            </a:r>
          </a:p>
        </p:txBody>
      </p:sp>
      <p:sp>
        <p:nvSpPr>
          <p:cNvPr id="48" name="c49"/>
          <p:cNvSpPr/>
          <p:nvPr/>
        </p:nvSpPr>
        <p:spPr>
          <a:xfrm>
            <a:off x="762000" y="3619500"/>
            <a:ext cx="330200" cy="330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9" name="t50"/>
          <p:cNvSpPr txBox="1"/>
          <p:nvPr/>
        </p:nvSpPr>
        <p:spPr>
          <a:xfrm>
            <a:off x="1244600" y="36322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Choose input features — points, lines or polygons.</a:t>
            </a:r>
          </a:p>
        </p:txBody>
      </p:sp>
      <p:sp>
        <p:nvSpPr>
          <p:cNvPr id="50" name="c51"/>
          <p:cNvSpPr/>
          <p:nvPr/>
        </p:nvSpPr>
        <p:spPr>
          <a:xfrm>
            <a:off x="762000" y="4178300"/>
            <a:ext cx="330200" cy="330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1" name="t52"/>
          <p:cNvSpPr txBox="1"/>
          <p:nvPr/>
        </p:nvSpPr>
        <p:spPr>
          <a:xfrm>
            <a:off x="1244600" y="41910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Set a distance and units, e.g. 500 metres.</a:t>
            </a:r>
          </a:p>
        </p:txBody>
      </p:sp>
      <p:sp>
        <p:nvSpPr>
          <p:cNvPr id="52" name="c53"/>
          <p:cNvSpPr/>
          <p:nvPr/>
        </p:nvSpPr>
        <p:spPr>
          <a:xfrm>
            <a:off x="762000" y="4737100"/>
            <a:ext cx="330200" cy="330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3" name="t54"/>
          <p:cNvSpPr txBox="1"/>
          <p:nvPr/>
        </p:nvSpPr>
        <p:spPr>
          <a:xfrm>
            <a:off x="1244600" y="47498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Optionally dissolve overlapping rings into one zone.</a:t>
            </a:r>
          </a:p>
        </p:txBody>
      </p:sp>
      <p:sp>
        <p:nvSpPr>
          <p:cNvPr id="54" name="s55"/>
          <p:cNvSpPr/>
          <p:nvPr/>
        </p:nvSpPr>
        <p:spPr>
          <a:xfrm>
            <a:off x="762000" y="5334000"/>
            <a:ext cx="5232400" cy="889000"/>
          </a:xfrm>
          <a:prstGeom prst="roundRect">
            <a:avLst>
              <a:gd name="adj" fmla="val 6000"/>
            </a:avLst>
          </a:prstGeom>
          <a:solidFill>
            <a:srgbClr val="2230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56"/>
          <p:cNvSpPr/>
          <p:nvPr/>
        </p:nvSpPr>
        <p:spPr>
          <a:xfrm>
            <a:off x="762000" y="5334000"/>
            <a:ext cx="69850" cy="8890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57"/>
          <p:cNvSpPr txBox="1"/>
          <p:nvPr/>
        </p:nvSpPr>
        <p:spPr>
          <a:xfrm>
            <a:off x="1041400" y="5486400"/>
            <a:ext cx="469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80" dirty="0">
                <a:solidFill>
                  <a:srgbClr val="8FD6EA"/>
                </a:solidFill>
                <a:latin typeface="Segoe UI"/>
                <a:cs typeface="Segoe UI"/>
              </a:rPr>
              <a:t>WHEN TO USE</a:t>
            </a:r>
          </a:p>
        </p:txBody>
      </p:sp>
      <p:sp>
        <p:nvSpPr>
          <p:cNvPr id="57" name="t58"/>
          <p:cNvSpPr txBox="1"/>
          <p:nvPr/>
        </p:nvSpPr>
        <p:spPr>
          <a:xfrm>
            <a:off x="1041400" y="5740400"/>
            <a:ext cx="47752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Noise contours, catchment areas, protective setbacks and service radii.</a:t>
            </a:r>
          </a:p>
        </p:txBody>
      </p:sp>
      <p:sp>
        <p:nvSpPr>
          <p:cNvPr id="58" name="s59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3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28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t60"/>
          <p:cNvSpPr txBox="1"/>
          <p:nvPr/>
        </p:nvSpPr>
        <p:spPr>
          <a:xfrm>
            <a:off x="6604000" y="25654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80" dirty="0">
                <a:solidFill>
                  <a:srgbClr val="AE978E"/>
                </a:solidFill>
                <a:latin typeface="Segoe UI"/>
                <a:cs typeface="Segoe UI"/>
              </a:rPr>
              <a:t>SCHEMATIC</a:t>
            </a:r>
          </a:p>
        </p:txBody>
      </p:sp>
      <p:sp>
        <p:nvSpPr>
          <p:cNvPr id="60" name="s61"/>
          <p:cNvSpPr/>
          <p:nvPr/>
        </p:nvSpPr>
        <p:spPr>
          <a:xfrm>
            <a:off x="6921500" y="2895600"/>
            <a:ext cx="1092200" cy="1092200"/>
          </a:xfrm>
          <a:prstGeom prst="ellipse">
            <a:avLst/>
          </a:prstGeom>
          <a:solidFill>
            <a:srgbClr val="4BB3D4">
              <a:alpha val="20"/>
            </a:srgbClr>
          </a:solidFill>
          <a:ln w="15875">
            <a:solidFill>
              <a:srgbClr val="4BB3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62"/>
          <p:cNvSpPr/>
          <p:nvPr/>
        </p:nvSpPr>
        <p:spPr>
          <a:xfrm>
            <a:off x="7404100" y="3378200"/>
            <a:ext cx="165100" cy="165100"/>
          </a:xfrm>
          <a:prstGeom prst="ellipse">
            <a:avLst/>
          </a:prstGeom>
          <a:solidFill>
            <a:srgbClr val="16070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63"/>
          <p:cNvSpPr/>
          <p:nvPr/>
        </p:nvSpPr>
        <p:spPr>
          <a:xfrm>
            <a:off x="7480300" y="3429000"/>
            <a:ext cx="533400" cy="20320"/>
          </a:xfrm>
          <a:prstGeom prst="rect">
            <a:avLst/>
          </a:prstGeom>
          <a:solidFill>
            <a:srgbClr val="6E7B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64"/>
          <p:cNvSpPr txBox="1"/>
          <p:nvPr/>
        </p:nvSpPr>
        <p:spPr>
          <a:xfrm>
            <a:off x="7569200" y="31750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AE978E"/>
                </a:solidFill>
                <a:latin typeface="Georgia"/>
                <a:cs typeface="Georgia"/>
              </a:rPr>
              <a:t>d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8191500" y="31242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D6C7C2"/>
                </a:solidFill>
                <a:latin typeface="Segoe UI"/>
                <a:cs typeface="Segoe UI"/>
              </a:rPr>
              <a:t>Point → circular zone</a:t>
            </a:r>
          </a:p>
        </p:txBody>
      </p:sp>
      <p:sp>
        <p:nvSpPr>
          <p:cNvPr id="65" name="s66"/>
          <p:cNvSpPr/>
          <p:nvPr/>
        </p:nvSpPr>
        <p:spPr>
          <a:xfrm>
            <a:off x="6858000" y="4470400"/>
            <a:ext cx="2286000" cy="381000"/>
          </a:xfrm>
          <a:prstGeom prst="roundRect">
            <a:avLst>
              <a:gd name="adj" fmla="val 50000"/>
            </a:avLst>
          </a:prstGeom>
          <a:solidFill>
            <a:srgbClr val="4BB3D4">
              <a:alpha val="20"/>
            </a:srgbClr>
          </a:solidFill>
          <a:ln w="15875">
            <a:solidFill>
              <a:srgbClr val="4BB3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s67"/>
          <p:cNvSpPr/>
          <p:nvPr/>
        </p:nvSpPr>
        <p:spPr>
          <a:xfrm>
            <a:off x="7061200" y="4622800"/>
            <a:ext cx="1879600" cy="76200"/>
          </a:xfrm>
          <a:prstGeom prst="rect">
            <a:avLst/>
          </a:prstGeom>
          <a:solidFill>
            <a:srgbClr val="16070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68"/>
          <p:cNvSpPr txBox="1"/>
          <p:nvPr/>
        </p:nvSpPr>
        <p:spPr>
          <a:xfrm>
            <a:off x="8191500" y="42164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D6C7C2"/>
                </a:solidFill>
                <a:latin typeface="Segoe UI"/>
                <a:cs typeface="Segoe UI"/>
              </a:rPr>
              <a:t>Line → capsule zone</a:t>
            </a:r>
          </a:p>
        </p:txBody>
      </p:sp>
      <p:sp>
        <p:nvSpPr>
          <p:cNvPr id="68" name="t69"/>
          <p:cNvSpPr txBox="1"/>
          <p:nvPr/>
        </p:nvSpPr>
        <p:spPr>
          <a:xfrm>
            <a:off x="6604000" y="5130800"/>
            <a:ext cx="459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B86"/>
                </a:solidFill>
                <a:latin typeface="Segoe UI"/>
                <a:cs typeface="Segoe UI"/>
              </a:rPr>
              <a:t>A zone of the chosen radius wraps every feature; overlapping zones can be dissolved into one.</a:t>
            </a:r>
          </a:p>
        </p:txBody>
      </p:sp>
    </p:spTree>
    <p:extLst>
      <p:ext uri="{BB962C8B-B14F-4D97-AF65-F5344CB8AC3E}">
        <p14:creationId xmlns:p14="http://schemas.microsoft.com/office/powerpoint/2010/main" val="1438574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09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Buffer — key parameters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03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The settings that decide the size, shape and count of your zones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c67"/>
          <p:cNvSpPr/>
          <p:nvPr/>
        </p:nvSpPr>
        <p:spPr>
          <a:xfrm>
            <a:off x="762000" y="23622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s68"/>
          <p:cNvSpPr/>
          <p:nvPr/>
        </p:nvSpPr>
        <p:spPr>
          <a:xfrm>
            <a:off x="762000" y="23622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69"/>
          <p:cNvSpPr txBox="1"/>
          <p:nvPr/>
        </p:nvSpPr>
        <p:spPr>
          <a:xfrm>
            <a:off x="1041400" y="25908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Distance</a:t>
            </a:r>
          </a:p>
        </p:txBody>
      </p:sp>
      <p:sp>
        <p:nvSpPr>
          <p:cNvPr id="69" name="t70"/>
          <p:cNvSpPr txBox="1"/>
          <p:nvPr/>
        </p:nvSpPr>
        <p:spPr>
          <a:xfrm>
            <a:off x="1041400" y="29972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4BB3D4"/>
                </a:solidFill>
                <a:latin typeface="Segoe UI"/>
                <a:cs typeface="Segoe UI"/>
              </a:rPr>
              <a:t>VALUE  ·  FIELD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41400" y="33020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A single distance, or read a different distance per feature from a field.</a:t>
            </a:r>
          </a:p>
        </p:txBody>
      </p:sp>
      <p:sp>
        <p:nvSpPr>
          <p:cNvPr id="71" name="c72"/>
          <p:cNvSpPr/>
          <p:nvPr/>
        </p:nvSpPr>
        <p:spPr>
          <a:xfrm>
            <a:off x="4419600" y="23622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2" name="s73"/>
          <p:cNvSpPr/>
          <p:nvPr/>
        </p:nvSpPr>
        <p:spPr>
          <a:xfrm>
            <a:off x="4419600" y="23622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74"/>
          <p:cNvSpPr txBox="1"/>
          <p:nvPr/>
        </p:nvSpPr>
        <p:spPr>
          <a:xfrm>
            <a:off x="4699000" y="25908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Method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4699000" y="29972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4BB3D4"/>
                </a:solidFill>
                <a:latin typeface="Segoe UI"/>
                <a:cs typeface="Segoe UI"/>
              </a:rPr>
              <a:t>PLANAR  ·  GEODESIC</a:t>
            </a:r>
          </a:p>
        </p:txBody>
      </p:sp>
      <p:sp>
        <p:nvSpPr>
          <p:cNvPr id="75" name="t76"/>
          <p:cNvSpPr txBox="1"/>
          <p:nvPr/>
        </p:nvSpPr>
        <p:spPr>
          <a:xfrm>
            <a:off x="4699000" y="33020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Planar for local projected data; geodesic for large areas or lat–long.</a:t>
            </a:r>
          </a:p>
        </p:txBody>
      </p:sp>
      <p:sp>
        <p:nvSpPr>
          <p:cNvPr id="76" name="c77"/>
          <p:cNvSpPr/>
          <p:nvPr/>
        </p:nvSpPr>
        <p:spPr>
          <a:xfrm>
            <a:off x="8077200" y="23622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78"/>
          <p:cNvSpPr/>
          <p:nvPr/>
        </p:nvSpPr>
        <p:spPr>
          <a:xfrm>
            <a:off x="8077200" y="23622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79"/>
          <p:cNvSpPr txBox="1"/>
          <p:nvPr/>
        </p:nvSpPr>
        <p:spPr>
          <a:xfrm>
            <a:off x="8356600" y="25908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Side Type</a:t>
            </a:r>
          </a:p>
        </p:txBody>
      </p:sp>
      <p:sp>
        <p:nvSpPr>
          <p:cNvPr id="79" name="t80"/>
          <p:cNvSpPr txBox="1"/>
          <p:nvPr/>
        </p:nvSpPr>
        <p:spPr>
          <a:xfrm>
            <a:off x="8356600" y="29972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4BB3D4"/>
                </a:solidFill>
                <a:latin typeface="Segoe UI"/>
                <a:cs typeface="Segoe UI"/>
              </a:rPr>
              <a:t>FULL · LEFT · RIGHT · OUTSIDE</a:t>
            </a:r>
          </a:p>
        </p:txBody>
      </p:sp>
      <p:sp>
        <p:nvSpPr>
          <p:cNvPr id="80" name="t81"/>
          <p:cNvSpPr txBox="1"/>
          <p:nvPr/>
        </p:nvSpPr>
        <p:spPr>
          <a:xfrm>
            <a:off x="8356600" y="33020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Which side of a line or polygon to build the zone on.</a:t>
            </a:r>
          </a:p>
        </p:txBody>
      </p:sp>
      <p:sp>
        <p:nvSpPr>
          <p:cNvPr id="81" name="c82"/>
          <p:cNvSpPr/>
          <p:nvPr/>
        </p:nvSpPr>
        <p:spPr>
          <a:xfrm>
            <a:off x="762000" y="42926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" name="s83"/>
          <p:cNvSpPr/>
          <p:nvPr/>
        </p:nvSpPr>
        <p:spPr>
          <a:xfrm>
            <a:off x="762000" y="42926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84"/>
          <p:cNvSpPr txBox="1"/>
          <p:nvPr/>
        </p:nvSpPr>
        <p:spPr>
          <a:xfrm>
            <a:off x="1041400" y="45212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End Type</a:t>
            </a:r>
          </a:p>
        </p:txBody>
      </p:sp>
      <p:sp>
        <p:nvSpPr>
          <p:cNvPr id="84" name="t85"/>
          <p:cNvSpPr txBox="1"/>
          <p:nvPr/>
        </p:nvSpPr>
        <p:spPr>
          <a:xfrm>
            <a:off x="1041400" y="49276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4BB3D4"/>
                </a:solidFill>
                <a:latin typeface="Segoe UI"/>
                <a:cs typeface="Segoe UI"/>
              </a:rPr>
              <a:t>ROUND  ·  FLAT</a:t>
            </a:r>
          </a:p>
        </p:txBody>
      </p:sp>
      <p:sp>
        <p:nvSpPr>
          <p:cNvPr id="85" name="t86"/>
          <p:cNvSpPr txBox="1"/>
          <p:nvPr/>
        </p:nvSpPr>
        <p:spPr>
          <a:xfrm>
            <a:off x="1041400" y="52324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How the ends of buffered lines are capped.</a:t>
            </a:r>
          </a:p>
        </p:txBody>
      </p:sp>
      <p:sp>
        <p:nvSpPr>
          <p:cNvPr id="86" name="c87"/>
          <p:cNvSpPr/>
          <p:nvPr/>
        </p:nvSpPr>
        <p:spPr>
          <a:xfrm>
            <a:off x="4419600" y="42926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7" name="s88"/>
          <p:cNvSpPr/>
          <p:nvPr/>
        </p:nvSpPr>
        <p:spPr>
          <a:xfrm>
            <a:off x="4419600" y="42926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t89"/>
          <p:cNvSpPr txBox="1"/>
          <p:nvPr/>
        </p:nvSpPr>
        <p:spPr>
          <a:xfrm>
            <a:off x="4699000" y="45212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Dissolve Type</a:t>
            </a:r>
          </a:p>
        </p:txBody>
      </p:sp>
      <p:sp>
        <p:nvSpPr>
          <p:cNvPr id="89" name="t90"/>
          <p:cNvSpPr txBox="1"/>
          <p:nvPr/>
        </p:nvSpPr>
        <p:spPr>
          <a:xfrm>
            <a:off x="4699000" y="49276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4BB3D4"/>
                </a:solidFill>
                <a:latin typeface="Segoe UI"/>
                <a:cs typeface="Segoe UI"/>
              </a:rPr>
              <a:t>NONE · ALL · LIST</a:t>
            </a:r>
          </a:p>
        </p:txBody>
      </p:sp>
      <p:sp>
        <p:nvSpPr>
          <p:cNvPr id="90" name="t91"/>
          <p:cNvSpPr txBox="1"/>
          <p:nvPr/>
        </p:nvSpPr>
        <p:spPr>
          <a:xfrm>
            <a:off x="4699000" y="52324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Merge overlapping buffers into one seamless zone — or keep them separate.</a:t>
            </a:r>
          </a:p>
        </p:txBody>
      </p:sp>
      <p:sp>
        <p:nvSpPr>
          <p:cNvPr id="91" name="c92"/>
          <p:cNvSpPr/>
          <p:nvPr/>
        </p:nvSpPr>
        <p:spPr>
          <a:xfrm>
            <a:off x="8077200" y="42926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2" name="s93"/>
          <p:cNvSpPr/>
          <p:nvPr/>
        </p:nvSpPr>
        <p:spPr>
          <a:xfrm>
            <a:off x="8077200" y="42926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94"/>
          <p:cNvSpPr txBox="1"/>
          <p:nvPr/>
        </p:nvSpPr>
        <p:spPr>
          <a:xfrm>
            <a:off x="8356600" y="45212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Multi-Ring</a:t>
            </a:r>
          </a:p>
        </p:txBody>
      </p:sp>
      <p:sp>
        <p:nvSpPr>
          <p:cNvPr id="94" name="t95"/>
          <p:cNvSpPr txBox="1"/>
          <p:nvPr/>
        </p:nvSpPr>
        <p:spPr>
          <a:xfrm>
            <a:off x="8356600" y="49276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4BB3D4"/>
                </a:solidFill>
                <a:latin typeface="Segoe UI"/>
                <a:cs typeface="Segoe UI"/>
              </a:rPr>
              <a:t>100 · 250 · 500 m</a:t>
            </a:r>
          </a:p>
        </p:txBody>
      </p:sp>
      <p:sp>
        <p:nvSpPr>
          <p:cNvPr id="95" name="t96"/>
          <p:cNvSpPr txBox="1"/>
          <p:nvPr/>
        </p:nvSpPr>
        <p:spPr>
          <a:xfrm>
            <a:off x="8356600" y="52324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A separate tool for several distances at once — nested proximity bands.</a:t>
            </a:r>
          </a:p>
        </p:txBody>
      </p:sp>
    </p:spTree>
    <p:extLst>
      <p:ext uri="{BB962C8B-B14F-4D97-AF65-F5344CB8AC3E}">
        <p14:creationId xmlns:p14="http://schemas.microsoft.com/office/powerpoint/2010/main" val="41292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10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Buffer in action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03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Mapping a stream-protection corridor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622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4BB3D4"/>
                </a:solidFill>
                <a:latin typeface="Segoe UI"/>
                <a:cs typeface="Segoe UI"/>
              </a:rPr>
              <a:t>THE TASK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762000" y="2667000"/>
            <a:ext cx="5207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A county bans building within 50 m of any stream. Planners need that no-build corridor mapped as a single, seamless layer.</a:t>
            </a:r>
          </a:p>
        </p:txBody>
      </p:sp>
      <p:sp>
        <p:nvSpPr>
          <p:cNvPr id="68" name="c69"/>
          <p:cNvSpPr/>
          <p:nvPr/>
        </p:nvSpPr>
        <p:spPr>
          <a:xfrm>
            <a:off x="762000" y="3581400"/>
            <a:ext cx="5207000" cy="14732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t70"/>
          <p:cNvSpPr txBox="1"/>
          <p:nvPr/>
        </p:nvSpPr>
        <p:spPr>
          <a:xfrm>
            <a:off x="1041400" y="3759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60" dirty="0">
                <a:solidFill>
                  <a:srgbClr val="AE978E"/>
                </a:solidFill>
                <a:latin typeface="Segoe UI"/>
                <a:cs typeface="Segoe UI"/>
              </a:rPr>
              <a:t>TOOL RECIPE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41400" y="4064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Input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3022600" y="4064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Streams (line)</a:t>
            </a:r>
          </a:p>
        </p:txBody>
      </p:sp>
      <p:sp>
        <p:nvSpPr>
          <p:cNvPr id="72" name="t73"/>
          <p:cNvSpPr txBox="1"/>
          <p:nvPr/>
        </p:nvSpPr>
        <p:spPr>
          <a:xfrm>
            <a:off x="1041400" y="43053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Distance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3022600" y="43053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50 Meters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041400" y="45466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Method</a:t>
            </a:r>
          </a:p>
        </p:txBody>
      </p:sp>
      <p:sp>
        <p:nvSpPr>
          <p:cNvPr id="75" name="t76"/>
          <p:cNvSpPr txBox="1"/>
          <p:nvPr/>
        </p:nvSpPr>
        <p:spPr>
          <a:xfrm>
            <a:off x="3022600" y="45466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Geodesic</a:t>
            </a:r>
          </a:p>
        </p:txBody>
      </p:sp>
      <p:sp>
        <p:nvSpPr>
          <p:cNvPr id="76" name="t77"/>
          <p:cNvSpPr txBox="1"/>
          <p:nvPr/>
        </p:nvSpPr>
        <p:spPr>
          <a:xfrm>
            <a:off x="1041400" y="47879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Dissolve Type</a:t>
            </a:r>
          </a:p>
        </p:txBody>
      </p:sp>
      <p:sp>
        <p:nvSpPr>
          <p:cNvPr id="77" name="t78"/>
          <p:cNvSpPr txBox="1"/>
          <p:nvPr/>
        </p:nvSpPr>
        <p:spPr>
          <a:xfrm>
            <a:off x="3022600" y="47879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ALL</a:t>
            </a:r>
          </a:p>
        </p:txBody>
      </p:sp>
      <p:sp>
        <p:nvSpPr>
          <p:cNvPr id="78" name="c79"/>
          <p:cNvSpPr/>
          <p:nvPr/>
        </p:nvSpPr>
        <p:spPr>
          <a:xfrm>
            <a:off x="762000" y="5207000"/>
            <a:ext cx="5207000" cy="812800"/>
          </a:xfrm>
          <a:prstGeom prst="roundRect">
            <a:avLst>
              <a:gd name="adj" fmla="val 5000"/>
            </a:avLst>
          </a:prstGeom>
          <a:solidFill>
            <a:srgbClr val="22303C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9" name="s80"/>
          <p:cNvSpPr/>
          <p:nvPr/>
        </p:nvSpPr>
        <p:spPr>
          <a:xfrm>
            <a:off x="762000" y="5207000"/>
            <a:ext cx="69850" cy="8128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81"/>
          <p:cNvSpPr txBox="1"/>
          <p:nvPr/>
        </p:nvSpPr>
        <p:spPr>
          <a:xfrm>
            <a:off x="1041400" y="5207000"/>
            <a:ext cx="47244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FD6EA"/>
                </a:solidFill>
                <a:latin typeface="Segoe UI"/>
                <a:cs typeface="Segoe UI"/>
              </a:rPr>
              <a:t>Result 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one continuous riparian buffer, ready to overlay with parcels to flag conflicts.</a:t>
            </a:r>
          </a:p>
        </p:txBody>
      </p:sp>
      <p:sp>
        <p:nvSpPr>
          <p:cNvPr id="81" name="c82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" name="t83"/>
          <p:cNvSpPr txBox="1"/>
          <p:nvPr/>
        </p:nvSpPr>
        <p:spPr>
          <a:xfrm>
            <a:off x="660400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60" dirty="0">
                <a:solidFill>
                  <a:srgbClr val="AE978E"/>
                </a:solidFill>
                <a:latin typeface="Segoe UI"/>
                <a:cs typeface="Segoe UI"/>
              </a:rPr>
              <a:t>SCHEMATIC</a:t>
            </a:r>
          </a:p>
        </p:txBody>
      </p:sp>
      <p:sp>
        <p:nvSpPr>
          <p:cNvPr id="83" name="t84"/>
          <p:cNvSpPr txBox="1"/>
          <p:nvPr/>
        </p:nvSpPr>
        <p:spPr>
          <a:xfrm>
            <a:off x="6921500" y="29464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AE978E"/>
                </a:solidFill>
                <a:latin typeface="Segoe UI"/>
                <a:cs typeface="Segoe UI"/>
              </a:rPr>
              <a:t>BEFORE</a:t>
            </a:r>
          </a:p>
        </p:txBody>
      </p:sp>
      <p:sp>
        <p:nvSpPr>
          <p:cNvPr id="84" name="t85"/>
          <p:cNvSpPr txBox="1"/>
          <p:nvPr/>
        </p:nvSpPr>
        <p:spPr>
          <a:xfrm>
            <a:off x="9804400" y="29464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AE978E"/>
                </a:solidFill>
                <a:latin typeface="Segoe UI"/>
                <a:cs typeface="Segoe UI"/>
              </a:rPr>
              <a:t>AFTER</a:t>
            </a:r>
          </a:p>
        </p:txBody>
      </p:sp>
      <p:sp>
        <p:nvSpPr>
          <p:cNvPr id="85" name="s86"/>
          <p:cNvSpPr/>
          <p:nvPr/>
        </p:nvSpPr>
        <p:spPr>
          <a:xfrm>
            <a:off x="7315200" y="3276600"/>
            <a:ext cx="50800" cy="13970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s87"/>
          <p:cNvSpPr/>
          <p:nvPr/>
        </p:nvSpPr>
        <p:spPr>
          <a:xfrm>
            <a:off x="7620000" y="3530600"/>
            <a:ext cx="50800" cy="10160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s88"/>
          <p:cNvSpPr/>
          <p:nvPr/>
        </p:nvSpPr>
        <p:spPr>
          <a:xfrm>
            <a:off x="8483600" y="3810000"/>
            <a:ext cx="508000" cy="279400"/>
          </a:xfrm>
          <a:prstGeom prst="rightArrow">
            <a:avLst/>
          </a:prstGeom>
          <a:solidFill>
            <a:srgbClr val="B8C2C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s89"/>
          <p:cNvSpPr/>
          <p:nvPr/>
        </p:nvSpPr>
        <p:spPr>
          <a:xfrm>
            <a:off x="9652000" y="3200400"/>
            <a:ext cx="355600" cy="1549400"/>
          </a:xfrm>
          <a:prstGeom prst="roundRect">
            <a:avLst>
              <a:gd name="adj" fmla="val 50000"/>
            </a:avLst>
          </a:prstGeom>
          <a:solidFill>
            <a:srgbClr val="4BB3D4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s90"/>
          <p:cNvSpPr/>
          <p:nvPr/>
        </p:nvSpPr>
        <p:spPr>
          <a:xfrm>
            <a:off x="9956800" y="3454400"/>
            <a:ext cx="355600" cy="1143000"/>
          </a:xfrm>
          <a:prstGeom prst="roundRect">
            <a:avLst>
              <a:gd name="adj" fmla="val 50000"/>
            </a:avLst>
          </a:prstGeom>
          <a:solidFill>
            <a:srgbClr val="4BB3D4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91"/>
          <p:cNvSpPr/>
          <p:nvPr/>
        </p:nvSpPr>
        <p:spPr>
          <a:xfrm>
            <a:off x="9804400" y="3276600"/>
            <a:ext cx="50800" cy="13970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10109200" y="3530600"/>
            <a:ext cx="50800" cy="10160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t93"/>
          <p:cNvSpPr txBox="1"/>
          <p:nvPr/>
        </p:nvSpPr>
        <p:spPr>
          <a:xfrm>
            <a:off x="6604000" y="5130800"/>
            <a:ext cx="457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The 50 m zone, dissolved with ALL, becomes one seamless polygon.</a:t>
            </a:r>
          </a:p>
        </p:txBody>
      </p:sp>
    </p:spTree>
    <p:extLst>
      <p:ext uri="{BB962C8B-B14F-4D97-AF65-F5344CB8AC3E}">
        <p14:creationId xmlns:p14="http://schemas.microsoft.com/office/powerpoint/2010/main" val="3305795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4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42"/>
          <p:cNvSpPr txBox="1"/>
          <p:nvPr/>
        </p:nvSpPr>
        <p:spPr>
          <a:xfrm>
            <a:off x="1778000" y="5715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42" name="t43"/>
          <p:cNvSpPr txBox="1"/>
          <p:nvPr/>
        </p:nvSpPr>
        <p:spPr>
          <a:xfrm>
            <a:off x="8890000" y="6375400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11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43" name="t44"/>
          <p:cNvSpPr txBox="1"/>
          <p:nvPr/>
        </p:nvSpPr>
        <p:spPr>
          <a:xfrm>
            <a:off x="1498600" y="812800"/>
            <a:ext cx="88900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Clip</a:t>
            </a:r>
          </a:p>
        </p:txBody>
      </p:sp>
      <p:sp>
        <p:nvSpPr>
          <p:cNvPr id="44" name="t45"/>
          <p:cNvSpPr txBox="1"/>
          <p:nvPr/>
        </p:nvSpPr>
        <p:spPr>
          <a:xfrm>
            <a:off x="1524000" y="1422400"/>
            <a:ext cx="965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Cut a layer to the shape of a boundary</a:t>
            </a:r>
          </a:p>
        </p:txBody>
      </p:sp>
      <p:sp>
        <p:nvSpPr>
          <p:cNvPr id="45" name="s4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47"/>
          <p:cNvSpPr txBox="1"/>
          <p:nvPr/>
        </p:nvSpPr>
        <p:spPr>
          <a:xfrm>
            <a:off x="762000" y="23622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180" dirty="0">
                <a:solidFill>
                  <a:srgbClr val="34B39A"/>
                </a:solidFill>
                <a:latin typeface="Segoe UI"/>
                <a:cs typeface="Segoe UI"/>
              </a:rPr>
              <a:t>HOW IT WORKS</a:t>
            </a:r>
          </a:p>
        </p:txBody>
      </p:sp>
      <p:sp>
        <p:nvSpPr>
          <p:cNvPr id="47" name="t48"/>
          <p:cNvSpPr txBox="1"/>
          <p:nvPr/>
        </p:nvSpPr>
        <p:spPr>
          <a:xfrm>
            <a:off x="762000" y="2641600"/>
            <a:ext cx="5270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Clip keeps only the parts of an input layer that fall inside a second boundary — a </a:t>
            </a: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cookie-cutter</a:t>
            </a: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 for spatial data.</a:t>
            </a:r>
          </a:p>
        </p:txBody>
      </p:sp>
      <p:sp>
        <p:nvSpPr>
          <p:cNvPr id="48" name="c49"/>
          <p:cNvSpPr/>
          <p:nvPr/>
        </p:nvSpPr>
        <p:spPr>
          <a:xfrm>
            <a:off x="762000" y="3619500"/>
            <a:ext cx="330200" cy="330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9" name="t50"/>
          <p:cNvSpPr txBox="1"/>
          <p:nvPr/>
        </p:nvSpPr>
        <p:spPr>
          <a:xfrm>
            <a:off x="1244600" y="36322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Pick the input layer you want to trim.</a:t>
            </a:r>
          </a:p>
        </p:txBody>
      </p:sp>
      <p:sp>
        <p:nvSpPr>
          <p:cNvPr id="50" name="c51"/>
          <p:cNvSpPr/>
          <p:nvPr/>
        </p:nvSpPr>
        <p:spPr>
          <a:xfrm>
            <a:off x="762000" y="4178300"/>
            <a:ext cx="330200" cy="330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1" name="t52"/>
          <p:cNvSpPr txBox="1"/>
          <p:nvPr/>
        </p:nvSpPr>
        <p:spPr>
          <a:xfrm>
            <a:off x="1244600" y="41910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Pick a clip boundary — the cutter shape.</a:t>
            </a:r>
          </a:p>
        </p:txBody>
      </p:sp>
      <p:sp>
        <p:nvSpPr>
          <p:cNvPr id="52" name="c53"/>
          <p:cNvSpPr/>
          <p:nvPr/>
        </p:nvSpPr>
        <p:spPr>
          <a:xfrm>
            <a:off x="762000" y="4737100"/>
            <a:ext cx="330200" cy="3302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3" name="t54"/>
          <p:cNvSpPr txBox="1"/>
          <p:nvPr/>
        </p:nvSpPr>
        <p:spPr>
          <a:xfrm>
            <a:off x="1244600" y="47498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Output keeps only what lies inside it.</a:t>
            </a:r>
          </a:p>
        </p:txBody>
      </p:sp>
      <p:sp>
        <p:nvSpPr>
          <p:cNvPr id="54" name="s55"/>
          <p:cNvSpPr/>
          <p:nvPr/>
        </p:nvSpPr>
        <p:spPr>
          <a:xfrm>
            <a:off x="762000" y="5334000"/>
            <a:ext cx="5232400" cy="889000"/>
          </a:xfrm>
          <a:prstGeom prst="roundRect">
            <a:avLst>
              <a:gd name="adj" fmla="val 6000"/>
            </a:avLst>
          </a:prstGeom>
          <a:solidFill>
            <a:srgbClr val="1C33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56"/>
          <p:cNvSpPr/>
          <p:nvPr/>
        </p:nvSpPr>
        <p:spPr>
          <a:xfrm>
            <a:off x="762000" y="5334000"/>
            <a:ext cx="69850" cy="8890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57"/>
          <p:cNvSpPr txBox="1"/>
          <p:nvPr/>
        </p:nvSpPr>
        <p:spPr>
          <a:xfrm>
            <a:off x="1041400" y="5486400"/>
            <a:ext cx="469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80" dirty="0">
                <a:solidFill>
                  <a:srgbClr val="7FD9C2"/>
                </a:solidFill>
                <a:latin typeface="Segoe UI"/>
                <a:cs typeface="Segoe UI"/>
              </a:rPr>
              <a:t>WHEN TO USE</a:t>
            </a:r>
          </a:p>
        </p:txBody>
      </p:sp>
      <p:sp>
        <p:nvSpPr>
          <p:cNvPr id="57" name="t58"/>
          <p:cNvSpPr txBox="1"/>
          <p:nvPr/>
        </p:nvSpPr>
        <p:spPr>
          <a:xfrm>
            <a:off x="1041400" y="5740400"/>
            <a:ext cx="47752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Trim national data down to your study area — a county, watershed or project extent.</a:t>
            </a:r>
          </a:p>
        </p:txBody>
      </p:sp>
      <p:sp>
        <p:nvSpPr>
          <p:cNvPr id="58" name="cd59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3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28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t60"/>
          <p:cNvSpPr txBox="1"/>
          <p:nvPr/>
        </p:nvSpPr>
        <p:spPr>
          <a:xfrm>
            <a:off x="6604000" y="25654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80" dirty="0">
                <a:solidFill>
                  <a:srgbClr val="AE978E"/>
                </a:solidFill>
                <a:latin typeface="Segoe UI"/>
                <a:cs typeface="Segoe UI"/>
              </a:rPr>
              <a:t>SCHEMATIC</a:t>
            </a:r>
          </a:p>
        </p:txBody>
      </p:sp>
      <p:sp>
        <p:nvSpPr>
          <p:cNvPr id="60" name="s61"/>
          <p:cNvSpPr/>
          <p:nvPr/>
        </p:nvSpPr>
        <p:spPr>
          <a:xfrm>
            <a:off x="6781800" y="2946400"/>
            <a:ext cx="4191000" cy="1905000"/>
          </a:xfrm>
          <a:prstGeom prst="rect">
            <a:avLst/>
          </a:prstGeom>
          <a:solidFill>
            <a:srgbClr val="3E1D23"/>
          </a:solidFill>
          <a:ln w="1270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62"/>
          <p:cNvSpPr/>
          <p:nvPr/>
        </p:nvSpPr>
        <p:spPr>
          <a:xfrm>
            <a:off x="7772400" y="3073400"/>
            <a:ext cx="2235200" cy="1625600"/>
          </a:xfrm>
          <a:prstGeom prst="hexagon">
            <a:avLst/>
          </a:prstGeom>
          <a:solidFill>
            <a:srgbClr val="34B39A">
              <a:alpha val="15"/>
            </a:srgbClr>
          </a:solidFill>
          <a:ln w="25400">
            <a:solidFill>
              <a:srgbClr val="34B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s63"/>
          <p:cNvSpPr/>
          <p:nvPr/>
        </p:nvSpPr>
        <p:spPr>
          <a:xfrm>
            <a:off x="7061200" y="3175000"/>
            <a:ext cx="127000" cy="127000"/>
          </a:xfrm>
          <a:prstGeom prst="ellipse">
            <a:avLst/>
          </a:prstGeom>
          <a:solidFill>
            <a:srgbClr val="AEB8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64"/>
          <p:cNvSpPr/>
          <p:nvPr/>
        </p:nvSpPr>
        <p:spPr>
          <a:xfrm>
            <a:off x="10795000" y="3175000"/>
            <a:ext cx="127000" cy="127000"/>
          </a:xfrm>
          <a:prstGeom prst="ellipse">
            <a:avLst/>
          </a:prstGeom>
          <a:solidFill>
            <a:srgbClr val="AEB8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65"/>
          <p:cNvSpPr/>
          <p:nvPr/>
        </p:nvSpPr>
        <p:spPr>
          <a:xfrm>
            <a:off x="7112000" y="4572000"/>
            <a:ext cx="127000" cy="127000"/>
          </a:xfrm>
          <a:prstGeom prst="ellipse">
            <a:avLst/>
          </a:prstGeom>
          <a:solidFill>
            <a:srgbClr val="AEB8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66"/>
          <p:cNvSpPr/>
          <p:nvPr/>
        </p:nvSpPr>
        <p:spPr>
          <a:xfrm>
            <a:off x="10769600" y="4572000"/>
            <a:ext cx="127000" cy="127000"/>
          </a:xfrm>
          <a:prstGeom prst="ellipse">
            <a:avLst/>
          </a:prstGeom>
          <a:solidFill>
            <a:srgbClr val="AEB8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67"/>
          <p:cNvSpPr/>
          <p:nvPr/>
        </p:nvSpPr>
        <p:spPr>
          <a:xfrm>
            <a:off x="8890000" y="3022600"/>
            <a:ext cx="127000" cy="127000"/>
          </a:xfrm>
          <a:prstGeom prst="ellipse">
            <a:avLst/>
          </a:prstGeom>
          <a:solidFill>
            <a:srgbClr val="AEB8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68"/>
          <p:cNvSpPr/>
          <p:nvPr/>
        </p:nvSpPr>
        <p:spPr>
          <a:xfrm>
            <a:off x="8382000" y="3657600"/>
            <a:ext cx="127000" cy="1270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69"/>
          <p:cNvSpPr/>
          <p:nvPr/>
        </p:nvSpPr>
        <p:spPr>
          <a:xfrm>
            <a:off x="8953500" y="3403600"/>
            <a:ext cx="127000" cy="1270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s70"/>
          <p:cNvSpPr/>
          <p:nvPr/>
        </p:nvSpPr>
        <p:spPr>
          <a:xfrm>
            <a:off x="9271000" y="4038600"/>
            <a:ext cx="127000" cy="1270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s71"/>
          <p:cNvSpPr/>
          <p:nvPr/>
        </p:nvSpPr>
        <p:spPr>
          <a:xfrm>
            <a:off x="8534400" y="4292600"/>
            <a:ext cx="127000" cy="1270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s72"/>
          <p:cNvSpPr/>
          <p:nvPr/>
        </p:nvSpPr>
        <p:spPr>
          <a:xfrm>
            <a:off x="8966200" y="4318000"/>
            <a:ext cx="127000" cy="1270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73"/>
          <p:cNvSpPr txBox="1"/>
          <p:nvPr/>
        </p:nvSpPr>
        <p:spPr>
          <a:xfrm>
            <a:off x="7620000" y="3810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spc="120" dirty="0">
                <a:solidFill>
                  <a:srgbClr val="7FD9C2"/>
                </a:solidFill>
                <a:latin typeface="Segoe UI"/>
                <a:cs typeface="Segoe UI"/>
              </a:rPr>
              <a:t>kept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6604000" y="4978400"/>
            <a:ext cx="459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B86"/>
                </a:solidFill>
                <a:latin typeface="Segoe UI"/>
                <a:cs typeface="Segoe UI"/>
              </a:rPr>
              <a:t>Everything inside the boundary is kept; features outside are dropped from the output.</a:t>
            </a:r>
          </a:p>
        </p:txBody>
      </p:sp>
    </p:spTree>
    <p:extLst>
      <p:ext uri="{BB962C8B-B14F-4D97-AF65-F5344CB8AC3E}">
        <p14:creationId xmlns:p14="http://schemas.microsoft.com/office/powerpoint/2010/main" val="349156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12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Clip — parameters &amp; cousins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A cookie-cutter for spatial data — and the tools it's mistaken for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368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34B39A"/>
                </a:solidFill>
                <a:latin typeface="Segoe UI"/>
                <a:cs typeface="Segoe UI"/>
              </a:rPr>
              <a:t>PARAMETERS</a:t>
            </a:r>
          </a:p>
        </p:txBody>
      </p:sp>
      <p:sp>
        <p:nvSpPr>
          <p:cNvPr id="67" name="c68"/>
          <p:cNvSpPr/>
          <p:nvPr/>
        </p:nvSpPr>
        <p:spPr>
          <a:xfrm>
            <a:off x="762000" y="2616200"/>
            <a:ext cx="5207000" cy="7620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8" name="s69"/>
          <p:cNvSpPr/>
          <p:nvPr/>
        </p:nvSpPr>
        <p:spPr>
          <a:xfrm>
            <a:off x="762000" y="2616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70"/>
          <p:cNvSpPr txBox="1"/>
          <p:nvPr/>
        </p:nvSpPr>
        <p:spPr>
          <a:xfrm>
            <a:off x="1066800" y="27559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4EFE9"/>
                </a:solidFill>
                <a:latin typeface="Georgia"/>
                <a:cs typeface="Georgia"/>
              </a:rPr>
              <a:t>Input Features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66800" y="30480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The layer to be trimmed — points, lines or polygons.</a:t>
            </a:r>
          </a:p>
        </p:txBody>
      </p:sp>
      <p:sp>
        <p:nvSpPr>
          <p:cNvPr id="71" name="c72"/>
          <p:cNvSpPr/>
          <p:nvPr/>
        </p:nvSpPr>
        <p:spPr>
          <a:xfrm>
            <a:off x="762000" y="3505200"/>
            <a:ext cx="5207000" cy="7620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2" name="s73"/>
          <p:cNvSpPr/>
          <p:nvPr/>
        </p:nvSpPr>
        <p:spPr>
          <a:xfrm>
            <a:off x="762000" y="3505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74"/>
          <p:cNvSpPr txBox="1"/>
          <p:nvPr/>
        </p:nvSpPr>
        <p:spPr>
          <a:xfrm>
            <a:off x="1066800" y="36449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4EFE9"/>
                </a:solidFill>
                <a:latin typeface="Georgia"/>
                <a:cs typeface="Georgia"/>
              </a:rPr>
              <a:t>Clip Features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066800" y="39370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The cutting boundary. Must be a polygon layer.</a:t>
            </a:r>
          </a:p>
        </p:txBody>
      </p:sp>
      <p:sp>
        <p:nvSpPr>
          <p:cNvPr id="75" name="c76"/>
          <p:cNvSpPr/>
          <p:nvPr/>
        </p:nvSpPr>
        <p:spPr>
          <a:xfrm>
            <a:off x="762000" y="4394200"/>
            <a:ext cx="5207000" cy="7620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6" name="s77"/>
          <p:cNvSpPr/>
          <p:nvPr/>
        </p:nvSpPr>
        <p:spPr>
          <a:xfrm>
            <a:off x="762000" y="4394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t78"/>
          <p:cNvSpPr txBox="1"/>
          <p:nvPr/>
        </p:nvSpPr>
        <p:spPr>
          <a:xfrm>
            <a:off x="1066800" y="45339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4EFE9"/>
                </a:solidFill>
                <a:latin typeface="Georgia"/>
                <a:cs typeface="Georgia"/>
              </a:rPr>
              <a:t>XY Tolerance</a:t>
            </a:r>
          </a:p>
        </p:txBody>
      </p:sp>
      <p:sp>
        <p:nvSpPr>
          <p:cNvPr id="78" name="t79"/>
          <p:cNvSpPr txBox="1"/>
          <p:nvPr/>
        </p:nvSpPr>
        <p:spPr>
          <a:xfrm>
            <a:off x="1066800" y="48260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Optional. Snap distance for coincident boundaries.</a:t>
            </a:r>
          </a:p>
        </p:txBody>
      </p:sp>
      <p:sp>
        <p:nvSpPr>
          <p:cNvPr id="79" name="c80"/>
          <p:cNvSpPr/>
          <p:nvPr/>
        </p:nvSpPr>
        <p:spPr>
          <a:xfrm>
            <a:off x="762000" y="5334000"/>
            <a:ext cx="5207000" cy="736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s81"/>
          <p:cNvSpPr/>
          <p:nvPr/>
        </p:nvSpPr>
        <p:spPr>
          <a:xfrm>
            <a:off x="762000" y="5334000"/>
            <a:ext cx="63500" cy="7366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82"/>
          <p:cNvSpPr txBox="1"/>
          <p:nvPr/>
        </p:nvSpPr>
        <p:spPr>
          <a:xfrm>
            <a:off x="1066800" y="54864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7FD9C2"/>
                </a:solidFill>
                <a:latin typeface="Segoe UI"/>
                <a:cs typeface="Segoe UI"/>
              </a:rPr>
              <a:t>Clip copies geometry only — it never adds the boundary layer's attributes.</a:t>
            </a:r>
          </a:p>
        </p:txBody>
      </p:sp>
      <p:sp>
        <p:nvSpPr>
          <p:cNvPr id="82" name="t83"/>
          <p:cNvSpPr txBox="1"/>
          <p:nvPr/>
        </p:nvSpPr>
        <p:spPr>
          <a:xfrm>
            <a:off x="6324600" y="2336800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AE978E"/>
                </a:solidFill>
                <a:latin typeface="Segoe UI"/>
                <a:cs typeface="Segoe UI"/>
              </a:rPr>
              <a:t>EASY TO CONFUSE WITH</a:t>
            </a:r>
          </a:p>
        </p:txBody>
      </p:sp>
      <p:sp>
        <p:nvSpPr>
          <p:cNvPr id="83" name="c84"/>
          <p:cNvSpPr/>
          <p:nvPr/>
        </p:nvSpPr>
        <p:spPr>
          <a:xfrm>
            <a:off x="6324600" y="2616200"/>
            <a:ext cx="5105400" cy="7620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4" name="s85"/>
          <p:cNvSpPr/>
          <p:nvPr/>
        </p:nvSpPr>
        <p:spPr>
          <a:xfrm>
            <a:off x="6324600" y="2616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t86"/>
          <p:cNvSpPr txBox="1"/>
          <p:nvPr/>
        </p:nvSpPr>
        <p:spPr>
          <a:xfrm>
            <a:off x="6629400" y="27559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0708F"/>
                </a:solidFill>
                <a:latin typeface="Georgia"/>
                <a:cs typeface="Georgia"/>
              </a:rPr>
              <a:t>Erase</a:t>
            </a:r>
          </a:p>
        </p:txBody>
      </p:sp>
      <p:sp>
        <p:nvSpPr>
          <p:cNvPr id="86" name="t87"/>
          <p:cNvSpPr txBox="1"/>
          <p:nvPr/>
        </p:nvSpPr>
        <p:spPr>
          <a:xfrm>
            <a:off x="6629400" y="30480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Keeps what lies OUTSIDE the polygon — Clip's mirror image.</a:t>
            </a:r>
          </a:p>
        </p:txBody>
      </p:sp>
      <p:sp>
        <p:nvSpPr>
          <p:cNvPr id="87" name="c88"/>
          <p:cNvSpPr/>
          <p:nvPr/>
        </p:nvSpPr>
        <p:spPr>
          <a:xfrm>
            <a:off x="6324600" y="3505200"/>
            <a:ext cx="5105400" cy="7620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8" name="s89"/>
          <p:cNvSpPr/>
          <p:nvPr/>
        </p:nvSpPr>
        <p:spPr>
          <a:xfrm>
            <a:off x="6324600" y="3505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t90"/>
          <p:cNvSpPr txBox="1"/>
          <p:nvPr/>
        </p:nvSpPr>
        <p:spPr>
          <a:xfrm>
            <a:off x="6629400" y="36449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E0B54C"/>
                </a:solidFill>
                <a:latin typeface="Georgia"/>
                <a:cs typeface="Georgia"/>
              </a:rPr>
              <a:t>Split</a:t>
            </a:r>
          </a:p>
        </p:txBody>
      </p:sp>
      <p:sp>
        <p:nvSpPr>
          <p:cNvPr id="90" name="t91"/>
          <p:cNvSpPr txBox="1"/>
          <p:nvPr/>
        </p:nvSpPr>
        <p:spPr>
          <a:xfrm>
            <a:off x="6629400" y="39370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Cuts the input into many layers, one per attribute value.</a:t>
            </a:r>
          </a:p>
        </p:txBody>
      </p:sp>
      <p:sp>
        <p:nvSpPr>
          <p:cNvPr id="91" name="c92"/>
          <p:cNvSpPr/>
          <p:nvPr/>
        </p:nvSpPr>
        <p:spPr>
          <a:xfrm>
            <a:off x="6324600" y="4394200"/>
            <a:ext cx="5105400" cy="7620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2" name="s93"/>
          <p:cNvSpPr/>
          <p:nvPr/>
        </p:nvSpPr>
        <p:spPr>
          <a:xfrm>
            <a:off x="6324600" y="4394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94"/>
          <p:cNvSpPr txBox="1"/>
          <p:nvPr/>
        </p:nvSpPr>
        <p:spPr>
          <a:xfrm>
            <a:off x="6629400" y="45339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4BB3D4"/>
                </a:solidFill>
                <a:latin typeface="Georgia"/>
                <a:cs typeface="Georgia"/>
              </a:rPr>
              <a:t>Intersect</a:t>
            </a:r>
          </a:p>
        </p:txBody>
      </p:sp>
      <p:sp>
        <p:nvSpPr>
          <p:cNvPr id="94" name="t95"/>
          <p:cNvSpPr txBox="1"/>
          <p:nvPr/>
        </p:nvSpPr>
        <p:spPr>
          <a:xfrm>
            <a:off x="6629400" y="48260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An overlay that also JOINS attributes from both inputs.</a:t>
            </a:r>
          </a:p>
        </p:txBody>
      </p:sp>
      <p:sp>
        <p:nvSpPr>
          <p:cNvPr id="95" name="c96"/>
          <p:cNvSpPr/>
          <p:nvPr/>
        </p:nvSpPr>
        <p:spPr>
          <a:xfrm>
            <a:off x="6324600" y="5334000"/>
            <a:ext cx="5105400" cy="736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6" name="s97"/>
          <p:cNvSpPr/>
          <p:nvPr/>
        </p:nvSpPr>
        <p:spPr>
          <a:xfrm>
            <a:off x="6324600" y="5334000"/>
            <a:ext cx="63500" cy="7366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t98"/>
          <p:cNvSpPr txBox="1"/>
          <p:nvPr/>
        </p:nvSpPr>
        <p:spPr>
          <a:xfrm>
            <a:off x="6629400" y="5486400"/>
            <a:ext cx="4572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7FD9C2"/>
                </a:solidFill>
                <a:latin typeface="Segoe UI"/>
                <a:cs typeface="Segoe UI"/>
              </a:rPr>
              <a:t>Clip = keep INSIDE, no attribute join. That's the whole difference.</a:t>
            </a:r>
          </a:p>
        </p:txBody>
      </p:sp>
    </p:spTree>
    <p:extLst>
      <p:ext uri="{BB962C8B-B14F-4D97-AF65-F5344CB8AC3E}">
        <p14:creationId xmlns:p14="http://schemas.microsoft.com/office/powerpoint/2010/main" val="2632330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13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Clip in action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Extracting just the roads inside one county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622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34B39A"/>
                </a:solidFill>
                <a:latin typeface="Segoe UI"/>
                <a:cs typeface="Segoe UI"/>
              </a:rPr>
              <a:t>THE TASK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762000" y="2667000"/>
            <a:ext cx="52070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A statewide roads layer is far too big. A local study only needs the roads that fall inside Travis County.</a:t>
            </a:r>
          </a:p>
        </p:txBody>
      </p:sp>
      <p:sp>
        <p:nvSpPr>
          <p:cNvPr id="68" name="c69"/>
          <p:cNvSpPr/>
          <p:nvPr/>
        </p:nvSpPr>
        <p:spPr>
          <a:xfrm>
            <a:off x="762000" y="3581400"/>
            <a:ext cx="5207000" cy="14732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t70"/>
          <p:cNvSpPr txBox="1"/>
          <p:nvPr/>
        </p:nvSpPr>
        <p:spPr>
          <a:xfrm>
            <a:off x="1066800" y="37338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60" dirty="0">
                <a:solidFill>
                  <a:srgbClr val="AE978E"/>
                </a:solidFill>
                <a:latin typeface="Segoe UI"/>
                <a:cs typeface="Segoe UI"/>
              </a:rPr>
              <a:t>TOOL RECIPE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66800" y="40386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Input Features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3022600" y="40386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7FD9C2"/>
                </a:solidFill>
                <a:latin typeface="Segoe UI"/>
                <a:cs typeface="Segoe UI"/>
              </a:rPr>
              <a:t>Roads  (line)</a:t>
            </a:r>
          </a:p>
        </p:txBody>
      </p:sp>
      <p:sp>
        <p:nvSpPr>
          <p:cNvPr id="72" name="t73"/>
          <p:cNvSpPr txBox="1"/>
          <p:nvPr/>
        </p:nvSpPr>
        <p:spPr>
          <a:xfrm>
            <a:off x="1066800" y="43561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Clip Features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3022600" y="43561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7FD9C2"/>
                </a:solidFill>
                <a:latin typeface="Segoe UI"/>
                <a:cs typeface="Segoe UI"/>
              </a:rPr>
              <a:t>County boundary  (polygon)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066800" y="46736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Output</a:t>
            </a:r>
          </a:p>
        </p:txBody>
      </p:sp>
      <p:sp>
        <p:nvSpPr>
          <p:cNvPr id="75" name="t76"/>
          <p:cNvSpPr txBox="1"/>
          <p:nvPr/>
        </p:nvSpPr>
        <p:spPr>
          <a:xfrm>
            <a:off x="3022600" y="46736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7FD9C2"/>
                </a:solidFill>
                <a:latin typeface="Segoe UI"/>
                <a:cs typeface="Segoe UI"/>
              </a:rPr>
              <a:t>Roads_TravisCo</a:t>
            </a:r>
          </a:p>
        </p:txBody>
      </p:sp>
      <p:sp>
        <p:nvSpPr>
          <p:cNvPr id="76" name="c77"/>
          <p:cNvSpPr/>
          <p:nvPr/>
        </p:nvSpPr>
        <p:spPr>
          <a:xfrm>
            <a:off x="762000" y="5257800"/>
            <a:ext cx="5207000" cy="8128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78"/>
          <p:cNvSpPr/>
          <p:nvPr/>
        </p:nvSpPr>
        <p:spPr>
          <a:xfrm>
            <a:off x="762000" y="5257800"/>
            <a:ext cx="69850" cy="8128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79"/>
          <p:cNvSpPr txBox="1"/>
          <p:nvPr/>
        </p:nvSpPr>
        <p:spPr>
          <a:xfrm>
            <a:off x="1066800" y="5257800"/>
            <a:ext cx="46990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7FD9C2"/>
                </a:solidFill>
                <a:latin typeface="Segoe UI"/>
                <a:cs typeface="Segoe UI"/>
              </a:rPr>
              <a:t>Result 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roads that stop exactly at the county line — smaller and faster.</a:t>
            </a:r>
          </a:p>
        </p:txBody>
      </p:sp>
      <p:sp>
        <p:nvSpPr>
          <p:cNvPr id="79" name="c80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t81"/>
          <p:cNvSpPr txBox="1"/>
          <p:nvPr/>
        </p:nvSpPr>
        <p:spPr>
          <a:xfrm>
            <a:off x="660400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60" dirty="0">
                <a:solidFill>
                  <a:srgbClr val="AE978E"/>
                </a:solidFill>
                <a:latin typeface="Segoe UI"/>
                <a:cs typeface="Segoe UI"/>
              </a:rPr>
              <a:t>SCHEMATIC</a:t>
            </a:r>
          </a:p>
        </p:txBody>
      </p:sp>
      <p:sp>
        <p:nvSpPr>
          <p:cNvPr id="81" name="t82"/>
          <p:cNvSpPr txBox="1"/>
          <p:nvPr/>
        </p:nvSpPr>
        <p:spPr>
          <a:xfrm>
            <a:off x="6604000" y="2921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20" dirty="0">
                <a:solidFill>
                  <a:srgbClr val="AE978E"/>
                </a:solidFill>
                <a:latin typeface="Segoe UI"/>
                <a:cs typeface="Segoe UI"/>
              </a:rPr>
              <a:t>BEFORE</a:t>
            </a:r>
          </a:p>
        </p:txBody>
      </p:sp>
      <p:sp>
        <p:nvSpPr>
          <p:cNvPr id="82" name="t83"/>
          <p:cNvSpPr txBox="1"/>
          <p:nvPr/>
        </p:nvSpPr>
        <p:spPr>
          <a:xfrm>
            <a:off x="9423400" y="2921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20" dirty="0">
                <a:solidFill>
                  <a:srgbClr val="7FD9C2"/>
                </a:solidFill>
                <a:latin typeface="Segoe UI"/>
                <a:cs typeface="Segoe UI"/>
              </a:rPr>
              <a:t>AFTER</a:t>
            </a:r>
          </a:p>
        </p:txBody>
      </p:sp>
      <p:sp>
        <p:nvSpPr>
          <p:cNvPr id="83" name="s84"/>
          <p:cNvSpPr/>
          <p:nvPr/>
        </p:nvSpPr>
        <p:spPr>
          <a:xfrm>
            <a:off x="6667500" y="3200400"/>
            <a:ext cx="1905000" cy="1397000"/>
          </a:xfrm>
          <a:prstGeom prst="roundRect">
            <a:avLst>
              <a:gd name="adj" fmla="val 8000"/>
            </a:avLst>
          </a:prstGeom>
          <a:noFill/>
          <a:ln w="22225">
            <a:solidFill>
              <a:srgbClr val="34B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s85"/>
          <p:cNvSpPr/>
          <p:nvPr/>
        </p:nvSpPr>
        <p:spPr>
          <a:xfrm>
            <a:off x="6388100" y="3454400"/>
            <a:ext cx="2489200" cy="50800"/>
          </a:xfrm>
          <a:prstGeom prst="rect">
            <a:avLst/>
          </a:prstGeom>
          <a:solidFill>
            <a:srgbClr val="5563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s86"/>
          <p:cNvSpPr/>
          <p:nvPr/>
        </p:nvSpPr>
        <p:spPr>
          <a:xfrm>
            <a:off x="6388100" y="3771900"/>
            <a:ext cx="2489200" cy="50800"/>
          </a:xfrm>
          <a:prstGeom prst="rect">
            <a:avLst/>
          </a:prstGeom>
          <a:solidFill>
            <a:srgbClr val="5563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s87"/>
          <p:cNvSpPr/>
          <p:nvPr/>
        </p:nvSpPr>
        <p:spPr>
          <a:xfrm>
            <a:off x="6388100" y="4089400"/>
            <a:ext cx="2489200" cy="50800"/>
          </a:xfrm>
          <a:prstGeom prst="rect">
            <a:avLst/>
          </a:prstGeom>
          <a:solidFill>
            <a:srgbClr val="5563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s88"/>
          <p:cNvSpPr/>
          <p:nvPr/>
        </p:nvSpPr>
        <p:spPr>
          <a:xfrm>
            <a:off x="6388100" y="4406900"/>
            <a:ext cx="2489200" cy="50800"/>
          </a:xfrm>
          <a:prstGeom prst="rect">
            <a:avLst/>
          </a:prstGeom>
          <a:solidFill>
            <a:srgbClr val="5563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s89"/>
          <p:cNvSpPr/>
          <p:nvPr/>
        </p:nvSpPr>
        <p:spPr>
          <a:xfrm>
            <a:off x="8737600" y="3810000"/>
            <a:ext cx="508000" cy="279400"/>
          </a:xfrm>
          <a:prstGeom prst="rightArrow">
            <a:avLst/>
          </a:prstGeom>
          <a:solidFill>
            <a:srgbClr val="9AA6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s90"/>
          <p:cNvSpPr/>
          <p:nvPr/>
        </p:nvSpPr>
        <p:spPr>
          <a:xfrm>
            <a:off x="9334500" y="3200400"/>
            <a:ext cx="1905000" cy="1397000"/>
          </a:xfrm>
          <a:prstGeom prst="roundRect">
            <a:avLst>
              <a:gd name="adj" fmla="val 8000"/>
            </a:avLst>
          </a:prstGeom>
          <a:solidFill>
            <a:srgbClr val="34B39A">
              <a:alpha val="15000"/>
            </a:srgbClr>
          </a:solidFill>
          <a:ln w="22225">
            <a:solidFill>
              <a:srgbClr val="34B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s91"/>
          <p:cNvSpPr/>
          <p:nvPr/>
        </p:nvSpPr>
        <p:spPr>
          <a:xfrm>
            <a:off x="9359900" y="3454400"/>
            <a:ext cx="1854200" cy="508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9359900" y="3771900"/>
            <a:ext cx="1854200" cy="508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93"/>
          <p:cNvSpPr/>
          <p:nvPr/>
        </p:nvSpPr>
        <p:spPr>
          <a:xfrm>
            <a:off x="9359900" y="4089400"/>
            <a:ext cx="1854200" cy="508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s94"/>
          <p:cNvSpPr/>
          <p:nvPr/>
        </p:nvSpPr>
        <p:spPr>
          <a:xfrm>
            <a:off x="9359900" y="4406900"/>
            <a:ext cx="1854200" cy="50800"/>
          </a:xfrm>
          <a:prstGeom prst="rect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t95"/>
          <p:cNvSpPr txBox="1"/>
          <p:nvPr/>
        </p:nvSpPr>
        <p:spPr>
          <a:xfrm>
            <a:off x="6604000" y="5156200"/>
            <a:ext cx="4597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Only the segments inside the boundary survive; everything outside is dropped.</a:t>
            </a:r>
          </a:p>
        </p:txBody>
      </p:sp>
    </p:spTree>
    <p:extLst>
      <p:ext uri="{BB962C8B-B14F-4D97-AF65-F5344CB8AC3E}">
        <p14:creationId xmlns:p14="http://schemas.microsoft.com/office/powerpoint/2010/main" val="2034917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4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42"/>
          <p:cNvSpPr txBox="1"/>
          <p:nvPr/>
        </p:nvSpPr>
        <p:spPr>
          <a:xfrm>
            <a:off x="1778000" y="5715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42" name="t43"/>
          <p:cNvSpPr txBox="1"/>
          <p:nvPr/>
        </p:nvSpPr>
        <p:spPr>
          <a:xfrm>
            <a:off x="8890000" y="6375400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14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43" name="t44"/>
          <p:cNvSpPr txBox="1"/>
          <p:nvPr/>
        </p:nvSpPr>
        <p:spPr>
          <a:xfrm>
            <a:off x="1498600" y="812800"/>
            <a:ext cx="88900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Dissolve</a:t>
            </a:r>
          </a:p>
        </p:txBody>
      </p:sp>
      <p:sp>
        <p:nvSpPr>
          <p:cNvPr id="44" name="t45"/>
          <p:cNvSpPr txBox="1"/>
          <p:nvPr/>
        </p:nvSpPr>
        <p:spPr>
          <a:xfrm>
            <a:off x="1524000" y="1422400"/>
            <a:ext cx="965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Merge features that share a value</a:t>
            </a:r>
          </a:p>
        </p:txBody>
      </p:sp>
      <p:sp>
        <p:nvSpPr>
          <p:cNvPr id="45" name="s4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47"/>
          <p:cNvSpPr txBox="1"/>
          <p:nvPr/>
        </p:nvSpPr>
        <p:spPr>
          <a:xfrm>
            <a:off x="762000" y="23622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180" dirty="0">
                <a:solidFill>
                  <a:srgbClr val="B98BE6"/>
                </a:solidFill>
                <a:latin typeface="Segoe UI"/>
                <a:cs typeface="Segoe UI"/>
              </a:rPr>
              <a:t>HOW IT WORKS</a:t>
            </a:r>
          </a:p>
        </p:txBody>
      </p:sp>
      <p:sp>
        <p:nvSpPr>
          <p:cNvPr id="47" name="t48"/>
          <p:cNvSpPr txBox="1"/>
          <p:nvPr/>
        </p:nvSpPr>
        <p:spPr>
          <a:xfrm>
            <a:off x="762000" y="2641600"/>
            <a:ext cx="5270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Dissolve erases the boundaries between adjacent features that share an attribute value, combining </a:t>
            </a:r>
            <a:r>
              <a:rPr lang="en-US" sz="1450" b="1" dirty="0">
                <a:solidFill>
                  <a:srgbClr val="F4EFE9"/>
                </a:solidFill>
                <a:latin typeface="Segoe UI"/>
                <a:cs typeface="Segoe UI"/>
              </a:rPr>
              <a:t>many into few</a:t>
            </a: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48" name="c49"/>
          <p:cNvSpPr/>
          <p:nvPr/>
        </p:nvSpPr>
        <p:spPr>
          <a:xfrm>
            <a:off x="762000" y="3619500"/>
            <a:ext cx="330200" cy="3302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9" name="t50"/>
          <p:cNvSpPr txBox="1"/>
          <p:nvPr/>
        </p:nvSpPr>
        <p:spPr>
          <a:xfrm>
            <a:off x="1244600" y="36322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Choose the input polygon layer.</a:t>
            </a:r>
          </a:p>
        </p:txBody>
      </p:sp>
      <p:sp>
        <p:nvSpPr>
          <p:cNvPr id="50" name="c51"/>
          <p:cNvSpPr/>
          <p:nvPr/>
        </p:nvSpPr>
        <p:spPr>
          <a:xfrm>
            <a:off x="762000" y="4178300"/>
            <a:ext cx="330200" cy="3302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1" name="t52"/>
          <p:cNvSpPr txBox="1"/>
          <p:nvPr/>
        </p:nvSpPr>
        <p:spPr>
          <a:xfrm>
            <a:off x="1244600" y="41910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Pick a field to group by (the dissolve field).</a:t>
            </a:r>
          </a:p>
        </p:txBody>
      </p:sp>
      <p:sp>
        <p:nvSpPr>
          <p:cNvPr id="52" name="c53"/>
          <p:cNvSpPr/>
          <p:nvPr/>
        </p:nvSpPr>
        <p:spPr>
          <a:xfrm>
            <a:off x="762000" y="4737100"/>
            <a:ext cx="330200" cy="3302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3" name="t54"/>
          <p:cNvSpPr txBox="1"/>
          <p:nvPr/>
        </p:nvSpPr>
        <p:spPr>
          <a:xfrm>
            <a:off x="1244600" y="47498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7C2"/>
                </a:solidFill>
                <a:latin typeface="Segoe UI"/>
                <a:cs typeface="Segoe UI"/>
              </a:rPr>
              <a:t>Shared boundaries between matching features vanish.</a:t>
            </a:r>
          </a:p>
        </p:txBody>
      </p:sp>
      <p:sp>
        <p:nvSpPr>
          <p:cNvPr id="54" name="s55"/>
          <p:cNvSpPr/>
          <p:nvPr/>
        </p:nvSpPr>
        <p:spPr>
          <a:xfrm>
            <a:off x="762000" y="5334000"/>
            <a:ext cx="5232400" cy="889000"/>
          </a:xfrm>
          <a:prstGeom prst="roundRect">
            <a:avLst>
              <a:gd name="adj" fmla="val 6000"/>
            </a:avLst>
          </a:prstGeom>
          <a:solidFill>
            <a:srgbClr val="3D1F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56"/>
          <p:cNvSpPr/>
          <p:nvPr/>
        </p:nvSpPr>
        <p:spPr>
          <a:xfrm>
            <a:off x="762000" y="5334000"/>
            <a:ext cx="69850" cy="8890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57"/>
          <p:cNvSpPr txBox="1"/>
          <p:nvPr/>
        </p:nvSpPr>
        <p:spPr>
          <a:xfrm>
            <a:off x="1041400" y="5486400"/>
            <a:ext cx="469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80" dirty="0">
                <a:solidFill>
                  <a:srgbClr val="D6BAF2"/>
                </a:solidFill>
                <a:latin typeface="Segoe UI"/>
                <a:cs typeface="Segoe UI"/>
              </a:rPr>
              <a:t>WHEN TO USE</a:t>
            </a:r>
          </a:p>
        </p:txBody>
      </p:sp>
      <p:sp>
        <p:nvSpPr>
          <p:cNvPr id="57" name="t58"/>
          <p:cNvSpPr txBox="1"/>
          <p:nvPr/>
        </p:nvSpPr>
        <p:spPr>
          <a:xfrm>
            <a:off x="1041400" y="5740400"/>
            <a:ext cx="47752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Roll counties up into states, parcels into zones, or tidy split polygons.</a:t>
            </a:r>
          </a:p>
        </p:txBody>
      </p:sp>
      <p:sp>
        <p:nvSpPr>
          <p:cNvPr id="58" name="cd59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3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28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t60"/>
          <p:cNvSpPr txBox="1"/>
          <p:nvPr/>
        </p:nvSpPr>
        <p:spPr>
          <a:xfrm>
            <a:off x="6604000" y="25654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80" dirty="0">
                <a:solidFill>
                  <a:srgbClr val="AE978E"/>
                </a:solidFill>
                <a:latin typeface="Segoe UI"/>
                <a:cs typeface="Segoe UI"/>
              </a:rPr>
              <a:t>SCHEMATIC</a:t>
            </a:r>
          </a:p>
        </p:txBody>
      </p:sp>
      <p:sp>
        <p:nvSpPr>
          <p:cNvPr id="60" name="s61"/>
          <p:cNvSpPr/>
          <p:nvPr/>
        </p:nvSpPr>
        <p:spPr>
          <a:xfrm>
            <a:off x="6604000" y="3149600"/>
            <a:ext cx="533400" cy="558800"/>
          </a:xfrm>
          <a:prstGeom prst="rect">
            <a:avLst/>
          </a:prstGeom>
          <a:solidFill>
            <a:srgbClr val="B98BE6">
              <a:alpha val="32"/>
            </a:srgbClr>
          </a:solidFill>
          <a:ln w="15875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62"/>
          <p:cNvSpPr/>
          <p:nvPr/>
        </p:nvSpPr>
        <p:spPr>
          <a:xfrm>
            <a:off x="7137400" y="3149600"/>
            <a:ext cx="533400" cy="558800"/>
          </a:xfrm>
          <a:prstGeom prst="rect">
            <a:avLst/>
          </a:prstGeom>
          <a:solidFill>
            <a:srgbClr val="B98BE6">
              <a:alpha val="32"/>
            </a:srgbClr>
          </a:solidFill>
          <a:ln w="15875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s63"/>
          <p:cNvSpPr/>
          <p:nvPr/>
        </p:nvSpPr>
        <p:spPr>
          <a:xfrm>
            <a:off x="7670800" y="3149600"/>
            <a:ext cx="533400" cy="558800"/>
          </a:xfrm>
          <a:prstGeom prst="rect">
            <a:avLst/>
          </a:prstGeom>
          <a:solidFill>
            <a:srgbClr val="B98BE6">
              <a:alpha val="32"/>
            </a:srgbClr>
          </a:solidFill>
          <a:ln w="15875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s64"/>
          <p:cNvSpPr/>
          <p:nvPr/>
        </p:nvSpPr>
        <p:spPr>
          <a:xfrm>
            <a:off x="6604000" y="3708400"/>
            <a:ext cx="533400" cy="558800"/>
          </a:xfrm>
          <a:prstGeom prst="rect">
            <a:avLst/>
          </a:prstGeom>
          <a:solidFill>
            <a:srgbClr val="B98BE6">
              <a:alpha val="13"/>
            </a:srgbClr>
          </a:solidFill>
          <a:ln w="15875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s65"/>
          <p:cNvSpPr/>
          <p:nvPr/>
        </p:nvSpPr>
        <p:spPr>
          <a:xfrm>
            <a:off x="7137400" y="3708400"/>
            <a:ext cx="533400" cy="558800"/>
          </a:xfrm>
          <a:prstGeom prst="rect">
            <a:avLst/>
          </a:prstGeom>
          <a:solidFill>
            <a:srgbClr val="B98BE6">
              <a:alpha val="13"/>
            </a:srgbClr>
          </a:solidFill>
          <a:ln w="15875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s66"/>
          <p:cNvSpPr/>
          <p:nvPr/>
        </p:nvSpPr>
        <p:spPr>
          <a:xfrm>
            <a:off x="7670800" y="3708400"/>
            <a:ext cx="533400" cy="558800"/>
          </a:xfrm>
          <a:prstGeom prst="rect">
            <a:avLst/>
          </a:prstGeom>
          <a:solidFill>
            <a:srgbClr val="B98BE6">
              <a:alpha val="13"/>
            </a:srgbClr>
          </a:solidFill>
          <a:ln w="15875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6604000" y="4343400"/>
            <a:ext cx="160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900" b="1" spc="140" dirty="0">
                <a:solidFill>
                  <a:srgbClr val="AE978E"/>
                </a:solidFill>
                <a:latin typeface="Segoe UI"/>
                <a:cs typeface="Segoe UI"/>
              </a:rPr>
              <a:t>BEFORE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6604000" y="4572000"/>
            <a:ext cx="160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AE978E"/>
                </a:solidFill>
                <a:latin typeface="Segoe UI"/>
                <a:cs typeface="Segoe UI"/>
              </a:rPr>
              <a:t>6 features</a:t>
            </a:r>
          </a:p>
        </p:txBody>
      </p:sp>
      <p:sp>
        <p:nvSpPr>
          <p:cNvPr id="68" name="s69"/>
          <p:cNvSpPr/>
          <p:nvPr/>
        </p:nvSpPr>
        <p:spPr>
          <a:xfrm>
            <a:off x="8483600" y="3530600"/>
            <a:ext cx="609600" cy="330200"/>
          </a:xfrm>
          <a:prstGeom prst="rightArrow">
            <a:avLst/>
          </a:prstGeom>
          <a:solidFill>
            <a:srgbClr val="AEB8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s70"/>
          <p:cNvSpPr/>
          <p:nvPr/>
        </p:nvSpPr>
        <p:spPr>
          <a:xfrm>
            <a:off x="9423400" y="3149600"/>
            <a:ext cx="1600200" cy="558800"/>
          </a:xfrm>
          <a:prstGeom prst="rect">
            <a:avLst/>
          </a:prstGeom>
          <a:solidFill>
            <a:srgbClr val="B98BE6">
              <a:alpha val="32"/>
            </a:srgbClr>
          </a:solidFill>
          <a:ln w="19050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s71"/>
          <p:cNvSpPr/>
          <p:nvPr/>
        </p:nvSpPr>
        <p:spPr>
          <a:xfrm>
            <a:off x="9423400" y="3708400"/>
            <a:ext cx="1600200" cy="558800"/>
          </a:xfrm>
          <a:prstGeom prst="rect">
            <a:avLst/>
          </a:prstGeom>
          <a:solidFill>
            <a:srgbClr val="B98BE6">
              <a:alpha val="13"/>
            </a:srgbClr>
          </a:solidFill>
          <a:ln w="19050">
            <a:solidFill>
              <a:srgbClr val="B98B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72"/>
          <p:cNvSpPr txBox="1"/>
          <p:nvPr/>
        </p:nvSpPr>
        <p:spPr>
          <a:xfrm>
            <a:off x="9423400" y="4343400"/>
            <a:ext cx="160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900" b="1" spc="140" dirty="0">
                <a:solidFill>
                  <a:srgbClr val="AE978E"/>
                </a:solidFill>
                <a:latin typeface="Segoe UI"/>
                <a:cs typeface="Segoe UI"/>
              </a:rPr>
              <a:t>AFTER</a:t>
            </a:r>
          </a:p>
        </p:txBody>
      </p:sp>
      <p:sp>
        <p:nvSpPr>
          <p:cNvPr id="72" name="t73"/>
          <p:cNvSpPr txBox="1"/>
          <p:nvPr/>
        </p:nvSpPr>
        <p:spPr>
          <a:xfrm>
            <a:off x="9423400" y="4572000"/>
            <a:ext cx="160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AE978E"/>
                </a:solidFill>
                <a:latin typeface="Segoe UI"/>
                <a:cs typeface="Segoe UI"/>
              </a:rPr>
              <a:t>2 features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6604000" y="5003800"/>
            <a:ext cx="459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B86"/>
                </a:solidFill>
                <a:latin typeface="Segoe UI"/>
                <a:cs typeface="Segoe UI"/>
              </a:rPr>
              <a:t>Adjacent features with the same value merge into one; the grouping attribute is kept.</a:t>
            </a:r>
          </a:p>
        </p:txBody>
      </p:sp>
    </p:spTree>
    <p:extLst>
      <p:ext uri="{BB962C8B-B14F-4D97-AF65-F5344CB8AC3E}">
        <p14:creationId xmlns:p14="http://schemas.microsoft.com/office/powerpoint/2010/main" val="4034370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15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Dissolve — parameters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The settings that control how — and how much — your features merge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c67"/>
          <p:cNvSpPr/>
          <p:nvPr/>
        </p:nvSpPr>
        <p:spPr>
          <a:xfrm>
            <a:off x="762000" y="23622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s68"/>
          <p:cNvSpPr/>
          <p:nvPr/>
        </p:nvSpPr>
        <p:spPr>
          <a:xfrm>
            <a:off x="762000" y="23622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69"/>
          <p:cNvSpPr txBox="1"/>
          <p:nvPr/>
        </p:nvSpPr>
        <p:spPr>
          <a:xfrm>
            <a:off x="1041400" y="25908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Dissolve Field(s)</a:t>
            </a:r>
          </a:p>
        </p:txBody>
      </p:sp>
      <p:sp>
        <p:nvSpPr>
          <p:cNvPr id="69" name="t70"/>
          <p:cNvSpPr txBox="1"/>
          <p:nvPr/>
        </p:nvSpPr>
        <p:spPr>
          <a:xfrm>
            <a:off x="1041400" y="29972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40" dirty="0">
                <a:solidFill>
                  <a:srgbClr val="B98BE6"/>
                </a:solidFill>
                <a:latin typeface="Segoe UI"/>
                <a:cs typeface="Segoe UI"/>
              </a:rPr>
              <a:t>ONE OR MORE FIELDS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41400" y="33020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Group by attributes; features sharing the value merge into one.</a:t>
            </a:r>
          </a:p>
        </p:txBody>
      </p:sp>
      <p:sp>
        <p:nvSpPr>
          <p:cNvPr id="71" name="c72"/>
          <p:cNvSpPr/>
          <p:nvPr/>
        </p:nvSpPr>
        <p:spPr>
          <a:xfrm>
            <a:off x="4419600" y="23622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2" name="s73"/>
          <p:cNvSpPr/>
          <p:nvPr/>
        </p:nvSpPr>
        <p:spPr>
          <a:xfrm>
            <a:off x="4419600" y="23622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74"/>
          <p:cNvSpPr txBox="1"/>
          <p:nvPr/>
        </p:nvSpPr>
        <p:spPr>
          <a:xfrm>
            <a:off x="4699000" y="25908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Statistics Fields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4699000" y="29972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40" dirty="0">
                <a:solidFill>
                  <a:srgbClr val="B98BE6"/>
                </a:solidFill>
                <a:latin typeface="Segoe UI"/>
                <a:cs typeface="Segoe UI"/>
              </a:rPr>
              <a:t>SUM · MEAN · MIN · MAX · COUNT</a:t>
            </a:r>
          </a:p>
        </p:txBody>
      </p:sp>
      <p:sp>
        <p:nvSpPr>
          <p:cNvPr id="75" name="t76"/>
          <p:cNvSpPr txBox="1"/>
          <p:nvPr/>
        </p:nvSpPr>
        <p:spPr>
          <a:xfrm>
            <a:off x="4699000" y="33020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Summarise an attribute for each merged group.</a:t>
            </a:r>
          </a:p>
        </p:txBody>
      </p:sp>
      <p:sp>
        <p:nvSpPr>
          <p:cNvPr id="76" name="c77"/>
          <p:cNvSpPr/>
          <p:nvPr/>
        </p:nvSpPr>
        <p:spPr>
          <a:xfrm>
            <a:off x="8077200" y="23622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78"/>
          <p:cNvSpPr/>
          <p:nvPr/>
        </p:nvSpPr>
        <p:spPr>
          <a:xfrm>
            <a:off x="8077200" y="23622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79"/>
          <p:cNvSpPr txBox="1"/>
          <p:nvPr/>
        </p:nvSpPr>
        <p:spPr>
          <a:xfrm>
            <a:off x="8356600" y="25908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Create Multipart</a:t>
            </a:r>
          </a:p>
        </p:txBody>
      </p:sp>
      <p:sp>
        <p:nvSpPr>
          <p:cNvPr id="79" name="t80"/>
          <p:cNvSpPr txBox="1"/>
          <p:nvPr/>
        </p:nvSpPr>
        <p:spPr>
          <a:xfrm>
            <a:off x="8356600" y="29972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40" dirty="0">
                <a:solidFill>
                  <a:srgbClr val="B98BE6"/>
                </a:solidFill>
                <a:latin typeface="Segoe UI"/>
                <a:cs typeface="Segoe UI"/>
              </a:rPr>
              <a:t>ON · OFF</a:t>
            </a:r>
          </a:p>
        </p:txBody>
      </p:sp>
      <p:sp>
        <p:nvSpPr>
          <p:cNvPr id="80" name="t81"/>
          <p:cNvSpPr txBox="1"/>
          <p:nvPr/>
        </p:nvSpPr>
        <p:spPr>
          <a:xfrm>
            <a:off x="8356600" y="33020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ON keeps scattered same-value areas as one multipart feature.</a:t>
            </a:r>
          </a:p>
        </p:txBody>
      </p:sp>
      <p:sp>
        <p:nvSpPr>
          <p:cNvPr id="81" name="c82"/>
          <p:cNvSpPr/>
          <p:nvPr/>
        </p:nvSpPr>
        <p:spPr>
          <a:xfrm>
            <a:off x="762000" y="42926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" name="s83"/>
          <p:cNvSpPr/>
          <p:nvPr/>
        </p:nvSpPr>
        <p:spPr>
          <a:xfrm>
            <a:off x="762000" y="42926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84"/>
          <p:cNvSpPr txBox="1"/>
          <p:nvPr/>
        </p:nvSpPr>
        <p:spPr>
          <a:xfrm>
            <a:off x="1041400" y="45212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Unsplit Lines</a:t>
            </a:r>
          </a:p>
        </p:txBody>
      </p:sp>
      <p:sp>
        <p:nvSpPr>
          <p:cNvPr id="84" name="t85"/>
          <p:cNvSpPr txBox="1"/>
          <p:nvPr/>
        </p:nvSpPr>
        <p:spPr>
          <a:xfrm>
            <a:off x="1041400" y="4953000"/>
            <a:ext cx="2946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Merge connected line segments that share values — geometry preserved.</a:t>
            </a:r>
          </a:p>
        </p:txBody>
      </p:sp>
      <p:sp>
        <p:nvSpPr>
          <p:cNvPr id="85" name="c86"/>
          <p:cNvSpPr/>
          <p:nvPr/>
        </p:nvSpPr>
        <p:spPr>
          <a:xfrm>
            <a:off x="4419600" y="42926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6" name="s87"/>
          <p:cNvSpPr/>
          <p:nvPr/>
        </p:nvSpPr>
        <p:spPr>
          <a:xfrm>
            <a:off x="4419600" y="42926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t88"/>
          <p:cNvSpPr txBox="1"/>
          <p:nvPr/>
        </p:nvSpPr>
        <p:spPr>
          <a:xfrm>
            <a:off x="4699000" y="45212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No Dissolve Field</a:t>
            </a:r>
          </a:p>
        </p:txBody>
      </p:sp>
      <p:sp>
        <p:nvSpPr>
          <p:cNvPr id="88" name="t89"/>
          <p:cNvSpPr txBox="1"/>
          <p:nvPr/>
        </p:nvSpPr>
        <p:spPr>
          <a:xfrm>
            <a:off x="4699000" y="49276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40" dirty="0">
                <a:solidFill>
                  <a:srgbClr val="B98BE6"/>
                </a:solidFill>
                <a:latin typeface="Segoe UI"/>
                <a:cs typeface="Segoe UI"/>
              </a:rPr>
              <a:t>= ONE FEATURE</a:t>
            </a:r>
          </a:p>
        </p:txBody>
      </p:sp>
      <p:sp>
        <p:nvSpPr>
          <p:cNvPr id="89" name="t90"/>
          <p:cNvSpPr txBox="1"/>
          <p:nvPr/>
        </p:nvSpPr>
        <p:spPr>
          <a:xfrm>
            <a:off x="4699000" y="5232400"/>
            <a:ext cx="2946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Leave it blank and the whole layer melts into a single feature.</a:t>
            </a:r>
          </a:p>
        </p:txBody>
      </p:sp>
      <p:sp>
        <p:nvSpPr>
          <p:cNvPr id="90" name="c91"/>
          <p:cNvSpPr/>
          <p:nvPr/>
        </p:nvSpPr>
        <p:spPr>
          <a:xfrm>
            <a:off x="8077200" y="4292600"/>
            <a:ext cx="3454400" cy="1752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8077200" y="42926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t93"/>
          <p:cNvSpPr txBox="1"/>
          <p:nvPr/>
        </p:nvSpPr>
        <p:spPr>
          <a:xfrm>
            <a:off x="8356600" y="45212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4EFE9"/>
                </a:solidFill>
                <a:latin typeface="Georgia"/>
                <a:cs typeface="Georgia"/>
              </a:rPr>
              <a:t>What You Get</a:t>
            </a:r>
          </a:p>
        </p:txBody>
      </p:sp>
      <p:sp>
        <p:nvSpPr>
          <p:cNvPr id="93" name="t94"/>
          <p:cNvSpPr txBox="1"/>
          <p:nvPr/>
        </p:nvSpPr>
        <p:spPr>
          <a:xfrm>
            <a:off x="8356600" y="4953000"/>
            <a:ext cx="2946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Fewer features, clean boundaries, and roll-up stats in the table.</a:t>
            </a:r>
          </a:p>
        </p:txBody>
      </p:sp>
    </p:spTree>
    <p:extLst>
      <p:ext uri="{BB962C8B-B14F-4D97-AF65-F5344CB8AC3E}">
        <p14:creationId xmlns:p14="http://schemas.microsoft.com/office/powerpoint/2010/main" val="3850940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16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Dissolve in action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Rolling counties up into states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622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B98BE6"/>
                </a:solidFill>
                <a:latin typeface="Segoe UI"/>
                <a:cs typeface="Segoe UI"/>
              </a:rPr>
              <a:t>THE TASK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762000" y="2667000"/>
            <a:ext cx="5207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A layer of hundreds of county polygons must become one polygon per state — with each state's population totalled.</a:t>
            </a:r>
          </a:p>
        </p:txBody>
      </p:sp>
      <p:sp>
        <p:nvSpPr>
          <p:cNvPr id="68" name="c69"/>
          <p:cNvSpPr/>
          <p:nvPr/>
        </p:nvSpPr>
        <p:spPr>
          <a:xfrm>
            <a:off x="762000" y="3581400"/>
            <a:ext cx="5207000" cy="14732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t70"/>
          <p:cNvSpPr txBox="1"/>
          <p:nvPr/>
        </p:nvSpPr>
        <p:spPr>
          <a:xfrm>
            <a:off x="1066800" y="3759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60" dirty="0">
                <a:solidFill>
                  <a:srgbClr val="AE978E"/>
                </a:solidFill>
                <a:latin typeface="Segoe UI"/>
                <a:cs typeface="Segoe UI"/>
              </a:rPr>
              <a:t>TOOL RECIPE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66800" y="4064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Input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2717800" y="40640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D6BAF2"/>
                </a:solidFill>
                <a:latin typeface="Segoe UI"/>
                <a:cs typeface="Segoe UI"/>
              </a:rPr>
              <a:t>Counties (polygon)</a:t>
            </a:r>
          </a:p>
        </p:txBody>
      </p:sp>
      <p:sp>
        <p:nvSpPr>
          <p:cNvPr id="72" name="t73"/>
          <p:cNvSpPr txBox="1"/>
          <p:nvPr/>
        </p:nvSpPr>
        <p:spPr>
          <a:xfrm>
            <a:off x="1066800" y="4318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Dissolve Field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2717800" y="43180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D6BAF2"/>
                </a:solidFill>
                <a:latin typeface="Segoe UI"/>
                <a:cs typeface="Segoe UI"/>
              </a:rPr>
              <a:t>STATE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066800" y="4572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Statistics</a:t>
            </a:r>
          </a:p>
        </p:txBody>
      </p:sp>
      <p:sp>
        <p:nvSpPr>
          <p:cNvPr id="75" name="t76"/>
          <p:cNvSpPr txBox="1"/>
          <p:nvPr/>
        </p:nvSpPr>
        <p:spPr>
          <a:xfrm>
            <a:off x="2717800" y="45720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D6BAF2"/>
                </a:solidFill>
                <a:latin typeface="Segoe UI"/>
                <a:cs typeface="Segoe UI"/>
              </a:rPr>
              <a:t>SUM of POP</a:t>
            </a:r>
          </a:p>
        </p:txBody>
      </p:sp>
      <p:sp>
        <p:nvSpPr>
          <p:cNvPr id="76" name="t77"/>
          <p:cNvSpPr txBox="1"/>
          <p:nvPr/>
        </p:nvSpPr>
        <p:spPr>
          <a:xfrm>
            <a:off x="1066800" y="48260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Multipart</a:t>
            </a:r>
          </a:p>
        </p:txBody>
      </p:sp>
      <p:sp>
        <p:nvSpPr>
          <p:cNvPr id="77" name="t78"/>
          <p:cNvSpPr txBox="1"/>
          <p:nvPr/>
        </p:nvSpPr>
        <p:spPr>
          <a:xfrm>
            <a:off x="2717800" y="4826000"/>
            <a:ext cx="294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D6BAF2"/>
                </a:solidFill>
                <a:latin typeface="Segoe UI"/>
                <a:cs typeface="Segoe UI"/>
              </a:rPr>
              <a:t>ON</a:t>
            </a:r>
          </a:p>
        </p:txBody>
      </p:sp>
      <p:sp>
        <p:nvSpPr>
          <p:cNvPr id="78" name="c79"/>
          <p:cNvSpPr/>
          <p:nvPr/>
        </p:nvSpPr>
        <p:spPr>
          <a:xfrm>
            <a:off x="762000" y="5257800"/>
            <a:ext cx="5207000" cy="8128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9" name="s80"/>
          <p:cNvSpPr/>
          <p:nvPr/>
        </p:nvSpPr>
        <p:spPr>
          <a:xfrm>
            <a:off x="762000" y="5257800"/>
            <a:ext cx="63500" cy="8128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81"/>
          <p:cNvSpPr txBox="1"/>
          <p:nvPr/>
        </p:nvSpPr>
        <p:spPr>
          <a:xfrm>
            <a:off x="1092200" y="5257800"/>
            <a:ext cx="49784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6BAF2"/>
                </a:solidFill>
                <a:latin typeface="Segoe UI"/>
                <a:cs typeface="Segoe UI"/>
              </a:rPr>
              <a:t>Result  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one polygon per state, each carrying its total population.</a:t>
            </a:r>
          </a:p>
        </p:txBody>
      </p:sp>
      <p:sp>
        <p:nvSpPr>
          <p:cNvPr id="81" name="c82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" name="t83"/>
          <p:cNvSpPr txBox="1"/>
          <p:nvPr/>
        </p:nvSpPr>
        <p:spPr>
          <a:xfrm>
            <a:off x="660400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AE978E"/>
                </a:solidFill>
                <a:latin typeface="Segoe UI"/>
                <a:cs typeface="Segoe UI"/>
              </a:rPr>
              <a:t>SCHEMATIC — DISSOLVE BY STATE</a:t>
            </a:r>
          </a:p>
        </p:txBody>
      </p:sp>
      <p:sp>
        <p:nvSpPr>
          <p:cNvPr id="83" name="t84"/>
          <p:cNvSpPr txBox="1"/>
          <p:nvPr/>
        </p:nvSpPr>
        <p:spPr>
          <a:xfrm>
            <a:off x="6604000" y="29464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20" dirty="0">
                <a:solidFill>
                  <a:srgbClr val="AE978E"/>
                </a:solidFill>
                <a:latin typeface="Segoe UI"/>
                <a:cs typeface="Segoe UI"/>
              </a:rPr>
              <a:t>BEFORE</a:t>
            </a:r>
          </a:p>
        </p:txBody>
      </p:sp>
      <p:sp>
        <p:nvSpPr>
          <p:cNvPr id="84" name="t85"/>
          <p:cNvSpPr txBox="1"/>
          <p:nvPr/>
        </p:nvSpPr>
        <p:spPr>
          <a:xfrm>
            <a:off x="9652000" y="29464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20" dirty="0">
                <a:solidFill>
                  <a:srgbClr val="AE978E"/>
                </a:solidFill>
                <a:latin typeface="Segoe UI"/>
                <a:cs typeface="Segoe UI"/>
              </a:rPr>
              <a:t>AFTER</a:t>
            </a:r>
          </a:p>
        </p:txBody>
      </p:sp>
      <p:sp>
        <p:nvSpPr>
          <p:cNvPr id="85" name="s86"/>
          <p:cNvSpPr/>
          <p:nvPr/>
        </p:nvSpPr>
        <p:spPr>
          <a:xfrm>
            <a:off x="6604000" y="32004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B98BE6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s87"/>
          <p:cNvSpPr/>
          <p:nvPr/>
        </p:nvSpPr>
        <p:spPr>
          <a:xfrm>
            <a:off x="7048500" y="32004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B98BE6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s88"/>
          <p:cNvSpPr/>
          <p:nvPr/>
        </p:nvSpPr>
        <p:spPr>
          <a:xfrm>
            <a:off x="7493000" y="32004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B98BE6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s89"/>
          <p:cNvSpPr/>
          <p:nvPr/>
        </p:nvSpPr>
        <p:spPr>
          <a:xfrm>
            <a:off x="6604000" y="36449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34B39A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s90"/>
          <p:cNvSpPr/>
          <p:nvPr/>
        </p:nvSpPr>
        <p:spPr>
          <a:xfrm>
            <a:off x="7048500" y="36449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34B39A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s91"/>
          <p:cNvSpPr/>
          <p:nvPr/>
        </p:nvSpPr>
        <p:spPr>
          <a:xfrm>
            <a:off x="7493000" y="36449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34B39A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6604000" y="40894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E0B54C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s93"/>
          <p:cNvSpPr/>
          <p:nvPr/>
        </p:nvSpPr>
        <p:spPr>
          <a:xfrm>
            <a:off x="7048500" y="40894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E0B54C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s94"/>
          <p:cNvSpPr/>
          <p:nvPr/>
        </p:nvSpPr>
        <p:spPr>
          <a:xfrm>
            <a:off x="7493000" y="4089400"/>
            <a:ext cx="381000" cy="381000"/>
          </a:xfrm>
          <a:prstGeom prst="roundRect">
            <a:avLst>
              <a:gd name="adj" fmla="val 8000"/>
            </a:avLst>
          </a:prstGeom>
          <a:solidFill>
            <a:srgbClr val="E0B54C">
              <a:alpha val="82000"/>
            </a:srgbClr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s95"/>
          <p:cNvSpPr/>
          <p:nvPr/>
        </p:nvSpPr>
        <p:spPr>
          <a:xfrm>
            <a:off x="8191500" y="3759200"/>
            <a:ext cx="508000" cy="279400"/>
          </a:xfrm>
          <a:prstGeom prst="rightArrow">
            <a:avLst/>
          </a:prstGeom>
          <a:solidFill>
            <a:srgbClr val="B7C0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s96"/>
          <p:cNvSpPr/>
          <p:nvPr/>
        </p:nvSpPr>
        <p:spPr>
          <a:xfrm>
            <a:off x="9194800" y="3200400"/>
            <a:ext cx="1270000" cy="381000"/>
          </a:xfrm>
          <a:prstGeom prst="roundRect">
            <a:avLst>
              <a:gd name="adj" fmla="val 8000"/>
            </a:avLst>
          </a:prstGeom>
          <a:solidFill>
            <a:srgbClr val="B98BE6"/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s97"/>
          <p:cNvSpPr/>
          <p:nvPr/>
        </p:nvSpPr>
        <p:spPr>
          <a:xfrm>
            <a:off x="9194800" y="3644900"/>
            <a:ext cx="1270000" cy="381000"/>
          </a:xfrm>
          <a:prstGeom prst="roundRect">
            <a:avLst>
              <a:gd name="adj" fmla="val 8000"/>
            </a:avLst>
          </a:prstGeom>
          <a:solidFill>
            <a:srgbClr val="34B39A"/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s98"/>
          <p:cNvSpPr/>
          <p:nvPr/>
        </p:nvSpPr>
        <p:spPr>
          <a:xfrm>
            <a:off x="9194800" y="4089400"/>
            <a:ext cx="1270000" cy="381000"/>
          </a:xfrm>
          <a:prstGeom prst="roundRect">
            <a:avLst>
              <a:gd name="adj" fmla="val 8000"/>
            </a:avLst>
          </a:prstGeom>
          <a:solidFill>
            <a:srgbClr val="E0B54C"/>
          </a:solidFill>
          <a:ln w="19050">
            <a:solidFill>
              <a:srgbClr val="5A2E3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" name="t99"/>
          <p:cNvSpPr txBox="1"/>
          <p:nvPr/>
        </p:nvSpPr>
        <p:spPr>
          <a:xfrm>
            <a:off x="6604000" y="5130800"/>
            <a:ext cx="4597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Counties sharing a STATE value merge; their populations are summed.</a:t>
            </a:r>
          </a:p>
        </p:txBody>
      </p:sp>
    </p:spTree>
    <p:extLst>
      <p:ext uri="{BB962C8B-B14F-4D97-AF65-F5344CB8AC3E}">
        <p14:creationId xmlns:p14="http://schemas.microsoft.com/office/powerpoint/2010/main" val="50658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17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652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Overlay — Union &amp; Intersect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9906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Two ways to combine a pair of layers into a single new layer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pan67"/>
          <p:cNvSpPr/>
          <p:nvPr/>
        </p:nvSpPr>
        <p:spPr>
          <a:xfrm>
            <a:off x="762000" y="2260600"/>
            <a:ext cx="5080000" cy="3886200"/>
          </a:xfrm>
          <a:prstGeom prst="roundRect">
            <a:avLst>
              <a:gd name="adj" fmla="val 4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t68"/>
          <p:cNvSpPr txBox="1"/>
          <p:nvPr/>
        </p:nvSpPr>
        <p:spPr>
          <a:xfrm>
            <a:off x="1117600" y="25400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4EFE9"/>
                </a:solidFill>
                <a:latin typeface="Georgia"/>
                <a:cs typeface="Georgia"/>
              </a:rPr>
              <a:t>Union</a:t>
            </a:r>
          </a:p>
        </p:txBody>
      </p:sp>
      <p:sp>
        <p:nvSpPr>
          <p:cNvPr id="68" name="s69"/>
          <p:cNvSpPr/>
          <p:nvPr/>
        </p:nvSpPr>
        <p:spPr>
          <a:xfrm>
            <a:off x="2120900" y="2565400"/>
            <a:ext cx="787400" cy="304800"/>
          </a:xfrm>
          <a:prstGeom prst="roundRect">
            <a:avLst>
              <a:gd name="adj" fmla="val 50000"/>
            </a:avLst>
          </a:prstGeom>
          <a:solidFill>
            <a:srgbClr val="3E1D23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BB3D4"/>
                </a:solidFill>
                <a:latin typeface="Segoe UI"/>
                <a:cs typeface="Segoe UI"/>
              </a:rPr>
              <a:t>A ∪ B</a:t>
            </a:r>
          </a:p>
        </p:txBody>
      </p:sp>
      <p:sp>
        <p:nvSpPr>
          <p:cNvPr id="69" name="s70"/>
          <p:cNvSpPr/>
          <p:nvPr/>
        </p:nvSpPr>
        <p:spPr>
          <a:xfrm>
            <a:off x="2260600" y="3098800"/>
            <a:ext cx="1320800" cy="1320800"/>
          </a:xfrm>
          <a:prstGeom prst="ellipse">
            <a:avLst/>
          </a:prstGeom>
          <a:solidFill>
            <a:srgbClr val="4BB3D4">
              <a:alpha val="30000"/>
            </a:srgbClr>
          </a:solidFill>
          <a:ln w="19050">
            <a:solidFill>
              <a:srgbClr val="4BB3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s71"/>
          <p:cNvSpPr/>
          <p:nvPr/>
        </p:nvSpPr>
        <p:spPr>
          <a:xfrm>
            <a:off x="3022600" y="3098800"/>
            <a:ext cx="1320800" cy="1320800"/>
          </a:xfrm>
          <a:prstGeom prst="ellipse">
            <a:avLst/>
          </a:prstGeom>
          <a:solidFill>
            <a:srgbClr val="F0708F">
              <a:alpha val="30000"/>
            </a:srgbClr>
          </a:solidFill>
          <a:ln w="19050">
            <a:solidFill>
              <a:srgbClr val="F070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72"/>
          <p:cNvSpPr txBox="1"/>
          <p:nvPr/>
        </p:nvSpPr>
        <p:spPr>
          <a:xfrm>
            <a:off x="2260600" y="2819400"/>
            <a:ext cx="1320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4BB3D4"/>
                </a:solidFill>
                <a:latin typeface="Segoe UI"/>
                <a:cs typeface="Segoe UI"/>
              </a:rPr>
              <a:t>Layer A</a:t>
            </a:r>
          </a:p>
        </p:txBody>
      </p:sp>
      <p:sp>
        <p:nvSpPr>
          <p:cNvPr id="72" name="t73"/>
          <p:cNvSpPr txBox="1"/>
          <p:nvPr/>
        </p:nvSpPr>
        <p:spPr>
          <a:xfrm>
            <a:off x="3022600" y="4495800"/>
            <a:ext cx="1320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0708F"/>
                </a:solidFill>
                <a:latin typeface="Segoe UI"/>
                <a:cs typeface="Segoe UI"/>
              </a:rPr>
              <a:t>Layer B</a:t>
            </a:r>
          </a:p>
        </p:txBody>
      </p:sp>
      <p:sp>
        <p:nvSpPr>
          <p:cNvPr id="73" name="s74"/>
          <p:cNvSpPr/>
          <p:nvPr/>
        </p:nvSpPr>
        <p:spPr>
          <a:xfrm>
            <a:off x="1143000" y="5232400"/>
            <a:ext cx="76200" cy="76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t75"/>
          <p:cNvSpPr txBox="1"/>
          <p:nvPr/>
        </p:nvSpPr>
        <p:spPr>
          <a:xfrm>
            <a:off x="1346200" y="51562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Output covers both layers combined</a:t>
            </a:r>
          </a:p>
        </p:txBody>
      </p:sp>
      <p:sp>
        <p:nvSpPr>
          <p:cNvPr id="75" name="s76"/>
          <p:cNvSpPr/>
          <p:nvPr/>
        </p:nvSpPr>
        <p:spPr>
          <a:xfrm>
            <a:off x="1143000" y="5588000"/>
            <a:ext cx="76200" cy="762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t77"/>
          <p:cNvSpPr txBox="1"/>
          <p:nvPr/>
        </p:nvSpPr>
        <p:spPr>
          <a:xfrm>
            <a:off x="1346200" y="55118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Attributes from A and B are joined</a:t>
            </a:r>
          </a:p>
        </p:txBody>
      </p:sp>
      <p:sp>
        <p:nvSpPr>
          <p:cNvPr id="77" name="pan78"/>
          <p:cNvSpPr/>
          <p:nvPr/>
        </p:nvSpPr>
        <p:spPr>
          <a:xfrm>
            <a:off x="6350000" y="2260600"/>
            <a:ext cx="5080000" cy="3886200"/>
          </a:xfrm>
          <a:prstGeom prst="roundRect">
            <a:avLst>
              <a:gd name="adj" fmla="val 4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8" name="t79"/>
          <p:cNvSpPr txBox="1"/>
          <p:nvPr/>
        </p:nvSpPr>
        <p:spPr>
          <a:xfrm>
            <a:off x="6705600" y="25400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4EFE9"/>
                </a:solidFill>
                <a:latin typeface="Georgia"/>
                <a:cs typeface="Georgia"/>
              </a:rPr>
              <a:t>Intersect</a:t>
            </a:r>
          </a:p>
        </p:txBody>
      </p:sp>
      <p:sp>
        <p:nvSpPr>
          <p:cNvPr id="79" name="s80"/>
          <p:cNvSpPr/>
          <p:nvPr/>
        </p:nvSpPr>
        <p:spPr>
          <a:xfrm>
            <a:off x="8369300" y="2565400"/>
            <a:ext cx="787400" cy="304800"/>
          </a:xfrm>
          <a:prstGeom prst="roundRect">
            <a:avLst>
              <a:gd name="adj" fmla="val 50000"/>
            </a:avLst>
          </a:prstGeom>
          <a:solidFill>
            <a:srgbClr val="22303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0708F"/>
                </a:solidFill>
                <a:latin typeface="Segoe UI"/>
                <a:cs typeface="Segoe UI"/>
              </a:rPr>
              <a:t>A ∩ B</a:t>
            </a:r>
          </a:p>
        </p:txBody>
      </p:sp>
      <p:sp>
        <p:nvSpPr>
          <p:cNvPr id="80" name="s81"/>
          <p:cNvSpPr/>
          <p:nvPr/>
        </p:nvSpPr>
        <p:spPr>
          <a:xfrm>
            <a:off x="7848600" y="3098800"/>
            <a:ext cx="1320800" cy="1320800"/>
          </a:xfrm>
          <a:prstGeom prst="ellipse">
            <a:avLst/>
          </a:prstGeom>
          <a:noFill/>
          <a:ln w="22225">
            <a:solidFill>
              <a:srgbClr val="4BB3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s82"/>
          <p:cNvSpPr/>
          <p:nvPr/>
        </p:nvSpPr>
        <p:spPr>
          <a:xfrm>
            <a:off x="8610600" y="3098800"/>
            <a:ext cx="1320800" cy="1320800"/>
          </a:xfrm>
          <a:prstGeom prst="ellipse">
            <a:avLst/>
          </a:prstGeom>
          <a:noFill/>
          <a:ln w="22225">
            <a:solidFill>
              <a:srgbClr val="F070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s83"/>
          <p:cNvSpPr/>
          <p:nvPr/>
        </p:nvSpPr>
        <p:spPr>
          <a:xfrm>
            <a:off x="8686800" y="3276600"/>
            <a:ext cx="406400" cy="965200"/>
          </a:xfrm>
          <a:prstGeom prst="ellipse">
            <a:avLst/>
          </a:prstGeom>
          <a:solidFill>
            <a:srgbClr val="F0708F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84"/>
          <p:cNvSpPr txBox="1"/>
          <p:nvPr/>
        </p:nvSpPr>
        <p:spPr>
          <a:xfrm>
            <a:off x="7848600" y="2819400"/>
            <a:ext cx="1320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4BB3D4"/>
                </a:solidFill>
                <a:latin typeface="Segoe UI"/>
                <a:cs typeface="Segoe UI"/>
              </a:rPr>
              <a:t>Layer A</a:t>
            </a:r>
          </a:p>
        </p:txBody>
      </p:sp>
      <p:sp>
        <p:nvSpPr>
          <p:cNvPr id="84" name="t85"/>
          <p:cNvSpPr txBox="1"/>
          <p:nvPr/>
        </p:nvSpPr>
        <p:spPr>
          <a:xfrm>
            <a:off x="8610600" y="4495800"/>
            <a:ext cx="1320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F0708F"/>
                </a:solidFill>
                <a:latin typeface="Segoe UI"/>
                <a:cs typeface="Segoe UI"/>
              </a:rPr>
              <a:t>Layer B</a:t>
            </a:r>
          </a:p>
        </p:txBody>
      </p:sp>
      <p:sp>
        <p:nvSpPr>
          <p:cNvPr id="85" name="s86"/>
          <p:cNvSpPr/>
          <p:nvPr/>
        </p:nvSpPr>
        <p:spPr>
          <a:xfrm>
            <a:off x="6731000" y="5232400"/>
            <a:ext cx="76200" cy="762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t87"/>
          <p:cNvSpPr txBox="1"/>
          <p:nvPr/>
        </p:nvSpPr>
        <p:spPr>
          <a:xfrm>
            <a:off x="6934200" y="51562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Output keeps only the shared overlap</a:t>
            </a:r>
          </a:p>
        </p:txBody>
      </p:sp>
      <p:sp>
        <p:nvSpPr>
          <p:cNvPr id="87" name="s88"/>
          <p:cNvSpPr/>
          <p:nvPr/>
        </p:nvSpPr>
        <p:spPr>
          <a:xfrm>
            <a:off x="6731000" y="5588000"/>
            <a:ext cx="76200" cy="762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t89"/>
          <p:cNvSpPr txBox="1"/>
          <p:nvPr/>
        </p:nvSpPr>
        <p:spPr>
          <a:xfrm>
            <a:off x="6934200" y="55118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A feature must exist in both layers</a:t>
            </a:r>
          </a:p>
        </p:txBody>
      </p:sp>
    </p:spTree>
    <p:extLst>
      <p:ext uri="{BB962C8B-B14F-4D97-AF65-F5344CB8AC3E}">
        <p14:creationId xmlns:p14="http://schemas.microsoft.com/office/powerpoint/2010/main" val="445546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18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10160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Overlay — parameters &amp; behaviour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How Union and Intersect combine two layers — geometry and attributes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368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F0708F"/>
                </a:solidFill>
                <a:latin typeface="Segoe UI"/>
                <a:cs typeface="Segoe UI"/>
              </a:rPr>
              <a:t>PARAMETERS</a:t>
            </a:r>
          </a:p>
        </p:txBody>
      </p:sp>
      <p:sp>
        <p:nvSpPr>
          <p:cNvPr id="67" name="c68"/>
          <p:cNvSpPr/>
          <p:nvPr/>
        </p:nvSpPr>
        <p:spPr>
          <a:xfrm>
            <a:off x="762000" y="2616200"/>
            <a:ext cx="5207000" cy="6858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8" name="s69"/>
          <p:cNvSpPr/>
          <p:nvPr/>
        </p:nvSpPr>
        <p:spPr>
          <a:xfrm>
            <a:off x="762000" y="2616200"/>
            <a:ext cx="63500" cy="6858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70"/>
          <p:cNvSpPr txBox="1"/>
          <p:nvPr/>
        </p:nvSpPr>
        <p:spPr>
          <a:xfrm>
            <a:off x="1066800" y="27305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4EFE9"/>
                </a:solidFill>
                <a:latin typeface="Georgia"/>
                <a:cs typeface="Georgia"/>
              </a:rPr>
              <a:t>Input Features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66800" y="30099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D6C7C2"/>
                </a:solidFill>
                <a:latin typeface="Segoe UI"/>
                <a:cs typeface="Segoe UI"/>
              </a:rPr>
              <a:t>Two or more polygon layers to combine.</a:t>
            </a:r>
          </a:p>
        </p:txBody>
      </p:sp>
      <p:sp>
        <p:nvSpPr>
          <p:cNvPr id="71" name="c72"/>
          <p:cNvSpPr/>
          <p:nvPr/>
        </p:nvSpPr>
        <p:spPr>
          <a:xfrm>
            <a:off x="762000" y="3429000"/>
            <a:ext cx="5207000" cy="6858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2" name="s73"/>
          <p:cNvSpPr/>
          <p:nvPr/>
        </p:nvSpPr>
        <p:spPr>
          <a:xfrm>
            <a:off x="762000" y="3429000"/>
            <a:ext cx="63500" cy="6858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74"/>
          <p:cNvSpPr txBox="1"/>
          <p:nvPr/>
        </p:nvSpPr>
        <p:spPr>
          <a:xfrm>
            <a:off x="1066800" y="35433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4EFE9"/>
                </a:solidFill>
                <a:latin typeface="Georgia"/>
                <a:cs typeface="Georgia"/>
              </a:rPr>
              <a:t>Join Attributes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066800" y="38227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D6C7C2"/>
                </a:solidFill>
                <a:latin typeface="Segoe UI"/>
                <a:cs typeface="Segoe UI"/>
              </a:rPr>
              <a:t>ALL · NO_FID · ONLY_FID — which fields reach the output.</a:t>
            </a:r>
          </a:p>
        </p:txBody>
      </p:sp>
      <p:sp>
        <p:nvSpPr>
          <p:cNvPr id="75" name="c76"/>
          <p:cNvSpPr/>
          <p:nvPr/>
        </p:nvSpPr>
        <p:spPr>
          <a:xfrm>
            <a:off x="762000" y="4241800"/>
            <a:ext cx="5207000" cy="6858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6" name="s77"/>
          <p:cNvSpPr/>
          <p:nvPr/>
        </p:nvSpPr>
        <p:spPr>
          <a:xfrm>
            <a:off x="762000" y="4241800"/>
            <a:ext cx="63500" cy="6858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t78"/>
          <p:cNvSpPr txBox="1"/>
          <p:nvPr/>
        </p:nvSpPr>
        <p:spPr>
          <a:xfrm>
            <a:off x="1066800" y="43561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4EFE9"/>
                </a:solidFill>
                <a:latin typeface="Georgia"/>
                <a:cs typeface="Georgia"/>
              </a:rPr>
              <a:t>XY Tolerance</a:t>
            </a:r>
          </a:p>
        </p:txBody>
      </p:sp>
      <p:sp>
        <p:nvSpPr>
          <p:cNvPr id="78" name="t79"/>
          <p:cNvSpPr txBox="1"/>
          <p:nvPr/>
        </p:nvSpPr>
        <p:spPr>
          <a:xfrm>
            <a:off x="1066800" y="46355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D6C7C2"/>
                </a:solidFill>
                <a:latin typeface="Segoe UI"/>
                <a:cs typeface="Segoe UI"/>
              </a:rPr>
              <a:t>Snap distance for coincident boundaries.</a:t>
            </a:r>
          </a:p>
        </p:txBody>
      </p:sp>
      <p:sp>
        <p:nvSpPr>
          <p:cNvPr id="79" name="c80"/>
          <p:cNvSpPr/>
          <p:nvPr/>
        </p:nvSpPr>
        <p:spPr>
          <a:xfrm>
            <a:off x="762000" y="5054600"/>
            <a:ext cx="5207000" cy="6858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s81"/>
          <p:cNvSpPr/>
          <p:nvPr/>
        </p:nvSpPr>
        <p:spPr>
          <a:xfrm>
            <a:off x="762000" y="5054600"/>
            <a:ext cx="63500" cy="6858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82"/>
          <p:cNvSpPr txBox="1"/>
          <p:nvPr/>
        </p:nvSpPr>
        <p:spPr>
          <a:xfrm>
            <a:off x="1066800" y="51689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4EFE9"/>
                </a:solidFill>
                <a:latin typeface="Georgia"/>
                <a:cs typeface="Georgia"/>
              </a:rPr>
              <a:t>Output Type</a:t>
            </a:r>
          </a:p>
        </p:txBody>
      </p:sp>
      <p:sp>
        <p:nvSpPr>
          <p:cNvPr id="82" name="t83"/>
          <p:cNvSpPr txBox="1"/>
          <p:nvPr/>
        </p:nvSpPr>
        <p:spPr>
          <a:xfrm>
            <a:off x="1066800" y="5448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D6C7C2"/>
                </a:solidFill>
                <a:latin typeface="Segoe UI"/>
                <a:cs typeface="Segoe UI"/>
              </a:rPr>
              <a:t>INPUT · LINE · POINT — dimension of the result.</a:t>
            </a:r>
          </a:p>
        </p:txBody>
      </p:sp>
      <p:sp>
        <p:nvSpPr>
          <p:cNvPr id="83" name="t84"/>
          <p:cNvSpPr txBox="1"/>
          <p:nvPr/>
        </p:nvSpPr>
        <p:spPr>
          <a:xfrm>
            <a:off x="762000" y="59690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60" dirty="0">
                <a:solidFill>
                  <a:srgbClr val="AE978E"/>
                </a:solidFill>
                <a:latin typeface="Segoe UI"/>
                <a:cs typeface="Segoe UI"/>
              </a:rPr>
              <a:t>SAME FAMILY:  IDENTITY · SYMMETRICAL DIFFERENCE · ERASE · UPDATE</a:t>
            </a:r>
          </a:p>
        </p:txBody>
      </p:sp>
      <p:sp>
        <p:nvSpPr>
          <p:cNvPr id="84" name="t85"/>
          <p:cNvSpPr txBox="1"/>
          <p:nvPr/>
        </p:nvSpPr>
        <p:spPr>
          <a:xfrm>
            <a:off x="6324600" y="2336800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AE978E"/>
                </a:solidFill>
                <a:latin typeface="Segoe UI"/>
                <a:cs typeface="Segoe UI"/>
              </a:rPr>
              <a:t>UNION  vs  INTERSECT</a:t>
            </a:r>
          </a:p>
        </p:txBody>
      </p:sp>
      <p:sp>
        <p:nvSpPr>
          <p:cNvPr id="85" name="c86"/>
          <p:cNvSpPr/>
          <p:nvPr/>
        </p:nvSpPr>
        <p:spPr>
          <a:xfrm>
            <a:off x="6324600" y="2667000"/>
            <a:ext cx="5105400" cy="12192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6" name="s87"/>
          <p:cNvSpPr/>
          <p:nvPr/>
        </p:nvSpPr>
        <p:spPr>
          <a:xfrm>
            <a:off x="6324600" y="2667000"/>
            <a:ext cx="63500" cy="12192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t88"/>
          <p:cNvSpPr txBox="1"/>
          <p:nvPr/>
        </p:nvSpPr>
        <p:spPr>
          <a:xfrm>
            <a:off x="6654800" y="28575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4EFE9"/>
                </a:solidFill>
                <a:latin typeface="Georgia"/>
                <a:cs typeface="Georgia"/>
              </a:rPr>
              <a:t>Union</a:t>
            </a:r>
          </a:p>
        </p:txBody>
      </p:sp>
      <p:sp>
        <p:nvSpPr>
          <p:cNvPr id="88" name="s89"/>
          <p:cNvSpPr/>
          <p:nvPr/>
        </p:nvSpPr>
        <p:spPr>
          <a:xfrm>
            <a:off x="9982200" y="287020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4BB3D4">
              <a:alpha val="15000"/>
            </a:srgbClr>
          </a:solidFill>
          <a:ln w="12700">
            <a:solidFill>
              <a:srgbClr val="4BB3D4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150" b="1" spc="40" dirty="0">
                <a:solidFill>
                  <a:srgbClr val="4BB3D4"/>
                </a:solidFill>
                <a:latin typeface="Segoe UI"/>
                <a:cs typeface="Segoe UI"/>
              </a:rPr>
              <a:t>A ∪ B</a:t>
            </a:r>
          </a:p>
        </p:txBody>
      </p:sp>
      <p:sp>
        <p:nvSpPr>
          <p:cNvPr id="89" name="t90"/>
          <p:cNvSpPr txBox="1"/>
          <p:nvPr/>
        </p:nvSpPr>
        <p:spPr>
          <a:xfrm>
            <a:off x="6654800" y="32512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Keeps ALL area from both inputs. Outside the overlap, the other layer's fields are left null.</a:t>
            </a:r>
          </a:p>
        </p:txBody>
      </p:sp>
      <p:sp>
        <p:nvSpPr>
          <p:cNvPr id="90" name="c91"/>
          <p:cNvSpPr/>
          <p:nvPr/>
        </p:nvSpPr>
        <p:spPr>
          <a:xfrm>
            <a:off x="6324600" y="3987800"/>
            <a:ext cx="5105400" cy="12192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1" name="s92"/>
          <p:cNvSpPr/>
          <p:nvPr/>
        </p:nvSpPr>
        <p:spPr>
          <a:xfrm>
            <a:off x="6324600" y="3987800"/>
            <a:ext cx="63500" cy="12192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t93"/>
          <p:cNvSpPr txBox="1"/>
          <p:nvPr/>
        </p:nvSpPr>
        <p:spPr>
          <a:xfrm>
            <a:off x="6654800" y="41783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4EFE9"/>
                </a:solidFill>
                <a:latin typeface="Georgia"/>
                <a:cs typeface="Georgia"/>
              </a:rPr>
              <a:t>Intersect</a:t>
            </a:r>
          </a:p>
        </p:txBody>
      </p:sp>
      <p:sp>
        <p:nvSpPr>
          <p:cNvPr id="93" name="s94"/>
          <p:cNvSpPr/>
          <p:nvPr/>
        </p:nvSpPr>
        <p:spPr>
          <a:xfrm>
            <a:off x="9982200" y="419100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F0708F">
              <a:alpha val="15000"/>
            </a:srgbClr>
          </a:solidFill>
          <a:ln w="12700">
            <a:solidFill>
              <a:srgbClr val="F0708F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150" b="1" spc="40" dirty="0">
                <a:solidFill>
                  <a:srgbClr val="F0708F"/>
                </a:solidFill>
                <a:latin typeface="Segoe UI"/>
                <a:cs typeface="Segoe UI"/>
              </a:rPr>
              <a:t>A ∩ B</a:t>
            </a:r>
          </a:p>
        </p:txBody>
      </p:sp>
      <p:sp>
        <p:nvSpPr>
          <p:cNvPr id="94" name="t95"/>
          <p:cNvSpPr txBox="1"/>
          <p:nvPr/>
        </p:nvSpPr>
        <p:spPr>
          <a:xfrm>
            <a:off x="6654800" y="45720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D6C7C2"/>
                </a:solidFill>
                <a:latin typeface="Segoe UI"/>
                <a:cs typeface="Segoe UI"/>
              </a:rPr>
              <a:t>Keeps ONLY the overlapping area. Every output feature carries attributes from both layers.</a:t>
            </a:r>
          </a:p>
        </p:txBody>
      </p:sp>
      <p:sp>
        <p:nvSpPr>
          <p:cNvPr id="95" name="c96"/>
          <p:cNvSpPr/>
          <p:nvPr/>
        </p:nvSpPr>
        <p:spPr>
          <a:xfrm>
            <a:off x="6324600" y="5435600"/>
            <a:ext cx="5105400" cy="7366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6" name="s97"/>
          <p:cNvSpPr/>
          <p:nvPr/>
        </p:nvSpPr>
        <p:spPr>
          <a:xfrm>
            <a:off x="6324600" y="5435600"/>
            <a:ext cx="63500" cy="7366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t98"/>
          <p:cNvSpPr txBox="1"/>
          <p:nvPr/>
        </p:nvSpPr>
        <p:spPr>
          <a:xfrm>
            <a:off x="6629400" y="5588000"/>
            <a:ext cx="4572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7A6BC"/>
                </a:solidFill>
                <a:latin typeface="Segoe UI"/>
                <a:cs typeface="Segoe UI"/>
              </a:rPr>
              <a:t>Both stamp a combined attribute row on every output — the real payoff over a plain Clip.</a:t>
            </a:r>
          </a:p>
        </p:txBody>
      </p:sp>
    </p:spTree>
    <p:extLst>
      <p:ext uri="{BB962C8B-B14F-4D97-AF65-F5344CB8AC3E}">
        <p14:creationId xmlns:p14="http://schemas.microsoft.com/office/powerpoint/2010/main" val="13851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19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Overlay in action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Where do prime soils and agricultural zoning agree?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3622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F0708F"/>
                </a:solidFill>
                <a:latin typeface="Segoe UI"/>
                <a:cs typeface="Segoe UI"/>
              </a:rPr>
              <a:t>THE TASK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762000" y="2667000"/>
            <a:ext cx="5232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C7C2"/>
                </a:solidFill>
                <a:latin typeface="Segoe UI"/>
                <a:cs typeface="Segoe UI"/>
              </a:rPr>
              <a:t>Find every area that is BOTH prime farmland (soils) AND zoned agricultural — the land most worth protecting.</a:t>
            </a:r>
          </a:p>
        </p:txBody>
      </p:sp>
      <p:sp>
        <p:nvSpPr>
          <p:cNvPr id="68" name="c69"/>
          <p:cNvSpPr/>
          <p:nvPr/>
        </p:nvSpPr>
        <p:spPr>
          <a:xfrm>
            <a:off x="762000" y="3606800"/>
            <a:ext cx="5207000" cy="14732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t70"/>
          <p:cNvSpPr txBox="1"/>
          <p:nvPr/>
        </p:nvSpPr>
        <p:spPr>
          <a:xfrm>
            <a:off x="1066800" y="3759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60" dirty="0">
                <a:solidFill>
                  <a:srgbClr val="AE978E"/>
                </a:solidFill>
                <a:latin typeface="Segoe UI"/>
                <a:cs typeface="Segoe UI"/>
              </a:rPr>
              <a:t>TOOL RECIPE</a:t>
            </a:r>
          </a:p>
        </p:txBody>
      </p:sp>
      <p:sp>
        <p:nvSpPr>
          <p:cNvPr id="70" name="t71"/>
          <p:cNvSpPr txBox="1"/>
          <p:nvPr/>
        </p:nvSpPr>
        <p:spPr>
          <a:xfrm>
            <a:off x="1066800" y="40386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Inputs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2717800" y="40386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4EFE9"/>
                </a:solidFill>
                <a:latin typeface="Segoe UI"/>
                <a:cs typeface="Segoe UI"/>
              </a:rPr>
              <a:t>Soils  +  Zoning (polygon)</a:t>
            </a:r>
          </a:p>
        </p:txBody>
      </p:sp>
      <p:sp>
        <p:nvSpPr>
          <p:cNvPr id="72" name="t73"/>
          <p:cNvSpPr txBox="1"/>
          <p:nvPr/>
        </p:nvSpPr>
        <p:spPr>
          <a:xfrm>
            <a:off x="1066800" y="4368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Tool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2717800" y="43688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4EFE9"/>
                </a:solidFill>
                <a:latin typeface="Segoe UI"/>
                <a:cs typeface="Segoe UI"/>
              </a:rPr>
              <a:t>Intersect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1066800" y="46990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AE978E"/>
                </a:solidFill>
                <a:latin typeface="Segoe UI"/>
                <a:cs typeface="Segoe UI"/>
              </a:rPr>
              <a:t>Join Attributes</a:t>
            </a:r>
          </a:p>
        </p:txBody>
      </p:sp>
      <p:sp>
        <p:nvSpPr>
          <p:cNvPr id="75" name="t76"/>
          <p:cNvSpPr txBox="1"/>
          <p:nvPr/>
        </p:nvSpPr>
        <p:spPr>
          <a:xfrm>
            <a:off x="2717800" y="46990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4EFE9"/>
                </a:solidFill>
                <a:latin typeface="Segoe UI"/>
                <a:cs typeface="Segoe UI"/>
              </a:rPr>
              <a:t>ALL</a:t>
            </a:r>
          </a:p>
        </p:txBody>
      </p:sp>
      <p:sp>
        <p:nvSpPr>
          <p:cNvPr id="76" name="c77"/>
          <p:cNvSpPr/>
          <p:nvPr/>
        </p:nvSpPr>
        <p:spPr>
          <a:xfrm>
            <a:off x="762000" y="5257800"/>
            <a:ext cx="5207000" cy="8128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78"/>
          <p:cNvSpPr/>
          <p:nvPr/>
        </p:nvSpPr>
        <p:spPr>
          <a:xfrm>
            <a:off x="762000" y="5257800"/>
            <a:ext cx="63500" cy="8128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79"/>
          <p:cNvSpPr txBox="1"/>
          <p:nvPr/>
        </p:nvSpPr>
        <p:spPr>
          <a:xfrm>
            <a:off x="1066800" y="5410200"/>
            <a:ext cx="4572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7A6BC"/>
                </a:solidFill>
                <a:latin typeface="Segoe UI"/>
                <a:cs typeface="Segoe UI"/>
              </a:rPr>
              <a:t>Result 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polygons that are prime AND agricultural, tagged with both soil class and zoning code.</a:t>
            </a:r>
          </a:p>
        </p:txBody>
      </p:sp>
      <p:sp>
        <p:nvSpPr>
          <p:cNvPr id="79" name="c80"/>
          <p:cNvSpPr/>
          <p:nvPr/>
        </p:nvSpPr>
        <p:spPr>
          <a:xfrm>
            <a:off x="6324600" y="2362200"/>
            <a:ext cx="5105400" cy="3200400"/>
          </a:xfrm>
          <a:prstGeom prst="roundRect">
            <a:avLst>
              <a:gd name="adj" fmla="val 50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t81"/>
          <p:cNvSpPr txBox="1"/>
          <p:nvPr/>
        </p:nvSpPr>
        <p:spPr>
          <a:xfrm>
            <a:off x="660400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AE978E"/>
                </a:solidFill>
                <a:latin typeface="Segoe UI"/>
                <a:cs typeface="Segoe UI"/>
              </a:rPr>
              <a:t>SCHEMATIC — INTERSECT</a:t>
            </a:r>
          </a:p>
        </p:txBody>
      </p:sp>
      <p:sp>
        <p:nvSpPr>
          <p:cNvPr id="81" name="t82"/>
          <p:cNvSpPr txBox="1"/>
          <p:nvPr/>
        </p:nvSpPr>
        <p:spPr>
          <a:xfrm>
            <a:off x="6604000" y="29210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20" dirty="0">
                <a:solidFill>
                  <a:srgbClr val="AE978E"/>
                </a:solidFill>
                <a:latin typeface="Segoe UI"/>
                <a:cs typeface="Segoe UI"/>
              </a:rPr>
              <a:t>BEFORE</a:t>
            </a:r>
          </a:p>
        </p:txBody>
      </p:sp>
      <p:sp>
        <p:nvSpPr>
          <p:cNvPr id="82" name="t83"/>
          <p:cNvSpPr txBox="1"/>
          <p:nvPr/>
        </p:nvSpPr>
        <p:spPr>
          <a:xfrm>
            <a:off x="9423400" y="29210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1" spc="120" dirty="0">
                <a:solidFill>
                  <a:srgbClr val="AE978E"/>
                </a:solidFill>
                <a:latin typeface="Segoe UI"/>
                <a:cs typeface="Segoe UI"/>
              </a:rPr>
              <a:t>AFTER</a:t>
            </a:r>
          </a:p>
        </p:txBody>
      </p:sp>
      <p:sp>
        <p:nvSpPr>
          <p:cNvPr id="83" name="s84"/>
          <p:cNvSpPr/>
          <p:nvPr/>
        </p:nvSpPr>
        <p:spPr>
          <a:xfrm>
            <a:off x="6654800" y="3200400"/>
            <a:ext cx="1320800" cy="1219200"/>
          </a:xfrm>
          <a:prstGeom prst="roundRect">
            <a:avLst>
              <a:gd name="adj" fmla="val 8000"/>
            </a:avLst>
          </a:prstGeom>
          <a:solidFill>
            <a:srgbClr val="4BB3D4">
              <a:alpha val="22000"/>
            </a:srgbClr>
          </a:solidFill>
          <a:ln w="19050">
            <a:solidFill>
              <a:srgbClr val="4BB3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s85"/>
          <p:cNvSpPr/>
          <p:nvPr/>
        </p:nvSpPr>
        <p:spPr>
          <a:xfrm>
            <a:off x="7442200" y="3556000"/>
            <a:ext cx="1320800" cy="1219200"/>
          </a:xfrm>
          <a:prstGeom prst="roundRect">
            <a:avLst>
              <a:gd name="adj" fmla="val 8000"/>
            </a:avLst>
          </a:prstGeom>
          <a:solidFill>
            <a:srgbClr val="F0708F">
              <a:alpha val="22000"/>
            </a:srgbClr>
          </a:solidFill>
          <a:ln w="19050">
            <a:solidFill>
              <a:srgbClr val="F070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t86"/>
          <p:cNvSpPr txBox="1"/>
          <p:nvPr/>
        </p:nvSpPr>
        <p:spPr>
          <a:xfrm>
            <a:off x="6654800" y="32258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8FD6EA"/>
                </a:solidFill>
                <a:latin typeface="Segoe UI"/>
                <a:cs typeface="Segoe UI"/>
              </a:rPr>
              <a:t>Soils</a:t>
            </a:r>
          </a:p>
        </p:txBody>
      </p:sp>
      <p:sp>
        <p:nvSpPr>
          <p:cNvPr id="86" name="t87"/>
          <p:cNvSpPr txBox="1"/>
          <p:nvPr/>
        </p:nvSpPr>
        <p:spPr>
          <a:xfrm>
            <a:off x="8077200" y="45720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F7A6BC"/>
                </a:solidFill>
                <a:latin typeface="Segoe UI"/>
                <a:cs typeface="Segoe UI"/>
              </a:rPr>
              <a:t>Zoning</a:t>
            </a:r>
          </a:p>
        </p:txBody>
      </p:sp>
      <p:sp>
        <p:nvSpPr>
          <p:cNvPr id="87" name="s88"/>
          <p:cNvSpPr/>
          <p:nvPr/>
        </p:nvSpPr>
        <p:spPr>
          <a:xfrm>
            <a:off x="8890000" y="3810000"/>
            <a:ext cx="431800" cy="279400"/>
          </a:xfrm>
          <a:prstGeom prst="rightArrow">
            <a:avLst/>
          </a:prstGeom>
          <a:solidFill>
            <a:srgbClr val="9AA6A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s89"/>
          <p:cNvSpPr/>
          <p:nvPr/>
        </p:nvSpPr>
        <p:spPr>
          <a:xfrm>
            <a:off x="9448800" y="3200400"/>
            <a:ext cx="1320800" cy="12192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BB3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s90"/>
          <p:cNvSpPr/>
          <p:nvPr/>
        </p:nvSpPr>
        <p:spPr>
          <a:xfrm>
            <a:off x="10236200" y="3556000"/>
            <a:ext cx="1320800" cy="12192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F070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s91"/>
          <p:cNvSpPr/>
          <p:nvPr/>
        </p:nvSpPr>
        <p:spPr>
          <a:xfrm>
            <a:off x="10236200" y="3556000"/>
            <a:ext cx="533400" cy="863600"/>
          </a:xfrm>
          <a:prstGeom prst="roundRect">
            <a:avLst>
              <a:gd name="adj" fmla="val 10000"/>
            </a:avLst>
          </a:prstGeom>
          <a:solidFill>
            <a:srgbClr val="F0708F">
              <a:alpha val="9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t92"/>
          <p:cNvSpPr txBox="1"/>
          <p:nvPr/>
        </p:nvSpPr>
        <p:spPr>
          <a:xfrm>
            <a:off x="10058400" y="44704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F7A6BC"/>
                </a:solidFill>
                <a:latin typeface="Segoe UI"/>
                <a:cs typeface="Segoe UI"/>
              </a:rPr>
              <a:t>kept: both</a:t>
            </a:r>
          </a:p>
        </p:txBody>
      </p:sp>
      <p:sp>
        <p:nvSpPr>
          <p:cNvPr id="92" name="t93"/>
          <p:cNvSpPr txBox="1"/>
          <p:nvPr/>
        </p:nvSpPr>
        <p:spPr>
          <a:xfrm>
            <a:off x="6604000" y="51816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E978E"/>
                </a:solidFill>
                <a:latin typeface="Segoe UI"/>
                <a:cs typeface="Segoe UI"/>
              </a:rPr>
              <a:t>Intersect keeps only where both layers coincide — tagged with both tables.</a:t>
            </a:r>
          </a:p>
        </p:txBody>
      </p:sp>
    </p:spTree>
    <p:extLst>
      <p:ext uri="{BB962C8B-B14F-4D97-AF65-F5344CB8AC3E}">
        <p14:creationId xmlns:p14="http://schemas.microsoft.com/office/powerpoint/2010/main" val="683826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5A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20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652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Choosing the right tool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9906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Four operations, four different spatial jobs</a:t>
            </a:r>
          </a:p>
        </p:txBody>
      </p:sp>
      <p:sp>
        <p:nvSpPr>
          <p:cNvPr id="65" name="r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FD3916-ED63-4903-850E-9780C3A157F5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311400"/>
          <a:ext cx="10160000" cy="29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24949573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2129429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0118495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6843610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474211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Tool</a:t>
                      </a:r>
                    </a:p>
                  </a:txBody>
                  <a:tcPr anchor="ctr">
                    <a:solidFill>
                      <a:srgbClr val="1607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Input</a:t>
                      </a:r>
                    </a:p>
                  </a:txBody>
                  <a:tcPr anchor="ctr">
                    <a:solidFill>
                      <a:srgbClr val="1607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Key setting</a:t>
                      </a:r>
                    </a:p>
                  </a:txBody>
                  <a:tcPr anchor="ctr">
                    <a:solidFill>
                      <a:srgbClr val="1607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1607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Typical question</a:t>
                      </a:r>
                    </a:p>
                  </a:txBody>
                  <a:tcPr anchor="ctr">
                    <a:solidFill>
                      <a:srgbClr val="1607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1085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B3D4"/>
                          </a:solidFill>
                          <a:latin typeface="Georgia"/>
                          <a:cs typeface="Segoe UI"/>
                        </a:rPr>
                        <a:t>Buffer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Point / line / polygon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Distance + units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Polygon zones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What lies within X of this?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43419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34B39A"/>
                          </a:solidFill>
                          <a:latin typeface="Georgia"/>
                          <a:cs typeface="Segoe UI"/>
                        </a:rPr>
                        <a:t>Clip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Layer + boundary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Clip feature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Trimmed input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What falls inside my area?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84550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B98BE6"/>
                          </a:solidFill>
                          <a:latin typeface="Georgia"/>
                          <a:cs typeface="Segoe UI"/>
                        </a:rPr>
                        <a:t>Dissolve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Polygons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Field to group by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Fewer merged polygons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Can I merge by category?</a:t>
                      </a:r>
                    </a:p>
                  </a:txBody>
                  <a:tcPr anchor="ctr">
                    <a:solidFill>
                      <a:srgbClr val="35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94265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0708F"/>
                          </a:solidFill>
                          <a:latin typeface="Georgia"/>
                          <a:cs typeface="Segoe UI"/>
                        </a:rPr>
                        <a:t>Overlay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Two layers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Union or Intersect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Combined layer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>
                          <a:solidFill>
                            <a:srgbClr val="D6C7C2"/>
                          </a:solidFill>
                          <a:latin typeface="Segoe UI"/>
                          <a:cs typeface="Segoe UI"/>
                        </a:rPr>
                        <a:t>How do two layers relate?</a:t>
                      </a:r>
                    </a:p>
                  </a:txBody>
                  <a:tcPr anchor="ctr">
                    <a:solidFill>
                      <a:srgbClr val="3E1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05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178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0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t501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 dirty="0">
                <a:solidFill>
                  <a:srgbClr val="AE978E"/>
                </a:solidFill>
                <a:latin typeface="Segoe UI"/>
                <a:cs typeface="Segoe UI"/>
              </a:rPr>
              <a:t>21 / 23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Your turn — hands-on lab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524000" y="1422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Chain all four tools into one workflow in ArcGIS Pro</a:t>
            </a:r>
          </a:p>
        </p:txBody>
      </p:sp>
      <p:sp>
        <p:nvSpPr>
          <p:cNvPr id="505" name="s505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t506"/>
          <p:cNvSpPr txBox="1"/>
          <p:nvPr/>
        </p:nvSpPr>
        <p:spPr>
          <a:xfrm>
            <a:off x="762000" y="23368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E0B54C"/>
                </a:solidFill>
                <a:latin typeface="Segoe UI"/>
                <a:cs typeface="Segoe UI"/>
              </a:rPr>
              <a:t>TASK</a:t>
            </a:r>
          </a:p>
        </p:txBody>
      </p:sp>
      <p:sp>
        <p:nvSpPr>
          <p:cNvPr id="507" name="t507"/>
          <p:cNvSpPr txBox="1"/>
          <p:nvPr/>
        </p:nvSpPr>
        <p:spPr>
          <a:xfrm>
            <a:off x="762000" y="2616200"/>
            <a:ext cx="533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Flag schools within 500 m of a flood zone and inside the city limits — counted by district.</a:t>
            </a:r>
          </a:p>
        </p:txBody>
      </p:sp>
      <p:sp>
        <p:nvSpPr>
          <p:cNvPr id="508" name="s508"/>
          <p:cNvSpPr/>
          <p:nvPr/>
        </p:nvSpPr>
        <p:spPr>
          <a:xfrm>
            <a:off x="941070" y="3390900"/>
            <a:ext cx="22860" cy="2438400"/>
          </a:xfrm>
          <a:prstGeom prst="rect">
            <a:avLst/>
          </a:prstGeom>
          <a:solidFill>
            <a:srgbClr val="4A40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ch509"/>
          <p:cNvSpPr/>
          <p:nvPr/>
        </p:nvSpPr>
        <p:spPr>
          <a:xfrm>
            <a:off x="762000" y="3200400"/>
            <a:ext cx="381000" cy="381000"/>
          </a:xfrm>
          <a:prstGeom prst="ellipse">
            <a:avLst/>
          </a:prstGeom>
          <a:solidFill>
            <a:srgbClr val="E0B54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510" name="t510"/>
          <p:cNvSpPr txBox="1"/>
          <p:nvPr/>
        </p:nvSpPr>
        <p:spPr>
          <a:xfrm>
            <a:off x="1346200" y="3225800"/>
            <a:ext cx="48768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BD4"/>
                </a:solidFill>
                <a:latin typeface="Segoe UI"/>
                <a:cs typeface="Segoe UI"/>
              </a:rPr>
              <a:t>Add the schools, flood-zone and city-boundary layers to your map.</a:t>
            </a:r>
          </a:p>
        </p:txBody>
      </p:sp>
      <p:sp>
        <p:nvSpPr>
          <p:cNvPr id="511" name="ch511"/>
          <p:cNvSpPr/>
          <p:nvPr/>
        </p:nvSpPr>
        <p:spPr>
          <a:xfrm>
            <a:off x="762000" y="3810000"/>
            <a:ext cx="381000" cy="381000"/>
          </a:xfrm>
          <a:prstGeom prst="ellipse">
            <a:avLst/>
          </a:prstGeom>
          <a:solidFill>
            <a:srgbClr val="E0B54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512" name="t512"/>
          <p:cNvSpPr txBox="1"/>
          <p:nvPr/>
        </p:nvSpPr>
        <p:spPr>
          <a:xfrm>
            <a:off x="1346200" y="3835400"/>
            <a:ext cx="48768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BD4"/>
                </a:solidFill>
                <a:latin typeface="Segoe UI"/>
                <a:cs typeface="Segoe UI"/>
              </a:rPr>
              <a:t>Buffer the flood zone by 500 m (Method: Geodesic, Dissolve: ALL).</a:t>
            </a:r>
          </a:p>
        </p:txBody>
      </p:sp>
      <p:sp>
        <p:nvSpPr>
          <p:cNvPr id="513" name="ch513"/>
          <p:cNvSpPr/>
          <p:nvPr/>
        </p:nvSpPr>
        <p:spPr>
          <a:xfrm>
            <a:off x="762000" y="4419600"/>
            <a:ext cx="381000" cy="381000"/>
          </a:xfrm>
          <a:prstGeom prst="ellipse">
            <a:avLst/>
          </a:prstGeom>
          <a:solidFill>
            <a:srgbClr val="E0B54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514" name="t514"/>
          <p:cNvSpPr txBox="1"/>
          <p:nvPr/>
        </p:nvSpPr>
        <p:spPr>
          <a:xfrm>
            <a:off x="1346200" y="4445000"/>
            <a:ext cx="48768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BD4"/>
                </a:solidFill>
                <a:latin typeface="Segoe UI"/>
                <a:cs typeface="Segoe UI"/>
              </a:rPr>
              <a:t>Clip the schools layer to the city boundary.</a:t>
            </a:r>
          </a:p>
        </p:txBody>
      </p:sp>
      <p:sp>
        <p:nvSpPr>
          <p:cNvPr id="515" name="ch515"/>
          <p:cNvSpPr/>
          <p:nvPr/>
        </p:nvSpPr>
        <p:spPr>
          <a:xfrm>
            <a:off x="762000" y="5029200"/>
            <a:ext cx="381000" cy="381000"/>
          </a:xfrm>
          <a:prstGeom prst="ellipse">
            <a:avLst/>
          </a:prstGeom>
          <a:solidFill>
            <a:srgbClr val="E0B54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516" name="t516"/>
          <p:cNvSpPr txBox="1"/>
          <p:nvPr/>
        </p:nvSpPr>
        <p:spPr>
          <a:xfrm>
            <a:off x="1346200" y="5054600"/>
            <a:ext cx="48768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BD4"/>
                </a:solidFill>
                <a:latin typeface="Segoe UI"/>
                <a:cs typeface="Segoe UI"/>
              </a:rPr>
              <a:t>Intersect the clipped schools with the flood buffer.</a:t>
            </a:r>
          </a:p>
        </p:txBody>
      </p:sp>
      <p:sp>
        <p:nvSpPr>
          <p:cNvPr id="517" name="ch517"/>
          <p:cNvSpPr/>
          <p:nvPr/>
        </p:nvSpPr>
        <p:spPr>
          <a:xfrm>
            <a:off x="762000" y="5638800"/>
            <a:ext cx="381000" cy="381000"/>
          </a:xfrm>
          <a:prstGeom prst="ellipse">
            <a:avLst/>
          </a:prstGeom>
          <a:solidFill>
            <a:srgbClr val="E0B54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518" name="t518"/>
          <p:cNvSpPr txBox="1"/>
          <p:nvPr/>
        </p:nvSpPr>
        <p:spPr>
          <a:xfrm>
            <a:off x="1346200" y="5664200"/>
            <a:ext cx="48768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E7DBD4"/>
                </a:solidFill>
                <a:latin typeface="Segoe UI"/>
                <a:cs typeface="Segoe UI"/>
              </a:rPr>
              <a:t>Dissolve the result by district to count schools per area.</a:t>
            </a:r>
          </a:p>
        </p:txBody>
      </p:sp>
      <p:sp>
        <p:nvSpPr>
          <p:cNvPr id="201" name="c201"/>
          <p:cNvSpPr/>
          <p:nvPr/>
        </p:nvSpPr>
        <p:spPr>
          <a:xfrm>
            <a:off x="6426200" y="2362200"/>
            <a:ext cx="5308600" cy="19050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2" name="s202"/>
          <p:cNvSpPr/>
          <p:nvPr/>
        </p:nvSpPr>
        <p:spPr>
          <a:xfrm>
            <a:off x="6426200" y="2362200"/>
            <a:ext cx="63500" cy="1905000"/>
          </a:xfrm>
          <a:prstGeom prst="roundRect">
            <a:avLst>
              <a:gd name="adj" fmla="val 40000"/>
            </a:avLst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3"/>
          <p:cNvSpPr txBox="1"/>
          <p:nvPr/>
        </p:nvSpPr>
        <p:spPr>
          <a:xfrm>
            <a:off x="6731000" y="2590800"/>
            <a:ext cx="47244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60" dirty="0">
                <a:solidFill>
                  <a:srgbClr val="E0B54C"/>
                </a:solidFill>
                <a:latin typeface="Segoe UI"/>
                <a:cs typeface="Segoe UI"/>
              </a:rPr>
              <a:t>ANSWER KEY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F4EFE9"/>
                </a:solidFill>
                <a:latin typeface="Segoe UI"/>
                <a:cs typeface="Segoe UI"/>
              </a:rPr>
              <a:t>Step 2 —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Geodesic + Dissolve ALL make one clean corridor.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4EFE9"/>
                </a:solidFill>
                <a:latin typeface="Segoe UI"/>
                <a:cs typeface="Segoe UI"/>
              </a:rPr>
              <a:t>Step 4 —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Intersect keeps only schools inside the buffer.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4EFE9"/>
                </a:solidFill>
                <a:latin typeface="Segoe UI"/>
                <a:cs typeface="Segoe UI"/>
              </a:rPr>
              <a:t>Step 5 — 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Dissolve by district adds a COUNT per area.</a:t>
            </a:r>
          </a:p>
        </p:txBody>
      </p:sp>
      <p:sp>
        <p:nvSpPr>
          <p:cNvPr id="221" name="c221"/>
          <p:cNvSpPr/>
          <p:nvPr/>
        </p:nvSpPr>
        <p:spPr>
          <a:xfrm>
            <a:off x="6426200" y="4470400"/>
            <a:ext cx="5308600" cy="17526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2" name="s222"/>
          <p:cNvSpPr/>
          <p:nvPr/>
        </p:nvSpPr>
        <p:spPr>
          <a:xfrm>
            <a:off x="6426200" y="4470400"/>
            <a:ext cx="63500" cy="17526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t223"/>
          <p:cNvSpPr txBox="1"/>
          <p:nvPr/>
        </p:nvSpPr>
        <p:spPr>
          <a:xfrm>
            <a:off x="6731000" y="4699000"/>
            <a:ext cx="47244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60" dirty="0">
                <a:solidFill>
                  <a:srgbClr val="7FD9C2"/>
                </a:solidFill>
                <a:latin typeface="Segoe UI"/>
                <a:cs typeface="Segoe UI"/>
              </a:rPr>
              <a:t>EXPECTED RESULT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buNone/>
            </a:pPr>
            <a:r>
              <a:rPr lang="en-US" sz="1350" dirty="0">
                <a:solidFill>
                  <a:srgbClr val="D6C7C2"/>
                </a:solidFill>
                <a:latin typeface="Segoe UI"/>
                <a:cs typeface="Segoe UI"/>
              </a:rPr>
              <a:t>A short, per-district list of flood-exposed schools — produced by chaining Buffer → Clip → Intersect → Dissolve into one repeatable model you can re-run any time.</a:t>
            </a:r>
          </a:p>
        </p:txBody>
      </p:sp>
      <p:sp>
        <p:nvSpPr>
          <p:cNvPr id="210" name="s210"/>
          <p:cNvSpPr/>
          <p:nvPr/>
        </p:nvSpPr>
        <p:spPr>
          <a:xfrm>
            <a:off x="6426200" y="2362200"/>
            <a:ext cx="5308600" cy="1905000"/>
          </a:xfrm>
          <a:prstGeom prst="roundRect">
            <a:avLst>
              <a:gd name="adj" fmla="val 4500"/>
            </a:avLst>
          </a:prstGeom>
          <a:solidFill>
            <a:srgbClr val="3A3220"/>
          </a:solidFill>
          <a:ln w="19050">
            <a:solidFill>
              <a:srgbClr val="E0B54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1" name="t211"/>
          <p:cNvSpPr txBox="1"/>
          <p:nvPr/>
        </p:nvSpPr>
        <p:spPr>
          <a:xfrm>
            <a:off x="6426200" y="2362200"/>
            <a:ext cx="5308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spc="40" dirty="0">
                <a:solidFill>
                  <a:srgbClr val="E0B54C"/>
                </a:solidFill>
                <a:latin typeface="Segoe UI"/>
                <a:cs typeface="Segoe UI"/>
              </a:rPr>
              <a:t>▸  Click to reveal the Answer Key</a:t>
            </a:r>
          </a:p>
        </p:txBody>
      </p:sp>
      <p:sp>
        <p:nvSpPr>
          <p:cNvPr id="230" name="s230"/>
          <p:cNvSpPr/>
          <p:nvPr/>
        </p:nvSpPr>
        <p:spPr>
          <a:xfrm>
            <a:off x="6426200" y="4470400"/>
            <a:ext cx="5308600" cy="1752600"/>
          </a:xfrm>
          <a:prstGeom prst="roundRect">
            <a:avLst>
              <a:gd name="adj" fmla="val 4500"/>
            </a:avLst>
          </a:prstGeom>
          <a:solidFill>
            <a:srgbClr val="1C332E"/>
          </a:solidFill>
          <a:ln w="19050">
            <a:solidFill>
              <a:srgbClr val="34B39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1" name="t231"/>
          <p:cNvSpPr txBox="1"/>
          <p:nvPr/>
        </p:nvSpPr>
        <p:spPr>
          <a:xfrm>
            <a:off x="6426200" y="4470400"/>
            <a:ext cx="5308600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spc="40" dirty="0">
                <a:solidFill>
                  <a:srgbClr val="7FD9C2"/>
                </a:solidFill>
                <a:latin typeface="Segoe UI"/>
                <a:cs typeface="Segoe UI"/>
              </a:rPr>
              <a:t>▸  Click to reveal the Expected Result</a:t>
            </a:r>
          </a:p>
        </p:txBody>
      </p:sp>
    </p:spTree>
    <p:extLst>
      <p:ext uri="{BB962C8B-B14F-4D97-AF65-F5344CB8AC3E}">
        <p14:creationId xmlns:p14="http://schemas.microsoft.com/office/powerpoint/2010/main" val="354704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0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t501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 dirty="0">
                <a:solidFill>
                  <a:srgbClr val="AE978E"/>
                </a:solidFill>
                <a:latin typeface="Segoe UI"/>
                <a:cs typeface="Segoe UI"/>
              </a:rPr>
              <a:t>22 / 23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1498600" y="812800"/>
            <a:ext cx="990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Knowledge check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524000" y="1422400"/>
            <a:ext cx="10210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Match each task to the right tool — then click to reveal the answer</a:t>
            </a:r>
          </a:p>
        </p:txBody>
      </p:sp>
      <p:sp>
        <p:nvSpPr>
          <p:cNvPr id="505" name="s505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c506"/>
          <p:cNvSpPr/>
          <p:nvPr/>
        </p:nvSpPr>
        <p:spPr>
          <a:xfrm>
            <a:off x="762000" y="2286000"/>
            <a:ext cx="5054600" cy="19050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762000" y="2286000"/>
            <a:ext cx="63500" cy="1905000"/>
          </a:xfrm>
          <a:prstGeom prst="roundRect">
            <a:avLst>
              <a:gd name="adj" fmla="val 40000"/>
            </a:avLst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ch508"/>
          <p:cNvSpPr/>
          <p:nvPr/>
        </p:nvSpPr>
        <p:spPr>
          <a:xfrm>
            <a:off x="1016000" y="2514600"/>
            <a:ext cx="381000" cy="3810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509" name="t509"/>
          <p:cNvSpPr txBox="1"/>
          <p:nvPr/>
        </p:nvSpPr>
        <p:spPr>
          <a:xfrm>
            <a:off x="1524000" y="25146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4BB3D4"/>
                </a:solidFill>
                <a:latin typeface="Segoe UI"/>
                <a:cs typeface="Segoe UI"/>
              </a:rPr>
              <a:t>QUESTION 1</a:t>
            </a:r>
          </a:p>
        </p:txBody>
      </p:sp>
      <p:sp>
        <p:nvSpPr>
          <p:cNvPr id="510" name="t510"/>
          <p:cNvSpPr txBox="1"/>
          <p:nvPr/>
        </p:nvSpPr>
        <p:spPr>
          <a:xfrm>
            <a:off x="1524000" y="2768600"/>
            <a:ext cx="406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4EFE9"/>
                </a:solidFill>
                <a:latin typeface="Segoe UI"/>
                <a:cs typeface="Segoe UI"/>
              </a:rPr>
              <a:t>Flag every parcel within 300 m of a river.</a:t>
            </a:r>
          </a:p>
        </p:txBody>
      </p:sp>
      <p:sp>
        <p:nvSpPr>
          <p:cNvPr id="511" name="c511"/>
          <p:cNvSpPr/>
          <p:nvPr/>
        </p:nvSpPr>
        <p:spPr>
          <a:xfrm>
            <a:off x="6375400" y="2286000"/>
            <a:ext cx="5054600" cy="19050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6375400" y="2286000"/>
            <a:ext cx="63500" cy="1905000"/>
          </a:xfrm>
          <a:prstGeom prst="roundRect">
            <a:avLst>
              <a:gd name="adj" fmla="val 40000"/>
            </a:avLst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ch513"/>
          <p:cNvSpPr/>
          <p:nvPr/>
        </p:nvSpPr>
        <p:spPr>
          <a:xfrm>
            <a:off x="6629400" y="2514600"/>
            <a:ext cx="381000" cy="3810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514" name="t514"/>
          <p:cNvSpPr txBox="1"/>
          <p:nvPr/>
        </p:nvSpPr>
        <p:spPr>
          <a:xfrm>
            <a:off x="7137400" y="25146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34B39A"/>
                </a:solidFill>
                <a:latin typeface="Segoe UI"/>
                <a:cs typeface="Segoe UI"/>
              </a:rPr>
              <a:t>QUESTION 2</a:t>
            </a:r>
          </a:p>
        </p:txBody>
      </p:sp>
      <p:sp>
        <p:nvSpPr>
          <p:cNvPr id="515" name="t515"/>
          <p:cNvSpPr txBox="1"/>
          <p:nvPr/>
        </p:nvSpPr>
        <p:spPr>
          <a:xfrm>
            <a:off x="7137400" y="2768600"/>
            <a:ext cx="406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4EFE9"/>
                </a:solidFill>
                <a:latin typeface="Segoe UI"/>
                <a:cs typeface="Segoe UI"/>
              </a:rPr>
              <a:t>Keep only the roads that lie inside a national park.</a:t>
            </a:r>
          </a:p>
        </p:txBody>
      </p:sp>
      <p:sp>
        <p:nvSpPr>
          <p:cNvPr id="516" name="c516"/>
          <p:cNvSpPr/>
          <p:nvPr/>
        </p:nvSpPr>
        <p:spPr>
          <a:xfrm>
            <a:off x="762000" y="4368800"/>
            <a:ext cx="5054600" cy="19050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762000" y="4368800"/>
            <a:ext cx="63500" cy="1905000"/>
          </a:xfrm>
          <a:prstGeom prst="roundRect">
            <a:avLst>
              <a:gd name="adj" fmla="val 40000"/>
            </a:avLst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8" name="ch518"/>
          <p:cNvSpPr/>
          <p:nvPr/>
        </p:nvSpPr>
        <p:spPr>
          <a:xfrm>
            <a:off x="1016000" y="4597400"/>
            <a:ext cx="381000" cy="3810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519" name="t519"/>
          <p:cNvSpPr txBox="1"/>
          <p:nvPr/>
        </p:nvSpPr>
        <p:spPr>
          <a:xfrm>
            <a:off x="1524000" y="45974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B98BE6"/>
                </a:solidFill>
                <a:latin typeface="Segoe UI"/>
                <a:cs typeface="Segoe UI"/>
              </a:rPr>
              <a:t>QUESTION 3</a:t>
            </a:r>
          </a:p>
        </p:txBody>
      </p:sp>
      <p:sp>
        <p:nvSpPr>
          <p:cNvPr id="520" name="t520"/>
          <p:cNvSpPr txBox="1"/>
          <p:nvPr/>
        </p:nvSpPr>
        <p:spPr>
          <a:xfrm>
            <a:off x="1524000" y="4851400"/>
            <a:ext cx="406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4EFE9"/>
                </a:solidFill>
                <a:latin typeface="Segoe UI"/>
                <a:cs typeface="Segoe UI"/>
              </a:rPr>
              <a:t>Turn 254 county polygons into one polygon per state, with totals.</a:t>
            </a:r>
          </a:p>
        </p:txBody>
      </p:sp>
      <p:sp>
        <p:nvSpPr>
          <p:cNvPr id="521" name="c521"/>
          <p:cNvSpPr/>
          <p:nvPr/>
        </p:nvSpPr>
        <p:spPr>
          <a:xfrm>
            <a:off x="6375400" y="4368800"/>
            <a:ext cx="5054600" cy="1905000"/>
          </a:xfrm>
          <a:prstGeom prst="roundRect">
            <a:avLst>
              <a:gd name="adj" fmla="val 4500"/>
            </a:avLst>
          </a:prstGeom>
          <a:solidFill>
            <a:srgbClr val="3E1D23"/>
          </a:solidFill>
          <a:ln w="9525">
            <a:solidFill>
              <a:srgbClr val="5A2E37"/>
            </a:solidFill>
          </a:ln>
          <a:effectLst>
            <a:outerShdw blurRad="90000" dist="30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6375400" y="4368800"/>
            <a:ext cx="63500" cy="1905000"/>
          </a:xfrm>
          <a:prstGeom prst="roundRect">
            <a:avLst>
              <a:gd name="adj" fmla="val 40000"/>
            </a:avLst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3" name="ch523"/>
          <p:cNvSpPr/>
          <p:nvPr/>
        </p:nvSpPr>
        <p:spPr>
          <a:xfrm>
            <a:off x="6629400" y="4597400"/>
            <a:ext cx="381000" cy="3810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524" name="t524"/>
          <p:cNvSpPr txBox="1"/>
          <p:nvPr/>
        </p:nvSpPr>
        <p:spPr>
          <a:xfrm>
            <a:off x="7137400" y="45974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40" dirty="0">
                <a:solidFill>
                  <a:srgbClr val="F0708F"/>
                </a:solidFill>
                <a:latin typeface="Segoe UI"/>
                <a:cs typeface="Segoe UI"/>
              </a:rPr>
              <a:t>QUESTION 4</a:t>
            </a:r>
          </a:p>
        </p:txBody>
      </p:sp>
      <p:sp>
        <p:nvSpPr>
          <p:cNvPr id="525" name="t525"/>
          <p:cNvSpPr txBox="1"/>
          <p:nvPr/>
        </p:nvSpPr>
        <p:spPr>
          <a:xfrm>
            <a:off x="7137400" y="4851400"/>
            <a:ext cx="4064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4EFE9"/>
                </a:solidFill>
                <a:latin typeface="Segoe UI"/>
                <a:cs typeface="Segoe UI"/>
              </a:rPr>
              <a:t>Keep only where soils AND zoning overlap, tagged with both.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1041400" y="3454400"/>
            <a:ext cx="452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8FD6EA"/>
                </a:solidFill>
                <a:latin typeface="Segoe UI"/>
                <a:cs typeface="Segoe UI"/>
              </a:rPr>
              <a:t>Buffer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 — build a 300 m zone around the rivers, then select the parcels that fall inside.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6654800" y="3454400"/>
            <a:ext cx="452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7FD9C2"/>
                </a:solidFill>
                <a:latin typeface="Segoe UI"/>
                <a:cs typeface="Segoe UI"/>
              </a:rPr>
              <a:t>Clip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 — trim the roads to the park boundary; the attributes stay unchanged.</a:t>
            </a:r>
          </a:p>
        </p:txBody>
      </p:sp>
      <p:sp>
        <p:nvSpPr>
          <p:cNvPr id="331" name="t331"/>
          <p:cNvSpPr txBox="1"/>
          <p:nvPr/>
        </p:nvSpPr>
        <p:spPr>
          <a:xfrm>
            <a:off x="1041400" y="5537200"/>
            <a:ext cx="452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6BAF2"/>
                </a:solidFill>
                <a:latin typeface="Segoe UI"/>
                <a:cs typeface="Segoe UI"/>
              </a:rPr>
              <a:t>Dissolve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 — group by the STATE field; add a SUM statistic for the totals.</a:t>
            </a:r>
          </a:p>
        </p:txBody>
      </p:sp>
      <p:sp>
        <p:nvSpPr>
          <p:cNvPr id="341" name="t341"/>
          <p:cNvSpPr txBox="1"/>
          <p:nvPr/>
        </p:nvSpPr>
        <p:spPr>
          <a:xfrm>
            <a:off x="6654800" y="5537200"/>
            <a:ext cx="452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7A6BC"/>
                </a:solidFill>
                <a:latin typeface="Segoe UI"/>
                <a:cs typeface="Segoe UI"/>
              </a:rPr>
              <a:t>Overlay → Intersect</a:t>
            </a:r>
            <a:r>
              <a:rPr lang="en-US" sz="1300" dirty="0">
                <a:solidFill>
                  <a:srgbClr val="D6C7C2"/>
                </a:solidFill>
                <a:latin typeface="Segoe UI"/>
                <a:cs typeface="Segoe UI"/>
              </a:rPr>
              <a:t> — the output carries attributes from both input layers.</a:t>
            </a:r>
          </a:p>
        </p:txBody>
      </p:sp>
      <p:sp>
        <p:nvSpPr>
          <p:cNvPr id="312" name="s312"/>
          <p:cNvSpPr/>
          <p:nvPr/>
        </p:nvSpPr>
        <p:spPr>
          <a:xfrm>
            <a:off x="939800" y="3378200"/>
            <a:ext cx="4699000" cy="736600"/>
          </a:xfrm>
          <a:prstGeom prst="roundRect">
            <a:avLst>
              <a:gd name="adj" fmla="val 5000"/>
            </a:avLst>
          </a:prstGeom>
          <a:solidFill>
            <a:srgbClr val="22303C"/>
          </a:solidFill>
          <a:ln w="17780">
            <a:solidFill>
              <a:srgbClr val="4BB3D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13" name="t313"/>
          <p:cNvSpPr txBox="1"/>
          <p:nvPr/>
        </p:nvSpPr>
        <p:spPr>
          <a:xfrm>
            <a:off x="939800" y="3378200"/>
            <a:ext cx="469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spc="30" dirty="0">
                <a:solidFill>
                  <a:srgbClr val="8FD6EA"/>
                </a:solidFill>
                <a:latin typeface="Segoe UI"/>
                <a:cs typeface="Segoe UI"/>
              </a:rPr>
              <a:t>▸  Click to reveal answer</a:t>
            </a:r>
          </a:p>
        </p:txBody>
      </p:sp>
      <p:sp>
        <p:nvSpPr>
          <p:cNvPr id="322" name="s322"/>
          <p:cNvSpPr/>
          <p:nvPr/>
        </p:nvSpPr>
        <p:spPr>
          <a:xfrm>
            <a:off x="6553200" y="3378200"/>
            <a:ext cx="4699000" cy="736600"/>
          </a:xfrm>
          <a:prstGeom prst="roundRect">
            <a:avLst>
              <a:gd name="adj" fmla="val 5000"/>
            </a:avLst>
          </a:prstGeom>
          <a:solidFill>
            <a:srgbClr val="1C332E"/>
          </a:solidFill>
          <a:ln w="17780">
            <a:solidFill>
              <a:srgbClr val="34B39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23" name="t323"/>
          <p:cNvSpPr txBox="1"/>
          <p:nvPr/>
        </p:nvSpPr>
        <p:spPr>
          <a:xfrm>
            <a:off x="6553200" y="3378200"/>
            <a:ext cx="469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spc="30" dirty="0">
                <a:solidFill>
                  <a:srgbClr val="7FD9C2"/>
                </a:solidFill>
                <a:latin typeface="Segoe UI"/>
                <a:cs typeface="Segoe UI"/>
              </a:rPr>
              <a:t>▸  Click to reveal answer</a:t>
            </a:r>
          </a:p>
        </p:txBody>
      </p:sp>
      <p:sp>
        <p:nvSpPr>
          <p:cNvPr id="332" name="s332"/>
          <p:cNvSpPr/>
          <p:nvPr/>
        </p:nvSpPr>
        <p:spPr>
          <a:xfrm>
            <a:off x="939800" y="5461000"/>
            <a:ext cx="4699000" cy="736600"/>
          </a:xfrm>
          <a:prstGeom prst="roundRect">
            <a:avLst>
              <a:gd name="adj" fmla="val 5000"/>
            </a:avLst>
          </a:prstGeom>
          <a:solidFill>
            <a:srgbClr val="3D1F2E"/>
          </a:solidFill>
          <a:ln w="17780">
            <a:solidFill>
              <a:srgbClr val="B98BE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33" name="t333"/>
          <p:cNvSpPr txBox="1"/>
          <p:nvPr/>
        </p:nvSpPr>
        <p:spPr>
          <a:xfrm>
            <a:off x="939800" y="5461000"/>
            <a:ext cx="469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spc="30" dirty="0">
                <a:solidFill>
                  <a:srgbClr val="D6BAF2"/>
                </a:solidFill>
                <a:latin typeface="Segoe UI"/>
                <a:cs typeface="Segoe UI"/>
              </a:rPr>
              <a:t>▸  Click to reveal answer</a:t>
            </a:r>
          </a:p>
        </p:txBody>
      </p:sp>
      <p:sp>
        <p:nvSpPr>
          <p:cNvPr id="342" name="s342"/>
          <p:cNvSpPr/>
          <p:nvPr/>
        </p:nvSpPr>
        <p:spPr>
          <a:xfrm>
            <a:off x="6553200" y="5461000"/>
            <a:ext cx="4699000" cy="736600"/>
          </a:xfrm>
          <a:prstGeom prst="roundRect">
            <a:avLst>
              <a:gd name="adj" fmla="val 5000"/>
            </a:avLst>
          </a:prstGeom>
          <a:solidFill>
            <a:srgbClr val="3A2833"/>
          </a:solidFill>
          <a:ln w="17780">
            <a:solidFill>
              <a:srgbClr val="F0708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3" name="t343"/>
          <p:cNvSpPr txBox="1"/>
          <p:nvPr/>
        </p:nvSpPr>
        <p:spPr>
          <a:xfrm>
            <a:off x="6553200" y="5461000"/>
            <a:ext cx="469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50" b="1" spc="30" dirty="0">
                <a:solidFill>
                  <a:srgbClr val="F7A6BC"/>
                </a:solidFill>
                <a:latin typeface="Segoe UI"/>
                <a:cs typeface="Segoe UI"/>
              </a:rPr>
              <a:t>▸  Click to reveal answer</a:t>
            </a:r>
          </a:p>
        </p:txBody>
      </p:sp>
    </p:spTree>
    <p:extLst>
      <p:ext uri="{BB962C8B-B14F-4D97-AF65-F5344CB8AC3E}">
        <p14:creationId xmlns:p14="http://schemas.microsoft.com/office/powerpoint/2010/main" val="112480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61"/>
          <p:cNvSpPr/>
          <p:nvPr/>
        </p:nvSpPr>
        <p:spPr>
          <a:xfrm>
            <a:off x="1524000" y="584200"/>
            <a:ext cx="139700" cy="139700"/>
          </a:xfrm>
          <a:prstGeom prst="rect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62"/>
          <p:cNvSpPr txBox="1"/>
          <p:nvPr/>
        </p:nvSpPr>
        <p:spPr>
          <a:xfrm>
            <a:off x="1778000" y="5715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50" b="1" spc="240">
                <a:solidFill>
                  <a:srgbClr val="AE978E"/>
                </a:solidFill>
                <a:latin typeface="Segoe UI"/>
                <a:cs typeface="Segoe UI"/>
              </a:rPr>
              <a:t>ARCGIS PRO  ·  GEOPROCESSING TOOLS</a:t>
            </a:r>
            <a:endParaRPr lang="en-US" sz="1050" b="1" spc="24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2" name="t63"/>
          <p:cNvSpPr txBox="1"/>
          <p:nvPr/>
        </p:nvSpPr>
        <p:spPr>
          <a:xfrm>
            <a:off x="8890000" y="6375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50" b="1" spc="120">
                <a:solidFill>
                  <a:srgbClr val="AE978E"/>
                </a:solidFill>
                <a:latin typeface="Segoe UI"/>
                <a:cs typeface="Segoe UI"/>
              </a:rPr>
              <a:t>23 / 23</a:t>
            </a:r>
            <a:endParaRPr lang="en-US" sz="1050" b="1" spc="120" dirty="0">
              <a:solidFill>
                <a:srgbClr val="AE978E"/>
              </a:solidFill>
              <a:latin typeface="Segoe UI"/>
              <a:cs typeface="Segoe UI"/>
            </a:endParaRPr>
          </a:p>
        </p:txBody>
      </p:sp>
      <p:sp>
        <p:nvSpPr>
          <p:cNvPr id="63" name="t64"/>
          <p:cNvSpPr txBox="1"/>
          <p:nvPr/>
        </p:nvSpPr>
        <p:spPr>
          <a:xfrm>
            <a:off x="1498600" y="812800"/>
            <a:ext cx="9652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000" b="1" dirty="0">
                <a:solidFill>
                  <a:srgbClr val="F4EFE9"/>
                </a:solidFill>
                <a:latin typeface="Georgia"/>
                <a:cs typeface="Georgia"/>
              </a:rPr>
              <a:t>Recap &amp; what's next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524000" y="1422400"/>
            <a:ext cx="9906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AE978E"/>
                </a:solidFill>
                <a:latin typeface="Segoe UI"/>
                <a:cs typeface="Segoe UI"/>
              </a:rPr>
              <a:t>The four tools at a glance — and where the trail leads</a:t>
            </a:r>
          </a:p>
        </p:txBody>
      </p:sp>
      <p:sp>
        <p:nvSpPr>
          <p:cNvPr id="65" name="s66"/>
          <p:cNvSpPr/>
          <p:nvPr/>
        </p:nvSpPr>
        <p:spPr>
          <a:xfrm>
            <a:off x="1524000" y="1905000"/>
            <a:ext cx="10210800" cy="17780"/>
          </a:xfrm>
          <a:prstGeom prst="rect">
            <a:avLst/>
          </a:prstGeom>
          <a:solidFill>
            <a:srgbClr val="431F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67"/>
          <p:cNvSpPr txBox="1"/>
          <p:nvPr/>
        </p:nvSpPr>
        <p:spPr>
          <a:xfrm>
            <a:off x="762000" y="2413000"/>
            <a:ext cx="660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180" dirty="0">
                <a:solidFill>
                  <a:srgbClr val="AE978E"/>
                </a:solidFill>
                <a:latin typeface="Segoe UI"/>
                <a:cs typeface="Segoe UI"/>
              </a:rPr>
              <a:t>IN A NUTSHELL</a:t>
            </a:r>
          </a:p>
        </p:txBody>
      </p:sp>
      <p:sp>
        <p:nvSpPr>
          <p:cNvPr id="67" name="s68"/>
          <p:cNvSpPr/>
          <p:nvPr/>
        </p:nvSpPr>
        <p:spPr>
          <a:xfrm>
            <a:off x="812800" y="2882900"/>
            <a:ext cx="152400" cy="152400"/>
          </a:xfrm>
          <a:prstGeom prst="ellipse">
            <a:avLst/>
          </a:prstGeom>
          <a:solidFill>
            <a:srgbClr val="4BB3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69"/>
          <p:cNvSpPr txBox="1"/>
          <p:nvPr/>
        </p:nvSpPr>
        <p:spPr>
          <a:xfrm>
            <a:off x="1168400" y="27940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Buffer</a:t>
            </a:r>
          </a:p>
        </p:txBody>
      </p:sp>
      <p:sp>
        <p:nvSpPr>
          <p:cNvPr id="69" name="t70"/>
          <p:cNvSpPr txBox="1"/>
          <p:nvPr/>
        </p:nvSpPr>
        <p:spPr>
          <a:xfrm>
            <a:off x="2717800" y="2794000"/>
            <a:ext cx="46482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D6C7C2"/>
                </a:solidFill>
                <a:latin typeface="Segoe UI"/>
                <a:cs typeface="Segoe UI"/>
              </a:rPr>
              <a:t>distance zones drawn around features</a:t>
            </a:r>
          </a:p>
        </p:txBody>
      </p:sp>
      <p:sp>
        <p:nvSpPr>
          <p:cNvPr id="70" name="s71"/>
          <p:cNvSpPr/>
          <p:nvPr/>
        </p:nvSpPr>
        <p:spPr>
          <a:xfrm>
            <a:off x="1168400" y="3302000"/>
            <a:ext cx="6197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s72"/>
          <p:cNvSpPr/>
          <p:nvPr/>
        </p:nvSpPr>
        <p:spPr>
          <a:xfrm>
            <a:off x="812800" y="3543300"/>
            <a:ext cx="152400" cy="152400"/>
          </a:xfrm>
          <a:prstGeom prst="ellipse">
            <a:avLst/>
          </a:prstGeom>
          <a:solidFill>
            <a:srgbClr val="34B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73"/>
          <p:cNvSpPr txBox="1"/>
          <p:nvPr/>
        </p:nvSpPr>
        <p:spPr>
          <a:xfrm>
            <a:off x="1168400" y="34544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Clip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2717800" y="3454400"/>
            <a:ext cx="46482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D6C7C2"/>
                </a:solidFill>
                <a:latin typeface="Segoe UI"/>
                <a:cs typeface="Segoe UI"/>
              </a:rPr>
              <a:t>trims a layer to the shape of a boundary</a:t>
            </a:r>
          </a:p>
        </p:txBody>
      </p:sp>
      <p:sp>
        <p:nvSpPr>
          <p:cNvPr id="74" name="s75"/>
          <p:cNvSpPr/>
          <p:nvPr/>
        </p:nvSpPr>
        <p:spPr>
          <a:xfrm>
            <a:off x="1168400" y="3962400"/>
            <a:ext cx="6197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s76"/>
          <p:cNvSpPr/>
          <p:nvPr/>
        </p:nvSpPr>
        <p:spPr>
          <a:xfrm>
            <a:off x="812800" y="4203700"/>
            <a:ext cx="152400" cy="152400"/>
          </a:xfrm>
          <a:prstGeom prst="ellipse">
            <a:avLst/>
          </a:prstGeom>
          <a:solidFill>
            <a:srgbClr val="B98B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t77"/>
          <p:cNvSpPr txBox="1"/>
          <p:nvPr/>
        </p:nvSpPr>
        <p:spPr>
          <a:xfrm>
            <a:off x="1168400" y="41148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Dissolve</a:t>
            </a:r>
          </a:p>
        </p:txBody>
      </p:sp>
      <p:sp>
        <p:nvSpPr>
          <p:cNvPr id="77" name="t78"/>
          <p:cNvSpPr txBox="1"/>
          <p:nvPr/>
        </p:nvSpPr>
        <p:spPr>
          <a:xfrm>
            <a:off x="2717800" y="4114800"/>
            <a:ext cx="46482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D6C7C2"/>
                </a:solidFill>
                <a:latin typeface="Segoe UI"/>
                <a:cs typeface="Segoe UI"/>
              </a:rPr>
              <a:t>merges features that share an attribute</a:t>
            </a:r>
          </a:p>
        </p:txBody>
      </p:sp>
      <p:sp>
        <p:nvSpPr>
          <p:cNvPr id="78" name="s79"/>
          <p:cNvSpPr/>
          <p:nvPr/>
        </p:nvSpPr>
        <p:spPr>
          <a:xfrm>
            <a:off x="1168400" y="4622800"/>
            <a:ext cx="6197600" cy="12700"/>
          </a:xfrm>
          <a:prstGeom prst="rect">
            <a:avLst/>
          </a:prstGeom>
          <a:solidFill>
            <a:srgbClr val="3E1D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s80"/>
          <p:cNvSpPr/>
          <p:nvPr/>
        </p:nvSpPr>
        <p:spPr>
          <a:xfrm>
            <a:off x="812800" y="4864100"/>
            <a:ext cx="152400" cy="152400"/>
          </a:xfrm>
          <a:prstGeom prst="ellipse">
            <a:avLst/>
          </a:prstGeom>
          <a:solidFill>
            <a:srgbClr val="F070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81"/>
          <p:cNvSpPr txBox="1"/>
          <p:nvPr/>
        </p:nvSpPr>
        <p:spPr>
          <a:xfrm>
            <a:off x="1168400" y="47752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750" b="1" dirty="0">
                <a:solidFill>
                  <a:srgbClr val="F4EFE9"/>
                </a:solidFill>
                <a:latin typeface="Georgia"/>
                <a:cs typeface="Georgia"/>
              </a:rPr>
              <a:t>Overlay</a:t>
            </a:r>
          </a:p>
        </p:txBody>
      </p:sp>
      <p:sp>
        <p:nvSpPr>
          <p:cNvPr id="81" name="t82"/>
          <p:cNvSpPr txBox="1"/>
          <p:nvPr/>
        </p:nvSpPr>
        <p:spPr>
          <a:xfrm>
            <a:off x="2717800" y="4775200"/>
            <a:ext cx="46482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500" dirty="0">
                <a:solidFill>
                  <a:srgbClr val="D6C7C2"/>
                </a:solidFill>
                <a:latin typeface="Segoe UI"/>
                <a:cs typeface="Segoe UI"/>
              </a:rPr>
              <a:t>unions or intersects two layers into one</a:t>
            </a:r>
          </a:p>
        </p:txBody>
      </p:sp>
      <p:sp>
        <p:nvSpPr>
          <p:cNvPr id="82" name="c83"/>
          <p:cNvSpPr/>
          <p:nvPr/>
        </p:nvSpPr>
        <p:spPr>
          <a:xfrm>
            <a:off x="762000" y="5537200"/>
            <a:ext cx="6604000" cy="660400"/>
          </a:xfrm>
          <a:prstGeom prst="roundRect">
            <a:avLst>
              <a:gd name="adj" fmla="val 4500"/>
            </a:avLst>
          </a:prstGeom>
          <a:solidFill>
            <a:srgbClr val="332C1E"/>
          </a:solidFill>
          <a:ln>
            <a:noFill/>
          </a:ln>
          <a:effectLst>
            <a:outerShdw blurRad="100000" dist="34000" dir="5400000" rotWithShape="0">
              <a:srgbClr val="1B2A36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3" name="s84"/>
          <p:cNvSpPr/>
          <p:nvPr/>
        </p:nvSpPr>
        <p:spPr>
          <a:xfrm>
            <a:off x="762000" y="5537200"/>
            <a:ext cx="69850" cy="660400"/>
          </a:xfrm>
          <a:prstGeom prst="roundRect">
            <a:avLst>
              <a:gd name="adj" fmla="val 40000"/>
            </a:avLst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t85"/>
          <p:cNvSpPr txBox="1"/>
          <p:nvPr/>
        </p:nvSpPr>
        <p:spPr>
          <a:xfrm>
            <a:off x="1041400" y="5537200"/>
            <a:ext cx="6172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8CB86"/>
                </a:solidFill>
                <a:latin typeface="Segoe UI"/>
                <a:cs typeface="Segoe UI"/>
              </a:rPr>
              <a:t>Non-destructive by design — </a:t>
            </a:r>
            <a:r>
              <a:rPr lang="en-US" sz="1400" dirty="0">
                <a:solidFill>
                  <a:srgbClr val="D8C9A0"/>
                </a:solidFill>
                <a:latin typeface="Segoe UI"/>
                <a:cs typeface="Segoe UI"/>
              </a:rPr>
              <a:t>every tool writes a new layer and leaves your source data intact.</a:t>
            </a:r>
          </a:p>
        </p:txBody>
      </p:sp>
      <p:sp>
        <p:nvSpPr>
          <p:cNvPr id="85" name="c86"/>
          <p:cNvSpPr/>
          <p:nvPr/>
        </p:nvSpPr>
        <p:spPr>
          <a:xfrm>
            <a:off x="7747000" y="2311400"/>
            <a:ext cx="3987800" cy="3886200"/>
          </a:xfrm>
          <a:prstGeom prst="roundRect">
            <a:avLst>
              <a:gd name="adj" fmla="val 4500"/>
            </a:avLst>
          </a:prstGeom>
          <a:solidFill>
            <a:srgbClr val="2A1014"/>
          </a:solidFill>
          <a:ln>
            <a:noFill/>
          </a:ln>
          <a:effectLst>
            <a:outerShdw blurRad="100000" dist="34000" dir="5400000" rotWithShape="0">
              <a:srgbClr val="1B2A36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6" name="t87"/>
          <p:cNvSpPr txBox="1"/>
          <p:nvPr/>
        </p:nvSpPr>
        <p:spPr>
          <a:xfrm>
            <a:off x="8077200" y="2641600"/>
            <a:ext cx="332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spc="220" dirty="0">
                <a:solidFill>
                  <a:srgbClr val="E0B54C"/>
                </a:solidFill>
                <a:latin typeface="Segoe UI"/>
                <a:cs typeface="Segoe UI"/>
              </a:rPr>
              <a:t>UP NEXT</a:t>
            </a:r>
          </a:p>
        </p:txBody>
      </p:sp>
      <p:sp>
        <p:nvSpPr>
          <p:cNvPr id="87" name="t88"/>
          <p:cNvSpPr txBox="1"/>
          <p:nvPr/>
        </p:nvSpPr>
        <p:spPr>
          <a:xfrm>
            <a:off x="8077200" y="2946400"/>
            <a:ext cx="3327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4EFE9"/>
                </a:solidFill>
                <a:latin typeface="Georgia"/>
                <a:cs typeface="Georgia"/>
              </a:rPr>
              <a:t>Raster Analysis</a:t>
            </a:r>
          </a:p>
        </p:txBody>
      </p:sp>
      <p:sp>
        <p:nvSpPr>
          <p:cNvPr id="88" name="s89"/>
          <p:cNvSpPr/>
          <p:nvPr/>
        </p:nvSpPr>
        <p:spPr>
          <a:xfrm>
            <a:off x="8077200" y="3810000"/>
            <a:ext cx="558800" cy="38100"/>
          </a:xfrm>
          <a:prstGeom prst="rect">
            <a:avLst/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t90"/>
          <p:cNvSpPr txBox="1"/>
          <p:nvPr/>
        </p:nvSpPr>
        <p:spPr>
          <a:xfrm>
            <a:off x="8077200" y="4064000"/>
            <a:ext cx="33274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Surface analysis</a:t>
            </a:r>
            <a:br/>
            <a:r>
              <a:rPr lang="en-US" sz="1100" dirty="0">
                <a:solidFill>
                  <a:srgbClr val="AE978E"/>
                </a:solidFill>
                <a:latin typeface="Segoe UI"/>
                <a:cs typeface="Segoe UI"/>
              </a:rPr>
              <a:t>Slope, aspect &amp; hillshade from a DEM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Map algebra</a:t>
            </a:r>
            <a:br/>
            <a:r>
              <a:rPr lang="en-US" sz="1100" dirty="0">
                <a:solidFill>
                  <a:srgbClr val="AE978E"/>
                </a:solidFill>
                <a:latin typeface="Segoe UI"/>
                <a:cs typeface="Segoe UI"/>
              </a:rPr>
              <a:t>Cell-by-cell math on raster values</a:t>
            </a:r>
          </a:p>
          <a:p>
            <a:pPr algn="l">
              <a:lnSpc>
                <a:spcPct val="108000"/>
              </a:lnSpc>
              <a:spcBef>
                <a:spcPts val="700"/>
              </a:spcBef>
              <a:buNone/>
            </a:pPr>
            <a:r>
              <a:rPr lang="en-US" sz="1250" b="1" dirty="0">
                <a:solidFill>
                  <a:srgbClr val="F4EFE9"/>
                </a:solidFill>
                <a:latin typeface="Segoe UI"/>
                <a:cs typeface="Segoe UI"/>
              </a:rPr>
              <a:t>Suitability modeling</a:t>
            </a:r>
            <a:br/>
            <a:r>
              <a:rPr lang="en-US" sz="1100" dirty="0">
                <a:solidFill>
                  <a:srgbClr val="AE978E"/>
                </a:solidFill>
                <a:latin typeface="Segoe UI"/>
                <a:cs typeface="Segoe UI"/>
              </a:rPr>
              <a:t>Weighted overlay to rank the best places</a:t>
            </a:r>
          </a:p>
        </p:txBody>
      </p:sp>
      <p:sp>
        <p:nvSpPr>
          <p:cNvPr id="90" name="s91"/>
          <p:cNvSpPr/>
          <p:nvPr/>
        </p:nvSpPr>
        <p:spPr>
          <a:xfrm>
            <a:off x="8077200" y="5740400"/>
            <a:ext cx="381000" cy="254000"/>
          </a:xfrm>
          <a:prstGeom prst="rightArrow">
            <a:avLst/>
          </a:prstGeom>
          <a:solidFill>
            <a:srgbClr val="E0B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t92"/>
          <p:cNvSpPr txBox="1"/>
          <p:nvPr/>
        </p:nvSpPr>
        <p:spPr>
          <a:xfrm>
            <a:off x="8585200" y="57277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spc="60" dirty="0">
                <a:solidFill>
                  <a:srgbClr val="AE978E"/>
                </a:solidFill>
                <a:latin typeface="Segoe UI"/>
                <a:cs typeface="Segoe UI"/>
              </a:rPr>
              <a:t>Continue the series</a:t>
            </a:r>
          </a:p>
        </p:txBody>
      </p:sp>
    </p:spTree>
    <p:extLst>
      <p:ext uri="{BB962C8B-B14F-4D97-AF65-F5344CB8AC3E}">
        <p14:creationId xmlns:p14="http://schemas.microsoft.com/office/powerpoint/2010/main" val="1297687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341230980]">
  <a:themeElements>
    <a:clrScheme name="Office">
      <a:dk1>
        <a:srgbClr val="F4EFE9"/>
      </a:dk1>
      <a:lt1>
        <a:srgbClr val="2D1519"/>
      </a:lt1>
      <a:dk2>
        <a:srgbClr val="EEE3DE"/>
      </a:dk2>
      <a:lt2>
        <a:srgbClr val="381A20"/>
      </a:lt2>
      <a:accent1>
        <a:srgbClr val="4BB3D4"/>
      </a:accent1>
      <a:accent2>
        <a:srgbClr val="34B39A"/>
      </a:accent2>
      <a:accent3>
        <a:srgbClr val="B98BE6"/>
      </a:accent3>
      <a:accent4>
        <a:srgbClr val="F0708F"/>
      </a:accent4>
      <a:accent5>
        <a:srgbClr val="D6C7C2"/>
      </a:accent5>
      <a:accent6>
        <a:srgbClr val="E0B54C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8F08A0-2EAF-4A9C-ABD0-212DE733920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8dcc348-5b04-42fb-b8be-857db74945d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2519</Words>
  <Application>Microsoft Office PowerPoint</Application>
  <PresentationFormat>Widescreen</PresentationFormat>
  <Paragraphs>467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Georgia</vt:lpstr>
      <vt:lpstr>Segoe UI</vt:lpstr>
      <vt:lpstr>Office Theme [1783341230980]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Shokran Rahiminezhad</dc:creator>
  <cp:lastModifiedBy>Shokran Rahiminezhad</cp:lastModifiedBy>
  <cp:revision>7</cp:revision>
  <dcterms:created xsi:type="dcterms:W3CDTF">2026-07-05T21:45:52Z</dcterms:created>
  <dcterms:modified xsi:type="dcterms:W3CDTF">2026-07-06T22:46:49Z</dcterms:modified>
</cp:coreProperties>
</file>