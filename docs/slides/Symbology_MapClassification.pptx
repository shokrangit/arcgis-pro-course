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322" r:id="rId18"/>
    <p:sldId id="323" r:id="rId19"/>
    <p:sldId id="324" r:id="rId20"/>
    <p:sldId id="280" r:id="rId3"/>
    <p:sldId id="321" r:id="rId4"/>
    <p:sldId id="320" r:id="rId5"/>
    <p:sldId id="319" r:id="rId6"/>
    <p:sldId id="318" r:id="rId7"/>
    <p:sldId id="317" r:id="rId8"/>
    <p:sldId id="316" r:id="rId9"/>
    <p:sldId id="315" r:id="rId10"/>
    <p:sldId id="314" r:id="rId11"/>
    <p:sldId id="312" r:id="rId12"/>
    <p:sldId id="325" r:id="rId21"/>
    <p:sldId id="326" r:id="rId22"/>
    <p:sldId id="327" r:id="rId23"/>
    <p:sldId id="328" r:id="rId24"/>
    <p:sldId id="329" r:id="rId25"/>
    <p:sldId id="330" r:id="rId26"/>
    <p:sldId id="33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250" y="5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304AC-3629-495B-BD23-7E1008712CC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29577-5769-430B-B166-56CF22342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2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29577-5769-430B-B166-56CF223422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591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14.xml"/><Relationship Id="rId13" Type="http://schemas.openxmlformats.org/officeDocument/2006/relationships/slide" Target="slide15.xml"/><Relationship Id="rId14" Type="http://schemas.openxmlformats.org/officeDocument/2006/relationships/slide" Target="slide16.xml"/><Relationship Id="rId15" Type="http://schemas.openxmlformats.org/officeDocument/2006/relationships/slide" Target="slide17.xml"/><Relationship Id="rId16" Type="http://schemas.openxmlformats.org/officeDocument/2006/relationships/slide" Target="slide18.xml"/><Relationship Id="rId17" Type="http://schemas.openxmlformats.org/officeDocument/2006/relationships/slide" Target="slide19.xml"/><Relationship Id="rId18" Type="http://schemas.openxmlformats.org/officeDocument/2006/relationships/slide" Target="slide20.xml"/><Relationship Id="rId19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9" Type="http://schemas.openxmlformats.org/officeDocument/2006/relationships/image" Target="../media/image5.png"/><Relationship Id="rId10" Type="http://schemas.openxmlformats.org/officeDocument/2006/relationships/image" Target="../media/image7.png"/><Relationship Id="rId11" Type="http://schemas.openxmlformats.org/officeDocument/2006/relationships/image" Target="../media/image6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502E1-02A8-3CE8-D1EC-F91D48A67EF3}"/>
              </a:ext>
            </a:extLst>
          </p:cNvPr>
          <p:cNvPicPr>
            <a:picLocks/>
          </p:cNvPicPr>
          <p:nvPr/>
        </p:nvPicPr>
        <p:blipFill>
          <a:blip r:embed="rId2">
            <a:lum bright="-6000" contrast="12000"/>
          </a:blip>
          <a:srcRect l="2200" t="10000" r="2200" b="42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8000"/>
                </a:srgbClr>
              </a:gs>
              <a:gs pos="46000">
                <a:srgbClr val="0F172A">
                  <a:alpha val="24000"/>
                </a:srgbClr>
              </a:gs>
              <a:gs pos="100000">
                <a:srgbClr val="0F172A">
                  <a:alpha val="9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288598" y="693440"/>
            <a:ext cx="6461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spc="300" dirty="0">
                <a:solidFill>
                  <a:srgbClr val="F8B84E"/>
                </a:solidFill>
              </a:rPr>
              <a:t>ArcGIS Pro - Map Classification</a:t>
            </a:r>
          </a:p>
        </p:txBody>
      </p:sp>
      <p:pic>
        <p:nvPicPr>
          <p:cNvPr id="4" name="Picture 3" descr="single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445240"/>
            <a:ext cx="320040" cy="320040"/>
          </a:xfrm>
          <a:prstGeom prst="rect">
            <a:avLst/>
          </a:prstGeom>
        </p:spPr>
      </p:pic>
      <p:pic>
        <p:nvPicPr>
          <p:cNvPr id="5" name="Picture 4" descr="unique_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260" y="1445240"/>
            <a:ext cx="320040" cy="320040"/>
          </a:xfrm>
          <a:prstGeom prst="rect">
            <a:avLst/>
          </a:prstGeom>
        </p:spPr>
      </p:pic>
      <p:pic>
        <p:nvPicPr>
          <p:cNvPr id="6" name="Picture 5" descr="graduated_col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260" y="1445240"/>
            <a:ext cx="320040" cy="320040"/>
          </a:xfrm>
          <a:prstGeom prst="rect">
            <a:avLst/>
          </a:prstGeom>
        </p:spPr>
      </p:pic>
      <p:pic>
        <p:nvPicPr>
          <p:cNvPr id="7" name="Picture 6" descr="unclassed_colo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620" y="1445240"/>
            <a:ext cx="320040" cy="320040"/>
          </a:xfrm>
          <a:prstGeom prst="rect">
            <a:avLst/>
          </a:prstGeom>
        </p:spPr>
      </p:pic>
      <p:pic>
        <p:nvPicPr>
          <p:cNvPr id="8" name="Picture 7" descr="proportional_symbo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3620" y="1445240"/>
            <a:ext cx="320040" cy="260032"/>
          </a:xfrm>
          <a:prstGeom prst="rect">
            <a:avLst/>
          </a:prstGeom>
        </p:spPr>
      </p:pic>
      <p:pic>
        <p:nvPicPr>
          <p:cNvPr id="9" name="Picture 8" descr="graduated_symbo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1620" y="1445240"/>
            <a:ext cx="320040" cy="320040"/>
          </a:xfrm>
          <a:prstGeom prst="rect">
            <a:avLst/>
          </a:prstGeom>
        </p:spPr>
      </p:pic>
      <p:pic>
        <p:nvPicPr>
          <p:cNvPr id="10" name="Picture 9" descr="dot_dens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9620" y="1445240"/>
            <a:ext cx="320040" cy="320040"/>
          </a:xfrm>
          <a:prstGeom prst="rect">
            <a:avLst/>
          </a:prstGeom>
        </p:spPr>
      </p:pic>
      <p:pic>
        <p:nvPicPr>
          <p:cNvPr id="11" name="Picture 10" descr="char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7620" y="1445240"/>
            <a:ext cx="320040" cy="320040"/>
          </a:xfrm>
          <a:prstGeom prst="rect">
            <a:avLst/>
          </a:prstGeom>
        </p:spPr>
      </p:pic>
      <p:pic>
        <p:nvPicPr>
          <p:cNvPr id="12" name="Picture 11" descr="bivariate_colo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75620" y="1445240"/>
            <a:ext cx="320040" cy="310039"/>
          </a:xfrm>
          <a:prstGeom prst="rect">
            <a:avLst/>
          </a:prstGeom>
        </p:spPr>
      </p:pic>
      <p:sp>
        <p:nvSpPr>
          <p:cNvPr id="203" name="AccentBar"/>
          <p:cNvSpPr/>
          <p:nvPr/>
        </p:nvSpPr>
        <p:spPr>
          <a:xfrm>
            <a:off x="10106660" y="1203960"/>
            <a:ext cx="889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01  /  21</a:t>
            </a:r>
          </a:p>
        </p:txBody>
      </p:sp>
    </p:spTree>
    <p:extLst>
      <p:ext uri="{BB962C8B-B14F-4D97-AF65-F5344CB8AC3E}">
        <p14:creationId xmlns:p14="http://schemas.microsoft.com/office/powerpoint/2010/main" val="2540096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1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2" name="TextBox 9101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E9F0F7"/>
                </a:solidFill>
                <a:latin typeface="Aptos Slab ExtraBold"/>
              </a:rPr>
              <a:t>What We'll Cover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1085800" y="2354800"/>
            <a:ext cx="1002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A9BBCE"/>
                </a:solidFill>
                <a:latin typeface="Aptos Slab ExtraBold"/>
              </a:rPr>
              <a:t>Click any row to jump straight there.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1085800" y="282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06" name="TextBox 9105">
            <a:hlinkClick action="ppaction://hlinksldjump" r:id="rId3"/>
          </p:cNvPr>
          <p:cNvSpPr txBox="1"/>
          <p:nvPr/>
        </p:nvSpPr>
        <p:spPr>
          <a:xfrm>
            <a:off x="1345800" y="282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01  Symbology pane: what you're looking at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1085800" y="315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08" name="TextBox 9107">
            <a:hlinkClick action="ppaction://hlinksldjump" r:id="rId4"/>
          </p:cNvPr>
          <p:cNvSpPr txBox="1"/>
          <p:nvPr/>
        </p:nvSpPr>
        <p:spPr>
          <a:xfrm>
            <a:off x="1345800" y="315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02  Single Symbol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1085800" y="348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10" name="TextBox 9109">
            <a:hlinkClick action="ppaction://hlinksldjump" r:id="rId5"/>
          </p:cNvPr>
          <p:cNvSpPr txBox="1"/>
          <p:nvPr/>
        </p:nvSpPr>
        <p:spPr>
          <a:xfrm>
            <a:off x="1345800" y="348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03  Unique Values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1085800" y="381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12" name="TextBox 9111">
            <a:hlinkClick action="ppaction://hlinksldjump" r:id="rId6"/>
          </p:cNvPr>
          <p:cNvSpPr txBox="1"/>
          <p:nvPr/>
        </p:nvSpPr>
        <p:spPr>
          <a:xfrm>
            <a:off x="1345800" y="381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04  Graduated Colors</a:t>
            </a:r>
          </a:p>
        </p:txBody>
      </p:sp>
      <p:sp>
        <p:nvSpPr>
          <p:cNvPr id="9113" name="TextBox 9112"/>
          <p:cNvSpPr txBox="1"/>
          <p:nvPr/>
        </p:nvSpPr>
        <p:spPr>
          <a:xfrm>
            <a:off x="1085800" y="414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14" name="TextBox 9113">
            <a:hlinkClick action="ppaction://hlinksldjump" r:id="rId7"/>
          </p:cNvPr>
          <p:cNvSpPr txBox="1"/>
          <p:nvPr/>
        </p:nvSpPr>
        <p:spPr>
          <a:xfrm>
            <a:off x="1345800" y="414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05  Bivariate Colors</a:t>
            </a:r>
          </a:p>
        </p:txBody>
      </p:sp>
      <p:sp>
        <p:nvSpPr>
          <p:cNvPr id="9115" name="TextBox 9114"/>
          <p:cNvSpPr txBox="1"/>
          <p:nvPr/>
        </p:nvSpPr>
        <p:spPr>
          <a:xfrm>
            <a:off x="1085800" y="447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16" name="TextBox 9115">
            <a:hlinkClick action="ppaction://hlinksldjump" r:id="rId8"/>
          </p:cNvPr>
          <p:cNvSpPr txBox="1"/>
          <p:nvPr/>
        </p:nvSpPr>
        <p:spPr>
          <a:xfrm>
            <a:off x="1345800" y="447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06  Unclassed Colors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1085800" y="480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18" name="TextBox 9117">
            <a:hlinkClick action="ppaction://hlinksldjump" r:id="rId9"/>
          </p:cNvPr>
          <p:cNvSpPr txBox="1"/>
          <p:nvPr/>
        </p:nvSpPr>
        <p:spPr>
          <a:xfrm>
            <a:off x="1345800" y="480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07  Graduated Symbols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1085800" y="513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20" name="TextBox 9119">
            <a:hlinkClick action="ppaction://hlinksldjump" r:id="rId10"/>
          </p:cNvPr>
          <p:cNvSpPr txBox="1"/>
          <p:nvPr/>
        </p:nvSpPr>
        <p:spPr>
          <a:xfrm>
            <a:off x="1345800" y="513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08  Proportional Symbols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085800" y="546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22" name="TextBox 9121">
            <a:hlinkClick action="ppaction://hlinksldjump" r:id="rId11"/>
          </p:cNvPr>
          <p:cNvSpPr txBox="1"/>
          <p:nvPr/>
        </p:nvSpPr>
        <p:spPr>
          <a:xfrm>
            <a:off x="1345800" y="546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09  Dot Density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085800" y="579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24" name="TextBox 9123">
            <a:hlinkClick action="ppaction://hlinksldjump" r:id="rId12"/>
          </p:cNvPr>
          <p:cNvSpPr txBox="1"/>
          <p:nvPr/>
        </p:nvSpPr>
        <p:spPr>
          <a:xfrm>
            <a:off x="1345800" y="579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10  Charts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6246000" y="282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26" name="TextBox 9125">
            <a:hlinkClick action="ppaction://hlinksldjump" r:id="rId13"/>
          </p:cNvPr>
          <p:cNvSpPr txBox="1"/>
          <p:nvPr/>
        </p:nvSpPr>
        <p:spPr>
          <a:xfrm>
            <a:off x="6506000" y="282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11  Classification methods compared</a:t>
            </a:r>
          </a:p>
        </p:txBody>
      </p:sp>
      <p:sp>
        <p:nvSpPr>
          <p:cNvPr id="9127" name="TextBox 9126"/>
          <p:cNvSpPr txBox="1"/>
          <p:nvPr/>
        </p:nvSpPr>
        <p:spPr>
          <a:xfrm>
            <a:off x="6246000" y="315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28" name="TextBox 9127">
            <a:hlinkClick action="ppaction://hlinksldjump" r:id="rId14"/>
          </p:cNvPr>
          <p:cNvSpPr txBox="1"/>
          <p:nvPr/>
        </p:nvSpPr>
        <p:spPr>
          <a:xfrm>
            <a:off x="6506000" y="315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12  Choosing a classification method</a:t>
            </a:r>
          </a:p>
        </p:txBody>
      </p:sp>
      <p:sp>
        <p:nvSpPr>
          <p:cNvPr id="9129" name="TextBox 9128"/>
          <p:cNvSpPr txBox="1"/>
          <p:nvPr/>
        </p:nvSpPr>
        <p:spPr>
          <a:xfrm>
            <a:off x="6246000" y="348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30" name="TextBox 9129">
            <a:hlinkClick action="ppaction://hlinksldjump" r:id="rId15"/>
          </p:cNvPr>
          <p:cNvSpPr txBox="1"/>
          <p:nvPr/>
        </p:nvSpPr>
        <p:spPr>
          <a:xfrm>
            <a:off x="6506000" y="348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13  Common confusions</a:t>
            </a:r>
          </a:p>
        </p:txBody>
      </p:sp>
      <p:sp>
        <p:nvSpPr>
          <p:cNvPr id="9131" name="TextBox 9130"/>
          <p:cNvSpPr txBox="1"/>
          <p:nvPr/>
        </p:nvSpPr>
        <p:spPr>
          <a:xfrm>
            <a:off x="6246000" y="381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32" name="TextBox 9131">
            <a:hlinkClick action="ppaction://hlinksldjump" r:id="rId16"/>
          </p:cNvPr>
          <p:cNvSpPr txBox="1"/>
          <p:nvPr/>
        </p:nvSpPr>
        <p:spPr>
          <a:xfrm>
            <a:off x="6506000" y="381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14  Worked example</a:t>
            </a:r>
          </a:p>
        </p:txBody>
      </p:sp>
      <p:sp>
        <p:nvSpPr>
          <p:cNvPr id="9133" name="TextBox 9132"/>
          <p:cNvSpPr txBox="1"/>
          <p:nvPr/>
        </p:nvSpPr>
        <p:spPr>
          <a:xfrm>
            <a:off x="6246000" y="414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34" name="TextBox 9133">
            <a:hlinkClick action="ppaction://hlinksldjump" r:id="rId17"/>
          </p:cNvPr>
          <p:cNvSpPr txBox="1"/>
          <p:nvPr/>
        </p:nvSpPr>
        <p:spPr>
          <a:xfrm>
            <a:off x="6506000" y="414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15  Your turn — hands-on lab</a:t>
            </a:r>
          </a:p>
        </p:txBody>
      </p:sp>
      <p:sp>
        <p:nvSpPr>
          <p:cNvPr id="9135" name="TextBox 9134"/>
          <p:cNvSpPr txBox="1"/>
          <p:nvPr/>
        </p:nvSpPr>
        <p:spPr>
          <a:xfrm>
            <a:off x="6246000" y="447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36" name="TextBox 9135">
            <a:hlinkClick action="ppaction://hlinksldjump" r:id="rId18"/>
          </p:cNvPr>
          <p:cNvSpPr txBox="1"/>
          <p:nvPr/>
        </p:nvSpPr>
        <p:spPr>
          <a:xfrm>
            <a:off x="6506000" y="447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16  Knowledge check</a:t>
            </a:r>
          </a:p>
        </p:txBody>
      </p:sp>
      <p:sp>
        <p:nvSpPr>
          <p:cNvPr id="9137" name="TextBox 9136"/>
          <p:cNvSpPr txBox="1"/>
          <p:nvPr/>
        </p:nvSpPr>
        <p:spPr>
          <a:xfrm>
            <a:off x="6246000" y="4804800"/>
            <a:ext cx="26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›</a:t>
            </a:r>
          </a:p>
        </p:txBody>
      </p:sp>
      <p:sp>
        <p:nvSpPr>
          <p:cNvPr id="9138" name="TextBox 9137">
            <a:hlinkClick action="ppaction://hlinksldjump" r:id="rId19"/>
          </p:cNvPr>
          <p:cNvSpPr txBox="1"/>
          <p:nvPr/>
        </p:nvSpPr>
        <p:spPr>
          <a:xfrm>
            <a:off x="6506000" y="4804800"/>
            <a:ext cx="47102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E9F0F7"/>
                </a:solidFill>
                <a:latin typeface="Aptos Slab ExtraBold"/>
              </a:rPr>
              <a:t>17  Recap &amp; what's next</a:t>
            </a:r>
          </a:p>
        </p:txBody>
      </p:sp>
      <p:sp>
        <p:nvSpPr>
          <p:cNvPr id="9139" name="TextBox 9138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02  /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3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4" name="TextBox 9103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E9F0F7"/>
                </a:solidFill>
                <a:latin typeface="Aptos Slab ExtraBold"/>
              </a:rPr>
              <a:t>Learning Objectives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085800" y="2374800"/>
            <a:ext cx="1002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A9BBCE"/>
                </a:solidFill>
                <a:latin typeface="Aptos Slab ExtraBold"/>
              </a:rPr>
              <a:t>By the end of this topic, you will be able to:</a:t>
            </a:r>
          </a:p>
        </p:txBody>
      </p:sp>
      <p:sp>
        <p:nvSpPr>
          <p:cNvPr id="9107" name="Oval 9106"/>
          <p:cNvSpPr/>
          <p:nvPr/>
        </p:nvSpPr>
        <p:spPr>
          <a:xfrm>
            <a:off x="1085800" y="3024800"/>
            <a:ext cx="320000" cy="320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 Slab ExtraBold"/>
              </a:rPr>
              <a:t>1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515800" y="3014800"/>
            <a:ext cx="95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E9F0F7"/>
                </a:solidFill>
                <a:latin typeface="Aptos Slab ExtraBold"/>
              </a:rPr>
              <a:t>Identify the renderer options in the Symbology pane and explain what each one draws.</a:t>
            </a:r>
          </a:p>
        </p:txBody>
      </p:sp>
      <p:sp>
        <p:nvSpPr>
          <p:cNvPr id="9109" name="Oval 9108"/>
          <p:cNvSpPr/>
          <p:nvPr/>
        </p:nvSpPr>
        <p:spPr>
          <a:xfrm>
            <a:off x="1085800" y="3644800"/>
            <a:ext cx="320000" cy="320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 Slab ExtraBold"/>
              </a:rPr>
              <a:t>2</a:t>
            </a:r>
          </a:p>
        </p:txBody>
      </p:sp>
      <p:sp>
        <p:nvSpPr>
          <p:cNvPr id="9110" name="TextBox 9109"/>
          <p:cNvSpPr txBox="1"/>
          <p:nvPr/>
        </p:nvSpPr>
        <p:spPr>
          <a:xfrm>
            <a:off x="1515800" y="3634800"/>
            <a:ext cx="95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E9F0F7"/>
                </a:solidFill>
                <a:latin typeface="Aptos Slab ExtraBold"/>
              </a:rPr>
              <a:t>Choose the right renderer for a given data type — categories, counts, rates, or two variables at once.</a:t>
            </a:r>
          </a:p>
        </p:txBody>
      </p:sp>
      <p:sp>
        <p:nvSpPr>
          <p:cNvPr id="9111" name="Oval 9110"/>
          <p:cNvSpPr/>
          <p:nvPr/>
        </p:nvSpPr>
        <p:spPr>
          <a:xfrm>
            <a:off x="1085800" y="4264800"/>
            <a:ext cx="320000" cy="320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 Slab ExtraBold"/>
              </a:rPr>
              <a:t>3</a:t>
            </a:r>
          </a:p>
        </p:txBody>
      </p:sp>
      <p:sp>
        <p:nvSpPr>
          <p:cNvPr id="9112" name="TextBox 9111"/>
          <p:cNvSpPr txBox="1"/>
          <p:nvPr/>
        </p:nvSpPr>
        <p:spPr>
          <a:xfrm>
            <a:off x="1515800" y="4254800"/>
            <a:ext cx="95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E9F0F7"/>
                </a:solidFill>
                <a:latin typeface="Aptos Slab ExtraBold"/>
              </a:rPr>
              <a:t>Explain how a classification method (Natural Breaks, Quantiles, Equal Interval, Standard Deviation) turns raw numbers into map classes.</a:t>
            </a:r>
          </a:p>
        </p:txBody>
      </p:sp>
      <p:sp>
        <p:nvSpPr>
          <p:cNvPr id="9113" name="Oval 9112"/>
          <p:cNvSpPr/>
          <p:nvPr/>
        </p:nvSpPr>
        <p:spPr>
          <a:xfrm>
            <a:off x="1085800" y="4884800"/>
            <a:ext cx="320000" cy="320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 Slab ExtraBold"/>
              </a:rPr>
              <a:t>4</a:t>
            </a:r>
          </a:p>
        </p:txBody>
      </p:sp>
      <p:sp>
        <p:nvSpPr>
          <p:cNvPr id="9114" name="TextBox 9113"/>
          <p:cNvSpPr txBox="1"/>
          <p:nvPr/>
        </p:nvSpPr>
        <p:spPr>
          <a:xfrm>
            <a:off x="1515800" y="4874800"/>
            <a:ext cx="95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E9F0F7"/>
                </a:solidFill>
                <a:latin typeface="Aptos Slab ExtraBold"/>
              </a:rPr>
              <a:t>Predict how changing the classification method or number of classes changes the story a map tells.</a:t>
            </a:r>
          </a:p>
        </p:txBody>
      </p:sp>
      <p:sp>
        <p:nvSpPr>
          <p:cNvPr id="9115" name="Oval 9114"/>
          <p:cNvSpPr/>
          <p:nvPr/>
        </p:nvSpPr>
        <p:spPr>
          <a:xfrm>
            <a:off x="1085800" y="5504800"/>
            <a:ext cx="320000" cy="320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ptos Slab ExtraBold"/>
              </a:rPr>
              <a:t>5</a:t>
            </a:r>
          </a:p>
        </p:txBody>
      </p:sp>
      <p:sp>
        <p:nvSpPr>
          <p:cNvPr id="9116" name="TextBox 9115"/>
          <p:cNvSpPr txBox="1"/>
          <p:nvPr/>
        </p:nvSpPr>
        <p:spPr>
          <a:xfrm>
            <a:off x="1515800" y="5494800"/>
            <a:ext cx="9520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E9F0F7"/>
                </a:solidFill>
                <a:latin typeface="Aptos Slab ExtraBold"/>
              </a:rPr>
              <a:t>Spot common symbology mistakes — using counts instead of rates, too many classes, or a method that hides outliers.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03  / 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5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6" name="TextBox 9105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E9F0F7"/>
                </a:solidFill>
                <a:latin typeface="Aptos Slab ExtraBold"/>
              </a:rPr>
              <a:t>Why Symbology &amp; Classification Matter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085800" y="2424800"/>
            <a:ext cx="10020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E9F0F7"/>
                </a:solidFill>
                <a:latin typeface="Aptos Slab ExtraBold"/>
              </a:rPr>
              <a:t>The same dataset can look like completely different stories depending on how it's classified. Symbology isn't just decoration — it's an argument about what matters in the data.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1085800" y="35748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5A623"/>
                </a:solidFill>
                <a:latin typeface="Aptos Slab ExtraBold"/>
              </a:rPr>
              <a:t>▸</a:t>
            </a:r>
          </a:p>
        </p:txBody>
      </p:sp>
      <p:sp>
        <p:nvSpPr>
          <p:cNvPr id="9110" name="TextBox 9109"/>
          <p:cNvSpPr txBox="1"/>
          <p:nvPr/>
        </p:nvSpPr>
        <p:spPr>
          <a:xfrm>
            <a:off x="1435800" y="3574800"/>
            <a:ext cx="967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5BA7F7"/>
                </a:solidFill>
                <a:latin typeface="Aptos Slab ExtraBold"/>
              </a:rPr>
              <a:t>A map is an argument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1435800" y="3874800"/>
            <a:ext cx="967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Choosing a renderer and a classification method is an editorial decision — it decides what the reader notices first.</a:t>
            </a:r>
          </a:p>
        </p:txBody>
      </p:sp>
      <p:sp>
        <p:nvSpPr>
          <p:cNvPr id="9112" name="TextBox 9111"/>
          <p:cNvSpPr txBox="1"/>
          <p:nvPr/>
        </p:nvSpPr>
        <p:spPr>
          <a:xfrm>
            <a:off x="1085800" y="43548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5A623"/>
                </a:solidFill>
                <a:latin typeface="Aptos Slab ExtraBold"/>
              </a:rPr>
              <a:t>▸</a:t>
            </a:r>
          </a:p>
        </p:txBody>
      </p:sp>
      <p:sp>
        <p:nvSpPr>
          <p:cNvPr id="9113" name="TextBox 9112"/>
          <p:cNvSpPr txBox="1"/>
          <p:nvPr/>
        </p:nvSpPr>
        <p:spPr>
          <a:xfrm>
            <a:off x="1435800" y="4354800"/>
            <a:ext cx="967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5BA7F7"/>
                </a:solidFill>
                <a:latin typeface="Aptos Slab ExtraBold"/>
              </a:rPr>
              <a:t>The wrong method can mislead</a:t>
            </a:r>
          </a:p>
        </p:txBody>
      </p:sp>
      <p:sp>
        <p:nvSpPr>
          <p:cNvPr id="9114" name="TextBox 9113"/>
          <p:cNvSpPr txBox="1"/>
          <p:nvPr/>
        </p:nvSpPr>
        <p:spPr>
          <a:xfrm>
            <a:off x="1435800" y="4654800"/>
            <a:ext cx="967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Equal Interval on skewed data can hide almost every feature in a single class, making real variation invisible.</a:t>
            </a:r>
          </a:p>
        </p:txBody>
      </p:sp>
      <p:sp>
        <p:nvSpPr>
          <p:cNvPr id="9115" name="TextBox 9114"/>
          <p:cNvSpPr txBox="1"/>
          <p:nvPr/>
        </p:nvSpPr>
        <p:spPr>
          <a:xfrm>
            <a:off x="1085800" y="51348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F5A623"/>
                </a:solidFill>
                <a:latin typeface="Aptos Slab ExtraBold"/>
              </a:rPr>
              <a:t>▸</a:t>
            </a:r>
          </a:p>
        </p:txBody>
      </p:sp>
      <p:sp>
        <p:nvSpPr>
          <p:cNvPr id="9116" name="TextBox 9115"/>
          <p:cNvSpPr txBox="1"/>
          <p:nvPr/>
        </p:nvSpPr>
        <p:spPr>
          <a:xfrm>
            <a:off x="1435800" y="5134800"/>
            <a:ext cx="9670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5BA7F7"/>
                </a:solidFill>
                <a:latin typeface="Aptos Slab ExtraBold"/>
              </a:rPr>
              <a:t>Small choices, big consequences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1435800" y="5434800"/>
            <a:ext cx="967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Changing from 4 to 7 classes, or from counts to rates, can flip who looks "high" and who looks "low" on the map.</a:t>
            </a:r>
          </a:p>
        </p:txBody>
      </p:sp>
      <p:sp>
        <p:nvSpPr>
          <p:cNvPr id="9118" name="TextBox 911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04  / 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58B7F9F6-D985-EF3C-BE38-DB4F2509D0D0}"/>
              </a:ext>
            </a:extLst>
          </p:cNvPr>
          <p:cNvPicPr>
            <a:picLocks/>
          </p:cNvPicPr>
          <p:nvPr/>
        </p:nvPicPr>
        <p:blipFill>
          <a:blip r:embed="rId3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5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086498" y="875211"/>
            <a:ext cx="44559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Symbology pane: what you’re looking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81095" y="1206171"/>
            <a:ext cx="72065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600" b="0" dirty="0">
                <a:solidFill>
                  <a:srgbClr val="CBD5E1"/>
                </a:solidFill>
              </a:rPr>
              <a:t>The Symbology pane is where you choose how a layer is drawn (renderer + settings).</a:t>
            </a:r>
          </a:p>
        </p:txBody>
      </p:sp>
      <p:pic>
        <p:nvPicPr>
          <p:cNvPr id="5" name="Picture 4" descr="0747348a-f0f9-439c-b63f-97858c8f618c.png"/>
          <p:cNvPicPr>
            <a:picLocks noChangeAspect="1"/>
          </p:cNvPicPr>
          <p:nvPr/>
        </p:nvPicPr>
        <p:blipFill>
          <a:blip r:embed="rId4"/>
          <a:srcRect l="28447"/>
          <a:stretch>
            <a:fillRect/>
          </a:stretch>
        </p:blipFill>
        <p:spPr>
          <a:xfrm>
            <a:off x="4003040" y="1994694"/>
            <a:ext cx="5430520" cy="3737291"/>
          </a:xfrm>
          <a:prstGeom prst="roundRect">
            <a:avLst>
              <a:gd name="adj" fmla="val 8000"/>
            </a:avLst>
          </a:prstGeom>
          <a:ln w="19050">
            <a:solidFill>
              <a:srgbClr val="F2A72C">
                <a:alpha val="70000"/>
              </a:srgbClr>
            </a:solidFill>
          </a:ln>
          <a:effectLst>
            <a:glow rad="90000">
              <a:srgbClr val="F2A72C">
                <a:alpha val="45000"/>
              </a:srgbClr>
            </a:glow>
            <a:outerShdw blurRad="190000" dist="30000" dir="5400000" rotWithShape="0">
              <a:srgbClr val="000000">
                <a:alpha val="45000"/>
              </a:srgbClr>
            </a:outerShdw>
          </a:effectLst>
        </p:spPr>
      </p:pic>
      <p:sp>
        <p:nvSpPr>
          <p:cNvPr id="9101" name="GlassPill"/>
          <p:cNvSpPr/>
          <p:nvPr/>
        </p:nvSpPr>
        <p:spPr>
          <a:xfrm>
            <a:off x="9682480" y="1762760"/>
            <a:ext cx="2468880" cy="4061460"/>
          </a:xfrm>
          <a:prstGeom prst="roundRect">
            <a:avLst>
              <a:gd name="adj" fmla="val 4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29800" y="1943100"/>
            <a:ext cx="24130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dirty="0">
                <a:solidFill>
                  <a:srgbClr val="E9F0F7"/>
                </a:solidFill>
              </a:rPr>
              <a:t>Primary symbology options</a:t>
            </a:r>
          </a:p>
        </p:txBody>
      </p:sp>
      <p:pic>
        <p:nvPicPr>
          <p:cNvPr id="8" name="Picture 7" descr="single_symb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400300"/>
            <a:ext cx="203200" cy="20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09200" y="2387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E9F0F7"/>
                </a:solidFill>
              </a:rPr>
              <a:t>Single Symbol</a:t>
            </a:r>
          </a:p>
        </p:txBody>
      </p:sp>
      <p:pic>
        <p:nvPicPr>
          <p:cNvPr id="10" name="Picture 9" descr="unique_valu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781300"/>
            <a:ext cx="203200" cy="20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09200" y="2768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E9F0F7"/>
                </a:solidFill>
              </a:rPr>
              <a:t>Unique Values</a:t>
            </a:r>
          </a:p>
        </p:txBody>
      </p:sp>
      <p:pic>
        <p:nvPicPr>
          <p:cNvPr id="12" name="Picture 11" descr="graduated_colo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3162300"/>
            <a:ext cx="203200" cy="2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09200" y="3149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E9F0F7"/>
                </a:solidFill>
              </a:rPr>
              <a:t>Graduated Colors</a:t>
            </a:r>
          </a:p>
        </p:txBody>
      </p:sp>
      <p:pic>
        <p:nvPicPr>
          <p:cNvPr id="14" name="Picture 13" descr="bivariate_colo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0" y="3543300"/>
            <a:ext cx="203200" cy="2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109200" y="3530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9F0F7"/>
                </a:solidFill>
              </a:rPr>
              <a:t>Bivariate Colors</a:t>
            </a:r>
          </a:p>
        </p:txBody>
      </p:sp>
      <p:pic>
        <p:nvPicPr>
          <p:cNvPr id="16" name="Picture 15" descr="unclassed_colo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9800" y="3924300"/>
            <a:ext cx="203200" cy="2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09200" y="3911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9F0F7"/>
                </a:solidFill>
              </a:rPr>
              <a:t>Unclassed Colors</a:t>
            </a:r>
          </a:p>
        </p:txBody>
      </p:sp>
      <p:pic>
        <p:nvPicPr>
          <p:cNvPr id="18" name="Picture 17" descr="graduated_symbol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9800" y="4305300"/>
            <a:ext cx="203200" cy="20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109200" y="4292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E9F0F7"/>
                </a:solidFill>
              </a:rPr>
              <a:t>Graduated Symbols</a:t>
            </a:r>
          </a:p>
        </p:txBody>
      </p:sp>
      <p:pic>
        <p:nvPicPr>
          <p:cNvPr id="20" name="Picture 19" descr="proportional_symbol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9800" y="4686300"/>
            <a:ext cx="203200" cy="20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109200" y="4673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E9F0F7"/>
                </a:solidFill>
              </a:rPr>
              <a:t>Proportional Symbols</a:t>
            </a:r>
          </a:p>
        </p:txBody>
      </p:sp>
      <p:pic>
        <p:nvPicPr>
          <p:cNvPr id="22" name="Picture 21" descr="dot_dens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9800" y="5067300"/>
            <a:ext cx="203200" cy="2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09200" y="5054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9F0F7"/>
                </a:solidFill>
              </a:rPr>
              <a:t>Dot Density</a:t>
            </a:r>
          </a:p>
        </p:txBody>
      </p:sp>
      <p:pic>
        <p:nvPicPr>
          <p:cNvPr id="24" name="Picture 23" descr="chart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5448300"/>
            <a:ext cx="2032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109200" y="5435600"/>
            <a:ext cx="1930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9F0F7"/>
                </a:solidFill>
              </a:rPr>
              <a:t>Charts</a:t>
            </a:r>
          </a:p>
        </p:txBody>
      </p:sp>
      <p:sp>
        <p:nvSpPr>
          <p:cNvPr id="26" name="Oval 25"/>
          <p:cNvSpPr/>
          <p:nvPr/>
        </p:nvSpPr>
        <p:spPr>
          <a:xfrm>
            <a:off x="4165600" y="5867400"/>
            <a:ext cx="279400" cy="2794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5600" y="5867400"/>
            <a:ext cx="279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85883" y="5402072"/>
            <a:ext cx="2743200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6600" y="58547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Choose a renderer from Primary symbology</a:t>
            </a:r>
          </a:p>
        </p:txBody>
      </p:sp>
      <p:sp>
        <p:nvSpPr>
          <p:cNvPr id="30" name="Oval 29"/>
          <p:cNvSpPr/>
          <p:nvPr/>
        </p:nvSpPr>
        <p:spPr>
          <a:xfrm>
            <a:off x="4165600" y="6197600"/>
            <a:ext cx="279400" cy="2794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65600" y="6197600"/>
            <a:ext cx="279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47329" y="5975970"/>
            <a:ext cx="2798063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46600" y="6184900"/>
            <a:ext cx="7239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Options are grouped by what your data is</a:t>
            </a:r>
          </a:p>
        </p:txBody>
      </p:sp>
      <p:sp>
        <p:nvSpPr>
          <p:cNvPr id="34" name="Oval 33"/>
          <p:cNvSpPr/>
          <p:nvPr/>
        </p:nvSpPr>
        <p:spPr>
          <a:xfrm>
            <a:off x="4165600" y="6527800"/>
            <a:ext cx="279400" cy="279400"/>
          </a:xfrm>
          <a:prstGeom prst="ellipse">
            <a:avLst/>
          </a:prstGeom>
          <a:solidFill>
            <a:srgbClr val="F59E0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65600" y="6527800"/>
            <a:ext cx="2794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57806" y="5971032"/>
            <a:ext cx="3103512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46600" y="65151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FFFFFF"/>
                </a:solidFill>
              </a:rPr>
              <a:t>Classes / symbols / legend settings appear below</a:t>
            </a:r>
          </a:p>
        </p:txBody>
      </p:sp>
      <p:sp>
        <p:nvSpPr>
          <p:cNvPr id="251" name="PaneDivider"/>
          <p:cNvSpPr/>
          <p:nvPr/>
        </p:nvSpPr>
        <p:spPr>
          <a:xfrm>
            <a:off x="9588500" y="1905000"/>
            <a:ext cx="12700" cy="37592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E60E4-5425-4171-8D59-DF3BD450F9F4}"/>
              </a:ext>
            </a:extLst>
          </p:cNvPr>
          <p:cNvSpPr txBox="1"/>
          <p:nvPr/>
        </p:nvSpPr>
        <p:spPr>
          <a:xfrm>
            <a:off x="535214" y="426360"/>
            <a:ext cx="660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F5A623"/>
                </a:solidFill>
                <a:latin typeface="Aptos Slab ExtraBold" panose="020B0004020202020204" pitchFamily="34" charset="0"/>
              </a:rPr>
              <a:t>ARCGIS PRO — MAP CLASSIFICATION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67B19B-7DDE-49AE-9447-9F126A9C743D}"/>
              </a:ext>
            </a:extLst>
          </p:cNvPr>
          <p:cNvSpPr txBox="1"/>
          <p:nvPr/>
        </p:nvSpPr>
        <p:spPr>
          <a:xfrm>
            <a:off x="177800" y="6516914"/>
            <a:ext cx="1143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 dirty="0">
                <a:solidFill>
                  <a:srgbClr val="F5A623"/>
                </a:solidFill>
              </a:rPr>
              <a:t>05  /  21</a:t>
            </a:r>
          </a:p>
        </p:txBody>
      </p:sp>
    </p:spTree>
    <p:extLst>
      <p:ext uri="{BB962C8B-B14F-4D97-AF65-F5344CB8AC3E}">
        <p14:creationId xmlns:p14="http://schemas.microsoft.com/office/powerpoint/2010/main" val="383896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DD2ECF05-DC7A-1DED-D382-038A0875A7C3}"/>
              </a:ext>
            </a:extLst>
          </p:cNvPr>
          <p:cNvPicPr>
            <a:picLocks/>
          </p:cNvPicPr>
          <p:nvPr/>
        </p:nvPicPr>
        <p:blipFill>
          <a:blip r:embed="rId3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00000" y="2570000"/>
            <a:ext cx="2236877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dirty="0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000" y="2830000"/>
            <a:ext cx="2236877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 dirty="0">
                <a:solidFill>
                  <a:srgbClr val="E9F0F7"/>
                </a:solidFill>
                <a:latin typeface="Aptos Slab ExtraBold" panose="020F0502020204030204" pitchFamily="34" charset="0"/>
              </a:rPr>
              <a:t>Draws every feature with the same symbol.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 dirty="0">
                <a:solidFill>
                  <a:srgbClr val="E9F0F7"/>
                </a:solidFill>
                <a:latin typeface="Aptos Slab ExtraBold" panose="020F0502020204030204" pitchFamily="34" charset="0"/>
              </a:rPr>
              <a:t>Good for outlines and reference layers.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4070000"/>
            <a:ext cx="2236877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4330000"/>
            <a:ext cx="2236877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 dirty="0">
                <a:solidFill>
                  <a:srgbClr val="E9F0F7"/>
                </a:solidFill>
                <a:latin typeface="Aptos Slab ExtraBold" panose="020F0502020204030204" pitchFamily="34" charset="0"/>
              </a:rPr>
              <a:t>Boundaries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 dirty="0">
                <a:solidFill>
                  <a:srgbClr val="E9F0F7"/>
                </a:solidFill>
                <a:latin typeface="Aptos Slab ExtraBold" panose="020F0502020204030204" pitchFamily="34" charset="0"/>
              </a:rPr>
              <a:t>Context layers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940000"/>
            <a:ext cx="2236877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dirty="0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5200000"/>
            <a:ext cx="2236877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 dirty="0">
                <a:solidFill>
                  <a:srgbClr val="E9F0F7"/>
                </a:solidFill>
                <a:latin typeface="Aptos Slab ExtraBold" panose="020F0502020204030204" pitchFamily="34" charset="0"/>
              </a:rPr>
              <a:t>Not for categories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 dirty="0">
                <a:solidFill>
                  <a:srgbClr val="E9F0F7"/>
                </a:solidFill>
                <a:latin typeface="Aptos Slab ExtraBold" panose="020F0502020204030204" pitchFamily="34" charset="0"/>
              </a:rPr>
              <a:t>Not for magnitude</a:t>
            </a:r>
          </a:p>
        </p:txBody>
      </p:sp>
      <p:sp>
        <p:nvSpPr>
          <p:cNvPr id="9102" name="GlassPill"/>
          <p:cNvSpPr/>
          <p:nvPr/>
        </p:nvSpPr>
        <p:spPr>
          <a:xfrm>
            <a:off x="6886877" y="6260000"/>
            <a:ext cx="4513123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50377" y="6323500"/>
            <a:ext cx="4386123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Single Symbol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6040000"/>
            <a:ext cx="2236877" cy="42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dirty="0">
                <a:solidFill>
                  <a:srgbClr val="E9F0F7"/>
                </a:solidFill>
                <a:latin typeface="Aptos Slab ExtraBold" panose="020F0502020204030204" pitchFamily="34" charset="0"/>
              </a:rPr>
              <a:t>All features → same look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820000"/>
            <a:ext cx="2236877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dirty="0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E4DA8-36F4-4F5A-A197-2B68F1CDA6ED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75E1D-6457-425D-A4F0-BC4CD4FC06D4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06  /  21</a:t>
            </a:r>
          </a:p>
        </p:txBody>
      </p:sp>
      <p:sp>
        <p:nvSpPr>
          <p:cNvPr id="9101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Qualitative (1 class)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236877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 dirty="0">
                <a:solidFill>
                  <a:srgbClr val="E9F0F7"/>
                </a:solidFill>
                <a:latin typeface="Aptos Slab ExtraBold" panose="020F0502020204030204" pitchFamily="34" charset="0"/>
              </a:rPr>
              <a:t>Single Symbol</a:t>
            </a:r>
          </a:p>
        </p:txBody>
      </p:sp>
      <p:pic>
        <p:nvPicPr>
          <p:cNvPr id="9103" name="Picture 9102" descr="map_single_symb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877" y="1380000"/>
            <a:ext cx="4513123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4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955AAC7A-C03D-38CA-2A8F-FC1C3C9113D5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4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Unique Values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000" y="25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2830000"/>
            <a:ext cx="245125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Assigns a different symbol/color to each category.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Categories come from one (or more) fields.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40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33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Land use / zoning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Administrative areas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494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0000" y="520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Too many categories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Random colors = chaos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A27C9-391C-405C-960B-93690DB62573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1F1D5-9FA6-4803-9994-440634EDB463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07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82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604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Categories (A/B/C)</a:t>
            </a:r>
          </a:p>
        </p:txBody>
      </p:sp>
      <p:sp>
        <p:nvSpPr>
          <p:cNvPr id="9103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Categorical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Unique Values</a:t>
            </a:r>
          </a:p>
        </p:txBody>
      </p:sp>
      <p:pic>
        <p:nvPicPr>
          <p:cNvPr id="9105" name="Picture 9104" descr="map_unique_valu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39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7713DA0A-36AD-285A-6F86-200FF642F1F2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6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Graduated Colors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0000" y="25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000" y="283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Groups numeric values into classes (bins).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Each class gets a color shade.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386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4120000"/>
            <a:ext cx="245125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Choropleths (rates/indices)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Comparing areas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94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5200000"/>
            <a:ext cx="245125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Counts vs rates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Class breaks change the story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25D98-5CCD-4DCD-879F-85ACA4978C06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92B82-BF20-4BFB-86B2-B10E8F5D2E26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08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603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625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Classes (bins)</a:t>
            </a:r>
          </a:p>
        </p:txBody>
      </p:sp>
      <p:sp>
        <p:nvSpPr>
          <p:cNvPr id="9105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Quantitative (binned)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Graduated Colors</a:t>
            </a:r>
          </a:p>
        </p:txBody>
      </p:sp>
      <p:pic>
        <p:nvPicPr>
          <p:cNvPr id="9107" name="Picture 9106" descr="map_graduated_col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10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F7D4C0CE-FFBA-38A6-4EF9-23D3DF862EBD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8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Bivariate Colors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25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0000" y="283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Uses a color grid to show two fields at once.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Each axis is classified (2×2, 3×3, 4×4…).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0000" y="386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0000" y="412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Spot high-high / low-low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Explore relationships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0000" y="473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0000" y="499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Legend can confuse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Too many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D2044-EED1-46F3-BB10-02C71E01FD14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05F02-CD47-4041-868F-B0DBB088CC4D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09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61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583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Two variables at once</a:t>
            </a:r>
          </a:p>
        </p:txBody>
      </p:sp>
      <p:sp>
        <p:nvSpPr>
          <p:cNvPr id="9107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Two variables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Bivariate Colors</a:t>
            </a:r>
          </a:p>
        </p:txBody>
      </p:sp>
      <p:pic>
        <p:nvPicPr>
          <p:cNvPr id="9109" name="Picture 9108" descr="map_bivari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2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02BAABFD-3243-427A-67E6-09A363005243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0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Unclassed Colors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25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2830000"/>
            <a:ext cx="245125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Uses a continuous color scheme (no class breaks).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Each value gets a slightly different shade.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0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dirty="0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433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Smooth variation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Uncertain data / MOE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0000" y="494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0000" y="520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Harder legend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Color perception limits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52B75-0B14-42A6-84D4-5220772C28C7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82327-F8B2-4508-9376-D23AAEA8EF5D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10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82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604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Continuous ramp</a:t>
            </a:r>
          </a:p>
        </p:txBody>
      </p:sp>
      <p:sp>
        <p:nvSpPr>
          <p:cNvPr id="9109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Quantitative (continuous)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Unclassed Colors</a:t>
            </a:r>
          </a:p>
        </p:txBody>
      </p:sp>
      <p:pic>
        <p:nvPicPr>
          <p:cNvPr id="9111" name="Picture 9110" descr="map_unclas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9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88A8DE21-4CB0-EB2B-5AF8-BE9F7F7E731A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2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Graduated Symbols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0000" y="25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000" y="283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Sizes symbols by classes (bins).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Legend shows a few discrete sizes.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386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4120000"/>
            <a:ext cx="245125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Simpler than proportional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Counts by place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94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5200000"/>
            <a:ext cx="245125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Small differences hidden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Class breaks matter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16BA8-C351-442B-88A8-B16B0B421E15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8169E-04CA-4E6C-B253-D2549E418E21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11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603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625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Binned sizes</a:t>
            </a:r>
          </a:p>
        </p:txBody>
      </p:sp>
      <p:sp>
        <p:nvSpPr>
          <p:cNvPr id="9111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Quantitative (binned size)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Graduated Symbols</a:t>
            </a:r>
          </a:p>
        </p:txBody>
      </p:sp>
      <p:pic>
        <p:nvPicPr>
          <p:cNvPr id="9113" name="Picture 9112" descr="map_graduated_symb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9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2063CCE9-99A3-726E-E5B7-1B78B03EAA9D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4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Proportional Symbols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0000" y="25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000" y="283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Sizes each symbol to its value (no classes).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Can be relative size or actual units.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386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412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Big value ranges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Point quantities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73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499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Outliers dominate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Circles misread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60C88-F2DF-4F9D-8904-B23E6BBCE8F9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BFCA7-3631-4347-88F8-F89680E39760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12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61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583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Continuous size</a:t>
            </a:r>
          </a:p>
        </p:txBody>
      </p:sp>
      <p:sp>
        <p:nvSpPr>
          <p:cNvPr id="9113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Quantitative (continuous size)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76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Proportional Symbols</a:t>
            </a:r>
          </a:p>
        </p:txBody>
      </p:sp>
      <p:pic>
        <p:nvPicPr>
          <p:cNvPr id="9115" name="Picture 9114" descr="map_proportional_symbo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37626C1B-B200-E9AE-8E31-DA8223DE8AC5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6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Dot Density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0000" y="219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00000" y="245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Places dots inside polygons.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Each dot represents a fixed quantity.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0000" y="348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00000" y="374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Show distribution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Large totals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00000" y="435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00000" y="461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Dots are random placement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E9F0F7"/>
                </a:solidFill>
                <a:latin typeface="Aptos Slab ExtraBold" panose="020F0502020204030204" pitchFamily="34" charset="0"/>
              </a:rPr>
              <a:t>Choose dot value carefully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49343-CCD8-407B-B825-881D78866414}"/>
              </a:ext>
            </a:extLst>
          </p:cNvPr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8B90A-09E8-4B1D-84C1-42C8C9DB2EED}"/>
              </a:ext>
            </a:extLst>
          </p:cNvPr>
          <p:cNvSpPr txBox="1"/>
          <p:nvPr/>
        </p:nvSpPr>
        <p:spPr>
          <a:xfrm>
            <a:off x="88900" y="64770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F5A623"/>
                </a:solidFill>
                <a:latin typeface="Aptos Slab ExtraBold" panose="020F0502020204030204" pitchFamily="34" charset="0"/>
              </a:rPr>
              <a:t>13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65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587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E9F0F7"/>
                </a:solidFill>
                <a:latin typeface="Aptos Slab ExtraBold" panose="020F0502020204030204" pitchFamily="34" charset="0"/>
              </a:rPr>
              <a:t>Dots represent counts</a:t>
            </a:r>
          </a:p>
        </p:txBody>
      </p:sp>
      <p:sp>
        <p:nvSpPr>
          <p:cNvPr id="9115" name="GlassPill"/>
          <p:cNvSpPr/>
          <p:nvPr/>
        </p:nvSpPr>
        <p:spPr>
          <a:xfrm>
            <a:off x="9042400" y="913600"/>
            <a:ext cx="1917700" cy="4064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2400" y="939000"/>
            <a:ext cx="191770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Quantitative (distribution)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3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E9F0F7"/>
                </a:solidFill>
                <a:latin typeface="Aptos Slab ExtraBold" panose="020F0502020204030204" pitchFamily="34" charset="0"/>
              </a:rPr>
              <a:t>Dot Density</a:t>
            </a:r>
          </a:p>
        </p:txBody>
      </p:sp>
      <p:pic>
        <p:nvPicPr>
          <p:cNvPr id="9117" name="Picture 9116" descr="map_dot_den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50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767D9D97-1A66-747E-FE5C-585D78512F30}"/>
              </a:ext>
            </a:extLst>
          </p:cNvPr>
          <p:cNvPicPr>
            <a:picLocks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>
              <a:latin typeface="Aptos Slab ExtraBold" panose="020F0502020204030204" pitchFamily="34" charset="0"/>
            </a:endParaRPr>
          </a:p>
        </p:txBody>
      </p:sp>
      <p:sp>
        <p:nvSpPr>
          <p:cNvPr id="9118" name="GlassPill"/>
          <p:cNvSpPr/>
          <p:nvPr/>
        </p:nvSpPr>
        <p:spPr>
          <a:xfrm>
            <a:off x="7101250" y="6260000"/>
            <a:ext cx="4298750" cy="43000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64750" y="6323500"/>
            <a:ext cx="4171750" cy="30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9BBCE"/>
                </a:solidFill>
                <a:latin typeface="Aptos Slab ExtraBold" panose="020F0502020204030204" pitchFamily="34" charset="0"/>
              </a:rPr>
              <a:t>Path: Symbology ▸ Primary symbology ▸
Charts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0000" y="219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5BA7F7"/>
                </a:solidFill>
                <a:latin typeface="Aptos Slab ExtraBold" panose="020F0502020204030204" pitchFamily="34" charset="0"/>
              </a:rPr>
              <a:t>What it does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0000" y="2450000"/>
            <a:ext cx="245125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dirty="0">
                <a:solidFill>
                  <a:srgbClr val="E9F0F7"/>
                </a:solidFill>
                <a:latin typeface="Aptos Slab ExtraBold" panose="020F0502020204030204" pitchFamily="34" charset="0"/>
              </a:rPr>
              <a:t>Draws charts (pie/bar) at each feature/point.</a:t>
            </a:r>
          </a:p>
          <a:p>
            <a:pPr>
              <a:spcAft>
                <a:spcPts val="200"/>
              </a:spcAft>
              <a:defRPr sz="1200">
                <a:solidFill>
                  <a:srgbClr val="0F172A"/>
                </a:solidFill>
              </a:defRPr>
            </a:pPr>
            <a:r>
              <a:rPr dirty="0">
                <a:solidFill>
                  <a:srgbClr val="E9F0F7"/>
                </a:solidFill>
                <a:latin typeface="Aptos Slab ExtraBold" panose="020F0502020204030204" pitchFamily="34" charset="0"/>
              </a:rPr>
              <a:t>Each slice/bar is a different field.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348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4BD98B"/>
                </a:solidFill>
                <a:latin typeface="Aptos Slab ExtraBold" panose="020F0502020204030204" pitchFamily="34" charset="0"/>
              </a:rPr>
              <a:t>Best 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0000" y="3740000"/>
            <a:ext cx="245125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>
                <a:solidFill>
                  <a:srgbClr val="E9F0F7"/>
                </a:solidFill>
                <a:latin typeface="Aptos Slab ExtraBold" panose="020F0502020204030204" pitchFamily="34" charset="0"/>
              </a:rPr>
              <a:t>Composition (parts of whole)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>
                <a:solidFill>
                  <a:srgbClr val="E9F0F7"/>
                </a:solidFill>
                <a:latin typeface="Aptos Slab ExtraBold" panose="020F0502020204030204" pitchFamily="34" charset="0"/>
              </a:rPr>
              <a:t>Compare groups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0000" y="456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Aptos Slab ExtraBold" panose="020F0502020204030204" pitchFamily="34" charset="0"/>
              </a:rPr>
              <a:t>Watch 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0000" y="4820000"/>
            <a:ext cx="245125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>
                <a:solidFill>
                  <a:srgbClr val="E9F0F7"/>
                </a:solidFill>
                <a:latin typeface="Aptos Slab ExtraBold" panose="020F0502020204030204" pitchFamily="34" charset="0"/>
              </a:rPr>
              <a:t>Overlaps quickly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>
                <a:solidFill>
                  <a:srgbClr val="E9F0F7"/>
                </a:solidFill>
                <a:latin typeface="Aptos Slab ExtraBold" panose="020F0502020204030204" pitchFamily="34" charset="0"/>
              </a:rPr>
              <a:t>Too many slices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EC6F2-7F15-40B6-BD89-F9E0115D969F}"/>
              </a:ext>
            </a:extLst>
          </p:cNvPr>
          <p:cNvSpPr txBox="1"/>
          <p:nvPr/>
        </p:nvSpPr>
        <p:spPr>
          <a:xfrm>
            <a:off x="546100" y="381635"/>
            <a:ext cx="6604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5A623"/>
                </a:solidFill>
                <a:latin typeface="Aptos Slab ExtraBold" panose="020F0502020204030204" pitchFamily="34" charset="0"/>
              </a:rPr>
              <a:t>ARCGIS PRO — MAP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256AA-654F-4BFA-A51C-640AE3BF4755}"/>
              </a:ext>
            </a:extLst>
          </p:cNvPr>
          <p:cNvSpPr txBox="1"/>
          <p:nvPr/>
        </p:nvSpPr>
        <p:spPr>
          <a:xfrm>
            <a:off x="88900" y="6476365"/>
            <a:ext cx="11430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 dirty="0">
                <a:solidFill>
                  <a:srgbClr val="F5A623"/>
                </a:solidFill>
                <a:latin typeface="Aptos Slab ExtraBold" panose="020F0502020204030204" pitchFamily="34" charset="0"/>
              </a:rPr>
              <a:t>14  /  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5440000"/>
            <a:ext cx="2451250" cy="1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dirty="0">
                <a:solidFill>
                  <a:srgbClr val="A9BBCE"/>
                </a:solidFill>
                <a:latin typeface="Aptos Slab ExtraBold" panose="020F0502020204030204" pitchFamily="34" charset="0"/>
              </a:rPr>
              <a:t>CONCEPT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0000" y="5660000"/>
            <a:ext cx="2451250" cy="21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dirty="0">
                <a:solidFill>
                  <a:srgbClr val="E9F0F7"/>
                </a:solidFill>
                <a:latin typeface="Aptos Slab ExtraBold" panose="020F0502020204030204" pitchFamily="34" charset="0"/>
              </a:rPr>
              <a:t>Multiple fields per place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00000" y="1650000"/>
            <a:ext cx="2451250" cy="38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 dirty="0">
                <a:solidFill>
                  <a:srgbClr val="E9F0F7"/>
                </a:solidFill>
                <a:latin typeface="Aptos Slab ExtraBold" panose="020F0502020204030204" pitchFamily="34" charset="0"/>
              </a:rPr>
              <a:t>Charts</a:t>
            </a:r>
          </a:p>
        </p:txBody>
      </p:sp>
      <p:sp>
        <p:nvSpPr>
          <p:cNvPr id="9117" name="GlassPill"/>
          <p:cNvSpPr/>
          <p:nvPr/>
        </p:nvSpPr>
        <p:spPr>
          <a:xfrm>
            <a:off x="9047480" y="908520"/>
            <a:ext cx="1920240" cy="411480"/>
          </a:xfrm>
          <a:prstGeom prst="roundRect">
            <a:avLst>
              <a:gd name="adj" fmla="val 18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91508" y="997420"/>
            <a:ext cx="11128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F5A623"/>
                </a:solidFill>
                <a:latin typeface="Aptos Slab ExtraBold" panose="020F0502020204030204" pitchFamily="34" charset="0"/>
              </a:rPr>
              <a:t>Multiple fields</a:t>
            </a:r>
          </a:p>
        </p:txBody>
      </p:sp>
      <p:pic>
        <p:nvPicPr>
          <p:cNvPr id="9119" name="Picture 9118" descr="map_cha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50" y="1380000"/>
            <a:ext cx="429875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0280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7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08" name="TextBox 9107"/>
          <p:cNvSpPr txBox="1"/>
          <p:nvPr/>
        </p:nvSpPr>
        <p:spPr>
          <a:xfrm>
            <a:off x="546100" y="381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09" name="TextBox 9108"/>
          <p:cNvSpPr txBox="1"/>
          <p:nvPr/>
        </p:nvSpPr>
        <p:spPr>
          <a:xfrm>
            <a:off x="685800" y="1000000"/>
            <a:ext cx="100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ptos Slab ExtraBold"/>
              </a:rPr>
              <a:t>Classification Methods Compared</a:t>
            </a:r>
          </a:p>
        </p:txBody>
      </p:sp>
      <p:sp>
        <p:nvSpPr>
          <p:cNvPr id="9110" name="TextBox 9109"/>
          <p:cNvSpPr txBox="1"/>
          <p:nvPr/>
        </p:nvSpPr>
        <p:spPr>
          <a:xfrm>
            <a:off x="685800" y="1750000"/>
            <a:ext cx="10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B8C6D6"/>
                </a:solidFill>
                <a:latin typeface="Aptos Slab ExtraBold"/>
              </a:rPr>
              <a:t>The exact same data — land area of 262 real NYC ZIP codes — classified four different ways.</a:t>
            </a:r>
          </a:p>
        </p:txBody>
      </p:sp>
      <p:pic>
        <p:nvPicPr>
          <p:cNvPr id="9111" name="Picture 9110" descr="methods_4panel_ELEG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00" y="2450000"/>
            <a:ext cx="10600000" cy="3061885"/>
          </a:xfrm>
          <a:prstGeom prst="rect">
            <a:avLst/>
          </a:prstGeom>
        </p:spPr>
      </p:pic>
      <p:sp>
        <p:nvSpPr>
          <p:cNvPr id="9112" name="TextBox 9111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15  / 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09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0" name="TextBox 9109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11" name="TextBox 9110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E9F0F7"/>
                </a:solidFill>
                <a:latin typeface="Aptos Slab ExtraBold"/>
              </a:rPr>
              <a:t>Choosing a Classification Method</a:t>
            </a:r>
          </a:p>
        </p:txBody>
      </p:sp>
      <p:sp>
        <p:nvSpPr>
          <p:cNvPr id="9112" name="TextBox 9111"/>
          <p:cNvSpPr txBox="1"/>
          <p:nvPr/>
        </p:nvSpPr>
        <p:spPr>
          <a:xfrm>
            <a:off x="1085800" y="2374800"/>
            <a:ext cx="100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A9BBCE"/>
                </a:solidFill>
                <a:latin typeface="Aptos Slab ExtraBold"/>
              </a:rPr>
              <a:t>A quick reference for picking a method that fits both your data and your purpose.</a:t>
            </a:r>
          </a:p>
        </p:txBody>
      </p:sp>
      <p:sp>
        <p:nvSpPr>
          <p:cNvPr id="9113" name="Rounded Rectangle 9112"/>
          <p:cNvSpPr/>
          <p:nvPr/>
        </p:nvSpPr>
        <p:spPr>
          <a:xfrm>
            <a:off x="1085800" y="2974800"/>
            <a:ext cx="2500000" cy="40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4" name="TextBox 9113"/>
          <p:cNvSpPr txBox="1"/>
          <p:nvPr/>
        </p:nvSpPr>
        <p:spPr>
          <a:xfrm>
            <a:off x="1085800" y="2974800"/>
            <a:ext cx="2500000" cy="40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 Slab ExtraBold"/>
              </a:rPr>
              <a:t>Natural Breaks (Jenks)</a:t>
            </a:r>
          </a:p>
        </p:txBody>
      </p:sp>
      <p:sp>
        <p:nvSpPr>
          <p:cNvPr id="9115" name="TextBox 9114"/>
          <p:cNvSpPr txBox="1"/>
          <p:nvPr/>
        </p:nvSpPr>
        <p:spPr>
          <a:xfrm>
            <a:off x="3785800" y="2954800"/>
            <a:ext cx="732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Use when: Your data has real clusters or gaps; you want one honest, well-fitted map.</a:t>
            </a:r>
          </a:p>
        </p:txBody>
      </p:sp>
      <p:sp>
        <p:nvSpPr>
          <p:cNvPr id="9116" name="TextBox 9115"/>
          <p:cNvSpPr txBox="1"/>
          <p:nvPr/>
        </p:nvSpPr>
        <p:spPr>
          <a:xfrm>
            <a:off x="3785800" y="3404800"/>
            <a:ext cx="73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F5A623"/>
                </a:solidFill>
                <a:latin typeface="Aptos Slab ExtraBold"/>
              </a:rPr>
              <a:t>Watch out: Breaks shift with the data, so two different layers aren't directly comparable.</a:t>
            </a:r>
          </a:p>
        </p:txBody>
      </p:sp>
      <p:sp>
        <p:nvSpPr>
          <p:cNvPr id="9117" name="Rounded Rectangle 9116"/>
          <p:cNvSpPr/>
          <p:nvPr/>
        </p:nvSpPr>
        <p:spPr>
          <a:xfrm>
            <a:off x="1085800" y="3804800"/>
            <a:ext cx="2500000" cy="40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8" name="TextBox 9117"/>
          <p:cNvSpPr txBox="1"/>
          <p:nvPr/>
        </p:nvSpPr>
        <p:spPr>
          <a:xfrm>
            <a:off x="1085800" y="3804800"/>
            <a:ext cx="2500000" cy="40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 Slab ExtraBold"/>
              </a:rPr>
              <a:t>Quantiles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3785800" y="3784800"/>
            <a:ext cx="732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Use when: You want a clean legend where every class covers roughly the same number of features.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3785800" y="4234800"/>
            <a:ext cx="73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F5A623"/>
                </a:solidFill>
                <a:latin typeface="Aptos Slab ExtraBold"/>
              </a:rPr>
              <a:t>Watch out: Class breaks can land in odd spots and split apart similar values.</a:t>
            </a:r>
          </a:p>
        </p:txBody>
      </p:sp>
      <p:sp>
        <p:nvSpPr>
          <p:cNvPr id="9121" name="Rounded Rectangle 9120"/>
          <p:cNvSpPr/>
          <p:nvPr/>
        </p:nvSpPr>
        <p:spPr>
          <a:xfrm>
            <a:off x="1085800" y="4634800"/>
            <a:ext cx="2500000" cy="40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2" name="TextBox 9121"/>
          <p:cNvSpPr txBox="1"/>
          <p:nvPr/>
        </p:nvSpPr>
        <p:spPr>
          <a:xfrm>
            <a:off x="1085800" y="4634800"/>
            <a:ext cx="2500000" cy="40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 Slab ExtraBold"/>
              </a:rPr>
              <a:t>Equal Interval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3785800" y="4614800"/>
            <a:ext cx="732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Use when: You're comparing multiple maps or time periods and need consistent, easy-to-read breaks.</a:t>
            </a:r>
          </a:p>
        </p:txBody>
      </p:sp>
      <p:sp>
        <p:nvSpPr>
          <p:cNvPr id="9124" name="TextBox 9123"/>
          <p:cNvSpPr txBox="1"/>
          <p:nvPr/>
        </p:nvSpPr>
        <p:spPr>
          <a:xfrm>
            <a:off x="3785800" y="5064800"/>
            <a:ext cx="73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F5A623"/>
                </a:solidFill>
                <a:latin typeface="Aptos Slab ExtraBold"/>
              </a:rPr>
              <a:t>Watch out: A single outlier stretches the range and can crush most features into one class.</a:t>
            </a:r>
          </a:p>
        </p:txBody>
      </p:sp>
      <p:sp>
        <p:nvSpPr>
          <p:cNvPr id="9125" name="Rounded Rectangle 9124"/>
          <p:cNvSpPr/>
          <p:nvPr/>
        </p:nvSpPr>
        <p:spPr>
          <a:xfrm>
            <a:off x="1085800" y="5464800"/>
            <a:ext cx="2500000" cy="40000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1270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6" name="TextBox 9125"/>
          <p:cNvSpPr txBox="1"/>
          <p:nvPr/>
        </p:nvSpPr>
        <p:spPr>
          <a:xfrm>
            <a:off x="1085800" y="5464800"/>
            <a:ext cx="2500000" cy="40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 Slab ExtraBold"/>
              </a:rPr>
              <a:t>Standard Deviation</a:t>
            </a:r>
          </a:p>
        </p:txBody>
      </p:sp>
      <p:sp>
        <p:nvSpPr>
          <p:cNvPr id="9127" name="TextBox 9126"/>
          <p:cNvSpPr txBox="1"/>
          <p:nvPr/>
        </p:nvSpPr>
        <p:spPr>
          <a:xfrm>
            <a:off x="3785800" y="5444800"/>
            <a:ext cx="73204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Use when: You want to highlight how far each feature sits above or below the average.</a:t>
            </a:r>
          </a:p>
        </p:txBody>
      </p:sp>
      <p:sp>
        <p:nvSpPr>
          <p:cNvPr id="9128" name="TextBox 9127"/>
          <p:cNvSpPr txBox="1"/>
          <p:nvPr/>
        </p:nvSpPr>
        <p:spPr>
          <a:xfrm>
            <a:off x="3785800" y="5894800"/>
            <a:ext cx="73204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F5A623"/>
                </a:solidFill>
                <a:latin typeface="Aptos Slab ExtraBold"/>
              </a:rPr>
              <a:t>Watch out: Less intuitive for a general audience; assumes a roughly normal distribution.</a:t>
            </a:r>
          </a:p>
        </p:txBody>
      </p:sp>
      <p:sp>
        <p:nvSpPr>
          <p:cNvPr id="9129" name="TextBox 9128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16  / 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1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2" name="TextBox 9111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13" name="TextBox 9112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E9F0F7"/>
                </a:solidFill>
                <a:latin typeface="Aptos Slab ExtraBold"/>
              </a:rPr>
              <a:t>Common Confusions</a:t>
            </a:r>
          </a:p>
        </p:txBody>
      </p:sp>
      <p:sp>
        <p:nvSpPr>
          <p:cNvPr id="9114" name="TextBox 9113"/>
          <p:cNvSpPr txBox="1"/>
          <p:nvPr/>
        </p:nvSpPr>
        <p:spPr>
          <a:xfrm>
            <a:off x="1085800" y="2374800"/>
            <a:ext cx="100204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1">
                <a:solidFill>
                  <a:srgbClr val="A9BBCE"/>
                </a:solidFill>
                <a:latin typeface="Aptos Slab ExtraBold"/>
              </a:rPr>
              <a:t>Four pairs that look similar in the Symbology pane but mean very different things.</a:t>
            </a:r>
          </a:p>
        </p:txBody>
      </p:sp>
      <p:sp>
        <p:nvSpPr>
          <p:cNvPr id="9115" name="Rounded Rectangle 9114"/>
          <p:cNvSpPr/>
          <p:nvPr/>
        </p:nvSpPr>
        <p:spPr>
          <a:xfrm>
            <a:off x="1085800" y="2924800"/>
            <a:ext cx="4810200" cy="135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6" name="TextBox 9115"/>
          <p:cNvSpPr txBox="1"/>
          <p:nvPr/>
        </p:nvSpPr>
        <p:spPr>
          <a:xfrm>
            <a:off x="1305800" y="3074800"/>
            <a:ext cx="43702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5BA7F7"/>
                </a:solidFill>
                <a:latin typeface="Aptos Slab ExtraBold"/>
              </a:rPr>
              <a:t>Graduated Colors  vs.  Graduated Symbols</a:t>
            </a:r>
          </a:p>
        </p:txBody>
      </p:sp>
      <p:sp>
        <p:nvSpPr>
          <p:cNvPr id="9117" name="TextBox 9116"/>
          <p:cNvSpPr txBox="1"/>
          <p:nvPr/>
        </p:nvSpPr>
        <p:spPr>
          <a:xfrm>
            <a:off x="1305800" y="3484800"/>
            <a:ext cx="43702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Both bin numeric data into classes — Colors shades polygons/lines by class; Symbols sizes point markers by class. Same math, different visual channel.</a:t>
            </a:r>
          </a:p>
        </p:txBody>
      </p:sp>
      <p:sp>
        <p:nvSpPr>
          <p:cNvPr id="9118" name="Rounded Rectangle 9117"/>
          <p:cNvSpPr/>
          <p:nvPr/>
        </p:nvSpPr>
        <p:spPr>
          <a:xfrm>
            <a:off x="6296000" y="2924800"/>
            <a:ext cx="4810200" cy="135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9" name="TextBox 9118"/>
          <p:cNvSpPr txBox="1"/>
          <p:nvPr/>
        </p:nvSpPr>
        <p:spPr>
          <a:xfrm>
            <a:off x="6516000" y="3074800"/>
            <a:ext cx="43702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5BA7F7"/>
                </a:solidFill>
                <a:latin typeface="Aptos Slab ExtraBold"/>
              </a:rPr>
              <a:t>Unclassed  vs.  Graduated Colors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6516000" y="3484800"/>
            <a:ext cx="43702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Unclassed uses a smooth, continuous ramp (no bins); Graduated Colors groups values into a handful of discrete classes. Unclassed shows subtle variation, Graduated is easier to read at a glance.</a:t>
            </a:r>
          </a:p>
        </p:txBody>
      </p:sp>
      <p:sp>
        <p:nvSpPr>
          <p:cNvPr id="9121" name="Rounded Rectangle 9120"/>
          <p:cNvSpPr/>
          <p:nvPr/>
        </p:nvSpPr>
        <p:spPr>
          <a:xfrm>
            <a:off x="1085800" y="4474800"/>
            <a:ext cx="4810200" cy="135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2" name="TextBox 9121"/>
          <p:cNvSpPr txBox="1"/>
          <p:nvPr/>
        </p:nvSpPr>
        <p:spPr>
          <a:xfrm>
            <a:off x="1305800" y="4624800"/>
            <a:ext cx="43702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5BA7F7"/>
                </a:solidFill>
                <a:latin typeface="Aptos Slab ExtraBold"/>
              </a:rPr>
              <a:t>Bivariate Colors  vs.  Charts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305800" y="5034800"/>
            <a:ext cx="43702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Bivariate encodes two fields into ONE color grid per feature; Charts draws a separate small pie/bar per feature. Bivariate is one field on your eyes; Charts asks the reader to compare shapes.</a:t>
            </a:r>
          </a:p>
        </p:txBody>
      </p:sp>
      <p:sp>
        <p:nvSpPr>
          <p:cNvPr id="9124" name="Rounded Rectangle 9123"/>
          <p:cNvSpPr/>
          <p:nvPr/>
        </p:nvSpPr>
        <p:spPr>
          <a:xfrm>
            <a:off x="6296000" y="4474800"/>
            <a:ext cx="4810200" cy="135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5" name="TextBox 9124"/>
          <p:cNvSpPr txBox="1"/>
          <p:nvPr/>
        </p:nvSpPr>
        <p:spPr>
          <a:xfrm>
            <a:off x="6516000" y="4624800"/>
            <a:ext cx="43702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5BA7F7"/>
                </a:solidFill>
                <a:latin typeface="Aptos Slab ExtraBold"/>
              </a:rPr>
              <a:t>Quantiles  vs.  Equal Interval</a:t>
            </a:r>
          </a:p>
        </p:txBody>
      </p:sp>
      <p:sp>
        <p:nvSpPr>
          <p:cNvPr id="9126" name="TextBox 9125"/>
          <p:cNvSpPr txBox="1"/>
          <p:nvPr/>
        </p:nvSpPr>
        <p:spPr>
          <a:xfrm>
            <a:off x="6516000" y="5034800"/>
            <a:ext cx="43702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0">
                <a:solidFill>
                  <a:srgbClr val="E9F0F7"/>
                </a:solidFill>
                <a:latin typeface="Aptos Slab ExtraBold"/>
              </a:rPr>
              <a:t>Quantiles guarantees an equal COUNT of features per class; Equal Interval guarantees an equal-size RANGE per class. They can produce very different-looking maps from the same data.</a:t>
            </a:r>
          </a:p>
        </p:txBody>
      </p:sp>
      <p:sp>
        <p:nvSpPr>
          <p:cNvPr id="9127" name="TextBox 9126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17  / 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3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4" name="TextBox 9113"/>
          <p:cNvSpPr txBox="1"/>
          <p:nvPr/>
        </p:nvSpPr>
        <p:spPr>
          <a:xfrm>
            <a:off x="546100" y="381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15" name="TextBox 9114"/>
          <p:cNvSpPr txBox="1"/>
          <p:nvPr/>
        </p:nvSpPr>
        <p:spPr>
          <a:xfrm>
            <a:off x="685800" y="1000000"/>
            <a:ext cx="100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ptos Slab ExtraBold"/>
              </a:rPr>
              <a:t>Worked Example: Same Data, Two Stories</a:t>
            </a:r>
          </a:p>
        </p:txBody>
      </p:sp>
      <p:sp>
        <p:nvSpPr>
          <p:cNvPr id="9116" name="TextBox 9115"/>
          <p:cNvSpPr txBox="1"/>
          <p:nvPr/>
        </p:nvSpPr>
        <p:spPr>
          <a:xfrm>
            <a:off x="685800" y="1750000"/>
            <a:ext cx="10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B8C6D6"/>
                </a:solidFill>
                <a:latin typeface="Aptos Slab ExtraBold"/>
              </a:rPr>
              <a:t>262 real NYC ZIP codes, classified by land area (sq. mi.) — Equal Interval vs. Natural Breaks.</a:t>
            </a:r>
          </a:p>
        </p:txBody>
      </p:sp>
      <p:pic>
        <p:nvPicPr>
          <p:cNvPr id="9117" name="Picture 9116" descr="worked_example_ELEG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252" y="2280000"/>
            <a:ext cx="7079496" cy="3667999"/>
          </a:xfrm>
          <a:prstGeom prst="rect">
            <a:avLst/>
          </a:prstGeom>
        </p:spPr>
      </p:pic>
      <p:sp>
        <p:nvSpPr>
          <p:cNvPr id="9118" name="TextBox 911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18  /  21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2556252" y="6077999"/>
            <a:ext cx="3389748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E8B45A"/>
                </a:solidFill>
                <a:latin typeface="Aptos Slab ExtraBold"/>
              </a:rPr>
              <a:t>Equal Interval: one huge ZIP code (Staten Island's largely undeveloped west side) stretches the range so far that almost every other ZIP falls into the lowest class. The map goes nearly blank.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6096000" y="6077999"/>
            <a:ext cx="3389748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7BC88E"/>
                </a:solidFill>
                <a:latin typeface="Aptos Slab ExtraBold"/>
              </a:rPr>
              <a:t>Natural Breaks: the same outlier still exists, but the breaks are placed at real gaps in the data — so the rest of the city's variation becomes visible again.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5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6" name="TextBox 9115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17" name="Rounded Rectangle 9116"/>
          <p:cNvSpPr/>
          <p:nvPr/>
        </p:nvSpPr>
        <p:spPr>
          <a:xfrm>
            <a:off x="9506200" y="1834800"/>
            <a:ext cx="1600000" cy="4064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8" name="TextBox 9117"/>
          <p:cNvSpPr txBox="1"/>
          <p:nvPr/>
        </p:nvSpPr>
        <p:spPr>
          <a:xfrm>
            <a:off x="9506200" y="1834800"/>
            <a:ext cx="1600000" cy="406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BA7F7"/>
                </a:solidFill>
                <a:latin typeface="Aptos Slab ExtraBold"/>
              </a:rPr>
              <a:t>Practice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1085800" y="1834800"/>
            <a:ext cx="82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E9F0F7"/>
                </a:solidFill>
                <a:latin typeface="Aptos Slab ExtraBold"/>
              </a:rPr>
              <a:t>Your Turn — Hands-On Lab</a:t>
            </a:r>
          </a:p>
        </p:txBody>
      </p:sp>
      <p:sp>
        <p:nvSpPr>
          <p:cNvPr id="9120" name="Rounded Rectangle 9119"/>
          <p:cNvSpPr/>
          <p:nvPr/>
        </p:nvSpPr>
        <p:spPr>
          <a:xfrm>
            <a:off x="1085800" y="2404800"/>
            <a:ext cx="10020400" cy="6200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1" name="TextBox 9120"/>
          <p:cNvSpPr txBox="1"/>
          <p:nvPr/>
        </p:nvSpPr>
        <p:spPr>
          <a:xfrm>
            <a:off x="1305800" y="2474800"/>
            <a:ext cx="9620400" cy="4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5BA7F7"/>
                </a:solidFill>
                <a:latin typeface="Aptos Slab ExtraBold"/>
              </a:rPr>
              <a:t>TASK — classify a numeric field three different ways and compare the results.</a:t>
            </a:r>
          </a:p>
        </p:txBody>
      </p:sp>
      <p:sp>
        <p:nvSpPr>
          <p:cNvPr id="9122" name="Oval 9121"/>
          <p:cNvSpPr/>
          <p:nvPr/>
        </p:nvSpPr>
        <p:spPr>
          <a:xfrm>
            <a:off x="1085800" y="3194800"/>
            <a:ext cx="280000" cy="2800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 Slab ExtraBold"/>
              </a:rPr>
              <a:t>1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445800" y="3174800"/>
            <a:ext cx="95704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Open the Symbology pane on a layer with a numeric field (population, income, or land area).</a:t>
            </a:r>
          </a:p>
        </p:txBody>
      </p:sp>
      <p:sp>
        <p:nvSpPr>
          <p:cNvPr id="9124" name="Oval 9123"/>
          <p:cNvSpPr/>
          <p:nvPr/>
        </p:nvSpPr>
        <p:spPr>
          <a:xfrm>
            <a:off x="1085800" y="3654800"/>
            <a:ext cx="280000" cy="2800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 Slab ExtraBold"/>
              </a:rPr>
              <a:t>2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1445800" y="3634800"/>
            <a:ext cx="95704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Set the renderer to Graduated Colors. Method = Natural Breaks (Jenks), Classes = 5. Note the class breaks.</a:t>
            </a:r>
          </a:p>
        </p:txBody>
      </p:sp>
      <p:sp>
        <p:nvSpPr>
          <p:cNvPr id="9126" name="Oval 9125"/>
          <p:cNvSpPr/>
          <p:nvPr/>
        </p:nvSpPr>
        <p:spPr>
          <a:xfrm>
            <a:off x="1085800" y="4114800"/>
            <a:ext cx="280000" cy="2800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 Slab ExtraBold"/>
              </a:rPr>
              <a:t>3</a:t>
            </a:r>
          </a:p>
        </p:txBody>
      </p:sp>
      <p:sp>
        <p:nvSpPr>
          <p:cNvPr id="9127" name="TextBox 9126"/>
          <p:cNvSpPr txBox="1"/>
          <p:nvPr/>
        </p:nvSpPr>
        <p:spPr>
          <a:xfrm>
            <a:off x="1445800" y="4094800"/>
            <a:ext cx="95704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Switch Method to Quantiles (keep Classes = 5). Compare the new breaks and how the map's colors shift.</a:t>
            </a:r>
          </a:p>
        </p:txBody>
      </p:sp>
      <p:sp>
        <p:nvSpPr>
          <p:cNvPr id="9128" name="Oval 9127"/>
          <p:cNvSpPr/>
          <p:nvPr/>
        </p:nvSpPr>
        <p:spPr>
          <a:xfrm>
            <a:off x="1085800" y="4574800"/>
            <a:ext cx="280000" cy="2800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ptos Slab ExtraBold"/>
              </a:rPr>
              <a:t>4</a:t>
            </a:r>
          </a:p>
        </p:txBody>
      </p:sp>
      <p:sp>
        <p:nvSpPr>
          <p:cNvPr id="9129" name="TextBox 9128"/>
          <p:cNvSpPr txBox="1"/>
          <p:nvPr/>
        </p:nvSpPr>
        <p:spPr>
          <a:xfrm>
            <a:off x="1445800" y="4554800"/>
            <a:ext cx="9570400" cy="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Switch Method to Equal Interval. Which version tells the clearest story? Which could mislead a reader?</a:t>
            </a:r>
          </a:p>
        </p:txBody>
      </p:sp>
      <p:sp>
        <p:nvSpPr>
          <p:cNvPr id="9130" name="Rounded Rectangle 9129"/>
          <p:cNvSpPr/>
          <p:nvPr/>
        </p:nvSpPr>
        <p:spPr>
          <a:xfrm>
            <a:off x="1085800" y="5124800"/>
            <a:ext cx="4910200" cy="105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1" name="TextBox 9130"/>
          <p:cNvSpPr txBox="1"/>
          <p:nvPr/>
        </p:nvSpPr>
        <p:spPr>
          <a:xfrm>
            <a:off x="1285800" y="5224800"/>
            <a:ext cx="45102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9BBCE"/>
                </a:solidFill>
                <a:latin typeface="Aptos Slab ExtraBold"/>
              </a:rPr>
              <a:t>ANSWER KEY (reveal in class)</a:t>
            </a:r>
          </a:p>
        </p:txBody>
      </p:sp>
      <p:sp>
        <p:nvSpPr>
          <p:cNvPr id="9132" name="TextBox 9131"/>
          <p:cNvSpPr txBox="1"/>
          <p:nvPr/>
        </p:nvSpPr>
        <p:spPr>
          <a:xfrm>
            <a:off x="1285800" y="5544800"/>
            <a:ext cx="45102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E9F0F7"/>
                </a:solidFill>
                <a:latin typeface="Aptos Slab ExtraBold"/>
              </a:rPr>
              <a:t>Natural Breaks usually reads best for one map — it fits the real gaps. Quantiles evens out the legend but can split similar values. Equal Interval only works cleanly if the data has no big outliers.</a:t>
            </a:r>
          </a:p>
        </p:txBody>
      </p:sp>
      <p:sp>
        <p:nvSpPr>
          <p:cNvPr id="9133" name="Rounded Rectangle 9132"/>
          <p:cNvSpPr/>
          <p:nvPr/>
        </p:nvSpPr>
        <p:spPr>
          <a:xfrm>
            <a:off x="6196000" y="5124800"/>
            <a:ext cx="4910200" cy="105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4" name="TextBox 9133"/>
          <p:cNvSpPr txBox="1"/>
          <p:nvPr/>
        </p:nvSpPr>
        <p:spPr>
          <a:xfrm>
            <a:off x="6396000" y="5224800"/>
            <a:ext cx="45102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A9BBCE"/>
                </a:solidFill>
                <a:latin typeface="Aptos Slab ExtraBold"/>
              </a:rPr>
              <a:t>EXPECTED RESULT (reveal in class)</a:t>
            </a:r>
          </a:p>
        </p:txBody>
      </p:sp>
      <p:sp>
        <p:nvSpPr>
          <p:cNvPr id="9135" name="TextBox 9134"/>
          <p:cNvSpPr txBox="1"/>
          <p:nvPr/>
        </p:nvSpPr>
        <p:spPr>
          <a:xfrm>
            <a:off x="6396000" y="5544800"/>
            <a:ext cx="4510200" cy="5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E9F0F7"/>
                </a:solidFill>
                <a:latin typeface="Aptos Slab ExtraBold"/>
              </a:rPr>
              <a:t>Three visibly different maps from identical data. Natural Breaks and Quantiles should look fairly close; Equal Interval diverges the most if your field has any outliers.</a:t>
            </a:r>
          </a:p>
        </p:txBody>
      </p:sp>
      <p:sp>
        <p:nvSpPr>
          <p:cNvPr id="9136" name="TextBox 9135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19  / 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7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18" name="TextBox 9117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19" name="TextBox 9118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E9F0F7"/>
                </a:solidFill>
                <a:latin typeface="Aptos Slab ExtraBold"/>
              </a:rPr>
              <a:t>Knowledge Check</a:t>
            </a:r>
          </a:p>
        </p:txBody>
      </p:sp>
      <p:sp>
        <p:nvSpPr>
          <p:cNvPr id="9120" name="TextBox 9119"/>
          <p:cNvSpPr txBox="1"/>
          <p:nvPr/>
        </p:nvSpPr>
        <p:spPr>
          <a:xfrm>
            <a:off x="1085800" y="2474800"/>
            <a:ext cx="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5A623"/>
                </a:solidFill>
                <a:latin typeface="Aptos Slab ExtraBold"/>
              </a:rPr>
              <a:t>Q1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465800" y="2474800"/>
            <a:ext cx="96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E9F0F7"/>
                </a:solidFill>
                <a:latin typeface="Aptos Slab ExtraBold"/>
              </a:rPr>
              <a:t>What's the difference between Graduated Colors and Unclassed Colors?</a:t>
            </a:r>
          </a:p>
        </p:txBody>
      </p:sp>
      <p:sp>
        <p:nvSpPr>
          <p:cNvPr id="9122" name="Rounded Rectangle 9121"/>
          <p:cNvSpPr/>
          <p:nvPr/>
        </p:nvSpPr>
        <p:spPr>
          <a:xfrm>
            <a:off x="1465800" y="2854800"/>
            <a:ext cx="9620400" cy="4600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3" name="TextBox 9122"/>
          <p:cNvSpPr txBox="1"/>
          <p:nvPr/>
        </p:nvSpPr>
        <p:spPr>
          <a:xfrm>
            <a:off x="1685800" y="289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Graduated Colors bins values into discrete classes; Unclassed Colors uses a continuous, unbinned color ramp.</a:t>
            </a:r>
          </a:p>
        </p:txBody>
      </p:sp>
      <p:sp>
        <p:nvSpPr>
          <p:cNvPr id="9124" name="TextBox 9123"/>
          <p:cNvSpPr txBox="1"/>
          <p:nvPr/>
        </p:nvSpPr>
        <p:spPr>
          <a:xfrm>
            <a:off x="1085800" y="3424800"/>
            <a:ext cx="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5A623"/>
                </a:solidFill>
                <a:latin typeface="Aptos Slab ExtraBold"/>
              </a:rPr>
              <a:t>Q2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1465800" y="3424800"/>
            <a:ext cx="96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E9F0F7"/>
                </a:solidFill>
                <a:latin typeface="Aptos Slab ExtraBold"/>
              </a:rPr>
              <a:t>Your data has 5 clear natural clusters. Which classification method fits best?</a:t>
            </a:r>
          </a:p>
        </p:txBody>
      </p:sp>
      <p:sp>
        <p:nvSpPr>
          <p:cNvPr id="9126" name="Rounded Rectangle 9125"/>
          <p:cNvSpPr/>
          <p:nvPr/>
        </p:nvSpPr>
        <p:spPr>
          <a:xfrm>
            <a:off x="1465800" y="3804800"/>
            <a:ext cx="9620400" cy="4600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7" name="TextBox 9126"/>
          <p:cNvSpPr txBox="1"/>
          <p:nvPr/>
        </p:nvSpPr>
        <p:spPr>
          <a:xfrm>
            <a:off x="1685800" y="384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Natural Breaks (Jenks) — it places breaks at the biggest gaps in the data.</a:t>
            </a:r>
          </a:p>
        </p:txBody>
      </p:sp>
      <p:sp>
        <p:nvSpPr>
          <p:cNvPr id="9128" name="TextBox 9127"/>
          <p:cNvSpPr txBox="1"/>
          <p:nvPr/>
        </p:nvSpPr>
        <p:spPr>
          <a:xfrm>
            <a:off x="1085800" y="4374800"/>
            <a:ext cx="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5A623"/>
                </a:solidFill>
                <a:latin typeface="Aptos Slab ExtraBold"/>
              </a:rPr>
              <a:t>Q3</a:t>
            </a:r>
          </a:p>
        </p:txBody>
      </p:sp>
      <p:sp>
        <p:nvSpPr>
          <p:cNvPr id="9129" name="TextBox 9128"/>
          <p:cNvSpPr txBox="1"/>
          <p:nvPr/>
        </p:nvSpPr>
        <p:spPr>
          <a:xfrm>
            <a:off x="1465800" y="4374800"/>
            <a:ext cx="96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E9F0F7"/>
                </a:solidFill>
                <a:latin typeface="Aptos Slab ExtraBold"/>
              </a:rPr>
              <a:t>True or False: Quantiles always create classes with an equal RANGE of values.</a:t>
            </a:r>
          </a:p>
        </p:txBody>
      </p:sp>
      <p:sp>
        <p:nvSpPr>
          <p:cNvPr id="9130" name="Rounded Rectangle 9129"/>
          <p:cNvSpPr/>
          <p:nvPr/>
        </p:nvSpPr>
        <p:spPr>
          <a:xfrm>
            <a:off x="1465800" y="4754800"/>
            <a:ext cx="9620400" cy="4600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1" name="TextBox 9130"/>
          <p:cNvSpPr txBox="1"/>
          <p:nvPr/>
        </p:nvSpPr>
        <p:spPr>
          <a:xfrm>
            <a:off x="1685800" y="479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False — Quantiles creates classes with an equal COUNT of features; Equal Interval is the one with equal ranges.</a:t>
            </a:r>
          </a:p>
        </p:txBody>
      </p:sp>
      <p:sp>
        <p:nvSpPr>
          <p:cNvPr id="9132" name="TextBox 9131"/>
          <p:cNvSpPr txBox="1"/>
          <p:nvPr/>
        </p:nvSpPr>
        <p:spPr>
          <a:xfrm>
            <a:off x="1085800" y="5324800"/>
            <a:ext cx="3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F5A623"/>
                </a:solidFill>
                <a:latin typeface="Aptos Slab ExtraBold"/>
              </a:rPr>
              <a:t>Q4</a:t>
            </a:r>
          </a:p>
        </p:txBody>
      </p:sp>
      <p:sp>
        <p:nvSpPr>
          <p:cNvPr id="9133" name="TextBox 9132"/>
          <p:cNvSpPr txBox="1"/>
          <p:nvPr/>
        </p:nvSpPr>
        <p:spPr>
          <a:xfrm>
            <a:off x="1465800" y="5324800"/>
            <a:ext cx="96204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E9F0F7"/>
                </a:solidFill>
                <a:latin typeface="Aptos Slab ExtraBold"/>
              </a:rPr>
              <a:t>Why can Equal Interval mislead when data has one huge outlier?</a:t>
            </a:r>
          </a:p>
        </p:txBody>
      </p:sp>
      <p:sp>
        <p:nvSpPr>
          <p:cNvPr id="9134" name="Rounded Rectangle 9133"/>
          <p:cNvSpPr/>
          <p:nvPr/>
        </p:nvSpPr>
        <p:spPr>
          <a:xfrm>
            <a:off x="1465800" y="5704800"/>
            <a:ext cx="9620400" cy="460000"/>
          </a:xfrm>
          <a:prstGeom prst="roundRect">
            <a:avLst>
              <a:gd name="adj" fmla="val 18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5" name="TextBox 9134"/>
          <p:cNvSpPr txBox="1"/>
          <p:nvPr/>
        </p:nvSpPr>
        <p:spPr>
          <a:xfrm>
            <a:off x="1685800" y="574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200" b="0" i="0">
                <a:solidFill>
                  <a:srgbClr val="E9F0F7"/>
                </a:solidFill>
                <a:latin typeface="Aptos Slab ExtraBold"/>
              </a:rPr>
              <a:t>It divides the full value range into equal-size bins, so the outlier stretches the range and squeezes almost everything else into a single class.</a:t>
            </a:r>
          </a:p>
        </p:txBody>
      </p:sp>
      <p:sp>
        <p:nvSpPr>
          <p:cNvPr id="9136" name="TextBox 9135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20  /  21</a:t>
            </a:r>
          </a:p>
        </p:txBody>
      </p:sp>
      <p:sp>
        <p:nvSpPr>
          <p:cNvPr id="9137" name="Prompt9123"/>
          <p:cNvSpPr txBox="1"/>
          <p:nvPr/>
        </p:nvSpPr>
        <p:spPr>
          <a:xfrm>
            <a:off x="1685800" y="289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>
            <a:spAutoFit/>
          </a:bodyPr>
          <a:lstStyle/>
          <a:p>
            <a:r>
              <a:rPr sz="1200" i="1" b="0">
                <a:solidFill>
                  <a:srgbClr val="F5A623"/>
                </a:solidFill>
              </a:rPr>
              <a:t>▸  Click to reveal answer</a:t>
            </a:r>
          </a:p>
        </p:txBody>
      </p:sp>
      <p:sp>
        <p:nvSpPr>
          <p:cNvPr id="9138" name="Prompt9127"/>
          <p:cNvSpPr txBox="1"/>
          <p:nvPr/>
        </p:nvSpPr>
        <p:spPr>
          <a:xfrm>
            <a:off x="1685800" y="384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>
            <a:spAutoFit/>
          </a:bodyPr>
          <a:lstStyle/>
          <a:p>
            <a:r>
              <a:rPr sz="1200" i="1" b="0">
                <a:solidFill>
                  <a:srgbClr val="F5A623"/>
                </a:solidFill>
              </a:rPr>
              <a:t>▸  Click to reveal answer</a:t>
            </a:r>
          </a:p>
        </p:txBody>
      </p:sp>
      <p:sp>
        <p:nvSpPr>
          <p:cNvPr id="9139" name="Prompt9131"/>
          <p:cNvSpPr txBox="1"/>
          <p:nvPr/>
        </p:nvSpPr>
        <p:spPr>
          <a:xfrm>
            <a:off x="1685800" y="479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>
            <a:spAutoFit/>
          </a:bodyPr>
          <a:lstStyle/>
          <a:p>
            <a:r>
              <a:rPr sz="1200" i="1" b="0">
                <a:solidFill>
                  <a:srgbClr val="F5A623"/>
                </a:solidFill>
              </a:rPr>
              <a:t>▸  Click to reveal answer</a:t>
            </a:r>
          </a:p>
        </p:txBody>
      </p:sp>
      <p:sp>
        <p:nvSpPr>
          <p:cNvPr id="9140" name="Prompt9135"/>
          <p:cNvSpPr txBox="1"/>
          <p:nvPr/>
        </p:nvSpPr>
        <p:spPr>
          <a:xfrm>
            <a:off x="1685800" y="5744800"/>
            <a:ext cx="9170400" cy="4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>
            <a:spAutoFit/>
          </a:bodyPr>
          <a:lstStyle/>
          <a:p>
            <a:r>
              <a:rPr sz="1200" i="1" b="0">
                <a:solidFill>
                  <a:srgbClr val="F5A623"/>
                </a:solidFill>
              </a:rPr>
              <a:t>▸  Click to reveal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" restart="whenNotActive" fill="hold" nodeType="interactiveSeq">
                <p:stCondLst>
                  <p:cond evt="onClick" delay="0">
                    <p:tgtEl>
                      <p:spTgt spid="9122"/>
                    </p:tgtEl>
                  </p:cond>
                  <p:cond evt="onClick" delay="0">
                    <p:tgtEl>
                      <p:spTgt spid="9137"/>
                    </p:tgtEl>
                  </p:cond>
                  <p:cond evt="onClick" delay="0">
                    <p:tgtEl>
                      <p:spTgt spid="9123"/>
                    </p:tgtEl>
                  </p:cond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7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nodeType="interactiveSeq">
                <p:stCondLst>
                  <p:cond evt="onClick" delay="0">
                    <p:tgtEl>
                      <p:spTgt spid="9126"/>
                    </p:tgtEl>
                  </p:cond>
                  <p:cond evt="onClick" delay="0">
                    <p:tgtEl>
                      <p:spTgt spid="9138"/>
                    </p:tgtEl>
                  </p:cond>
                  <p:cond evt="onClick" delay="0">
                    <p:tgtEl>
                      <p:spTgt spid="9127"/>
                    </p:tgtEl>
                  </p:cond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nodeType="interactiveSeq">
                <p:stCondLst>
                  <p:cond evt="onClick" delay="0">
                    <p:tgtEl>
                      <p:spTgt spid="9130"/>
                    </p:tgtEl>
                  </p:cond>
                  <p:cond evt="onClick" delay="0">
                    <p:tgtEl>
                      <p:spTgt spid="9139"/>
                    </p:tgtEl>
                  </p:cond>
                  <p:cond evt="onClick" delay="0">
                    <p:tgtEl>
                      <p:spTgt spid="9131"/>
                    </p:tgtEl>
                  </p:cond>
                </p:stCondLst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nodeType="interactiveSeq">
                <p:stCondLst>
                  <p:cond evt="onClick" delay="0">
                    <p:tgtEl>
                      <p:spTgt spid="9134"/>
                    </p:tgtEl>
                  </p:cond>
                  <p:cond evt="onClick" delay="0">
                    <p:tgtEl>
                      <p:spTgt spid="9140"/>
                    </p:tgtEl>
                  </p:cond>
                  <p:cond evt="onClick" delay="0">
                    <p:tgtEl>
                      <p:spTgt spid="9135"/>
                    </p:tgtEl>
                  </p:cond>
                </p:stCondLst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5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-18000" contrast="12000"/>
          </a:blip>
          <a:srcRect l="9375" t="11750" b="675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19" name="Bg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5000"/>
                </a:srgbClr>
              </a:gs>
              <a:gs pos="22000">
                <a:srgbClr val="0B1220">
                  <a:alpha val="24000"/>
                </a:srgbClr>
              </a:gs>
              <a:gs pos="76000">
                <a:srgbClr val="0B1220">
                  <a:alpha val="24000"/>
                </a:srgbClr>
              </a:gs>
              <a:gs pos="100000">
                <a:srgbClr val="0B1220">
                  <a:alpha val="42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20" name="TextBox 9119"/>
          <p:cNvSpPr txBox="1"/>
          <p:nvPr/>
        </p:nvSpPr>
        <p:spPr>
          <a:xfrm>
            <a:off x="546100" y="3810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F5A623"/>
                </a:solidFill>
                <a:latin typeface="Aptos Slab ExtraBold"/>
              </a:rPr>
              <a:t>ARCGIS PRO — MAP CLASSIFICATION</a:t>
            </a:r>
          </a:p>
        </p:txBody>
      </p:sp>
      <p:sp>
        <p:nvSpPr>
          <p:cNvPr id="9121" name="TextBox 9120"/>
          <p:cNvSpPr txBox="1"/>
          <p:nvPr/>
        </p:nvSpPr>
        <p:spPr>
          <a:xfrm>
            <a:off x="1085800" y="1834800"/>
            <a:ext cx="100204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E9F0F7"/>
                </a:solidFill>
                <a:latin typeface="Aptos Slab ExtraBold"/>
              </a:rPr>
              <a:t>Recap &amp; What's Next</a:t>
            </a:r>
          </a:p>
        </p:txBody>
      </p:sp>
      <p:sp>
        <p:nvSpPr>
          <p:cNvPr id="9122" name="TextBox 9121"/>
          <p:cNvSpPr txBox="1"/>
          <p:nvPr/>
        </p:nvSpPr>
        <p:spPr>
          <a:xfrm>
            <a:off x="1085800" y="2524800"/>
            <a:ext cx="48102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5BA7F7"/>
                </a:solidFill>
                <a:latin typeface="Aptos Slab ExtraBold"/>
              </a:rPr>
              <a:t>RECAP</a:t>
            </a:r>
          </a:p>
        </p:txBody>
      </p:sp>
      <p:sp>
        <p:nvSpPr>
          <p:cNvPr id="9123" name="TextBox 9122"/>
          <p:cNvSpPr txBox="1"/>
          <p:nvPr/>
        </p:nvSpPr>
        <p:spPr>
          <a:xfrm>
            <a:off x="1085800" y="29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BD98B"/>
                </a:solidFill>
                <a:latin typeface="Aptos Slab ExtraBold"/>
              </a:rPr>
              <a:t>✓</a:t>
            </a:r>
          </a:p>
        </p:txBody>
      </p:sp>
      <p:sp>
        <p:nvSpPr>
          <p:cNvPr id="9124" name="TextBox 9123"/>
          <p:cNvSpPr txBox="1"/>
          <p:nvPr/>
        </p:nvSpPr>
        <p:spPr>
          <a:xfrm>
            <a:off x="1385800" y="29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Nine renderers in Primary symbology — from Single Symbol to Charts.</a:t>
            </a:r>
          </a:p>
        </p:txBody>
      </p:sp>
      <p:sp>
        <p:nvSpPr>
          <p:cNvPr id="9125" name="TextBox 9124"/>
          <p:cNvSpPr txBox="1"/>
          <p:nvPr/>
        </p:nvSpPr>
        <p:spPr>
          <a:xfrm>
            <a:off x="1085800" y="36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BD98B"/>
                </a:solidFill>
                <a:latin typeface="Aptos Slab ExtraBold"/>
              </a:rPr>
              <a:t>✓</a:t>
            </a:r>
          </a:p>
        </p:txBody>
      </p:sp>
      <p:sp>
        <p:nvSpPr>
          <p:cNvPr id="9126" name="TextBox 9125"/>
          <p:cNvSpPr txBox="1"/>
          <p:nvPr/>
        </p:nvSpPr>
        <p:spPr>
          <a:xfrm>
            <a:off x="1385800" y="36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Classification methods (Natural Breaks, Quantiles, Equal Interval, Std. Deviation) turn numbers into map classes.</a:t>
            </a:r>
          </a:p>
        </p:txBody>
      </p:sp>
      <p:sp>
        <p:nvSpPr>
          <p:cNvPr id="9127" name="TextBox 9126"/>
          <p:cNvSpPr txBox="1"/>
          <p:nvPr/>
        </p:nvSpPr>
        <p:spPr>
          <a:xfrm>
            <a:off x="1085800" y="43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BD98B"/>
                </a:solidFill>
                <a:latin typeface="Aptos Slab ExtraBold"/>
              </a:rPr>
              <a:t>✓</a:t>
            </a:r>
          </a:p>
        </p:txBody>
      </p:sp>
      <p:sp>
        <p:nvSpPr>
          <p:cNvPr id="9128" name="TextBox 9127"/>
          <p:cNvSpPr txBox="1"/>
          <p:nvPr/>
        </p:nvSpPr>
        <p:spPr>
          <a:xfrm>
            <a:off x="1385800" y="43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The same data can tell very different stories depending on the method chosen.</a:t>
            </a:r>
          </a:p>
        </p:txBody>
      </p:sp>
      <p:sp>
        <p:nvSpPr>
          <p:cNvPr id="9129" name="TextBox 9128"/>
          <p:cNvSpPr txBox="1"/>
          <p:nvPr/>
        </p:nvSpPr>
        <p:spPr>
          <a:xfrm>
            <a:off x="1085800" y="50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4BD98B"/>
                </a:solidFill>
                <a:latin typeface="Aptos Slab ExtraBold"/>
              </a:rPr>
              <a:t>✓</a:t>
            </a:r>
          </a:p>
        </p:txBody>
      </p:sp>
      <p:sp>
        <p:nvSpPr>
          <p:cNvPr id="9130" name="TextBox 9129"/>
          <p:cNvSpPr txBox="1"/>
          <p:nvPr/>
        </p:nvSpPr>
        <p:spPr>
          <a:xfrm>
            <a:off x="1385800" y="50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Watch for: counts vs. rates, too many classes, and outliers that distort Equal Interval.</a:t>
            </a:r>
          </a:p>
        </p:txBody>
      </p:sp>
      <p:sp>
        <p:nvSpPr>
          <p:cNvPr id="9131" name="TextBox 9130"/>
          <p:cNvSpPr txBox="1"/>
          <p:nvPr/>
        </p:nvSpPr>
        <p:spPr>
          <a:xfrm>
            <a:off x="6696000" y="2524800"/>
            <a:ext cx="4810200" cy="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5A623"/>
                </a:solidFill>
                <a:latin typeface="Aptos Slab ExtraBold"/>
              </a:rPr>
              <a:t>WHAT'S NEXT</a:t>
            </a:r>
          </a:p>
        </p:txBody>
      </p:sp>
      <p:sp>
        <p:nvSpPr>
          <p:cNvPr id="9132" name="TextBox 9131"/>
          <p:cNvSpPr txBox="1"/>
          <p:nvPr/>
        </p:nvSpPr>
        <p:spPr>
          <a:xfrm>
            <a:off x="6696000" y="29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→</a:t>
            </a:r>
          </a:p>
        </p:txBody>
      </p:sp>
      <p:sp>
        <p:nvSpPr>
          <p:cNvPr id="9133" name="TextBox 9132"/>
          <p:cNvSpPr txBox="1"/>
          <p:nvPr/>
        </p:nvSpPr>
        <p:spPr>
          <a:xfrm>
            <a:off x="6996000" y="29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Turn a classified layer into a finished, labeled map layout.</a:t>
            </a:r>
          </a:p>
        </p:txBody>
      </p:sp>
      <p:sp>
        <p:nvSpPr>
          <p:cNvPr id="9134" name="TextBox 9133"/>
          <p:cNvSpPr txBox="1"/>
          <p:nvPr/>
        </p:nvSpPr>
        <p:spPr>
          <a:xfrm>
            <a:off x="6696000" y="36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→</a:t>
            </a:r>
          </a:p>
        </p:txBody>
      </p:sp>
      <p:sp>
        <p:nvSpPr>
          <p:cNvPr id="9135" name="TextBox 9134"/>
          <p:cNvSpPr txBox="1"/>
          <p:nvPr/>
        </p:nvSpPr>
        <p:spPr>
          <a:xfrm>
            <a:off x="6996000" y="36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Practice choosing renderers for your own datasets.</a:t>
            </a:r>
          </a:p>
        </p:txBody>
      </p:sp>
      <p:sp>
        <p:nvSpPr>
          <p:cNvPr id="9136" name="TextBox 9135"/>
          <p:cNvSpPr txBox="1"/>
          <p:nvPr/>
        </p:nvSpPr>
        <p:spPr>
          <a:xfrm>
            <a:off x="6696000" y="4324800"/>
            <a:ext cx="2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Aptos Slab ExtraBold"/>
              </a:rPr>
              <a:t>→</a:t>
            </a:r>
          </a:p>
        </p:txBody>
      </p:sp>
      <p:sp>
        <p:nvSpPr>
          <p:cNvPr id="9137" name="TextBox 9136"/>
          <p:cNvSpPr txBox="1"/>
          <p:nvPr/>
        </p:nvSpPr>
        <p:spPr>
          <a:xfrm>
            <a:off x="6996000" y="4324800"/>
            <a:ext cx="4510200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 i="0">
                <a:solidFill>
                  <a:srgbClr val="E9F0F7"/>
                </a:solidFill>
                <a:latin typeface="Aptos Slab ExtraBold"/>
              </a:rPr>
              <a:t>Explore how classification choices affect legends and printed maps.</a:t>
            </a:r>
          </a:p>
        </p:txBody>
      </p:sp>
      <p:sp>
        <p:nvSpPr>
          <p:cNvPr id="9138" name="TextBox 9137"/>
          <p:cNvSpPr txBox="1"/>
          <p:nvPr/>
        </p:nvSpPr>
        <p:spPr>
          <a:xfrm>
            <a:off x="88900" y="6477000"/>
            <a:ext cx="160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5A623"/>
                </a:solidFill>
                <a:latin typeface="Aptos Slab ExtraBold"/>
              </a:rPr>
              <a:t>21  /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DB333D-FBD7-404B-B7DB-ABB3BCC18BB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5ca6427-1761-4fe1-8622-724b76cbe9b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2760</TotalTime>
  <Words>691</Words>
  <Application>Microsoft Office PowerPoint</Application>
  <PresentationFormat>Widescreen</PresentationFormat>
  <Paragraphs>175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Slab ExtraBold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Shokran Rahiminezhad</dc:creator>
  <cp:keywords/>
  <dc:description>generated using python-pptx</dc:description>
  <cp:lastModifiedBy>Shokran Rahiminezhad</cp:lastModifiedBy>
  <cp:revision>9</cp:revision>
  <dcterms:created xsi:type="dcterms:W3CDTF">2013-01-27T09:14:16Z</dcterms:created>
  <dcterms:modified xsi:type="dcterms:W3CDTF">2026-07-09T03:42:49Z</dcterms:modified>
  <cp:category/>
</cp:coreProperties>
</file>