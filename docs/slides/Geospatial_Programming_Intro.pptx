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4.xml"/><Relationship Id="rId4" Type="http://schemas.openxmlformats.org/officeDocument/2006/relationships/slide" Target="slide9.xml"/><Relationship Id="rId5" Type="http://schemas.openxmlformats.org/officeDocument/2006/relationships/slide" Target="slide15.xml"/><Relationship Id="rId6" Type="http://schemas.openxmlformats.org/officeDocument/2006/relationships/slide" Target="slide22.xml"/><Relationship Id="rId7" Type="http://schemas.openxmlformats.org/officeDocument/2006/relationships/slide" Target="slide24.xml"/><Relationship Id="rId8" Type="http://schemas.openxmlformats.org/officeDocument/2006/relationships/slide" Target="slide3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4.xml"/><Relationship Id="rId4" Type="http://schemas.openxmlformats.org/officeDocument/2006/relationships/slide" Target="slide9.xml"/><Relationship Id="rId5" Type="http://schemas.openxmlformats.org/officeDocument/2006/relationships/slide" Target="slide15.xml"/><Relationship Id="rId6" Type="http://schemas.openxmlformats.org/officeDocument/2006/relationships/slide" Target="slide22.xml"/><Relationship Id="rId7" Type="http://schemas.openxmlformats.org/officeDocument/2006/relationships/slide" Target="slide24.xml"/><Relationship Id="rId8" Type="http://schemas.openxmlformats.org/officeDocument/2006/relationships/slide" Target="slide31.xml"/><Relationship Id="rId9" Type="http://schemas.openxmlformats.org/officeDocument/2006/relationships/slide" Target="slide3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5000"/>
            <a:ext cx="6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94A3B8"/>
                </a:solidFill>
                <a:latin typeface="Courier New"/>
              </a:rPr>
              <a:t>Analysis tab  &gt; 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50000"/>
            <a:ext cx="10500000" cy="1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Calibri"/>
              </a:rPr>
              <a:t>Intro to</a:t>
            </a:r>
          </a:p>
          <a:p>
            <a:r>
              <a:rPr sz="4600" b="1" i="0">
                <a:solidFill>
                  <a:srgbClr val="FFFFFF"/>
                </a:solidFill>
                <a:latin typeface="Calibri"/>
              </a:rPr>
              <a:t>Geospatial</a:t>
            </a:r>
          </a:p>
          <a:p>
            <a:r>
              <a:rPr sz="4600" b="1" i="0">
                <a:solidFill>
                  <a:srgbClr val="FFFFFF"/>
                </a:solidFill>
                <a:latin typeface="Calibri"/>
              </a:rPr>
              <a:t>Programming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150000"/>
            <a:ext cx="135000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280000"/>
            <a:ext cx="85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50" b="0" i="1">
                <a:solidFill>
                  <a:srgbClr val="94A3B8"/>
                </a:solidFill>
                <a:latin typeface="Calibri"/>
              </a:rPr>
              <a:t>From clicking to coding -- your first steps with Python</a:t>
            </a:r>
          </a:p>
          <a:p>
            <a:pPr>
              <a:lnSpc>
                <a:spcPct val="130000"/>
              </a:lnSpc>
            </a:pPr>
            <a:r>
              <a:rPr sz="1450" b="0" i="1">
                <a:solidFill>
                  <a:srgbClr val="94A3B8"/>
                </a:solidFill>
                <a:latin typeface="Calibri"/>
              </a:rPr>
              <a:t>inside ArcGIS Pro.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50000" y="4450000"/>
            <a:ext cx="4876920" cy="1900000"/>
          </a:xfrm>
          <a:prstGeom prst="roundRect">
            <a:avLst>
              <a:gd name="adj" fmla="val 2000"/>
            </a:avLst>
          </a:prstGeom>
          <a:solidFill>
            <a:srgbClr val="05061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50000" y="4450000"/>
            <a:ext cx="4876920" cy="256032"/>
          </a:xfrm>
          <a:prstGeom prst="roundRect">
            <a:avLst>
              <a:gd name="adj" fmla="val 2000"/>
            </a:avLst>
          </a:prstGeom>
          <a:solidFill>
            <a:srgbClr val="2F1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59728" y="452315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60896" y="452315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62064" y="4523152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808" y="4486576"/>
            <a:ext cx="3976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97316"/>
                </a:solidFill>
                <a:latin typeface="Calibri"/>
              </a:rPr>
              <a:t>Python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592" y="4771204"/>
            <a:ext cx="4547736" cy="151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# &gt;&gt;&gt; means: type this, then press Enter to run it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&gt;&gt;&gt; arcpy.Describe(layer).shapeType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'Polygon'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&gt;&gt;&gt; arcpy.management.GetCount(layer)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&lt;Result '3143'&gt;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950000"/>
            <a:ext cx="40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94A3B8"/>
                </a:solidFill>
                <a:latin typeface="Calibri"/>
              </a:rPr>
              <a:t>JUMP TO A SECTION</a:t>
            </a:r>
          </a:p>
        </p:txBody>
      </p:sp>
      <p:sp>
        <p:nvSpPr>
          <p:cNvPr id="16" name="TextBox 15">
            <a:hlinkClick action="ppaction://hlinksldjump" r:id="rId3"/>
          </p:cNvPr>
          <p:cNvSpPr txBox="1"/>
          <p:nvPr/>
        </p:nvSpPr>
        <p:spPr>
          <a:xfrm>
            <a:off x="365760" y="4300000"/>
            <a:ext cx="63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Calibri"/>
              </a:rPr>
              <a:t>01   Why Code?</a:t>
            </a:r>
          </a:p>
        </p:txBody>
      </p:sp>
      <p:sp>
        <p:nvSpPr>
          <p:cNvPr id="17" name="TextBox 16">
            <a:hlinkClick action="ppaction://hlinksldjump" r:id="rId4"/>
          </p:cNvPr>
          <p:cNvSpPr txBox="1"/>
          <p:nvPr/>
        </p:nvSpPr>
        <p:spPr>
          <a:xfrm>
            <a:off x="365760" y="4680000"/>
            <a:ext cx="63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A3E635"/>
                </a:solidFill>
                <a:latin typeface="Calibri"/>
              </a:rPr>
              <a:t>02   How Code Is Built</a:t>
            </a:r>
          </a:p>
        </p:txBody>
      </p:sp>
      <p:sp>
        <p:nvSpPr>
          <p:cNvPr id="18" name="TextBox 17">
            <a:hlinkClick action="ppaction://hlinksldjump" r:id="rId5"/>
          </p:cNvPr>
          <p:cNvSpPr txBox="1"/>
          <p:nvPr/>
        </p:nvSpPr>
        <p:spPr>
          <a:xfrm>
            <a:off x="365760" y="5060000"/>
            <a:ext cx="63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38BDF8"/>
                </a:solidFill>
                <a:latin typeface="Calibri"/>
              </a:rPr>
              <a:t>03   Your First Lines of Code</a:t>
            </a:r>
          </a:p>
        </p:txBody>
      </p:sp>
      <p:sp>
        <p:nvSpPr>
          <p:cNvPr id="19" name="TextBox 18">
            <a:hlinkClick action="ppaction://hlinksldjump" r:id="rId6"/>
          </p:cNvPr>
          <p:cNvSpPr txBox="1"/>
          <p:nvPr/>
        </p:nvSpPr>
        <p:spPr>
          <a:xfrm>
            <a:off x="365760" y="5440000"/>
            <a:ext cx="63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EC4899"/>
                </a:solidFill>
                <a:latin typeface="Calibri"/>
              </a:rPr>
              <a:t>04   What Else Is Out There?</a:t>
            </a:r>
          </a:p>
        </p:txBody>
      </p:sp>
      <p:sp>
        <p:nvSpPr>
          <p:cNvPr id="20" name="TextBox 19">
            <a:hlinkClick action="ppaction://hlinksldjump" r:id="rId7"/>
          </p:cNvPr>
          <p:cNvSpPr txBox="1"/>
          <p:nvPr/>
        </p:nvSpPr>
        <p:spPr>
          <a:xfrm>
            <a:off x="365760" y="5820000"/>
            <a:ext cx="63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A3E635"/>
                </a:solidFill>
                <a:latin typeface="Calibri"/>
              </a:rPr>
              <a:t>05   Practice Run: Counties → States</a:t>
            </a:r>
          </a:p>
        </p:txBody>
      </p:sp>
      <p:sp>
        <p:nvSpPr>
          <p:cNvPr id="21" name="TextBox 20">
            <a:hlinkClick action="ppaction://hlinksldjump" r:id="rId8"/>
          </p:cNvPr>
          <p:cNvSpPr txBox="1"/>
          <p:nvPr/>
        </p:nvSpPr>
        <p:spPr>
          <a:xfrm>
            <a:off x="365760" y="6200000"/>
            <a:ext cx="63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38BDF8"/>
                </a:solidFill>
                <a:latin typeface="Calibri"/>
              </a:rPr>
              <a:t>06   Your Path Forward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4A3B8"/>
                </a:solidFill>
                <a:latin typeface="Calibri"/>
              </a:rPr>
              <a:t>COURSE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What We'll 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A guided tour -- from why code matters to your first real arcpy workflow.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365760" y="2080240"/>
            <a:ext cx="900000" cy="565000"/>
          </a:xfrm>
          <a:prstGeom prst="roundRect">
            <a:avLst>
              <a:gd name="adj" fmla="val 15000"/>
            </a:avLst>
          </a:prstGeom>
          <a:solidFill>
            <a:srgbClr val="050610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action="ppaction://hlinksldjump" r:id="rId3"/>
          </p:cNvPr>
          <p:cNvSpPr txBox="1"/>
          <p:nvPr/>
        </p:nvSpPr>
        <p:spPr>
          <a:xfrm>
            <a:off x="365760" y="2120240"/>
            <a:ext cx="900000" cy="48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97316"/>
                </a:solidFill>
                <a:latin typeface="Calibri"/>
              </a:rPr>
              <a:t>01</a:t>
            </a:r>
          </a:p>
        </p:txBody>
      </p:sp>
      <p:sp>
        <p:nvSpPr>
          <p:cNvPr id="14" name="TextBox 13">
            <a:hlinkClick action="ppaction://hlinksldjump" r:id="rId3"/>
          </p:cNvPr>
          <p:cNvSpPr txBox="1"/>
          <p:nvPr/>
        </p:nvSpPr>
        <p:spPr>
          <a:xfrm>
            <a:off x="1445760" y="2105240"/>
            <a:ext cx="3600000" cy="2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Why Code?</a:t>
            </a:r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1445760" y="2385240"/>
            <a:ext cx="9700000" cy="2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Why programming matters, GUI vs. code, and who relies on it -- ending at ArcGIS Pro's Python window.</a:t>
            </a:r>
          </a:p>
        </p:txBody>
      </p:sp>
      <p:sp>
        <p:nvSpPr>
          <p:cNvPr id="16" name="Rounded Rectangle 15">
            <a:hlinkClick action="ppaction://hlinksldjump" r:id="rId4"/>
          </p:cNvPr>
          <p:cNvSpPr/>
          <p:nvPr/>
        </p:nvSpPr>
        <p:spPr>
          <a:xfrm>
            <a:off x="365760" y="2755240"/>
            <a:ext cx="900000" cy="565000"/>
          </a:xfrm>
          <a:prstGeom prst="roundRect">
            <a:avLst>
              <a:gd name="adj" fmla="val 15000"/>
            </a:avLst>
          </a:prstGeom>
          <a:solidFill>
            <a:srgbClr val="050610"/>
          </a:solidFill>
          <a:ln w="9525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>
            <a:hlinkClick action="ppaction://hlinksldjump" r:id="rId4"/>
          </p:cNvPr>
          <p:cNvSpPr txBox="1"/>
          <p:nvPr/>
        </p:nvSpPr>
        <p:spPr>
          <a:xfrm>
            <a:off x="365760" y="2795240"/>
            <a:ext cx="900000" cy="48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A3E635"/>
                </a:solidFill>
                <a:latin typeface="Calibri"/>
              </a:rPr>
              <a:t>02</a:t>
            </a:r>
          </a:p>
        </p:txBody>
      </p:sp>
      <p:sp>
        <p:nvSpPr>
          <p:cNvPr id="18" name="TextBox 17">
            <a:hlinkClick action="ppaction://hlinksldjump" r:id="rId4"/>
          </p:cNvPr>
          <p:cNvSpPr txBox="1"/>
          <p:nvPr/>
        </p:nvSpPr>
        <p:spPr>
          <a:xfrm>
            <a:off x="1445760" y="2780240"/>
            <a:ext cx="3600000" cy="2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How Code Is Built</a:t>
            </a:r>
          </a:p>
        </p:txBody>
      </p:sp>
      <p:sp>
        <p:nvSpPr>
          <p:cNvPr id="19" name="TextBox 18">
            <a:hlinkClick action="ppaction://hlinksldjump" r:id="rId4"/>
          </p:cNvPr>
          <p:cNvSpPr txBox="1"/>
          <p:nvPr/>
        </p:nvSpPr>
        <p:spPr>
          <a:xfrm>
            <a:off x="1445760" y="3060240"/>
            <a:ext cx="9700000" cy="2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Symbols, variables, expressions, function calls, and the logic of if/for/while -- before any arcpy.</a:t>
            </a:r>
          </a:p>
        </p:txBody>
      </p:sp>
      <p:sp>
        <p:nvSpPr>
          <p:cNvPr id="20" name="Rounded Rectangle 19">
            <a:hlinkClick action="ppaction://hlinksldjump" r:id="rId5"/>
          </p:cNvPr>
          <p:cNvSpPr/>
          <p:nvPr/>
        </p:nvSpPr>
        <p:spPr>
          <a:xfrm>
            <a:off x="365760" y="3430240"/>
            <a:ext cx="900000" cy="565000"/>
          </a:xfrm>
          <a:prstGeom prst="roundRect">
            <a:avLst>
              <a:gd name="adj" fmla="val 15000"/>
            </a:avLst>
          </a:prstGeom>
          <a:solidFill>
            <a:srgbClr val="050610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>
            <a:hlinkClick action="ppaction://hlinksldjump" r:id="rId5"/>
          </p:cNvPr>
          <p:cNvSpPr txBox="1"/>
          <p:nvPr/>
        </p:nvSpPr>
        <p:spPr>
          <a:xfrm>
            <a:off x="365760" y="3470240"/>
            <a:ext cx="900000" cy="48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38BDF8"/>
                </a:solidFill>
                <a:latin typeface="Calibri"/>
              </a:rPr>
              <a:t>03</a:t>
            </a:r>
          </a:p>
        </p:txBody>
      </p:sp>
      <p:sp>
        <p:nvSpPr>
          <p:cNvPr id="22" name="TextBox 21">
            <a:hlinkClick action="ppaction://hlinksldjump" r:id="rId5"/>
          </p:cNvPr>
          <p:cNvSpPr txBox="1"/>
          <p:nvPr/>
        </p:nvSpPr>
        <p:spPr>
          <a:xfrm>
            <a:off x="1445760" y="3455240"/>
            <a:ext cx="3600000" cy="2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Your First Lines of Code</a:t>
            </a:r>
          </a:p>
        </p:txBody>
      </p:sp>
      <p:sp>
        <p:nvSpPr>
          <p:cNvPr id="23" name="TextBox 22">
            <a:hlinkClick action="ppaction://hlinksldjump" r:id="rId5"/>
          </p:cNvPr>
          <p:cNvSpPr txBox="1"/>
          <p:nvPr/>
        </p:nvSpPr>
        <p:spPr>
          <a:xfrm>
            <a:off x="1445760" y="3735240"/>
            <a:ext cx="9700000" cy="2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Where Python lives in ArcGIS Pro, vector data the arcpy way, and your first four arcpy calls.</a:t>
            </a:r>
          </a:p>
        </p:txBody>
      </p:sp>
      <p:sp>
        <p:nvSpPr>
          <p:cNvPr id="24" name="Rounded Rectangle 23">
            <a:hlinkClick action="ppaction://hlinksldjump" r:id="rId6"/>
          </p:cNvPr>
          <p:cNvSpPr/>
          <p:nvPr/>
        </p:nvSpPr>
        <p:spPr>
          <a:xfrm>
            <a:off x="365760" y="4105240"/>
            <a:ext cx="900000" cy="565000"/>
          </a:xfrm>
          <a:prstGeom prst="roundRect">
            <a:avLst>
              <a:gd name="adj" fmla="val 15000"/>
            </a:avLst>
          </a:prstGeom>
          <a:solidFill>
            <a:srgbClr val="050610"/>
          </a:solidFill>
          <a:ln w="9525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>
            <a:hlinkClick action="ppaction://hlinksldjump" r:id="rId6"/>
          </p:cNvPr>
          <p:cNvSpPr txBox="1"/>
          <p:nvPr/>
        </p:nvSpPr>
        <p:spPr>
          <a:xfrm>
            <a:off x="365760" y="4145240"/>
            <a:ext cx="900000" cy="48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EC4899"/>
                </a:solidFill>
                <a:latin typeface="Calibri"/>
              </a:rPr>
              <a:t>04</a:t>
            </a:r>
          </a:p>
        </p:txBody>
      </p:sp>
      <p:sp>
        <p:nvSpPr>
          <p:cNvPr id="26" name="TextBox 25">
            <a:hlinkClick action="ppaction://hlinksldjump" r:id="rId6"/>
          </p:cNvPr>
          <p:cNvSpPr txBox="1"/>
          <p:nvPr/>
        </p:nvSpPr>
        <p:spPr>
          <a:xfrm>
            <a:off x="1445760" y="4130240"/>
            <a:ext cx="3600000" cy="2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What Else Is Out There?</a:t>
            </a:r>
          </a:p>
        </p:txBody>
      </p:sp>
      <p:sp>
        <p:nvSpPr>
          <p:cNvPr id="27" name="TextBox 26">
            <a:hlinkClick action="ppaction://hlinksldjump" r:id="rId6"/>
          </p:cNvPr>
          <p:cNvSpPr txBox="1"/>
          <p:nvPr/>
        </p:nvSpPr>
        <p:spPr>
          <a:xfrm>
            <a:off x="1445760" y="4410240"/>
            <a:ext cx="9700000" cy="2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A fast look at the wider Python geospatial world -- saved mostly for the course ahead.</a:t>
            </a:r>
          </a:p>
        </p:txBody>
      </p:sp>
      <p:sp>
        <p:nvSpPr>
          <p:cNvPr id="28" name="Rounded Rectangle 27">
            <a:hlinkClick action="ppaction://hlinksldjump" r:id="rId7"/>
          </p:cNvPr>
          <p:cNvSpPr/>
          <p:nvPr/>
        </p:nvSpPr>
        <p:spPr>
          <a:xfrm>
            <a:off x="365760" y="4780240"/>
            <a:ext cx="900000" cy="565000"/>
          </a:xfrm>
          <a:prstGeom prst="roundRect">
            <a:avLst>
              <a:gd name="adj" fmla="val 15000"/>
            </a:avLst>
          </a:prstGeom>
          <a:solidFill>
            <a:srgbClr val="050610"/>
          </a:solidFill>
          <a:ln w="9525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>
            <a:hlinkClick action="ppaction://hlinksldjump" r:id="rId7"/>
          </p:cNvPr>
          <p:cNvSpPr txBox="1"/>
          <p:nvPr/>
        </p:nvSpPr>
        <p:spPr>
          <a:xfrm>
            <a:off x="365760" y="4820240"/>
            <a:ext cx="900000" cy="48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A3E635"/>
                </a:solidFill>
                <a:latin typeface="Calibri"/>
              </a:rPr>
              <a:t>05</a:t>
            </a:r>
          </a:p>
        </p:txBody>
      </p:sp>
      <p:sp>
        <p:nvSpPr>
          <p:cNvPr id="30" name="TextBox 29">
            <a:hlinkClick action="ppaction://hlinksldjump" r:id="rId7"/>
          </p:cNvPr>
          <p:cNvSpPr txBox="1"/>
          <p:nvPr/>
        </p:nvSpPr>
        <p:spPr>
          <a:xfrm>
            <a:off x="1445760" y="4805240"/>
            <a:ext cx="3600000" cy="2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Practice Run: Counties → States</a:t>
            </a:r>
          </a:p>
        </p:txBody>
      </p:sp>
      <p:sp>
        <p:nvSpPr>
          <p:cNvPr id="31" name="TextBox 30">
            <a:hlinkClick action="ppaction://hlinksldjump" r:id="rId7"/>
          </p:cNvPr>
          <p:cNvSpPr txBox="1"/>
          <p:nvPr/>
        </p:nvSpPr>
        <p:spPr>
          <a:xfrm>
            <a:off x="1445760" y="5085240"/>
            <a:ext cx="9700000" cy="2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A complete arcpy workflow, start to finish, on a real Census dataset.</a:t>
            </a:r>
          </a:p>
        </p:txBody>
      </p:sp>
      <p:sp>
        <p:nvSpPr>
          <p:cNvPr id="32" name="Rounded Rectangle 31">
            <a:hlinkClick action="ppaction://hlinksldjump" r:id="rId8"/>
          </p:cNvPr>
          <p:cNvSpPr/>
          <p:nvPr/>
        </p:nvSpPr>
        <p:spPr>
          <a:xfrm>
            <a:off x="365760" y="5455240"/>
            <a:ext cx="900000" cy="565000"/>
          </a:xfrm>
          <a:prstGeom prst="roundRect">
            <a:avLst>
              <a:gd name="adj" fmla="val 15000"/>
            </a:avLst>
          </a:prstGeom>
          <a:solidFill>
            <a:srgbClr val="050610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>
            <a:hlinkClick action="ppaction://hlinksldjump" r:id="rId8"/>
          </p:cNvPr>
          <p:cNvSpPr txBox="1"/>
          <p:nvPr/>
        </p:nvSpPr>
        <p:spPr>
          <a:xfrm>
            <a:off x="365760" y="5495240"/>
            <a:ext cx="900000" cy="48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38BDF8"/>
                </a:solidFill>
                <a:latin typeface="Calibri"/>
              </a:rPr>
              <a:t>06</a:t>
            </a:r>
          </a:p>
        </p:txBody>
      </p:sp>
      <p:sp>
        <p:nvSpPr>
          <p:cNvPr id="34" name="TextBox 33">
            <a:hlinkClick action="ppaction://hlinksldjump" r:id="rId8"/>
          </p:cNvPr>
          <p:cNvSpPr txBox="1"/>
          <p:nvPr/>
        </p:nvSpPr>
        <p:spPr>
          <a:xfrm>
            <a:off x="1445760" y="5480240"/>
            <a:ext cx="3600000" cy="2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Your Path Forward</a:t>
            </a:r>
          </a:p>
        </p:txBody>
      </p:sp>
      <p:sp>
        <p:nvSpPr>
          <p:cNvPr id="35" name="TextBox 34">
            <a:hlinkClick action="ppaction://hlinksldjump" r:id="rId8"/>
          </p:cNvPr>
          <p:cNvSpPr txBox="1"/>
          <p:nvPr/>
        </p:nvSpPr>
        <p:spPr>
          <a:xfrm>
            <a:off x="1445760" y="5760240"/>
            <a:ext cx="9700000" cy="2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A few libraries worth exploring once arcpy feels comfortable.</a:t>
            </a:r>
          </a:p>
        </p:txBody>
      </p:sp>
      <p:sp>
        <p:nvSpPr>
          <p:cNvPr id="36" name="Rounded Rectangle 35">
            <a:hlinkClick action="ppaction://hlinksldjump" r:id="rId9"/>
          </p:cNvPr>
          <p:cNvSpPr/>
          <p:nvPr/>
        </p:nvSpPr>
        <p:spPr>
          <a:xfrm>
            <a:off x="365760" y="6130240"/>
            <a:ext cx="900000" cy="565000"/>
          </a:xfrm>
          <a:prstGeom prst="roundRect">
            <a:avLst>
              <a:gd name="adj" fmla="val 15000"/>
            </a:avLst>
          </a:prstGeom>
          <a:solidFill>
            <a:srgbClr val="050610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>
            <a:hlinkClick action="ppaction://hlinksldjump" r:id="rId9"/>
          </p:cNvPr>
          <p:cNvSpPr txBox="1"/>
          <p:nvPr/>
        </p:nvSpPr>
        <p:spPr>
          <a:xfrm>
            <a:off x="365760" y="6170240"/>
            <a:ext cx="900000" cy="48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94A3B8"/>
                </a:solidFill>
                <a:latin typeface="Calibri"/>
              </a:rPr>
              <a:t>07</a:t>
            </a:r>
          </a:p>
        </p:txBody>
      </p:sp>
      <p:sp>
        <p:nvSpPr>
          <p:cNvPr id="38" name="TextBox 37">
            <a:hlinkClick action="ppaction://hlinksldjump" r:id="rId9"/>
          </p:cNvPr>
          <p:cNvSpPr txBox="1"/>
          <p:nvPr/>
        </p:nvSpPr>
        <p:spPr>
          <a:xfrm>
            <a:off x="1445760" y="6155240"/>
            <a:ext cx="3600000" cy="2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In Practice</a:t>
            </a:r>
          </a:p>
        </p:txBody>
      </p:sp>
      <p:sp>
        <p:nvSpPr>
          <p:cNvPr id="39" name="TextBox 38">
            <a:hlinkClick action="ppaction://hlinksldjump" r:id="rId9"/>
          </p:cNvPr>
          <p:cNvSpPr txBox="1"/>
          <p:nvPr/>
        </p:nvSpPr>
        <p:spPr>
          <a:xfrm>
            <a:off x="1445760" y="6435240"/>
            <a:ext cx="9700000" cy="2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A knowledge check and a recap to tie it all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4A3B8"/>
                </a:solidFill>
                <a:latin typeface="Calibri"/>
              </a:rPr>
              <a:t>COURSE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What you'll be able to do by the end of this lecture.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120240"/>
            <a:ext cx="900000" cy="700000"/>
          </a:xfrm>
          <a:prstGeom prst="roundRect">
            <a:avLst>
              <a:gd name="adj" fmla="val 15000"/>
            </a:avLst>
          </a:prstGeom>
          <a:solidFill>
            <a:srgbClr val="050610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165240"/>
            <a:ext cx="900000" cy="5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5760" y="2150240"/>
            <a:ext cx="36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Explain Why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5760" y="2470240"/>
            <a:ext cx="97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Describe concretely what coding buys you over clicking, and who relies on it in the real world.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960240"/>
            <a:ext cx="900000" cy="700000"/>
          </a:xfrm>
          <a:prstGeom prst="roundRect">
            <a:avLst>
              <a:gd name="adj" fmla="val 15000"/>
            </a:avLst>
          </a:prstGeom>
          <a:solidFill>
            <a:srgbClr val="050610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005240"/>
            <a:ext cx="900000" cy="5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5760" y="2990240"/>
            <a:ext cx="36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Write Real arcpy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5760" y="3310240"/>
            <a:ext cx="97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Use arcpy.Describe(), GetCount(), ListFields(), and a SearchCursor inside ArcGIS Pro's Python window.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800240"/>
            <a:ext cx="900000" cy="700000"/>
          </a:xfrm>
          <a:prstGeom prst="roundRect">
            <a:avLst>
              <a:gd name="adj" fmla="val 15000"/>
            </a:avLst>
          </a:prstGeom>
          <a:solidFill>
            <a:srgbClr val="050610"/>
          </a:solidFill>
          <a:ln w="9525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845240"/>
            <a:ext cx="900000" cy="5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EC4899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5760" y="3830240"/>
            <a:ext cx="36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Run a Full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5760" y="4150240"/>
            <a:ext cx="97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Dissolve a layer by an attribute and export the result, one file per group, in a loop.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640240"/>
            <a:ext cx="900000" cy="700000"/>
          </a:xfrm>
          <a:prstGeom prst="roundRect">
            <a:avLst>
              <a:gd name="adj" fmla="val 15000"/>
            </a:avLst>
          </a:prstGeom>
          <a:solidFill>
            <a:srgbClr val="050610"/>
          </a:solidFill>
          <a:ln w="9525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685240"/>
            <a:ext cx="900000" cy="5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A3E635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5760" y="4670240"/>
            <a:ext cx="36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Read Coordinate Systems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5760" y="4990240"/>
            <a:ext cx="97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Recognize whether a dataset is geographic or projected, and why that matters before you analyze 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480240"/>
            <a:ext cx="900000" cy="700000"/>
          </a:xfrm>
          <a:prstGeom prst="roundRect">
            <a:avLst>
              <a:gd name="adj" fmla="val 15000"/>
            </a:avLst>
          </a:prstGeom>
          <a:solidFill>
            <a:srgbClr val="050610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525240"/>
            <a:ext cx="900000" cy="5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5760" y="5510240"/>
            <a:ext cx="36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See What's Out There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5760" y="5830240"/>
            <a:ext cx="97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Locate the handful of libraries worth exploring next, once arcpy feels comfortable.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00560" y="0"/>
            <a:ext cx="91440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182880" y="-54864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0" b="1" i="0">
                <a:solidFill>
                  <a:srgbClr val="131629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94A3B8"/>
                </a:solidFill>
                <a:latin typeface="Calibri"/>
              </a:rPr>
              <a:t>PART 1  /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9601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200" b="1" i="0">
                <a:solidFill>
                  <a:srgbClr val="FFFFFF"/>
                </a:solidFill>
                <a:latin typeface="Calibri"/>
              </a:rPr>
              <a:t>Why Code?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749039"/>
            <a:ext cx="2926080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913632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1">
                <a:solidFill>
                  <a:srgbClr val="94A3B8"/>
                </a:solidFill>
                <a:latin typeface="Calibri"/>
              </a:rPr>
              <a:t>GIS tools are powerful -- but clicking has limits. Code breaks those limits.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F97316"/>
                </a:solidFill>
                <a:latin typeface="Calibri"/>
              </a:rPr>
              <a:t>WHY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What Is It?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Writing instructions a computer executes on spatial data -- automatically, repeatably, at any scale.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070240"/>
            <a:ext cx="6400000" cy="2150000"/>
          </a:xfrm>
          <a:prstGeom prst="roundRect">
            <a:avLst>
              <a:gd name="adj" fmla="val 4000"/>
            </a:avLst>
          </a:prstGeom>
          <a:solidFill>
            <a:srgbClr val="05061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5760" y="2240240"/>
            <a:ext cx="2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97316"/>
                </a:solidFill>
                <a:latin typeface="Calibri"/>
              </a:rPr>
              <a:t>DEFINITION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760" y="2600240"/>
            <a:ext cx="60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0">
                <a:solidFill>
                  <a:srgbClr val="F1F5F9"/>
                </a:solidFill>
                <a:latin typeface="Calibri"/>
              </a:rPr>
              <a:t>Geospatial programming means writing code that reads,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F1F5F9"/>
                </a:solidFill>
                <a:latin typeface="Calibri"/>
              </a:rPr>
              <a:t>transforms, analyzes, and visualizes spatial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5760" y="3480240"/>
            <a:ext cx="60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Instead of clicking tools one by one, you describe exactly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what you want -- and the computer does it perfectly, every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15760" y="2070240"/>
            <a:ext cx="4300000" cy="640000"/>
          </a:xfrm>
          <a:prstGeom prst="roundRect">
            <a:avLst>
              <a:gd name="adj" fmla="val 8000"/>
            </a:avLst>
          </a:prstGeom>
          <a:solidFill>
            <a:srgbClr val="131629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95760" y="2160240"/>
            <a:ext cx="5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97316"/>
                </a:solidFill>
                <a:latin typeface="Calibri"/>
              </a:rPr>
              <a:t>//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65760" y="2140240"/>
            <a:ext cx="34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Calibri"/>
              </a:rPr>
              <a:t>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5760" y="2410240"/>
            <a:ext cx="34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Run the same workflow on 1,000 files as easily as 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15760" y="2800240"/>
            <a:ext cx="4300000" cy="640000"/>
          </a:xfrm>
          <a:prstGeom prst="roundRect">
            <a:avLst>
              <a:gd name="adj" fmla="val 8000"/>
            </a:avLst>
          </a:prstGeom>
          <a:solidFill>
            <a:srgbClr val="131629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95760" y="2890240"/>
            <a:ext cx="5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38BDF8"/>
                </a:solidFill>
                <a:latin typeface="Calibri"/>
              </a:rPr>
              <a:t>{}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5760" y="2870240"/>
            <a:ext cx="34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38BDF8"/>
                </a:solidFill>
                <a:latin typeface="Calibri"/>
              </a:rPr>
              <a:t>Repeatability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5760" y="3140240"/>
            <a:ext cx="34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The exact same script gives the exact same result, always.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15760" y="3530240"/>
            <a:ext cx="4300000" cy="640000"/>
          </a:xfrm>
          <a:prstGeom prst="roundRect">
            <a:avLst>
              <a:gd name="adj" fmla="val 8000"/>
            </a:avLst>
          </a:prstGeom>
          <a:solidFill>
            <a:srgbClr val="131629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5760" y="3620240"/>
            <a:ext cx="5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EC4899"/>
                </a:solidFill>
                <a:latin typeface="Calibri"/>
              </a:rPr>
              <a:t>[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5760" y="3600240"/>
            <a:ext cx="34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EC4899"/>
                </a:solidFill>
                <a:latin typeface="Calibri"/>
              </a:rPr>
              <a:t>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5760" y="3870240"/>
            <a:ext cx="34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What takes an afternoon by hand takes seconds in a script.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F97316"/>
                </a:solidFill>
                <a:latin typeface="Calibri"/>
              </a:rPr>
              <a:t>WHY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The Limits of Clicking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GUI tools are great -- until the problem gets bigger than the menu.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070240"/>
            <a:ext cx="5650000" cy="215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5760" y="2250240"/>
            <a:ext cx="52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97316"/>
                </a:solidFill>
                <a:latin typeface="Calibri"/>
              </a:rPr>
              <a:t>100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760" y="2590240"/>
            <a:ext cx="525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 i="1">
                <a:solidFill>
                  <a:srgbClr val="F1F5F9"/>
                </a:solidFill>
                <a:latin typeface="Calibri"/>
              </a:rPr>
              <a:t>Convert each to a new format.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5760" y="3050240"/>
            <a:ext cx="5250000" cy="1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Manual: 100 clicks x 5 steps = 500 actions.</a:t>
            </a:r>
          </a:p>
          <a:p>
            <a:pPr>
              <a:lnSpc>
                <a:spcPct val="130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Code: 8 lines. Done.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5760" y="2070240"/>
            <a:ext cx="5650000" cy="215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5760" y="2250240"/>
            <a:ext cx="52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38BDF8"/>
                </a:solidFill>
                <a:latin typeface="Calibri"/>
              </a:rPr>
              <a:t>Parameter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5760" y="2590240"/>
            <a:ext cx="525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 i="1">
                <a:solidFill>
                  <a:srgbClr val="F1F5F9"/>
                </a:solidFill>
                <a:latin typeface="Calibri"/>
              </a:rPr>
              <a:t>Need to adjust one setting across 40 runs?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5760" y="3050240"/>
            <a:ext cx="5250000" cy="1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Manual: start over entirely.</a:t>
            </a:r>
          </a:p>
          <a:p>
            <a:pPr>
              <a:lnSpc>
                <a:spcPct val="130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Code: change one variable, re-run.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380240"/>
            <a:ext cx="5650000" cy="215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5760" y="4560240"/>
            <a:ext cx="52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EC4899"/>
                </a:solidFill>
                <a:latin typeface="Calibri"/>
              </a:rPr>
              <a:t>Reproducibility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5760" y="4900240"/>
            <a:ext cx="525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 i="1">
                <a:solidFill>
                  <a:srgbClr val="F1F5F9"/>
                </a:solidFill>
                <a:latin typeface="Calibri"/>
              </a:rPr>
              <a:t>Can you prove your analysis is exactly repeatable?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760" y="5360240"/>
            <a:ext cx="5250000" cy="1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Clicking: impossible to fully document.</a:t>
            </a:r>
          </a:p>
          <a:p>
            <a:pPr>
              <a:lnSpc>
                <a:spcPct val="130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Code: the script IS the documentation.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5760" y="4380240"/>
            <a:ext cx="5650000" cy="215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5760" y="4560240"/>
            <a:ext cx="52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A3E635"/>
                </a:solidFill>
                <a:latin typeface="Calibri"/>
              </a:rP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5760" y="4900240"/>
            <a:ext cx="525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 i="1">
                <a:solidFill>
                  <a:srgbClr val="F1F5F9"/>
                </a:solidFill>
                <a:latin typeface="Calibri"/>
              </a:rPr>
              <a:t>10 features: fine by hand.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5760" y="5360240"/>
            <a:ext cx="5250000" cy="1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10,000: only a script survives.</a:t>
            </a:r>
          </a:p>
          <a:p>
            <a:pPr>
              <a:lnSpc>
                <a:spcPct val="130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1 million: script + a coffee break.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F97316"/>
                </a:solidFill>
                <a:latin typeface="Calibri"/>
              </a:rPr>
              <a:t>WHY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GUI vs. Code: The Power Shift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120240"/>
            <a:ext cx="5650000" cy="3600000"/>
          </a:xfrm>
          <a:prstGeom prst="roundRect">
            <a:avLst>
              <a:gd name="adj" fmla="val 3000"/>
            </a:avLst>
          </a:prstGeom>
          <a:solidFill>
            <a:srgbClr val="131629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5760" y="2300240"/>
            <a:ext cx="52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94A3B8"/>
                </a:solidFill>
                <a:latin typeface="Calibri"/>
              </a:rPr>
              <a:t>WITHOUT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760" y="2740240"/>
            <a:ext cx="3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E05D5D"/>
                </a:solidFill>
                <a:latin typeface="Calibri"/>
              </a:rPr>
              <a:t>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760" y="2740240"/>
            <a:ext cx="4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0" i="0">
                <a:solidFill>
                  <a:srgbClr val="F1F5F9"/>
                </a:solidFill>
                <a:latin typeface="Calibri"/>
              </a:rPr>
              <a:t>One file at a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760" y="3360240"/>
            <a:ext cx="3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E05D5D"/>
                </a:solidFill>
                <a:latin typeface="Calibri"/>
              </a:rP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760" y="3360240"/>
            <a:ext cx="4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0" i="0">
                <a:solidFill>
                  <a:srgbClr val="F1F5F9"/>
                </a:solidFill>
                <a:latin typeface="Calibri"/>
              </a:rPr>
              <a:t>Prone to human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760" y="3980240"/>
            <a:ext cx="3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E05D5D"/>
                </a:solidFill>
                <a:latin typeface="Calibri"/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760" y="3980240"/>
            <a:ext cx="4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0" i="0">
                <a:solidFill>
                  <a:srgbClr val="F1F5F9"/>
                </a:solidFill>
                <a:latin typeface="Calibri"/>
              </a:rPr>
              <a:t>Hard to reproduce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5760" y="4600240"/>
            <a:ext cx="3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E05D5D"/>
                </a:solidFill>
                <a:latin typeface="Calibri"/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760" y="4600240"/>
            <a:ext cx="4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0" i="0">
                <a:solidFill>
                  <a:srgbClr val="F1F5F9"/>
                </a:solidFill>
                <a:latin typeface="Calibri"/>
              </a:rPr>
              <a:t>Steps live in your head, not on paper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5760" y="2120240"/>
            <a:ext cx="5650000" cy="3600000"/>
          </a:xfrm>
          <a:prstGeom prst="roundRect">
            <a:avLst>
              <a:gd name="adj" fmla="val 3000"/>
            </a:avLst>
          </a:prstGeom>
          <a:solidFill>
            <a:srgbClr val="131629"/>
          </a:solidFill>
          <a:ln w="12700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5760" y="2300240"/>
            <a:ext cx="52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A3E635"/>
                </a:solidFill>
                <a:latin typeface="Calibri"/>
              </a:rPr>
              <a:t>WITH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5760" y="2740240"/>
            <a:ext cx="3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A3E635"/>
                </a:solidFill>
                <a:latin typeface="Calibri"/>
              </a:rPr>
              <a:t>-&gt;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5760" y="2740240"/>
            <a:ext cx="4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0" i="0">
                <a:solidFill>
                  <a:srgbClr val="F1F5F9"/>
                </a:solidFill>
                <a:latin typeface="Calibri"/>
              </a:rPr>
              <a:t>Thousands of files, same effort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5760" y="3360240"/>
            <a:ext cx="3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A3E635"/>
                </a:solidFill>
                <a:latin typeface="Calibri"/>
              </a:rPr>
              <a:t>-&gt;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5760" y="3360240"/>
            <a:ext cx="4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0" i="0">
                <a:solidFill>
                  <a:srgbClr val="F1F5F9"/>
                </a:solidFill>
                <a:latin typeface="Calibri"/>
              </a:rPr>
              <a:t>Deterministic and error-free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5760" y="3980240"/>
            <a:ext cx="3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A3E635"/>
                </a:solidFill>
                <a:latin typeface="Calibri"/>
              </a:rPr>
              <a:t>-&gt;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5760" y="3980240"/>
            <a:ext cx="4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0" i="0">
                <a:solidFill>
                  <a:srgbClr val="F1F5F9"/>
                </a:solidFill>
                <a:latin typeface="Calibri"/>
              </a:rPr>
              <a:t>Fully reproducible by anyone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5760" y="4600240"/>
            <a:ext cx="3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A3E635"/>
                </a:solidFill>
                <a:latin typeface="Calibri"/>
              </a:rPr>
              <a:t>-&gt;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5760" y="4600240"/>
            <a:ext cx="4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0" i="0">
                <a:solidFill>
                  <a:srgbClr val="F1F5F9"/>
                </a:solidFill>
                <a:latin typeface="Calibri"/>
              </a:rPr>
              <a:t>The script documents everything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870240"/>
            <a:ext cx="11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1">
                <a:solidFill>
                  <a:srgbClr val="94A3B8"/>
                </a:solidFill>
                <a:latin typeface="Calibri"/>
              </a:rPr>
              <a:t>Python is free. ArcGIS Pro's Python window is already open on your machine. The only investment is learning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F97316"/>
                </a:solidFill>
                <a:latin typeface="Calibri"/>
              </a:rPr>
              <a:t>WHY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The Geospatial Technology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From the ArcGIS Pro Python window to planetary-scale cloud analysis.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120240"/>
            <a:ext cx="2450000" cy="640000"/>
          </a:xfrm>
          <a:prstGeom prst="roundRect">
            <a:avLst>
              <a:gd name="adj" fmla="val 15000"/>
            </a:avLst>
          </a:prstGeom>
          <a:solidFill>
            <a:srgbClr val="050610"/>
          </a:solidFill>
          <a:ln w="9525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75240"/>
            <a:ext cx="245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C4899"/>
                </a:solidFill>
                <a:latin typeface="Calibri"/>
              </a:rPr>
              <a:t>CLOUD &amp; REAL-TIME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5760" y="2175240"/>
            <a:ext cx="830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0" i="0">
                <a:solidFill>
                  <a:srgbClr val="F1F5F9"/>
                </a:solidFill>
                <a:latin typeface="Calibri"/>
              </a:rPr>
              <a:t>Google Earth Engine  |  AWS  |  Azure Maps  |  ArcGIS Online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880240"/>
            <a:ext cx="2450000" cy="640000"/>
          </a:xfrm>
          <a:prstGeom prst="roundRect">
            <a:avLst>
              <a:gd name="adj" fmla="val 15000"/>
            </a:avLst>
          </a:prstGeom>
          <a:solidFill>
            <a:srgbClr val="050610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935240"/>
            <a:ext cx="245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38BDF8"/>
                </a:solidFill>
                <a:latin typeface="Calibri"/>
              </a:rPr>
              <a:t>WEB MAPPING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5760" y="2935240"/>
            <a:ext cx="830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0" i="0">
                <a:solidFill>
                  <a:srgbClr val="F1F5F9"/>
                </a:solidFill>
                <a:latin typeface="Calibri"/>
              </a:rPr>
              <a:t>Leaflet.js  |  Mapbox GL  |  Folium  |  Plotly Dash  |  Kepler.gl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640240"/>
            <a:ext cx="2450000" cy="640000"/>
          </a:xfrm>
          <a:prstGeom prst="roundRect">
            <a:avLst>
              <a:gd name="adj" fmla="val 15000"/>
            </a:avLst>
          </a:prstGeom>
          <a:solidFill>
            <a:srgbClr val="050610"/>
          </a:solidFill>
          <a:ln w="9525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695240"/>
            <a:ext cx="245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A3E635"/>
                </a:solidFill>
                <a:latin typeface="Calibri"/>
              </a:rPr>
              <a:t>PYTHON LIBRARIES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5760" y="3695240"/>
            <a:ext cx="830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0" i="0">
                <a:solidFill>
                  <a:srgbClr val="F1F5F9"/>
                </a:solidFill>
                <a:latin typeface="Calibri"/>
              </a:rPr>
              <a:t>GeoPandas  |  Shapely  |  Rasterio  |  PyProj  |  Fiona  |  Scikit-learn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400240"/>
            <a:ext cx="2450000" cy="640000"/>
          </a:xfrm>
          <a:prstGeom prst="roundRect">
            <a:avLst>
              <a:gd name="adj" fmla="val 15000"/>
            </a:avLst>
          </a:prstGeom>
          <a:solidFill>
            <a:srgbClr val="050610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455240"/>
            <a:ext cx="245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97316"/>
                </a:solidFill>
                <a:latin typeface="Calibri"/>
              </a:rPr>
              <a:t>DESKTOP GIS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5760" y="4455240"/>
            <a:ext cx="830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0" i="0">
                <a:solidFill>
                  <a:srgbClr val="F1F5F9"/>
                </a:solidFill>
                <a:latin typeface="Calibri"/>
              </a:rPr>
              <a:t>ArcGIS Pro (ArcPy)  |  QGIS (PyQGIS)  |  GRASS GIS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65760" y="4340240"/>
            <a:ext cx="1750000" cy="320040"/>
          </a:xfrm>
          <a:prstGeom prst="roundRect">
            <a:avLst>
              <a:gd name="adj" fmla="val 50000"/>
            </a:avLst>
          </a:prstGeom>
          <a:solidFill>
            <a:srgbClr val="05061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5760" y="4385960"/>
            <a:ext cx="175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97316"/>
                </a:solidFill>
                <a:latin typeface="Calibri"/>
              </a:rPr>
              <a:t>★ YOU ARE HERE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160240"/>
            <a:ext cx="2450000" cy="640000"/>
          </a:xfrm>
          <a:prstGeom prst="roundRect">
            <a:avLst>
              <a:gd name="adj" fmla="val 15000"/>
            </a:avLst>
          </a:prstGeom>
          <a:solidFill>
            <a:srgbClr val="050610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215240"/>
            <a:ext cx="245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94A3B8"/>
                </a:solidFill>
                <a:latin typeface="Calibri"/>
              </a:rPr>
              <a:t>DATA &amp; FORMATS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5760" y="5215240"/>
            <a:ext cx="830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0" i="0">
                <a:solidFill>
                  <a:srgbClr val="F1F5F9"/>
                </a:solidFill>
                <a:latin typeface="Calibri"/>
              </a:rPr>
              <a:t>Shapefile  |  GeoJSON  |  GeoPackage  |  GeoTIFF  |  PostGIS  |  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00560" y="0"/>
            <a:ext cx="91440" cy="685800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182880" y="-54864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0" b="1" i="0">
                <a:solidFill>
                  <a:srgbClr val="131629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94A3B8"/>
                </a:solidFill>
                <a:latin typeface="Calibri"/>
              </a:rPr>
              <a:t>PART 2  /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9601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200" b="1" i="0">
                <a:solidFill>
                  <a:srgbClr val="FFFFFF"/>
                </a:solidFill>
                <a:latin typeface="Calibri"/>
              </a:rPr>
              <a:t>How Code</a:t>
            </a:r>
          </a:p>
          <a:p>
            <a:r>
              <a:rPr sz="5200" b="1" i="0">
                <a:solidFill>
                  <a:srgbClr val="FFFFFF"/>
                </a:solidFill>
                <a:latin typeface="Calibri"/>
              </a:rPr>
              <a:t>Is Built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749039"/>
            <a:ext cx="2926080" cy="64008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913632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1">
                <a:solidFill>
                  <a:srgbClr val="94A3B8"/>
                </a:solidFill>
                <a:latin typeface="Calibri"/>
              </a:rPr>
              <a:t>Before your first arcpy command, here's how any code -- in any language -- actually works.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A3E635"/>
                </a:solidFill>
                <a:latin typeface="Calibri"/>
              </a:rPr>
              <a:t>HOW CODE IS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Symbols You'll See Everywhere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A quick-reference for the punctuation every line of Python leans 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070240"/>
            <a:ext cx="3703320" cy="142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271408"/>
            <a:ext cx="33009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97316"/>
                </a:solidFill>
                <a:latin typeface="Calibri"/>
              </a:rPr>
              <a:t>( )   Parentheses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682888"/>
            <a:ext cx="3300984" cy="365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Call a function, or group part of an expression.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178588"/>
            <a:ext cx="33009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A3E635"/>
                </a:solidFill>
                <a:latin typeface="Courier New"/>
              </a:rPr>
              <a:t>print("hi")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9080" y="2070240"/>
            <a:ext cx="3703320" cy="142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0248" y="2271408"/>
            <a:ext cx="33009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38BDF8"/>
                </a:solidFill>
                <a:latin typeface="Calibri"/>
              </a:rPr>
              <a:t>[ ]   Square brackets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0248" y="2682888"/>
            <a:ext cx="3300984" cy="365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Build a list, or look something up by position.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0248" y="3178588"/>
            <a:ext cx="33009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A3E635"/>
                </a:solidFill>
                <a:latin typeface="Courier New"/>
              </a:rPr>
              <a:t>row[0]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2400" y="2070240"/>
            <a:ext cx="3703320" cy="142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3568" y="2271408"/>
            <a:ext cx="33009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EC4899"/>
                </a:solidFill>
                <a:latin typeface="Calibri"/>
              </a:rPr>
              <a:t>{ }   Curly braces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3568" y="2682888"/>
            <a:ext cx="3300984" cy="365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Build a set, or a dictionary of key: value pairs.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3568" y="3178588"/>
            <a:ext cx="33009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A3E635"/>
                </a:solidFill>
                <a:latin typeface="Courier New"/>
              </a:rPr>
              <a:t>{"AL", "AK"}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650240"/>
            <a:ext cx="3703320" cy="142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851408"/>
            <a:ext cx="33009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A3E635"/>
                </a:solidFill>
                <a:latin typeface="Calibri"/>
              </a:rPr>
              <a:t>" "   Quotes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262888"/>
            <a:ext cx="3300984" cy="365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Mark literal text -- always wrapped in quotes.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758588"/>
            <a:ext cx="33009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A3E635"/>
                </a:solidFill>
                <a:latin typeface="Courier New"/>
              </a:rPr>
              <a:t>"AL"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49080" y="3650240"/>
            <a:ext cx="3703320" cy="142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0248" y="3851408"/>
            <a:ext cx="33009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97316"/>
                </a:solidFill>
                <a:latin typeface="Calibri"/>
              </a:rPr>
              <a:t>#   Hash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0248" y="4262888"/>
            <a:ext cx="3300984" cy="365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A comment -- Python ignores the rest of the line.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0248" y="4758588"/>
            <a:ext cx="33009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A3E635"/>
                </a:solidFill>
                <a:latin typeface="Courier New"/>
              </a:rPr>
              <a:t># note to self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2400" y="3650240"/>
            <a:ext cx="3703320" cy="142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3568" y="3851408"/>
            <a:ext cx="33009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38BDF8"/>
                </a:solidFill>
                <a:latin typeface="Calibri"/>
              </a:rPr>
              <a:t>:   Colon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3568" y="4262888"/>
            <a:ext cx="3300984" cy="365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"A block follows" -- starts an indented for / if / with.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3568" y="4758588"/>
            <a:ext cx="33009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A3E635"/>
                </a:solidFill>
                <a:latin typeface="Courier New"/>
              </a:rPr>
              <a:t>for x in y: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230240"/>
            <a:ext cx="3703320" cy="142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5431408"/>
            <a:ext cx="33009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EC4899"/>
                </a:solidFill>
                <a:latin typeface="Calibri"/>
              </a:rPr>
              <a:t>=   Single equals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842888"/>
            <a:ext cx="3300984" cy="365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Assignment -- store a value under a name.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338588"/>
            <a:ext cx="33009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A3E635"/>
                </a:solidFill>
                <a:latin typeface="Courier New"/>
              </a:rPr>
              <a:t>code = "AL"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49080" y="5230240"/>
            <a:ext cx="3703320" cy="142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50248" y="5431408"/>
            <a:ext cx="33009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A3E635"/>
                </a:solidFill>
                <a:latin typeface="Calibri"/>
              </a:rPr>
              <a:t>==   Double equals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50248" y="5842888"/>
            <a:ext cx="3300984" cy="365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Comparison -- are these two things equal?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50248" y="6338588"/>
            <a:ext cx="33009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A3E635"/>
                </a:solidFill>
                <a:latin typeface="Courier New"/>
              </a:rPr>
              <a:t>code == "AL"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2400" y="5230240"/>
            <a:ext cx="3703320" cy="142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33568" y="5431408"/>
            <a:ext cx="33009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97316"/>
                </a:solidFill>
                <a:latin typeface="Calibri"/>
              </a:rPr>
              <a:t>.   Dot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3568" y="5842888"/>
            <a:ext cx="3300984" cy="365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"Look inside this" -- reach a property or method.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3568" y="6338588"/>
            <a:ext cx="33009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A3E635"/>
                </a:solidFill>
                <a:latin typeface="Courier New"/>
              </a:rPr>
              <a:t>desc.shapeType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A3E635"/>
                </a:solidFill>
                <a:latin typeface="Calibri"/>
              </a:rPr>
              <a:t>HOW CODE IS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Variables: Naming Your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Every piece of information you use gets a name -- so later code can call it 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120240"/>
            <a:ext cx="5300000" cy="3700000"/>
          </a:xfrm>
          <a:prstGeom prst="roundRect">
            <a:avLst>
              <a:gd name="adj" fmla="val 2000"/>
            </a:avLst>
          </a:prstGeom>
          <a:solidFill>
            <a:srgbClr val="050610"/>
          </a:solidFill>
          <a:ln w="12700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2120240"/>
            <a:ext cx="5300000" cy="256032"/>
          </a:xfrm>
          <a:prstGeom prst="roundRect">
            <a:avLst>
              <a:gd name="adj" fmla="val 2000"/>
            </a:avLst>
          </a:prstGeom>
          <a:solidFill>
            <a:srgbClr val="242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5488" y="219339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" y="219339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193392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156816"/>
            <a:ext cx="4400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3E635"/>
                </a:solidFill>
                <a:latin typeface="Calibri"/>
              </a:rPr>
              <a:t>Python -- assignment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441444"/>
            <a:ext cx="4970816" cy="331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code = "AL"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# name = value -- '=' stores the value under that name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count = 3143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ratio = 0.5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is_valid = True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fields = ["NAME", "STUSPS"]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info = {"code": "AL", "name": "Alabama"}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code = "AK"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# reassigning just overwrites the old value -- 'code'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# now points at "AK" instead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5760" y="2120240"/>
            <a:ext cx="586048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A3E635"/>
                </a:solidFill>
                <a:latin typeface="Calibri"/>
              </a:rPr>
              <a:t>EVERYDAY TYPES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5760" y="2500240"/>
            <a:ext cx="17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F1F5F9"/>
                </a:solidFill>
                <a:latin typeface="Calibri"/>
              </a:rPr>
              <a:t>STRING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760" y="2500240"/>
            <a:ext cx="41104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A3E635"/>
                </a:solidFill>
                <a:latin typeface="Courier New"/>
              </a:rPr>
              <a:t>"AL"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5760" y="2820240"/>
            <a:ext cx="586048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Text, always in quotes.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5760" y="3160240"/>
            <a:ext cx="17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F1F5F9"/>
                </a:solidFill>
                <a:latin typeface="Calibri"/>
              </a:rPr>
              <a:t>INTEGER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5760" y="3160240"/>
            <a:ext cx="41104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A3E635"/>
                </a:solidFill>
                <a:latin typeface="Courier New"/>
              </a:rPr>
              <a:t>3143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65760" y="3480240"/>
            <a:ext cx="586048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A whole number.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5760" y="3820240"/>
            <a:ext cx="17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F1F5F9"/>
                </a:solidFill>
                <a:latin typeface="Calibri"/>
              </a:rPr>
              <a:t>FLOAT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5760" y="3820240"/>
            <a:ext cx="41104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A3E635"/>
                </a:solidFill>
                <a:latin typeface="Courier New"/>
              </a:rPr>
              <a:t>0.5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65760" y="4140240"/>
            <a:ext cx="586048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A decimal number.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65760" y="4480240"/>
            <a:ext cx="17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F1F5F9"/>
                </a:solidFill>
                <a:latin typeface="Calibri"/>
              </a:rPr>
              <a:t>BOOLEAN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5760" y="4480240"/>
            <a:ext cx="41104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A3E635"/>
                </a:solidFill>
                <a:latin typeface="Courier New"/>
              </a:rPr>
              <a:t>True / False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65760" y="4800240"/>
            <a:ext cx="586048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A yes/no value.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65760" y="5140240"/>
            <a:ext cx="17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F1F5F9"/>
                </a:solidFill>
                <a:latin typeface="Calibri"/>
              </a:rPr>
              <a:t>LIST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15760" y="5140240"/>
            <a:ext cx="41104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A3E635"/>
                </a:solidFill>
                <a:latin typeface="Courier New"/>
              </a:rPr>
              <a:t>["NAME", "STUSPS"]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65760" y="5460240"/>
            <a:ext cx="586048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An ordered collection, in [ ].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65760" y="5800240"/>
            <a:ext cx="17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F1F5F9"/>
                </a:solidFill>
                <a:latin typeface="Calibri"/>
              </a:rPr>
              <a:t>DICT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15760" y="5800240"/>
            <a:ext cx="41104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A3E635"/>
                </a:solidFill>
                <a:latin typeface="Courier New"/>
              </a:rPr>
              <a:t>{"code": "AL"}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65760" y="6120240"/>
            <a:ext cx="586048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key: value pairs, in { }.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A3E635"/>
                </a:solidFill>
                <a:latin typeface="Calibri"/>
              </a:rPr>
              <a:t>HOW CODE IS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Expressions: How Values Get Built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Any bit of code that produces a value -- built from smaller pieces, nested inside each other.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070240"/>
            <a:ext cx="11460480" cy="2500000"/>
          </a:xfrm>
          <a:prstGeom prst="roundRect">
            <a:avLst>
              <a:gd name="adj" fmla="val 2000"/>
            </a:avLst>
          </a:prstGeom>
          <a:solidFill>
            <a:srgbClr val="05061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2070240"/>
            <a:ext cx="11460480" cy="256032"/>
          </a:xfrm>
          <a:prstGeom prst="roundRect">
            <a:avLst>
              <a:gd name="adj" fmla="val 2000"/>
            </a:avLst>
          </a:prstGeom>
          <a:solidFill>
            <a:srgbClr val="2F1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5488" y="214339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" y="214339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143392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106816"/>
            <a:ext cx="1056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97316"/>
                </a:solidFill>
                <a:latin typeface="Calibri"/>
              </a:rPr>
              <a:t>Python -- expressions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391444"/>
            <a:ext cx="11131296" cy="211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3 + 4 * 2            # multiplication runs before addition --&gt; 11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(3 + 4) * 2          # parentheses run first --&gt; 14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"AL" + "K"            # + joins text together --&gt; 'ALK'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code == "AL"          # comparison -- evaluates to True or False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arcpy.management.GetCount(layer)[0]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# read the innermost parentheses first: GetCount(layer) runs,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# THEN [0] grabs the first item out of whatever it returned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720240"/>
            <a:ext cx="2730120" cy="165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5760" y="4900240"/>
            <a:ext cx="237012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F97316"/>
                </a:solidFill>
                <a:latin typeface="Calibri"/>
              </a:rPr>
              <a:t>MATH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760" y="5240240"/>
            <a:ext cx="23701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1F5F9"/>
                </a:solidFill>
                <a:latin typeface="Courier New"/>
              </a:rPr>
              <a:t>+  -  *  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760" y="5670240"/>
            <a:ext cx="237012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add, subtract, multiply, divide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75880" y="4720240"/>
            <a:ext cx="2730120" cy="165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5880" y="4900240"/>
            <a:ext cx="237012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38BDF8"/>
                </a:solidFill>
                <a:latin typeface="Calibri"/>
              </a:rPr>
              <a:t>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5880" y="5240240"/>
            <a:ext cx="23701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1F5F9"/>
                </a:solidFill>
                <a:latin typeface="Courier New"/>
              </a:rP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5880" y="5670240"/>
            <a:ext cx="237012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join ("concatenate") strings together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6000" y="4720240"/>
            <a:ext cx="2730120" cy="165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6000" y="4900240"/>
            <a:ext cx="237012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EC4899"/>
                </a:solidFill>
                <a:latin typeface="Calibri"/>
              </a:rPr>
              <a:t>COMPARE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6000" y="5240240"/>
            <a:ext cx="23701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1F5F9"/>
                </a:solidFill>
                <a:latin typeface="Courier New"/>
              </a:rPr>
              <a:t>==  !=  &lt;  &gt;  &lt;=  &gt;=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6000" y="5670240"/>
            <a:ext cx="237012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equal, not equal, less/greater than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6120" y="4720240"/>
            <a:ext cx="2730120" cy="165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76120" y="4900240"/>
            <a:ext cx="237012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A3E635"/>
                </a:solidFill>
                <a:latin typeface="Calibri"/>
              </a:rPr>
              <a:t>COMBINE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76120" y="5240240"/>
            <a:ext cx="23701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1F5F9"/>
                </a:solidFill>
                <a:latin typeface="Courier New"/>
              </a:rPr>
              <a:t>and  or  not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76120" y="5670240"/>
            <a:ext cx="237012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chain multiple True/False conditions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A3E635"/>
                </a:solidFill>
                <a:latin typeface="Calibri"/>
              </a:rPr>
              <a:t>HOW CODE IS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Calling Functions: Commands That Already Exist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Most of what you'll type isn't new logic -- it's calling tools someone else already wrote.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070240"/>
            <a:ext cx="11460480" cy="3550000"/>
          </a:xfrm>
          <a:prstGeom prst="roundRect">
            <a:avLst>
              <a:gd name="adj" fmla="val 2000"/>
            </a:avLst>
          </a:prstGeom>
          <a:solidFill>
            <a:srgbClr val="050610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2070240"/>
            <a:ext cx="11460480" cy="256032"/>
          </a:xfrm>
          <a:prstGeom prst="roundRect">
            <a:avLst>
              <a:gd name="adj" fmla="val 2000"/>
            </a:avLst>
          </a:prstGeom>
          <a:solidFill>
            <a:srgbClr val="17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5488" y="214339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" y="214339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143392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106816"/>
            <a:ext cx="1056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38BDF8"/>
                </a:solidFill>
                <a:latin typeface="Calibri"/>
              </a:rPr>
              <a:t>Python -- function calls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391444"/>
            <a:ext cx="11131296" cy="31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print("Hello")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# name( argument )  -- the parentheses hand the function its input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arcpy.management.Dissolve(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    "tl_2023_us_county",     # 1st argument -- positional, by order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    "US_States",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    multi_part="MULTI_PART"  # keyword argument -- set by name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n = arcpy.management.GetCount(layer)[0]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# a function call is itself an expression -- it evaluates to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# whatever it returns, so you can grab [0] from it immediately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720240"/>
            <a:ext cx="11460480" cy="750000"/>
          </a:xfrm>
          <a:prstGeom prst="roundRect">
            <a:avLst>
              <a:gd name="adj" fmla="val 8000"/>
            </a:avLst>
          </a:prstGeom>
          <a:solidFill>
            <a:srgbClr val="050610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5760" y="5800240"/>
            <a:ext cx="11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F1F5F9"/>
                </a:solidFill>
                <a:latin typeface="Calibri"/>
              </a:rPr>
              <a:t>module.function()  runs a tool from a library, e.g. arcpy.management.Dissolve(...)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760" y="6120240"/>
            <a:ext cx="11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F1F5F9"/>
                </a:solidFill>
                <a:latin typeface="Calibri"/>
              </a:rPr>
              <a:t>object.property  reads a value off something you already have, e.g. desc.shapeType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A3E635"/>
                </a:solidFill>
                <a:latin typeface="Calibri"/>
              </a:rPr>
              <a:t>HOW CODE IS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The Logic of Code: Conditionals &amp; Loops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How code decides, and how it repeats -- and the one rule that governs both.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070240"/>
            <a:ext cx="5600000" cy="2650000"/>
          </a:xfrm>
          <a:prstGeom prst="roundRect">
            <a:avLst>
              <a:gd name="adj" fmla="val 2000"/>
            </a:avLst>
          </a:prstGeom>
          <a:solidFill>
            <a:srgbClr val="050610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2070240"/>
            <a:ext cx="5600000" cy="256032"/>
          </a:xfrm>
          <a:prstGeom prst="roundRect">
            <a:avLst>
              <a:gd name="adj" fmla="val 2000"/>
            </a:avLst>
          </a:prstGeom>
          <a:solidFill>
            <a:srgbClr val="2D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5488" y="214339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" y="214339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143392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106816"/>
            <a:ext cx="4700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EC4899"/>
                </a:solidFill>
                <a:latin typeface="Calibri"/>
              </a:rPr>
              <a:t>Python -- if / elif / else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391444"/>
            <a:ext cx="5270816" cy="22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if count &gt; 3000: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    print("large dataset")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elif count &gt; 100: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    print("medium dataset")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else: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    print("small dataset")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# only ONE branch runs -- whichever condition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# is True first, checked top to bottom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5760" y="2070240"/>
            <a:ext cx="5560480" cy="2650000"/>
          </a:xfrm>
          <a:prstGeom prst="roundRect">
            <a:avLst>
              <a:gd name="adj" fmla="val 2000"/>
            </a:avLst>
          </a:prstGeom>
          <a:solidFill>
            <a:srgbClr val="050610"/>
          </a:solidFill>
          <a:ln w="12700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5760" y="2070240"/>
            <a:ext cx="5560480" cy="256032"/>
          </a:xfrm>
          <a:prstGeom prst="roundRect">
            <a:avLst>
              <a:gd name="adj" fmla="val 2000"/>
            </a:avLst>
          </a:prstGeom>
          <a:solidFill>
            <a:srgbClr val="242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75488" y="214339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76656" y="214339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77824" y="2143392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15568" y="2106816"/>
            <a:ext cx="466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3E635"/>
                </a:solidFill>
                <a:latin typeface="Calibri"/>
              </a:rPr>
              <a:t>Python -- for / while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0352" y="2391444"/>
            <a:ext cx="5231296" cy="22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for code in codes: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    print(code)     # once per item in codes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n = 0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while n &lt; 5: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    n = n + 1       # repeats until False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# 'for' -- a known, finite list of items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# 'while' -- keep going until a condition flips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870240"/>
            <a:ext cx="11460480" cy="1550000"/>
          </a:xfrm>
          <a:prstGeom prst="roundRect">
            <a:avLst>
              <a:gd name="adj" fmla="val 6000"/>
            </a:avLst>
          </a:prstGeom>
          <a:solidFill>
            <a:srgbClr val="05061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760" y="4970240"/>
            <a:ext cx="11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Calibri"/>
              </a:rPr>
              <a:t>THE ONE RULE: INDENTATION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760" y="5340240"/>
            <a:ext cx="11000000" cy="1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F1F5F9"/>
                </a:solidFill>
                <a:latin typeface="Calibri"/>
              </a:rPr>
              <a:t>Python doesn't use { } to mark a block like many other languages -- it uses indentation instead. Whatever is indented under a line ending in ':' belongs to that if, for, while, or with. Same indent level = same block; dedent = you've left it. This is exactly why every arcpy example you'll see from here on uses consistent 4-space indents.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00560" y="0"/>
            <a:ext cx="91440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182880" y="-54864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0" b="1" i="0">
                <a:solidFill>
                  <a:srgbClr val="131629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94A3B8"/>
                </a:solidFill>
                <a:latin typeface="Calibri"/>
              </a:rPr>
              <a:t>PART 3  /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9601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200" b="1" i="0">
                <a:solidFill>
                  <a:srgbClr val="FFFFFF"/>
                </a:solidFill>
                <a:latin typeface="Calibri"/>
              </a:rPr>
              <a:t>Your First Lines</a:t>
            </a:r>
          </a:p>
          <a:p>
            <a:r>
              <a:rPr sz="5200" b="1" i="0">
                <a:solidFill>
                  <a:srgbClr val="FFFFFF"/>
                </a:solidFill>
                <a:latin typeface="Calibri"/>
              </a:rPr>
              <a:t>of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749039"/>
            <a:ext cx="2926080" cy="640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913632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1">
                <a:solidFill>
                  <a:srgbClr val="94A3B8"/>
                </a:solidFill>
                <a:latin typeface="Calibri"/>
              </a:rPr>
              <a:t>Four arcpy calls, one dissolve, one export loop -- everything you need for the lab ahead.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38BDF8"/>
                </a:solidFill>
                <a:latin typeface="Calibri"/>
              </a:rPr>
              <a:t>YOUR FIRST LINES OF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Where Python Lives in ArcGIS Pro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No installs, no setup. Click Analysis &gt; Python, and the window below opens right inside your project.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070240"/>
            <a:ext cx="11460480" cy="4350000"/>
          </a:xfrm>
          <a:prstGeom prst="roundRect">
            <a:avLst>
              <a:gd name="adj" fmla="val 2000"/>
            </a:avLst>
          </a:prstGeom>
          <a:solidFill>
            <a:srgbClr val="131629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2070240"/>
            <a:ext cx="11460480" cy="460000"/>
          </a:xfrm>
          <a:prstGeom prst="roundRect">
            <a:avLst>
              <a:gd name="adj" fmla="val 2000"/>
            </a:avLst>
          </a:prstGeom>
          <a:solidFill>
            <a:srgbClr val="050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60" y="211524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94A3B8"/>
                </a:solidFill>
                <a:latin typeface="Calibri"/>
              </a:rPr>
              <a:t>Map      Insert      Analysis      View      Share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0760" y="2305240"/>
            <a:ext cx="1350000" cy="190000"/>
          </a:xfrm>
          <a:prstGeom prst="roundRect">
            <a:avLst>
              <a:gd name="adj" fmla="val 50000"/>
            </a:avLst>
          </a:prstGeom>
          <a:solidFill>
            <a:srgbClr val="05061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0760" y="2337240"/>
            <a:ext cx="13500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97316"/>
                </a:solidFill>
                <a:latin typeface="Calibri"/>
              </a:rPr>
              <a:t>▶ Python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610240"/>
            <a:ext cx="2200000" cy="1750000"/>
          </a:xfrm>
          <a:prstGeom prst="roundRect">
            <a:avLst>
              <a:gd name="adj" fmla="val 3000"/>
            </a:avLst>
          </a:prstGeom>
          <a:solidFill>
            <a:srgbClr val="131629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5760" y="2740240"/>
            <a:ext cx="19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94A3B8"/>
                </a:solidFill>
                <a:latin typeface="Calibri"/>
              </a:rPr>
              <a:t>CATALOG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60" y="3130240"/>
            <a:ext cx="19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94A3B8"/>
                </a:solidFill>
                <a:latin typeface="Calibri"/>
              </a:rPr>
              <a:t>Databases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60" y="3470240"/>
            <a:ext cx="19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94A3B8"/>
                </a:solidFill>
                <a:latin typeface="Calibri"/>
              </a:rPr>
              <a:t>Folders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60" y="3810240"/>
            <a:ext cx="19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94A3B8"/>
                </a:solidFill>
                <a:latin typeface="Calibri"/>
              </a:rPr>
              <a:t>Maps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25760" y="2610240"/>
            <a:ext cx="9100480" cy="1750000"/>
          </a:xfrm>
          <a:prstGeom prst="roundRect">
            <a:avLst>
              <a:gd name="adj" fmla="val 3000"/>
            </a:avLst>
          </a:prstGeom>
          <a:solidFill>
            <a:srgbClr val="131629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75760" y="274024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94A3B8"/>
                </a:solidFill>
                <a:latin typeface="Calibri"/>
              </a:rPr>
              <a:t>MAP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25760" y="3260240"/>
            <a:ext cx="264890" cy="179544"/>
          </a:xfrm>
          <a:prstGeom prst="rect">
            <a:avLst/>
          </a:prstGeom>
          <a:noFill/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25760" y="3260240"/>
            <a:ext cx="283500" cy="310638"/>
          </a:xfrm>
          <a:prstGeom prst="rect">
            <a:avLst/>
          </a:prstGeom>
          <a:noFill/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25760" y="3260240"/>
            <a:ext cx="192657" cy="158988"/>
          </a:xfrm>
          <a:prstGeom prst="rect">
            <a:avLst/>
          </a:prstGeom>
          <a:noFill/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25760" y="3260240"/>
            <a:ext cx="395292" cy="280478"/>
          </a:xfrm>
          <a:prstGeom prst="rect">
            <a:avLst/>
          </a:prstGeom>
          <a:noFill/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625760" y="3260240"/>
            <a:ext cx="204675" cy="235863"/>
          </a:xfrm>
          <a:prstGeom prst="rect">
            <a:avLst/>
          </a:prstGeom>
          <a:noFill/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25760" y="3960240"/>
            <a:ext cx="332774" cy="155204"/>
          </a:xfrm>
          <a:prstGeom prst="rect">
            <a:avLst/>
          </a:prstGeom>
          <a:noFill/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25760" y="3960240"/>
            <a:ext cx="418473" cy="273021"/>
          </a:xfrm>
          <a:prstGeom prst="rect">
            <a:avLst/>
          </a:prstGeom>
          <a:noFill/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25760" y="3960240"/>
            <a:ext cx="236281" cy="149829"/>
          </a:xfrm>
          <a:prstGeom prst="rect">
            <a:avLst/>
          </a:prstGeom>
          <a:noFill/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25760" y="3960240"/>
            <a:ext cx="202530" cy="253677"/>
          </a:xfrm>
          <a:prstGeom prst="rect">
            <a:avLst/>
          </a:prstGeom>
          <a:noFill/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625760" y="3960240"/>
            <a:ext cx="289621" cy="158312"/>
          </a:xfrm>
          <a:prstGeom prst="rect">
            <a:avLst/>
          </a:prstGeom>
          <a:noFill/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5760" y="4480240"/>
            <a:ext cx="11460480" cy="1880000"/>
          </a:xfrm>
          <a:prstGeom prst="roundRect">
            <a:avLst>
              <a:gd name="adj" fmla="val 2000"/>
            </a:avLst>
          </a:prstGeom>
          <a:solidFill>
            <a:srgbClr val="05061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65760" y="4480240"/>
            <a:ext cx="11460480" cy="256032"/>
          </a:xfrm>
          <a:prstGeom prst="roundRect">
            <a:avLst>
              <a:gd name="adj" fmla="val 2000"/>
            </a:avLst>
          </a:prstGeom>
          <a:solidFill>
            <a:srgbClr val="2F1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5488" y="455339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76656" y="455339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77824" y="4553392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15568" y="4516816"/>
            <a:ext cx="1056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97316"/>
                </a:solidFill>
                <a:latin typeface="Calibri"/>
              </a:rPr>
              <a:t>Python Window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4801444"/>
            <a:ext cx="11131296" cy="149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# type after the '&gt;&gt;&gt;' prompt, press Enter, and it runs immediately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&gt;&gt;&gt; arcpy.env.workspace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'C:/GIS/ArcPy_Lab'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# print() is a function -- it displays whatever's inside ( ) on screen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&gt;&gt;&gt; print("Hello, ArcGIS!")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Hello, ArcGIS!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38BDF8"/>
                </a:solidFill>
                <a:latin typeface="Calibri"/>
              </a:rPr>
              <a:t>YOUR FIRST LINES OF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Vector Data, the ArcPy 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Points, lines, polygons -- but to arcpy, a layer is just a name and a table of rows.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070240"/>
            <a:ext cx="3703320" cy="150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5760" y="2220240"/>
            <a:ext cx="330332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97316"/>
                </a:solidFill>
                <a:latin typeface="Calibri"/>
              </a:rPr>
              <a:t>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760" y="2580240"/>
            <a:ext cx="330332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 i="0">
                <a:solidFill>
                  <a:srgbClr val="F1F5F9"/>
                </a:solidFill>
                <a:latin typeface="Calibri"/>
              </a:rPr>
              <a:t>A single x, y location.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5760" y="3040240"/>
            <a:ext cx="330332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 i="1">
                <a:solidFill>
                  <a:srgbClr val="94A3B8"/>
                </a:solidFill>
                <a:latin typeface="Calibri"/>
              </a:rPr>
              <a:t>Cell towers, sample sites, addresses.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9080" y="2070240"/>
            <a:ext cx="3703320" cy="150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9080" y="2220240"/>
            <a:ext cx="330332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38BDF8"/>
                </a:solidFill>
                <a:latin typeface="Calibri"/>
              </a:rPr>
              <a:t>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9080" y="2580240"/>
            <a:ext cx="330332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 i="0">
                <a:solidFill>
                  <a:srgbClr val="F1F5F9"/>
                </a:solidFill>
                <a:latin typeface="Calibri"/>
              </a:rPr>
              <a:t>A connected path of vertices.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9080" y="3040240"/>
            <a:ext cx="330332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 i="1">
                <a:solidFill>
                  <a:srgbClr val="94A3B8"/>
                </a:solidFill>
                <a:latin typeface="Calibri"/>
              </a:rPr>
              <a:t>Roads, rivers, pipelines.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2400" y="2070240"/>
            <a:ext cx="3703320" cy="150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2400" y="2220240"/>
            <a:ext cx="330332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EC4899"/>
                </a:solidFill>
                <a:latin typeface="Calibri"/>
              </a:rPr>
              <a:t>POLYGON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2400" y="2580240"/>
            <a:ext cx="330332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 i="0">
                <a:solidFill>
                  <a:srgbClr val="F1F5F9"/>
                </a:solidFill>
                <a:latin typeface="Calibri"/>
              </a:rPr>
              <a:t>A closed area with a boundary.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2400" y="3040240"/>
            <a:ext cx="330332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 i="1">
                <a:solidFill>
                  <a:srgbClr val="94A3B8"/>
                </a:solidFill>
                <a:latin typeface="Calibri"/>
              </a:rPr>
              <a:t>Counties, parcels, lakes.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670240"/>
            <a:ext cx="11460480" cy="700000"/>
          </a:xfrm>
          <a:prstGeom prst="roundRect">
            <a:avLst>
              <a:gd name="adj" fmla="val 8000"/>
            </a:avLst>
          </a:prstGeom>
          <a:solidFill>
            <a:srgbClr val="050610"/>
          </a:solidFill>
          <a:ln w="12700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5760" y="3740240"/>
            <a:ext cx="11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1">
                <a:solidFill>
                  <a:srgbClr val="94A3B8"/>
                </a:solidFill>
                <a:latin typeface="Calibri"/>
              </a:rPr>
              <a:t>Every feature class = a geometry column + an attribute table -- that's what every arcpy tool reads and writes.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760" y="4050240"/>
            <a:ext cx="11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A3E635"/>
                </a:solidFill>
                <a:latin typeface="Courier New"/>
              </a:rPr>
              <a:t>Get the data first, before the code below:  www2.census.gov/geo/tiger/TIGER2023/COUNTY/tl_2023_us_county.zip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470240"/>
            <a:ext cx="11460480" cy="2250000"/>
          </a:xfrm>
          <a:prstGeom prst="roundRect">
            <a:avLst>
              <a:gd name="adj" fmla="val 2000"/>
            </a:avLst>
          </a:prstGeom>
          <a:solidFill>
            <a:srgbClr val="050610"/>
          </a:solidFill>
          <a:ln w="12700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65760" y="4470240"/>
            <a:ext cx="11460480" cy="256032"/>
          </a:xfrm>
          <a:prstGeom prst="roundRect">
            <a:avLst>
              <a:gd name="adj" fmla="val 2000"/>
            </a:avLst>
          </a:prstGeom>
          <a:solidFill>
            <a:srgbClr val="242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75488" y="454339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6656" y="454339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543392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5568" y="4506816"/>
            <a:ext cx="1056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3E635"/>
                </a:solidFill>
                <a:latin typeface="Calibri"/>
              </a:rPr>
              <a:t>Python Window -- arcpy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4791444"/>
            <a:ext cx="11131296" cy="18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# 'layer' is a variable -- a name for this piece of data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layer = "tl_2023_us_county"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# Option A -- already added to your map (Catalog &gt;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# drag onto Map)? arcpy finds it by name alone.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# Option B -- point straight at the file instead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# (edit this path to match where YOU saved it):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layer = r"C:\GIS\GeoProg\tl_2023_us_county.shp"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38BDF8"/>
                </a:solidFill>
                <a:latin typeface="Calibri"/>
              </a:rPr>
              <a:t>YOUR FIRST LINES OF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Asking Questions About Your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Four core arcpy calls tell you everything about a layer -- no clicking required.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070240"/>
            <a:ext cx="6583680" cy="4150000"/>
          </a:xfrm>
          <a:prstGeom prst="roundRect">
            <a:avLst>
              <a:gd name="adj" fmla="val 2000"/>
            </a:avLst>
          </a:prstGeom>
          <a:solidFill>
            <a:srgbClr val="05061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2070240"/>
            <a:ext cx="6583680" cy="256032"/>
          </a:xfrm>
          <a:prstGeom prst="roundRect">
            <a:avLst>
              <a:gd name="adj" fmla="val 2000"/>
            </a:avLst>
          </a:prstGeom>
          <a:solidFill>
            <a:srgbClr val="2F1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5488" y="214339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" y="214339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143392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106816"/>
            <a:ext cx="56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97316"/>
                </a:solidFill>
                <a:latin typeface="Calibri"/>
              </a:rPr>
              <a:t>Python Window -- arcpy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391444"/>
            <a:ext cx="6254496" cy="37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import arcpy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# import loads arcpy's tools into this session -- do this once, first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layer = "tl_2023_us_county"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# a variable: a name that points at this piece of data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desc = arcpy.Describe(layer)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# the dot (.) after desc reads one property out of that bundle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print("Shape type :", desc.shapeType)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print("Spatial ref:", desc.spatialReference.name)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n = arcpy.management.GetCount(layer)[0]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# [0] grabs the first result out of the list GetCount() returns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print("Feature count:", n)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for f in arcpy.ListFields(layer):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    print(f.name, f.type)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# 'for' repeats the indented line once per field in the layer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2070240"/>
            <a:ext cx="4690872" cy="125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3488" y="2271408"/>
            <a:ext cx="42885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F97316"/>
                </a:solidFill>
                <a:latin typeface="Calibri"/>
              </a:rPr>
              <a:t>arcpy.Describe()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2682888"/>
            <a:ext cx="4288536" cy="82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0" i="0">
                <a:solidFill>
                  <a:srgbClr val="F1F5F9"/>
                </a:solidFill>
                <a:latin typeface="Calibri"/>
              </a:rPr>
              <a:t>Reads a layer's geometry type and coordinate system -- like right-clicking Properties, in one 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3639688"/>
            <a:ext cx="42885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A3E635"/>
                </a:solidFill>
                <a:latin typeface="Courier New"/>
              </a:rPr>
              <a:t>desc.shapeType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3470240"/>
            <a:ext cx="4690872" cy="125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33488" y="3671408"/>
            <a:ext cx="42885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38BDF8"/>
                </a:solidFill>
                <a:latin typeface="Calibri"/>
              </a:rPr>
              <a:t>GetCount() / ListFields()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4082888"/>
            <a:ext cx="4288536" cy="62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0" i="0">
                <a:solidFill>
                  <a:srgbClr val="F1F5F9"/>
                </a:solidFill>
                <a:latin typeface="Calibri"/>
              </a:rPr>
              <a:t>Feature count and field schema -- the size and structure of your attribute table.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3488" y="4832988"/>
            <a:ext cx="42885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A3E635"/>
                </a:solidFill>
                <a:latin typeface="Courier New"/>
              </a:rPr>
              <a:t>arcpy.ListFields(layer)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4870240"/>
            <a:ext cx="4690872" cy="135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5071408"/>
            <a:ext cx="42885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EC4899"/>
                </a:solidFill>
                <a:latin typeface="Calibri"/>
              </a:rPr>
              <a:t>Why this matters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33488" y="5482888"/>
            <a:ext cx="4288536" cy="82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0" i="0">
                <a:solidFill>
                  <a:srgbClr val="F1F5F9"/>
                </a:solidFill>
                <a:latin typeface="Calibri"/>
              </a:rPr>
              <a:t>Before you change anything, ask what you're working with. These four calls cost nothing and prevent mistakes.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38BDF8"/>
                </a:solidFill>
                <a:latin typeface="Calibri"/>
              </a:rPr>
              <a:t>YOUR FIRST LINES OF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Reading Values, Not Just 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Describe tells you the shape of your data. A SearchCursor lets you actually read it, row by row.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070240"/>
            <a:ext cx="6583680" cy="2350000"/>
          </a:xfrm>
          <a:prstGeom prst="roundRect">
            <a:avLst>
              <a:gd name="adj" fmla="val 2000"/>
            </a:avLst>
          </a:prstGeom>
          <a:solidFill>
            <a:srgbClr val="050610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2070240"/>
            <a:ext cx="6583680" cy="256032"/>
          </a:xfrm>
          <a:prstGeom prst="roundRect">
            <a:avLst>
              <a:gd name="adj" fmla="val 2000"/>
            </a:avLst>
          </a:prstGeom>
          <a:solidFill>
            <a:srgbClr val="17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5488" y="214339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" y="214339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143392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106816"/>
            <a:ext cx="56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38BDF8"/>
                </a:solidFill>
                <a:latin typeface="Calibri"/>
              </a:rPr>
              <a:t>Python Window -- arcpy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391444"/>
            <a:ext cx="6254496" cy="19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fields = ["NAME", "STUSPS"]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# [ ] makes a list -- an ordered set of field names to read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with arcpy.da.SearchCursor(layer, fields) as cur: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    # 'with ... as cur' opens the cursor, auto-closes it when done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    for row in cur: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        # each row = one feature's values, same order as fields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        print(row[0], "--", row[1])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        # row[0] is the 1st field listed (NAME), row[1] the 2nd</a:t>
            </a:r>
          </a:p>
          <a:p>
            <a:pPr>
              <a:lnSpc>
                <a:spcPct val="112000"/>
              </a:lnSpc>
            </a:pPr>
            <a:r>
              <a:rPr sz="1050" b="0" i="0">
                <a:solidFill>
                  <a:srgbClr val="A3E635"/>
                </a:solidFill>
                <a:latin typeface="Courier New"/>
              </a:rPr>
              <a:t># Autauga County -- AL, Baldwin County -- AL, 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570240"/>
            <a:ext cx="6583680" cy="160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771408"/>
            <a:ext cx="61813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38BDF8"/>
                </a:solidFill>
                <a:latin typeface="Calibri"/>
              </a:rPr>
              <a:t>arcpy.da.SearchCursor()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182888"/>
            <a:ext cx="6181344" cy="10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0" i="0">
                <a:solidFill>
                  <a:srgbClr val="F1F5F9"/>
                </a:solidFill>
                <a:latin typeface="Calibri"/>
              </a:rPr>
              <a:t>Loops through every row of the attribute table, returning the exact field values you asked for -- in the order you listed them. The 'with' block opens the cursor and closes it for you automatically.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46388"/>
            <a:ext cx="61813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A3E635"/>
                </a:solidFill>
                <a:latin typeface="Courier New"/>
              </a:rPr>
              <a:t>row[0], row[1], row[2] ...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2070240"/>
            <a:ext cx="4690872" cy="4100000"/>
          </a:xfrm>
          <a:prstGeom prst="roundRect">
            <a:avLst>
              <a:gd name="adj" fmla="val 3000"/>
            </a:avLst>
          </a:prstGeom>
          <a:solidFill>
            <a:srgbClr val="050610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32320" y="2270240"/>
            <a:ext cx="4290872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EC4899"/>
                </a:solidFill>
                <a:latin typeface="Calibri"/>
              </a:rPr>
              <a:t>MOST STUDENTS TRIP 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2320" y="2640240"/>
            <a:ext cx="4290872" cy="3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 b="0" i="0">
                <a:solidFill>
                  <a:srgbClr val="F1F5F9"/>
                </a:solidFill>
                <a:latin typeface="Calibri"/>
              </a:rPr>
              <a:t>Describe and ListFields only tell you the schema -- the field names and types.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F1F5F9"/>
                </a:solidFill>
                <a:latin typeface="Calibri"/>
              </a:rPr>
              <a:t/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F1F5F9"/>
                </a:solidFill>
                <a:latin typeface="Calibri"/>
              </a:rPr>
              <a:t>A SearchCursor is what actually opens the table and hands you the real values, one row at a time.</a:t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F1F5F9"/>
                </a:solidFill>
                <a:latin typeface="Calibri"/>
              </a:rPr>
              <a:t/>
            </a:r>
          </a:p>
          <a:p>
            <a:pPr>
              <a:lnSpc>
                <a:spcPct val="125000"/>
              </a:lnSpc>
            </a:pPr>
            <a:r>
              <a:rPr sz="1250" b="0" i="0">
                <a:solidFill>
                  <a:srgbClr val="F1F5F9"/>
                </a:solidFill>
                <a:latin typeface="Calibri"/>
              </a:rPr>
              <a:t>If your lab code "runs but prints nothing useful," check whether you're describing the data or reading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38BDF8"/>
                </a:solidFill>
                <a:latin typeface="Calibri"/>
              </a:rPr>
              <a:t>YOUR FIRST LINES OF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Coordinate Systems, Briefly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One arcpy property tells you whether your data is measured in degrees or in meters -- and that changes everything.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070240"/>
            <a:ext cx="11460480" cy="1250000"/>
          </a:xfrm>
          <a:prstGeom prst="roundRect">
            <a:avLst>
              <a:gd name="adj" fmla="val 2000"/>
            </a:avLst>
          </a:prstGeom>
          <a:solidFill>
            <a:srgbClr val="050610"/>
          </a:solidFill>
          <a:ln w="12700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2070240"/>
            <a:ext cx="11460480" cy="256032"/>
          </a:xfrm>
          <a:prstGeom prst="roundRect">
            <a:avLst>
              <a:gd name="adj" fmla="val 2000"/>
            </a:avLst>
          </a:prstGeom>
          <a:solidFill>
            <a:srgbClr val="242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5488" y="214339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" y="214339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143392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106816"/>
            <a:ext cx="1056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3E635"/>
                </a:solidFill>
                <a:latin typeface="Calibri"/>
              </a:rPr>
              <a:t>Python Window -- arcpy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391444"/>
            <a:ext cx="11131296" cy="8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 i="0">
                <a:solidFill>
                  <a:srgbClr val="A3E635"/>
                </a:solidFill>
                <a:latin typeface="Courier New"/>
              </a:rPr>
              <a:t>&gt;&gt;&gt; arcpy.Describe(layer).spatialReference.name</a:t>
            </a:r>
          </a:p>
          <a:p>
            <a:pPr>
              <a:lnSpc>
                <a:spcPct val="112000"/>
              </a:lnSpc>
            </a:pPr>
            <a:r>
              <a:rPr sz="1200" b="0" i="0">
                <a:solidFill>
                  <a:srgbClr val="A3E635"/>
                </a:solidFill>
                <a:latin typeface="Courier New"/>
              </a:rPr>
              <a:t># each dot (.) drills one level deeper into Describe()'s info bundle</a:t>
            </a:r>
          </a:p>
          <a:p>
            <a:pPr>
              <a:lnSpc>
                <a:spcPct val="112000"/>
              </a:lnSpc>
            </a:pPr>
            <a:r>
              <a:rPr sz="1200" b="0" i="0">
                <a:solidFill>
                  <a:srgbClr val="A3E635"/>
                </a:solidFill>
                <a:latin typeface="Courier New"/>
              </a:rPr>
              <a:t>'GCS_North_American_1983'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470240"/>
            <a:ext cx="5650000" cy="2350000"/>
          </a:xfrm>
          <a:prstGeom prst="roundRect">
            <a:avLst>
              <a:gd name="adj" fmla="val 4000"/>
            </a:avLst>
          </a:prstGeom>
          <a:solidFill>
            <a:srgbClr val="131629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5760" y="3670240"/>
            <a:ext cx="52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Calibri"/>
              </a:rPr>
              <a:t>GEOGRAPHIC (GCS)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5760" y="4040240"/>
            <a:ext cx="5250000" cy="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Measured in degrees of latitude / longitude.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Great for storing and mapping data anywhere on Earth -- but degrees aren't a good unit for measuring area or distance.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5760" y="3470240"/>
            <a:ext cx="5650000" cy="2350000"/>
          </a:xfrm>
          <a:prstGeom prst="roundRect">
            <a:avLst>
              <a:gd name="adj" fmla="val 4000"/>
            </a:avLst>
          </a:prstGeom>
          <a:solidFill>
            <a:srgbClr val="131629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5760" y="3670240"/>
            <a:ext cx="52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38BDF8"/>
                </a:solidFill>
                <a:latin typeface="Calibri"/>
              </a:rPr>
              <a:t>PROJECTED (PCS)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5760" y="4040240"/>
            <a:ext cx="5250000" cy="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Measured in meters or feet, flattened onto a 2D plane.</a:t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What you need before calculating real areas, lengths, or distances -- or before dissolving features accurately.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38BDF8"/>
                </a:solidFill>
                <a:latin typeface="Calibri"/>
              </a:rPr>
              <a:t>YOUR FIRST LINES OF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From Menu Click to One 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The Dissolve tool you've already clicked in Geoprocessing -- now as a single line of arcpy.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120240"/>
            <a:ext cx="5300000" cy="3700000"/>
          </a:xfrm>
          <a:prstGeom prst="roundRect">
            <a:avLst>
              <a:gd name="adj" fmla="val 3000"/>
            </a:avLst>
          </a:prstGeom>
          <a:solidFill>
            <a:srgbClr val="131629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5760" y="2300240"/>
            <a:ext cx="49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94A3B8"/>
                </a:solidFill>
                <a:latin typeface="Calibri"/>
              </a:rPr>
              <a:t>GEOPROCESSING PANE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760" y="2740240"/>
            <a:ext cx="35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94A3B8"/>
                </a:solidFill>
                <a:latin typeface="Calibri"/>
              </a:rPr>
              <a:t>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760" y="2740240"/>
            <a:ext cx="454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1F5F9"/>
                </a:solidFill>
                <a:latin typeface="Calibri"/>
              </a:rPr>
              <a:t>Open the Dissolve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760" y="3220240"/>
            <a:ext cx="35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94A3B8"/>
                </a:solidFill>
                <a:latin typeface="Calibri"/>
              </a:rP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760" y="3220240"/>
            <a:ext cx="454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1F5F9"/>
                </a:solidFill>
                <a:latin typeface="Calibri"/>
              </a:rPr>
              <a:t>Set Input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760" y="3700240"/>
            <a:ext cx="35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94A3B8"/>
                </a:solidFill>
                <a:latin typeface="Calibri"/>
              </a:rPr>
              <a:t>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760" y="3700240"/>
            <a:ext cx="454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1F5F9"/>
                </a:solidFill>
                <a:latin typeface="Calibri"/>
              </a:rPr>
              <a:t>Set Dissolve Field(s)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5760" y="4180240"/>
            <a:ext cx="35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94A3B8"/>
                </a:solidFill>
                <a:latin typeface="Calibri"/>
              </a:rPr>
              <a:t>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760" y="4180240"/>
            <a:ext cx="454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1F5F9"/>
                </a:solidFill>
                <a:latin typeface="Calibri"/>
              </a:rPr>
              <a:t>Set Output Feature Class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5760" y="4660240"/>
            <a:ext cx="35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94A3B8"/>
                </a:solidFill>
                <a:latin typeface="Calibri"/>
              </a:rPr>
              <a:t>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760" y="4660240"/>
            <a:ext cx="454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1F5F9"/>
                </a:solidFill>
                <a:latin typeface="Calibri"/>
              </a:rPr>
              <a:t>Check "Multi-part features"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5760" y="5140240"/>
            <a:ext cx="35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94A3B8"/>
                </a:solidFill>
                <a:latin typeface="Calibri"/>
              </a:rPr>
              <a:t>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760" y="5140240"/>
            <a:ext cx="454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1F5F9"/>
                </a:solidFill>
                <a:latin typeface="Calibri"/>
              </a:rPr>
              <a:t>Click Run -- wait for the tool to finish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65760" y="2120240"/>
            <a:ext cx="5860480" cy="3700000"/>
          </a:xfrm>
          <a:prstGeom prst="roundRect">
            <a:avLst>
              <a:gd name="adj" fmla="val 2000"/>
            </a:avLst>
          </a:prstGeom>
          <a:solidFill>
            <a:srgbClr val="05061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65760" y="2120240"/>
            <a:ext cx="5860480" cy="256032"/>
          </a:xfrm>
          <a:prstGeom prst="roundRect">
            <a:avLst>
              <a:gd name="adj" fmla="val 2000"/>
            </a:avLst>
          </a:prstGeom>
          <a:solidFill>
            <a:srgbClr val="2F16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75488" y="219339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76656" y="219339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77824" y="2193392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15568" y="2156816"/>
            <a:ext cx="496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97316"/>
                </a:solidFill>
                <a:latin typeface="Calibri"/>
              </a:rPr>
              <a:t>Python Window -- arcpy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30352" y="2441444"/>
            <a:ext cx="5531296" cy="331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arcpy.management.Dissolve(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    "tl_2023_us_county",  # 1: input layer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    "US_States",          # 2: name for the output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    ["STUSPS"],           # 3: field(s) to dissolve on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    multi_part="MULTI_PART"  # named argument, set by name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# a function call: its name, then settings inside ( ), one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# per comma -- exactly what you'd fill into the GUI dialog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# 3,143 counties --&gt; 51 states, one line, one Run.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970240"/>
            <a:ext cx="110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1">
                <a:solidFill>
                  <a:srgbClr val="94A3B8"/>
                </a:solidFill>
                <a:latin typeface="Calibri"/>
              </a:rPr>
              <a:t>Same tool. Same parameters. Same result -- just typed once instead of clicked five times.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00560" y="0"/>
            <a:ext cx="91440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182880" y="-54864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0" b="1" i="0">
                <a:solidFill>
                  <a:srgbClr val="131629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94A3B8"/>
                </a:solidFill>
                <a:latin typeface="Calibri"/>
              </a:rPr>
              <a:t>PART 4  /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9601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200" b="1" i="0">
                <a:solidFill>
                  <a:srgbClr val="FFFFFF"/>
                </a:solidFill>
                <a:latin typeface="Calibri"/>
              </a:rPr>
              <a:t>What Else Is</a:t>
            </a:r>
          </a:p>
          <a:p>
            <a:r>
              <a:rPr sz="5200" b="1" i="0">
                <a:solidFill>
                  <a:srgbClr val="FFFFFF"/>
                </a:solidFill>
                <a:latin typeface="Calibri"/>
              </a:rPr>
              <a:t>Out There?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749039"/>
            <a:ext cx="2926080" cy="6400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913632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1">
                <a:solidFill>
                  <a:srgbClr val="94A3B8"/>
                </a:solidFill>
                <a:latin typeface="Calibri"/>
              </a:rPr>
              <a:t>A quick look at the wider geospatial-Python world -- beyond what this course covers.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23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EC4899"/>
                </a:solidFill>
                <a:latin typeface="Calibri"/>
              </a:rPr>
              <a:t>WHAT ELSE IS OUT THERE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Beyond ArcGIS Pro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The Python window is where you start. Here's the bigger world waiting once you're ready.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070240"/>
            <a:ext cx="5650000" cy="172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5760" y="2260240"/>
            <a:ext cx="52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F97316"/>
                </a:solidFill>
                <a:latin typeface="Calibri"/>
              </a:rPr>
              <a:t>STANDALONE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760" y="2630240"/>
            <a:ext cx="5250000" cy="10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Run Python scripts outside ArcGIS Pro entirely -- scheduled jobs, batch pipelines, no GUI required.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5760" y="2070240"/>
            <a:ext cx="5650000" cy="172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5760" y="2260240"/>
            <a:ext cx="52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A3E635"/>
                </a:solidFill>
                <a:latin typeface="Calibri"/>
              </a:rPr>
              <a:t>THE OPEN-SOURCE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5760" y="2630240"/>
            <a:ext cx="5250000" cy="10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GeoPandas, Shapely, Rasterio, PyProj -- analyze spatial data without ArcGIS Pro at 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950240"/>
            <a:ext cx="5650000" cy="172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5760" y="4140240"/>
            <a:ext cx="52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38BDF8"/>
                </a:solidFill>
                <a:latin typeface="Calibri"/>
              </a:rPr>
              <a:t>WEB &amp; INTERACTIVE MAPS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5760" y="4510240"/>
            <a:ext cx="5250000" cy="10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Folium, Leaflet.js, Mapbox GL -- turn your analysis into a map anyone can click and explore.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5760" y="3950240"/>
            <a:ext cx="5650000" cy="172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5760" y="4140240"/>
            <a:ext cx="52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EC4899"/>
                </a:solidFill>
                <a:latin typeface="Calibri"/>
              </a:rPr>
              <a:t>MACHINE LEARNING ON MAPS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5760" y="4510240"/>
            <a:ext cx="5250000" cy="10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Classify satellite imagery, predict land use, cluster locations with scikit-learn.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720240"/>
            <a:ext cx="11460480" cy="700000"/>
          </a:xfrm>
          <a:prstGeom prst="roundRect">
            <a:avLst>
              <a:gd name="adj" fmla="val 10000"/>
            </a:avLst>
          </a:prstGeom>
          <a:solidFill>
            <a:srgbClr val="050610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5760" y="5890240"/>
            <a:ext cx="85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1F5F9"/>
                </a:solidFill>
                <a:latin typeface="Calibri"/>
              </a:rPr>
              <a:t>None of this is required for the lab ahead -- arcpy alone gets the job done.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5760" y="5890240"/>
            <a:ext cx="265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1">
                <a:solidFill>
                  <a:srgbClr val="94A3B8"/>
                </a:solidFill>
                <a:latin typeface="Calibri"/>
              </a:rPr>
              <a:t>optional →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00560" y="0"/>
            <a:ext cx="91440" cy="685800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182880" y="-54864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0" b="1" i="0">
                <a:solidFill>
                  <a:srgbClr val="131629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94A3B8"/>
                </a:solidFill>
                <a:latin typeface="Calibri"/>
              </a:rPr>
              <a:t>PART 5  /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9601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200" b="1" i="0">
                <a:solidFill>
                  <a:srgbClr val="FFFFFF"/>
                </a:solidFill>
                <a:latin typeface="Calibri"/>
              </a:rPr>
              <a:t>Practice Run:</a:t>
            </a:r>
          </a:p>
          <a:p>
            <a:r>
              <a:rPr sz="5200" b="1" i="0">
                <a:solidFill>
                  <a:srgbClr val="FFFFFF"/>
                </a:solidFill>
                <a:latin typeface="Calibri"/>
              </a:rPr>
              <a:t>Counties → States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749039"/>
            <a:ext cx="2926080" cy="64008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913632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1">
                <a:solidFill>
                  <a:srgbClr val="94A3B8"/>
                </a:solidFill>
                <a:latin typeface="Calibri"/>
              </a:rPr>
              <a:t>One real dataset, four arcpy steps, start to finish -- the exact shape of the lab ahead.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25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A3E635"/>
                </a:solidFill>
                <a:latin typeface="Calibri"/>
              </a:rPr>
              <a:t>PRACTICE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The Data: US Counties (Census TIGER)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3,143 counties, one field that mirrors the lab's CNTR_CODE -- STUSPS, the 2-letter state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070240"/>
            <a:ext cx="5500000" cy="3700000"/>
          </a:xfrm>
          <a:prstGeom prst="roundRect">
            <a:avLst>
              <a:gd name="adj" fmla="val 3000"/>
            </a:avLst>
          </a:prstGeom>
          <a:solidFill>
            <a:srgbClr val="131629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5760" y="2250240"/>
            <a:ext cx="51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F97316"/>
                </a:solidFill>
                <a:latin typeface="Courier New"/>
              </a:rPr>
              <a:t>tl_2023_us_county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760" y="2770240"/>
            <a:ext cx="51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94A3B8"/>
                </a:solidFill>
                <a:latin typeface="Calibri"/>
              </a:rPr>
              <a:t>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5760" y="3050240"/>
            <a:ext cx="51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 i="0">
                <a:solidFill>
                  <a:srgbClr val="F1F5F9"/>
                </a:solidFill>
                <a:latin typeface="Calibri"/>
              </a:rPr>
              <a:t>US Census Bureau -- TIGER/Line, 2023 vintage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760" y="3550240"/>
            <a:ext cx="51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94A3B8"/>
                </a:solidFill>
                <a:latin typeface="Calibri"/>
              </a:rPr>
              <a:t>GEOMETRY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5760" y="3830240"/>
            <a:ext cx="51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 i="0">
                <a:solidFill>
                  <a:srgbClr val="F1F5F9"/>
                </a:solidFill>
                <a:latin typeface="Calibri"/>
              </a:rPr>
              <a:t>Polygon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760" y="4330240"/>
            <a:ext cx="51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94A3B8"/>
                </a:solidFill>
                <a:latin typeface="Calibri"/>
              </a:rPr>
              <a:t>FEATURE 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5760" y="4610240"/>
            <a:ext cx="51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 i="0">
                <a:solidFill>
                  <a:srgbClr val="F1F5F9"/>
                </a:solidFill>
                <a:latin typeface="Calibri"/>
              </a:rPr>
              <a:t>3,143 counties -- all 50 states + DC + territories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5760" y="5110240"/>
            <a:ext cx="51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94A3B8"/>
                </a:solidFill>
                <a:latin typeface="Calibri"/>
              </a:rPr>
              <a:t>COORD.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5760" y="5390240"/>
            <a:ext cx="51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 i="0">
                <a:solidFill>
                  <a:srgbClr val="F1F5F9"/>
                </a:solidFill>
                <a:latin typeface="Calibri"/>
              </a:rPr>
              <a:t>NAD83 -- GCS_North_American_1983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5760" y="2070240"/>
            <a:ext cx="5660480" cy="3700000"/>
          </a:xfrm>
          <a:prstGeom prst="roundRect">
            <a:avLst>
              <a:gd name="adj" fmla="val 3000"/>
            </a:avLst>
          </a:prstGeom>
          <a:solidFill>
            <a:srgbClr val="131629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5760" y="2250240"/>
            <a:ext cx="526048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Calibri"/>
              </a:rPr>
              <a:t>KEY FIELDS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5760" y="2640240"/>
            <a:ext cx="19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1F5F9"/>
                </a:solidFill>
                <a:latin typeface="Courier New"/>
              </a:rPr>
              <a:t>STATEFP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5760" y="2640240"/>
            <a:ext cx="331048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State FIPS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5760" y="3240240"/>
            <a:ext cx="19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1F5F9"/>
                </a:solidFill>
                <a:latin typeface="Courier New"/>
              </a:rPr>
              <a:t>COUNTYFP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5760" y="3240240"/>
            <a:ext cx="331048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County FIPS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5760" y="3840240"/>
            <a:ext cx="19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1F5F9"/>
                </a:solidFill>
                <a:latin typeface="Courier New"/>
              </a:rPr>
              <a:t>GEOID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5760" y="3840240"/>
            <a:ext cx="331048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Full 5-digit county 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5760" y="4440240"/>
            <a:ext cx="19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1F5F9"/>
                </a:solidFill>
                <a:latin typeface="Courier New"/>
              </a:rPr>
              <a:t>NAME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5760" y="4440240"/>
            <a:ext cx="331048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County name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15760" y="4990240"/>
            <a:ext cx="5360480" cy="560000"/>
          </a:xfrm>
          <a:prstGeom prst="roundRect">
            <a:avLst>
              <a:gd name="adj" fmla="val 10000"/>
            </a:avLst>
          </a:prstGeom>
          <a:solidFill>
            <a:srgbClr val="05061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5760" y="5040240"/>
            <a:ext cx="19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97316"/>
                </a:solidFill>
                <a:latin typeface="Courier New"/>
              </a:rPr>
              <a:t>STUSPS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5760" y="5040240"/>
            <a:ext cx="331048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2-letter state abbreviation -- our dissolve field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5820240"/>
            <a:ext cx="11460480" cy="850000"/>
          </a:xfrm>
          <a:prstGeom prst="roundRect">
            <a:avLst>
              <a:gd name="adj" fmla="val 8000"/>
            </a:avLst>
          </a:prstGeom>
          <a:solidFill>
            <a:srgbClr val="050610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5760" y="5890240"/>
            <a:ext cx="11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1">
                <a:solidFill>
                  <a:srgbClr val="94A3B8"/>
                </a:solidFill>
                <a:latin typeface="Calibri"/>
              </a:rPr>
              <a:t>Just like the lab's CNTR_CODE groups NUTS regions into countries, STUSPS will group counties into states in Step 3.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5760" y="6230240"/>
            <a:ext cx="110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A3E635"/>
                </a:solidFill>
                <a:latin typeface="Courier New"/>
              </a:rPr>
              <a:t>Already downloaded back in Part 2? Same file:  www2.census.gov/geo/tiger/TIGER2023/COUNTY/tl_2023_us_county.zip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A3E635"/>
                </a:solidFill>
                <a:latin typeface="Calibri"/>
              </a:rPr>
              <a:t>PRACTICE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Step 1: Load &amp; Symbolize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Before any code runs, look at what you're working with.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020240"/>
            <a:ext cx="640080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056816"/>
            <a:ext cx="640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97316"/>
                </a:solidFill>
                <a:latin typeface="Calibri"/>
              </a:rPr>
              <a:t>1 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056816"/>
            <a:ext cx="8458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2 INSPECT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4540" y="2056816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3 DISSOLVE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0380" y="2056816"/>
            <a:ext cx="7772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4 EXPORT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520240"/>
            <a:ext cx="5900000" cy="3500000"/>
          </a:xfrm>
          <a:prstGeom prst="roundRect">
            <a:avLst>
              <a:gd name="adj" fmla="val 3000"/>
            </a:avLst>
          </a:prstGeom>
          <a:solidFill>
            <a:srgbClr val="131629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5760" y="2650240"/>
            <a:ext cx="3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94A3B8"/>
                </a:solidFill>
                <a:latin typeface="Calibri"/>
              </a:rPr>
              <a:t>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760" y="3070240"/>
            <a:ext cx="268588" cy="2667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35760" y="3070240"/>
            <a:ext cx="374621" cy="242067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55760" y="3070240"/>
            <a:ext cx="268445" cy="253127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75760" y="3070240"/>
            <a:ext cx="374145" cy="273979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5760" y="3070240"/>
            <a:ext cx="199781" cy="168407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15760" y="3070240"/>
            <a:ext cx="360737" cy="254193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5760" y="3770240"/>
            <a:ext cx="274718" cy="285119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35760" y="3770240"/>
            <a:ext cx="310945" cy="168804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55760" y="3770240"/>
            <a:ext cx="174673" cy="237071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75760" y="3770240"/>
            <a:ext cx="229534" cy="15717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5760" y="3770240"/>
            <a:ext cx="173768" cy="261215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5760" y="3770240"/>
            <a:ext cx="362243" cy="286317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5760" y="4470240"/>
            <a:ext cx="160978" cy="27609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35760" y="4470240"/>
            <a:ext cx="253850" cy="238749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55760" y="4470240"/>
            <a:ext cx="321421" cy="28136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75760" y="4470240"/>
            <a:ext cx="320412" cy="161286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5760" y="4470240"/>
            <a:ext cx="313349" cy="12393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215760" y="4470240"/>
            <a:ext cx="368025" cy="258511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5760" y="5170240"/>
            <a:ext cx="166558" cy="13561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535760" y="5170240"/>
            <a:ext cx="159346" cy="169861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55760" y="5170240"/>
            <a:ext cx="213423" cy="27718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75760" y="5170240"/>
            <a:ext cx="157885" cy="241617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95760" y="5170240"/>
            <a:ext cx="235535" cy="235482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215760" y="5170240"/>
            <a:ext cx="304916" cy="171202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65760" y="2520240"/>
            <a:ext cx="526048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Calibri"/>
              </a:rPr>
              <a:t>GETTING STARTED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65760" y="2970240"/>
            <a:ext cx="35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94A3B8"/>
                </a:solidFill>
                <a:latin typeface="Calibri"/>
              </a:rPr>
              <a:t>1.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5760" y="2970240"/>
            <a:ext cx="486048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F1F5F9"/>
                </a:solidFill>
                <a:latin typeface="Calibri"/>
              </a:rPr>
              <a:t>Drag tl_2023_us_county from the Catalog pane into your map.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65760" y="3750240"/>
            <a:ext cx="35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94A3B8"/>
                </a:solidFill>
                <a:latin typeface="Calibri"/>
              </a:rPr>
              <a:t>2.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5760" y="3750240"/>
            <a:ext cx="486048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F1F5F9"/>
                </a:solidFill>
                <a:latin typeface="Calibri"/>
              </a:rPr>
              <a:t>Open the Symbology pane (right-click the layer &gt; Symbology).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65760" y="4530240"/>
            <a:ext cx="35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94A3B8"/>
                </a:solidFill>
                <a:latin typeface="Calibri"/>
              </a:rPr>
              <a:t>3.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5760" y="4530240"/>
            <a:ext cx="486048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F1F5F9"/>
                </a:solidFill>
                <a:latin typeface="Calibri"/>
              </a:rPr>
              <a:t>Choose "Unique Values" and set the field to STUSPS.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65760" y="5310240"/>
            <a:ext cx="35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94A3B8"/>
                </a:solidFill>
                <a:latin typeface="Calibri"/>
              </a:rPr>
              <a:t>4.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5760" y="5310240"/>
            <a:ext cx="486048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F1F5F9"/>
                </a:solidFill>
                <a:latin typeface="Calibri"/>
              </a:rPr>
              <a:t>Optional step -- no code yet. Seeing the data builds trust in what the code does next.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A3E635"/>
                </a:solidFill>
                <a:latin typeface="Calibri"/>
              </a:rPr>
              <a:t>PRACTICE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Step 2: Inspect with Python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The exact four calls from Part 2 -- now pointed at the real dataset for this exercise.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56816"/>
            <a:ext cx="640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1 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020240"/>
            <a:ext cx="845820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056816"/>
            <a:ext cx="8458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38BDF8"/>
                </a:solidFill>
                <a:latin typeface="Calibri"/>
              </a:rPr>
              <a:t>2 INSPECT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4540" y="2056816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3 DISSOLVE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0380" y="2056816"/>
            <a:ext cx="7772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4 EXPORT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520240"/>
            <a:ext cx="11460480" cy="2900000"/>
          </a:xfrm>
          <a:prstGeom prst="roundRect">
            <a:avLst>
              <a:gd name="adj" fmla="val 2000"/>
            </a:avLst>
          </a:prstGeom>
          <a:solidFill>
            <a:srgbClr val="050610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" y="2520240"/>
            <a:ext cx="11460480" cy="256032"/>
          </a:xfrm>
          <a:prstGeom prst="roundRect">
            <a:avLst>
              <a:gd name="adj" fmla="val 2000"/>
            </a:avLst>
          </a:prstGeom>
          <a:solidFill>
            <a:srgbClr val="17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5488" y="259339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6656" y="259339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2593392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2556816"/>
            <a:ext cx="1056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38BDF8"/>
                </a:solidFill>
                <a:latin typeface="Calibri"/>
              </a:rPr>
              <a:t>Python Window -- arcpy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2841444"/>
            <a:ext cx="11131296" cy="251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0" i="0">
                <a:solidFill>
                  <a:srgbClr val="A3E635"/>
                </a:solidFill>
                <a:latin typeface="Courier New"/>
              </a:rPr>
              <a:t>layer = "tl_2023_us_county"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A3E635"/>
                </a:solidFill>
                <a:latin typeface="Courier New"/>
              </a:rPr>
              <a:t>desc = arcpy.Describe(layer)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A3E635"/>
                </a:solidFill>
                <a:latin typeface="Courier New"/>
              </a:rPr>
              <a:t>print(desc.shapeType)                  # 'Polygon'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A3E635"/>
                </a:solidFill>
                <a:latin typeface="Courier New"/>
              </a:rPr>
              <a:t>print(desc.spatialReference.name)      # 'GCS_North_American_1983'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A3E635"/>
                </a:solidFill>
                <a:latin typeface="Courier New"/>
              </a:rPr>
              <a:t>print(arcpy.management.GetCount(layer)[0])   # '3143'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A3E635"/>
                </a:solidFill>
                <a:latin typeface="Courier New"/>
              </a:rPr>
              <a:t>with arcpy.da.SearchCursor(layer, ["NAME", "STUSPS"]) as cur: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A3E635"/>
                </a:solidFill>
                <a:latin typeface="Courier New"/>
              </a:rPr>
              <a:t>    for row in list(cur)[:3]:      # [:3] = just the first 3 rows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A3E635"/>
                </a:solidFill>
                <a:latin typeface="Courier New"/>
              </a:rPr>
              <a:t>        print(row)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A3E635"/>
                </a:solidFill>
                <a:latin typeface="Courier New"/>
              </a:rPr>
              <a:t># ('Autauga County', 'AL')  ('Baldwin County', 'AL')  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570240"/>
            <a:ext cx="11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94A3B8"/>
                </a:solidFill>
                <a:latin typeface="Calibri"/>
              </a:rPr>
              <a:t>Same code, same order -- Describe, GetCount, SearchCursor -- just aimed at counties instead of NUTS regions.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28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A3E635"/>
                </a:solidFill>
                <a:latin typeface="Calibri"/>
              </a:rPr>
              <a:t>PRACTICE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Step 3: Dissolve to States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3,143 county polygons in -- 51 state polygons out.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56816"/>
            <a:ext cx="640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1 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056816"/>
            <a:ext cx="8458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2 INSPECT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34540" y="2020240"/>
            <a:ext cx="914400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34540" y="2056816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EC4899"/>
                </a:solidFill>
                <a:latin typeface="Calibri"/>
              </a:rPr>
              <a:t>3 DISSOLVE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0380" y="2056816"/>
            <a:ext cx="7772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4 EXPORT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520240"/>
            <a:ext cx="6600000" cy="2900000"/>
          </a:xfrm>
          <a:prstGeom prst="roundRect">
            <a:avLst>
              <a:gd name="adj" fmla="val 2000"/>
            </a:avLst>
          </a:prstGeom>
          <a:solidFill>
            <a:srgbClr val="050610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" y="2520240"/>
            <a:ext cx="6600000" cy="256032"/>
          </a:xfrm>
          <a:prstGeom prst="roundRect">
            <a:avLst>
              <a:gd name="adj" fmla="val 2000"/>
            </a:avLst>
          </a:prstGeom>
          <a:solidFill>
            <a:srgbClr val="2D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5488" y="259339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6656" y="259339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2593392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2556816"/>
            <a:ext cx="5700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EC4899"/>
                </a:solidFill>
                <a:latin typeface="Calibri"/>
              </a:rPr>
              <a:t>Python Window -- arcpy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2841444"/>
            <a:ext cx="6270816" cy="251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00" b="0" i="0">
                <a:solidFill>
                  <a:srgbClr val="A3E635"/>
                </a:solidFill>
                <a:latin typeface="Courier New"/>
              </a:rPr>
              <a:t>arcpy.management.Dissolve(</a:t>
            </a:r>
          </a:p>
          <a:p>
            <a:pPr>
              <a:lnSpc>
                <a:spcPct val="112000"/>
              </a:lnSpc>
            </a:pPr>
            <a:r>
              <a:rPr sz="1200" b="0" i="0">
                <a:solidFill>
                  <a:srgbClr val="A3E635"/>
                </a:solidFill>
                <a:latin typeface="Courier New"/>
              </a:rPr>
              <a:t>    "tl_2023_us_county",   # input</a:t>
            </a:r>
          </a:p>
          <a:p>
            <a:pPr>
              <a:lnSpc>
                <a:spcPct val="112000"/>
              </a:lnSpc>
            </a:pPr>
            <a:r>
              <a:rPr sz="1200" b="0" i="0">
                <a:solidFill>
                  <a:srgbClr val="A3E635"/>
                </a:solidFill>
                <a:latin typeface="Courier New"/>
              </a:rPr>
              <a:t>    "US_States",           # output name</a:t>
            </a:r>
          </a:p>
          <a:p>
            <a:pPr>
              <a:lnSpc>
                <a:spcPct val="112000"/>
              </a:lnSpc>
            </a:pPr>
            <a:r>
              <a:rPr sz="1200" b="0" i="0">
                <a:solidFill>
                  <a:srgbClr val="A3E635"/>
                </a:solidFill>
                <a:latin typeface="Courier New"/>
              </a:rPr>
              <a:t>    ["STUSPS"],            # dissolve field</a:t>
            </a:r>
          </a:p>
          <a:p>
            <a:pPr>
              <a:lnSpc>
                <a:spcPct val="112000"/>
              </a:lnSpc>
            </a:pPr>
            <a:r>
              <a:rPr sz="1200" b="0" i="0">
                <a:solidFill>
                  <a:srgbClr val="A3E635"/>
                </a:solidFill>
                <a:latin typeface="Courier New"/>
              </a:rPr>
              <a:t>    multi_part="MULTI_PART"</a:t>
            </a:r>
          </a:p>
          <a:p>
            <a:pPr>
              <a:lnSpc>
                <a:spcPct val="112000"/>
              </a:lnSpc>
            </a:pPr>
            <a:r>
              <a:rPr sz="1200" b="0" i="0">
                <a:solidFill>
                  <a:srgbClr val="A3E635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</a:pPr>
            <a:r>
              <a:rPr sz="120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200" b="0" i="0">
                <a:solidFill>
                  <a:srgbClr val="A3E635"/>
                </a:solidFill>
                <a:latin typeface="Courier New"/>
              </a:rPr>
              <a:t>print(arcpy.management.GetCount("US_States")[0])</a:t>
            </a:r>
          </a:p>
          <a:p>
            <a:pPr>
              <a:lnSpc>
                <a:spcPct val="112000"/>
              </a:lnSpc>
            </a:pPr>
            <a:r>
              <a:rPr sz="1200" b="0" i="0">
                <a:solidFill>
                  <a:srgbClr val="A3E635"/>
                </a:solidFill>
                <a:latin typeface="Courier New"/>
              </a:rPr>
              <a:t># '51'   -- 50 states + DC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50000" y="2520240"/>
            <a:ext cx="4310480" cy="2900000"/>
          </a:xfrm>
          <a:prstGeom prst="roundRect">
            <a:avLst>
              <a:gd name="adj" fmla="val 5000"/>
            </a:avLst>
          </a:prstGeom>
          <a:solidFill>
            <a:srgbClr val="131629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168" y="2721408"/>
            <a:ext cx="39081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EC4899"/>
                </a:solidFill>
                <a:latin typeface="Calibri"/>
              </a:rPr>
              <a:t>Every matching STUSPS merges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168" y="3132888"/>
            <a:ext cx="3908144" cy="227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300" b="0" i="0">
                <a:solidFill>
                  <a:srgbClr val="F1F5F9"/>
                </a:solidFill>
                <a:latin typeface="Calibri"/>
              </a:rPr>
              <a:t>Every county sharing the same STUSPS value becomes one dissolved polygon. Alabama's 67 counties become a single Alabama shape.</a:t>
            </a:r>
          </a:p>
          <a:p>
            <a:pPr>
              <a:lnSpc>
                <a:spcPct val="112000"/>
              </a:lnSpc>
            </a:pPr>
            <a:r>
              <a:rPr sz="1300" b="0" i="0">
                <a:solidFill>
                  <a:srgbClr val="F1F5F9"/>
                </a:solidFill>
                <a:latin typeface="Calibri"/>
              </a:rPr>
              <a:t/>
            </a:r>
          </a:p>
          <a:p>
            <a:pPr>
              <a:lnSpc>
                <a:spcPct val="112000"/>
              </a:lnSpc>
            </a:pPr>
            <a:r>
              <a:rPr sz="1300" b="0" i="0">
                <a:solidFill>
                  <a:srgbClr val="F1F5F9"/>
                </a:solidFill>
                <a:latin typeface="Calibri"/>
              </a:rPr>
              <a:t>multi_part="MULTI_PART" keeps outlying pieces (like islands) attached to the right state instead of splitting into separate rows.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29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A3E635"/>
                </a:solidFill>
                <a:latin typeface="Calibri"/>
              </a:rPr>
              <a:t>PRACTICE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Step 4: Export One Shapefile per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The same export-loop pattern as the lab -- one WHERE clause per code, one file out.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56816"/>
            <a:ext cx="640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1 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056816"/>
            <a:ext cx="8458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2 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4540" y="2056816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3 DISSOLVE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40380" y="2020240"/>
            <a:ext cx="777240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0380" y="2056816"/>
            <a:ext cx="7772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A3E635"/>
                </a:solidFill>
                <a:latin typeface="Calibri"/>
              </a:rPr>
              <a:t>4 EXPORT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520240"/>
            <a:ext cx="11460480" cy="3200000"/>
          </a:xfrm>
          <a:prstGeom prst="roundRect">
            <a:avLst>
              <a:gd name="adj" fmla="val 2000"/>
            </a:avLst>
          </a:prstGeom>
          <a:solidFill>
            <a:srgbClr val="050610"/>
          </a:solidFill>
          <a:ln w="12700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" y="2520240"/>
            <a:ext cx="11460480" cy="256032"/>
          </a:xfrm>
          <a:prstGeom prst="roundRect">
            <a:avLst>
              <a:gd name="adj" fmla="val 2000"/>
            </a:avLst>
          </a:prstGeom>
          <a:solidFill>
            <a:srgbClr val="242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5488" y="259339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6656" y="2593392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2593392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2556816"/>
            <a:ext cx="1056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A3E635"/>
                </a:solidFill>
                <a:latin typeface="Calibri"/>
              </a:rPr>
              <a:t>Python Window -- arcpy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2841444"/>
            <a:ext cx="11131296" cy="281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import os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arcpy.env.overwriteOutput = True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out_folder = r"C:\GIS\GeoProg\by_state"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with arcpy.da.SearchCursor("US_States", ["STUSPS"]) as cur: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    codes = sorted({row[0] for row in cur})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    # builds a set of every STUSPS value (duplicates removed),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    # then sorted() lists it A-to-Z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for code in codes:                  # loop: once per state code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    where = f"STUSPS = '{code}'"  # f-string -- drops code's value in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    out_fc = os.path.join(out_folder, f"{code}.shp")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    arcpy.conversion.ExportFeatures("US_States", out_fc, where)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A3E635"/>
                </a:solidFill>
                <a:latin typeface="Courier New"/>
              </a:rPr>
              <a:t># AL.shp, AK.shp, AZ.shp, ... one file per state, 51 total.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870240"/>
            <a:ext cx="11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94A3B8"/>
                </a:solidFill>
                <a:latin typeface="Calibri"/>
              </a:rPr>
              <a:t>Same four-tool shape as the lab: Describe / GetCount / ListFields → SearchCursor → Dissolve → export loop. Different data, identical logic.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30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A3E635"/>
                </a:solidFill>
                <a:latin typeface="Calibri"/>
              </a:rPr>
              <a:t>PRACTICE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Common Errors &amp; 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Every one of these shows up in the lab too -- learn to recognize them here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070240"/>
            <a:ext cx="5450000" cy="620000"/>
          </a:xfrm>
          <a:prstGeom prst="roundRect">
            <a:avLst>
              <a:gd name="adj" fmla="val 8000"/>
            </a:avLst>
          </a:prstGeom>
          <a:solidFill>
            <a:srgbClr val="050610"/>
          </a:solidFill>
          <a:ln w="9525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760" y="2160240"/>
            <a:ext cx="51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EC4899"/>
                </a:solidFill>
                <a:latin typeface="Courier New"/>
              </a:rPr>
              <a:t>NameError: name 'layer' is not defined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5760" y="2160240"/>
            <a:ext cx="57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F1F5F9"/>
                </a:solidFill>
                <a:latin typeface="Calibri"/>
              </a:rPr>
              <a:t>Run cells top-to-bottom -- define layer before calling Describe() on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820240"/>
            <a:ext cx="5450000" cy="620000"/>
          </a:xfrm>
          <a:prstGeom prst="roundRect">
            <a:avLst>
              <a:gd name="adj" fmla="val 8000"/>
            </a:avLst>
          </a:prstGeom>
          <a:solidFill>
            <a:srgbClr val="050610"/>
          </a:solidFill>
          <a:ln w="9525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760" y="2910240"/>
            <a:ext cx="51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EC4899"/>
                </a:solidFill>
                <a:latin typeface="Courier New"/>
              </a:rPr>
              <a:t>ExecuteError: Dissolve failed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5760" y="2910240"/>
            <a:ext cx="57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F1F5F9"/>
                </a:solidFill>
                <a:latin typeface="Calibri"/>
              </a:rPr>
              <a:t>Check the workspace path, and confirm STUSPS is spelled exactly as ListFields() shows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570240"/>
            <a:ext cx="5450000" cy="620000"/>
          </a:xfrm>
          <a:prstGeom prst="roundRect">
            <a:avLst>
              <a:gd name="adj" fmla="val 8000"/>
            </a:avLst>
          </a:prstGeom>
          <a:solidFill>
            <a:srgbClr val="050610"/>
          </a:solidFill>
          <a:ln w="9525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5760" y="3660240"/>
            <a:ext cx="51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EC4899"/>
                </a:solidFill>
                <a:latin typeface="Courier New"/>
              </a:rPr>
              <a:t>SearchCursor returns zero rows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5760" y="3660240"/>
            <a:ext cx="57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F1F5F9"/>
                </a:solidFill>
                <a:latin typeface="Calibri"/>
              </a:rPr>
              <a:t>Text-field WHERE clauses need quotes: STUSPS = 'AL', not STUSPS = 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320240"/>
            <a:ext cx="5450000" cy="620000"/>
          </a:xfrm>
          <a:prstGeom prst="roundRect">
            <a:avLst>
              <a:gd name="adj" fmla="val 8000"/>
            </a:avLst>
          </a:prstGeom>
          <a:solidFill>
            <a:srgbClr val="050610"/>
          </a:solidFill>
          <a:ln w="9525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5760" y="4410240"/>
            <a:ext cx="51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EC4899"/>
                </a:solidFill>
                <a:latin typeface="Courier New"/>
              </a:rPr>
              <a:t>IndexError: list index out of range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15760" y="4410240"/>
            <a:ext cx="57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F1F5F9"/>
                </a:solidFill>
                <a:latin typeface="Calibri"/>
              </a:rPr>
              <a:t>Your fields list and row[i] must line up -- count carefully; indexing starts at 0.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070240"/>
            <a:ext cx="5450000" cy="620000"/>
          </a:xfrm>
          <a:prstGeom prst="roundRect">
            <a:avLst>
              <a:gd name="adj" fmla="val 8000"/>
            </a:avLst>
          </a:prstGeom>
          <a:solidFill>
            <a:srgbClr val="050610"/>
          </a:solidFill>
          <a:ln w="9525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5760" y="5160240"/>
            <a:ext cx="51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EC4899"/>
                </a:solidFill>
                <a:latin typeface="Courier New"/>
              </a:rPr>
              <a:t>Script crashes the second time you run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15760" y="5160240"/>
            <a:ext cx="57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 i="0">
                <a:solidFill>
                  <a:srgbClr val="F1F5F9"/>
                </a:solidFill>
                <a:latin typeface="Calibri"/>
              </a:rPr>
              <a:t>Set arcpy.env.overwriteOutput = True once, near the top of your script.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31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00560" y="0"/>
            <a:ext cx="91440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182880" y="-54864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0" b="1" i="0">
                <a:solidFill>
                  <a:srgbClr val="131629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94A3B8"/>
                </a:solidFill>
                <a:latin typeface="Calibri"/>
              </a:rPr>
              <a:t>PART 6  /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9601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200" b="1" i="0">
                <a:solidFill>
                  <a:srgbClr val="FFFFFF"/>
                </a:solidFill>
                <a:latin typeface="Calibri"/>
              </a:rPr>
              <a:t>Your Path</a:t>
            </a:r>
          </a:p>
          <a:p>
            <a:r>
              <a:rPr sz="5200" b="1" i="0">
                <a:solidFill>
                  <a:srgbClr val="FFFFFF"/>
                </a:solidFill>
                <a:latin typeface="Calibri"/>
              </a:rPr>
              <a:t>Forward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749039"/>
            <a:ext cx="2926080" cy="640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913632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1">
                <a:solidFill>
                  <a:srgbClr val="94A3B8"/>
                </a:solidFill>
                <a:latin typeface="Calibri"/>
              </a:rPr>
              <a:t>You can already write real arcpy code. Here's a few names worth knowing as you keep practicing on your own.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32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38BDF8"/>
                </a:solidFill>
                <a:latin typeface="Calibri"/>
              </a:rPr>
              <a:t>PATH FORWARD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Essential Libraries to Learn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Optional, self-paced territory -- arcpy alone will already take you far.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100240"/>
            <a:ext cx="900000" cy="680000"/>
          </a:xfrm>
          <a:prstGeom prst="roundRect">
            <a:avLst>
              <a:gd name="adj" fmla="val 15000"/>
            </a:avLst>
          </a:prstGeom>
          <a:solidFill>
            <a:srgbClr val="050610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55240"/>
            <a:ext cx="900000" cy="5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5760" y="214024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arcpy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5760" y="2450240"/>
            <a:ext cx="7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Inside ArcGIS Pro -- Describe, cursors, Dissolve, export loops. What you just practiced.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15760" y="2230240"/>
            <a:ext cx="1900000" cy="320040"/>
          </a:xfrm>
          <a:prstGeom prst="roundRect">
            <a:avLst>
              <a:gd name="adj" fmla="val 50000"/>
            </a:avLst>
          </a:prstGeom>
          <a:solidFill>
            <a:srgbClr val="05061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15760" y="2275960"/>
            <a:ext cx="19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97316"/>
                </a:solidFill>
                <a:latin typeface="Calibri"/>
              </a:rPr>
              <a:t>✓ YOU ARE HERE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900240"/>
            <a:ext cx="900000" cy="680000"/>
          </a:xfrm>
          <a:prstGeom prst="roundRect">
            <a:avLst>
              <a:gd name="adj" fmla="val 15000"/>
            </a:avLst>
          </a:prstGeom>
          <a:solidFill>
            <a:srgbClr val="050610"/>
          </a:solidFill>
          <a:ln w="9525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955240"/>
            <a:ext cx="900000" cy="5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A3E635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5760" y="294024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GeoPandas + Shapely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5760" y="3250240"/>
            <a:ext cx="7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Standalone vector analysis -- table-style geometries, no ArcGIS Pro required.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700240"/>
            <a:ext cx="900000" cy="680000"/>
          </a:xfrm>
          <a:prstGeom prst="roundRect">
            <a:avLst>
              <a:gd name="adj" fmla="val 15000"/>
            </a:avLst>
          </a:prstGeom>
          <a:solidFill>
            <a:srgbClr val="050610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755240"/>
            <a:ext cx="900000" cy="5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38BDF8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5760" y="374024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Rasterio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5760" y="4050240"/>
            <a:ext cx="7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Satellite imagery and raster data -- bands, pixels, projections.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500240"/>
            <a:ext cx="900000" cy="680000"/>
          </a:xfrm>
          <a:prstGeom prst="roundRect">
            <a:avLst>
              <a:gd name="adj" fmla="val 15000"/>
            </a:avLst>
          </a:prstGeom>
          <a:solidFill>
            <a:srgbClr val="050610"/>
          </a:solidFill>
          <a:ln w="9525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555240"/>
            <a:ext cx="900000" cy="5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EC4899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5760" y="454024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Folium / Plotly Dash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5760" y="4850240"/>
            <a:ext cx="7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Turn analysis into interactive web maps and dashboards.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300240"/>
            <a:ext cx="900000" cy="680000"/>
          </a:xfrm>
          <a:prstGeom prst="roundRect">
            <a:avLst>
              <a:gd name="adj" fmla="val 15000"/>
            </a:avLst>
          </a:prstGeom>
          <a:solidFill>
            <a:srgbClr val="050610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355240"/>
            <a:ext cx="900000" cy="5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5760" y="534024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Scikit-learn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45760" y="5650240"/>
            <a:ext cx="7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Machine learning on spatial data -- classification, clustering, prediction.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33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4A3B8"/>
                </a:solidFill>
                <a:latin typeface="Calibri"/>
              </a:rPr>
              <a:t>COURSE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Knowledge Check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Four questions to test what stuck -- work through them before you look at the answers.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080240"/>
            <a:ext cx="11460480" cy="940000"/>
          </a:xfrm>
          <a:prstGeom prst="roundRect">
            <a:avLst>
              <a:gd name="adj" fmla="val 6000"/>
            </a:avLst>
          </a:prstGeom>
          <a:solidFill>
            <a:srgbClr val="131629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760" y="2170240"/>
            <a:ext cx="9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Calibri"/>
              </a:rP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5760" y="2170240"/>
            <a:ext cx="1025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>
                <a:solidFill>
                  <a:srgbClr val="F1F5F9"/>
                </a:solidFill>
                <a:latin typeface="Calibri"/>
              </a:rPr>
              <a:t>You need to know whether a layer holds points, lines, or polygons before writing any analysis code. Which call tells you instantly?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5760" y="2560240"/>
            <a:ext cx="1025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1">
                <a:solidFill>
                  <a:srgbClr val="F97316"/>
                </a:solidFill>
                <a:latin typeface="Courier New"/>
              </a:rPr>
              <a:t>→  arcpy.Describe(layer).shapeType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95760" y="2540240"/>
            <a:ext cx="10300000" cy="390000"/>
          </a:xfrm>
          <a:prstGeom prst="roundRect">
            <a:avLst>
              <a:gd name="adj" fmla="val 15000"/>
            </a:avLst>
          </a:prstGeom>
          <a:solidFill>
            <a:srgbClr val="131629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rIns="220000" tIns="20000" bIns="20000"/>
          <a:lstStyle/>
          <a:p>
            <a:pPr algn="ctr"/>
            <a:r>
              <a:rPr sz="1150" b="0" i="1">
                <a:solidFill>
                  <a:srgbClr val="94A3B8"/>
                </a:solidFill>
                <a:latin typeface="Calibri"/>
              </a:rPr>
              <a:t>▸  Click to reveal answer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120240"/>
            <a:ext cx="11460480" cy="940000"/>
          </a:xfrm>
          <a:prstGeom prst="roundRect">
            <a:avLst>
              <a:gd name="adj" fmla="val 6000"/>
            </a:avLst>
          </a:prstGeom>
          <a:solidFill>
            <a:srgbClr val="131629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5760" y="3210240"/>
            <a:ext cx="9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38BDF8"/>
                </a:solidFill>
                <a:latin typeface="Calibri"/>
              </a:rPr>
              <a:t>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5760" y="3210240"/>
            <a:ext cx="1025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>
                <a:solidFill>
                  <a:srgbClr val="F1F5F9"/>
                </a:solidFill>
                <a:latin typeface="Calibri"/>
              </a:rPr>
              <a:t>Describe() and ListFields() both run cleanly, but you still don't know what's actually in the table. What's missing?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5760" y="3600240"/>
            <a:ext cx="1025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1">
                <a:solidFill>
                  <a:srgbClr val="38BDF8"/>
                </a:solidFill>
                <a:latin typeface="Courier New"/>
              </a:rPr>
              <a:t>→  You haven't opened a SearchCursor yet -- Describe and ListFields only show schema, never row values.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95760" y="3580240"/>
            <a:ext cx="10300000" cy="390000"/>
          </a:xfrm>
          <a:prstGeom prst="roundRect">
            <a:avLst>
              <a:gd name="adj" fmla="val 15000"/>
            </a:avLst>
          </a:prstGeom>
          <a:solidFill>
            <a:srgbClr val="131629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rIns="220000" tIns="20000" bIns="20000"/>
          <a:lstStyle/>
          <a:p>
            <a:pPr algn="ctr"/>
            <a:r>
              <a:rPr sz="1150" b="0" i="1">
                <a:solidFill>
                  <a:srgbClr val="94A3B8"/>
                </a:solidFill>
                <a:latin typeface="Calibri"/>
              </a:rPr>
              <a:t>▸  Click to reveal answer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160240"/>
            <a:ext cx="11460480" cy="940000"/>
          </a:xfrm>
          <a:prstGeom prst="roundRect">
            <a:avLst>
              <a:gd name="adj" fmla="val 6000"/>
            </a:avLst>
          </a:prstGeom>
          <a:solidFill>
            <a:srgbClr val="131629"/>
          </a:solidFill>
          <a:ln w="9525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5760" y="4250240"/>
            <a:ext cx="9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EC4899"/>
                </a:solidFill>
                <a:latin typeface="Calibri"/>
              </a:rPr>
              <a:t>Q3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5760" y="4250240"/>
            <a:ext cx="1025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>
                <a:solidFill>
                  <a:srgbClr val="F1F5F9"/>
                </a:solidFill>
                <a:latin typeface="Calibri"/>
              </a:rPr>
              <a:t>Your Dissolve keeps splitting a country's overseas territory into a second row. Which parameter fixes it?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5760" y="4640240"/>
            <a:ext cx="1025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1">
                <a:solidFill>
                  <a:srgbClr val="EC4899"/>
                </a:solidFill>
                <a:latin typeface="Courier New"/>
              </a:rPr>
              <a:t>→  multi_part="MULTI_PART"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95760" y="4620240"/>
            <a:ext cx="10300000" cy="390000"/>
          </a:xfrm>
          <a:prstGeom prst="roundRect">
            <a:avLst>
              <a:gd name="adj" fmla="val 15000"/>
            </a:avLst>
          </a:prstGeom>
          <a:solidFill>
            <a:srgbClr val="131629"/>
          </a:solidFill>
          <a:ln w="9525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rIns="220000" tIns="20000" bIns="20000"/>
          <a:lstStyle/>
          <a:p>
            <a:pPr algn="ctr"/>
            <a:r>
              <a:rPr sz="1150" b="0" i="1">
                <a:solidFill>
                  <a:srgbClr val="94A3B8"/>
                </a:solidFill>
                <a:latin typeface="Calibri"/>
              </a:rPr>
              <a:t>▸  Click to reveal answer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200240"/>
            <a:ext cx="11460480" cy="940000"/>
          </a:xfrm>
          <a:prstGeom prst="roundRect">
            <a:avLst>
              <a:gd name="adj" fmla="val 6000"/>
            </a:avLst>
          </a:prstGeom>
          <a:solidFill>
            <a:srgbClr val="131629"/>
          </a:solidFill>
          <a:ln w="9525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5760" y="5290240"/>
            <a:ext cx="9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A3E635"/>
                </a:solidFill>
                <a:latin typeface="Calibri"/>
              </a:rPr>
              <a:t>Q4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15760" y="5290240"/>
            <a:ext cx="1025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>
                <a:solidFill>
                  <a:srgbClr val="F1F5F9"/>
                </a:solidFill>
                <a:latin typeface="Calibri"/>
              </a:rPr>
              <a:t>Your export loop only ever produces one file, and it keeps overwriting itself. What's the likely bug?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5760" y="5680240"/>
            <a:ext cx="1025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1">
                <a:solidFill>
                  <a:srgbClr val="A3E635"/>
                </a:solidFill>
                <a:latin typeface="Courier New"/>
              </a:rPr>
              <a:t>→  The WHERE clause isn't using the loop variable -- it needs an f-string, e.g. f"CNTR_CODE = '{code}'".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95760" y="5660240"/>
            <a:ext cx="10300000" cy="390000"/>
          </a:xfrm>
          <a:prstGeom prst="roundRect">
            <a:avLst>
              <a:gd name="adj" fmla="val 15000"/>
            </a:avLst>
          </a:prstGeom>
          <a:solidFill>
            <a:srgbClr val="131629"/>
          </a:solidFill>
          <a:ln w="9525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0000" rIns="220000" tIns="20000" bIns="20000"/>
          <a:lstStyle/>
          <a:p>
            <a:pPr algn="ctr"/>
            <a:r>
              <a:rPr sz="1150" b="0" i="1">
                <a:solidFill>
                  <a:srgbClr val="94A3B8"/>
                </a:solidFill>
                <a:latin typeface="Calibri"/>
              </a:rPr>
              <a:t>▸  Click to reveal answer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4" restart="whenNotActive" fill="hold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0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0" restart="whenNotActive" fill="hold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16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2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2" restart="whenNotActive" fill="hold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28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3112" y="73152"/>
            <a:ext cx="777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43A"/>
                </a:solidFill>
                <a:latin typeface="Calibri"/>
              </a:rPr>
              <a:t>34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4A3B8"/>
                </a:solidFill>
                <a:latin typeface="Calibri"/>
              </a:rPr>
              <a:t>COURSE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Recap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35024"/>
            <a:ext cx="1280160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55648" y="1335024"/>
            <a:ext cx="54864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14016" y="1335024"/>
            <a:ext cx="274320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65760" y="1463040"/>
            <a:ext cx="11457432" cy="0"/>
          </a:xfrm>
          <a:prstGeom prst="line">
            <a:avLst/>
          </a:prstGeom>
          <a:ln w="7620">
            <a:solidFill>
              <a:srgbClr val="1E24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15361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94A3B8"/>
                </a:solidFill>
                <a:latin typeface="Calibri"/>
              </a:rPr>
              <a:t>One real workflow, start to finish -- here's the whole thing in a nutshell.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070240"/>
            <a:ext cx="11460480" cy="3550000"/>
          </a:xfrm>
          <a:prstGeom prst="roundRect">
            <a:avLst>
              <a:gd name="adj" fmla="val 3000"/>
            </a:avLst>
          </a:prstGeom>
          <a:solidFill>
            <a:srgbClr val="131629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760" y="2240240"/>
            <a:ext cx="1106048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94A3B8"/>
                </a:solidFill>
                <a:latin typeface="Calibri"/>
              </a:rPr>
              <a:t>IN A NUTSHELL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5760" y="2670240"/>
            <a:ext cx="538024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Calibri"/>
              </a:rPr>
              <a:t>Why Code?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760" y="3000240"/>
            <a:ext cx="5380240" cy="9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GUI tools don't scale; code does the same job in a fraction of the time, identically every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6000" y="2670240"/>
            <a:ext cx="538024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38BDF8"/>
                </a:solidFill>
                <a:latin typeface="Calibri"/>
              </a:rPr>
              <a:t>Your First Lines of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6000" y="3000240"/>
            <a:ext cx="5380240" cy="9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Describe, GetCount, ListFields, and SearchCursor answer everything about a layer, right inside ArcGIS Pro.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5760" y="4020240"/>
            <a:ext cx="538024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EC4899"/>
                </a:solidFill>
                <a:latin typeface="Calibri"/>
              </a:rPr>
              <a:t>Practice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760" y="4350240"/>
            <a:ext cx="5380240" cy="9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Dissolve + an export loop turns thousands of features into a clean, per-group set of files.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6000" y="4020240"/>
            <a:ext cx="538024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A3E635"/>
                </a:solidFill>
                <a:latin typeface="Calibri"/>
              </a:rPr>
              <a:t>Path Forward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6000" y="4350240"/>
            <a:ext cx="5380240" cy="9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arcpy is the first library on a much longer list -- explore the rest whenever you're ready.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770240"/>
            <a:ext cx="11460480" cy="550000"/>
          </a:xfrm>
          <a:prstGeom prst="roundRect">
            <a:avLst>
              <a:gd name="adj" fmla="val 10000"/>
            </a:avLst>
          </a:prstGeom>
          <a:solidFill>
            <a:srgbClr val="050610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760" y="5770240"/>
            <a:ext cx="11000000" cy="5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1F5F9"/>
                </a:solidFill>
                <a:latin typeface="Calibri"/>
              </a:rPr>
              <a:t>Now it's your turn -- open your lab and dissolve your first real dataset.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