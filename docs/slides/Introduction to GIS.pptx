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315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image" Target="../media/image1.png"/><Relationship Id="rId7" Type="http://schemas.openxmlformats.org/officeDocument/2006/relationships/slide" Target="slide2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5" Type="http://schemas.openxmlformats.org/officeDocument/2006/relationships/slide" Target="slide8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" Target="slide3.xml"/><Relationship Id="rId7" Type="http://schemas.openxmlformats.org/officeDocument/2006/relationships/slide" Target="slide2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4.xml"/><Relationship Id="rId5" Type="http://schemas.openxmlformats.org/officeDocument/2006/relationships/slide" Target="slide14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48640" y="4755000"/>
            <a:ext cx="12127740" cy="566928"/>
          </a:xfrm>
          <a:prstGeom prst="roundRect">
            <a:avLst>
              <a:gd name="adj" fmla="val 12000"/>
            </a:avLst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E97132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52560" y="3931920"/>
            <a:ext cx="4206240" cy="42062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work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480060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Ecosystem  •  Getting Started  •  Applications  •  Why It Matters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5989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Geographic Information Science and Systems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4435000"/>
            <a:ext cx="6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E97132"/>
                </a:solidFill>
                <a:latin typeface="Calibri"/>
              </a:rPr>
              <a:t>JUMP TO A SECTION</a:t>
            </a:r>
          </a:p>
        </p:txBody>
      </p:sp>
      <p:sp>
        <p:nvSpPr>
          <p:cNvPr id="11" name="TextBox 10">
            <a:hlinkClick r:id="rId4" action="ppaction://hlinksldjump"/>
          </p:cNvPr>
          <p:cNvSpPr txBox="1"/>
          <p:nvPr/>
        </p:nvSpPr>
        <p:spPr>
          <a:xfrm>
            <a:off x="548640" y="4878464"/>
            <a:ext cx="231582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E97132"/>
                </a:solidFill>
                <a:latin typeface="Calibri"/>
              </a:rPr>
              <a:t>01  </a:t>
            </a:r>
            <a:r>
              <a:rPr sz="950" b="0" u="sng">
                <a:solidFill>
                  <a:srgbClr val="CADCFC"/>
                </a:solidFill>
                <a:latin typeface="Calibri"/>
              </a:rPr>
              <a:t>Overview &amp; Intro</a:t>
            </a: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1880484" y="4878464"/>
            <a:ext cx="231582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dirty="0">
                <a:solidFill>
                  <a:srgbClr val="E97132"/>
                </a:solidFill>
                <a:latin typeface="Calibri"/>
              </a:rPr>
              <a:t>02  </a:t>
            </a:r>
            <a:r>
              <a:rPr sz="950" b="0" u="sng" dirty="0">
                <a:solidFill>
                  <a:srgbClr val="CADCFC"/>
                </a:solidFill>
                <a:latin typeface="Calibri"/>
              </a:rPr>
              <a:t>Software Install</a:t>
            </a:r>
          </a:p>
        </p:txBody>
      </p:sp>
      <p:sp>
        <p:nvSpPr>
          <p:cNvPr id="13" name="TextBox 12">
            <a:hlinkClick r:id="rId6" action="ppaction://hlinksldjump"/>
          </p:cNvPr>
          <p:cNvSpPr txBox="1"/>
          <p:nvPr/>
        </p:nvSpPr>
        <p:spPr>
          <a:xfrm>
            <a:off x="3204377" y="4878464"/>
            <a:ext cx="231582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dirty="0">
                <a:solidFill>
                  <a:srgbClr val="E97132"/>
                </a:solidFill>
                <a:latin typeface="Calibri"/>
              </a:rPr>
              <a:t>03  </a:t>
            </a:r>
            <a:r>
              <a:rPr sz="950" b="0" u="sng" dirty="0">
                <a:solidFill>
                  <a:srgbClr val="CADCFC"/>
                </a:solidFill>
                <a:latin typeface="Calibri"/>
              </a:rPr>
              <a:t>History &amp; Ecosystem</a:t>
            </a:r>
          </a:p>
        </p:txBody>
      </p:sp>
      <p:sp>
        <p:nvSpPr>
          <p:cNvPr id="14" name="TextBox 13">
            <a:hlinkClick r:id="rId7" action="ppaction://hlinksldjump"/>
          </p:cNvPr>
          <p:cNvSpPr txBox="1"/>
          <p:nvPr/>
        </p:nvSpPr>
        <p:spPr>
          <a:xfrm>
            <a:off x="4798622" y="4878464"/>
            <a:ext cx="231582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dirty="0">
                <a:solidFill>
                  <a:srgbClr val="E97132"/>
                </a:solidFill>
                <a:latin typeface="Calibri"/>
              </a:rPr>
              <a:t>04  </a:t>
            </a:r>
            <a:r>
              <a:rPr sz="950" b="0" u="sng" dirty="0">
                <a:solidFill>
                  <a:srgbClr val="CADCFC"/>
                </a:solidFill>
                <a:latin typeface="Calibri"/>
              </a:rPr>
              <a:t>GIS/GISc Applications</a:t>
            </a:r>
          </a:p>
        </p:txBody>
      </p:sp>
      <p:sp>
        <p:nvSpPr>
          <p:cNvPr id="15" name="TextBox 14">
            <a:hlinkClick r:id="rId8" action="ppaction://hlinksldjump"/>
          </p:cNvPr>
          <p:cNvSpPr txBox="1"/>
          <p:nvPr/>
        </p:nvSpPr>
        <p:spPr>
          <a:xfrm>
            <a:off x="6488279" y="4878464"/>
            <a:ext cx="231582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dirty="0">
                <a:solidFill>
                  <a:srgbClr val="E97132"/>
                </a:solidFill>
                <a:latin typeface="Calibri"/>
              </a:rPr>
              <a:t>05  </a:t>
            </a:r>
            <a:r>
              <a:rPr sz="950" b="0" u="sng" dirty="0">
                <a:solidFill>
                  <a:srgbClr val="CADCFC"/>
                </a:solidFill>
                <a:latin typeface="Calibri"/>
              </a:rPr>
              <a:t>Why It Matters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stops on today’s journey into GIS</a:t>
            </a:r>
            <a:endParaRPr lang="en-US" sz="1450" dirty="0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548640" y="173736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868680" y="1737360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>
            <a:hlinkClick r:id="rId3" action="ppaction://hlinksldjump"/>
          </p:cNvPr>
          <p:cNvSpPr/>
          <p:nvPr/>
        </p:nvSpPr>
        <p:spPr>
          <a:xfrm>
            <a:off x="1965960" y="1737360"/>
            <a:ext cx="8686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 and Intro</a:t>
            </a:r>
            <a:endParaRPr lang="en-US" sz="1800" dirty="0"/>
          </a:p>
        </p:txBody>
      </p:sp>
      <p:sp>
        <p:nvSpPr>
          <p:cNvPr id="7" name="Shape 5">
            <a:hlinkClick r:id="rId4" action="ppaction://hlinksldjump"/>
          </p:cNvPr>
          <p:cNvSpPr/>
          <p:nvPr/>
        </p:nvSpPr>
        <p:spPr>
          <a:xfrm>
            <a:off x="548640" y="268833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hlinkClick r:id="rId4" action="ppaction://hlinksldjump"/>
          </p:cNvPr>
          <p:cNvSpPr/>
          <p:nvPr/>
        </p:nvSpPr>
        <p:spPr>
          <a:xfrm>
            <a:off x="868680" y="2688336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>
            <a:hlinkClick r:id="rId4" action="ppaction://hlinksldjump"/>
          </p:cNvPr>
          <p:cNvSpPr/>
          <p:nvPr/>
        </p:nvSpPr>
        <p:spPr>
          <a:xfrm>
            <a:off x="1965960" y="2688336"/>
            <a:ext cx="8686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Installation</a:t>
            </a:r>
            <a:endParaRPr lang="en-US" sz="1800" dirty="0"/>
          </a:p>
        </p:txBody>
      </p:sp>
      <p:sp>
        <p:nvSpPr>
          <p:cNvPr id="10" name="Shape 8">
            <a:hlinkClick r:id="rId5" action="ppaction://hlinksldjump"/>
          </p:cNvPr>
          <p:cNvSpPr/>
          <p:nvPr/>
        </p:nvSpPr>
        <p:spPr>
          <a:xfrm>
            <a:off x="548640" y="363931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hlinkClick r:id="rId5" action="ppaction://hlinksldjump"/>
          </p:cNvPr>
          <p:cNvSpPr/>
          <p:nvPr/>
        </p:nvSpPr>
        <p:spPr>
          <a:xfrm>
            <a:off x="868680" y="3639312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>
            <a:hlinkClick r:id="rId5" action="ppaction://hlinksldjump"/>
          </p:cNvPr>
          <p:cNvSpPr/>
          <p:nvPr/>
        </p:nvSpPr>
        <p:spPr>
          <a:xfrm>
            <a:off x="1965960" y="3639312"/>
            <a:ext cx="8686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GIS and ArcGIS Ecosystem</a:t>
            </a:r>
            <a:endParaRPr lang="en-US" sz="1800" dirty="0"/>
          </a:p>
        </p:txBody>
      </p:sp>
      <p:sp>
        <p:nvSpPr>
          <p:cNvPr id="13" name="Shape 11">
            <a:hlinkClick r:id="rId6" action="ppaction://hlinksldjump"/>
          </p:cNvPr>
          <p:cNvSpPr/>
          <p:nvPr/>
        </p:nvSpPr>
        <p:spPr>
          <a:xfrm>
            <a:off x="548640" y="4590288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hlinkClick r:id="rId6" action="ppaction://hlinksldjump"/>
          </p:cNvPr>
          <p:cNvSpPr/>
          <p:nvPr/>
        </p:nvSpPr>
        <p:spPr>
          <a:xfrm>
            <a:off x="868680" y="4590288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>
            <a:hlinkClick r:id="rId6" action="ppaction://hlinksldjump"/>
          </p:cNvPr>
          <p:cNvSpPr/>
          <p:nvPr/>
        </p:nvSpPr>
        <p:spPr>
          <a:xfrm>
            <a:off x="1965960" y="4590288"/>
            <a:ext cx="8686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GIS/GISc Applications</a:t>
            </a:r>
            <a:endParaRPr lang="en-US" sz="1800" dirty="0"/>
          </a:p>
        </p:txBody>
      </p:sp>
      <p:sp>
        <p:nvSpPr>
          <p:cNvPr id="16" name="Shape 14">
            <a:hlinkClick r:id="rId7" action="ppaction://hlinksldjump"/>
          </p:cNvPr>
          <p:cNvSpPr/>
          <p:nvPr/>
        </p:nvSpPr>
        <p:spPr>
          <a:xfrm>
            <a:off x="548640" y="554126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hlinkClick r:id="rId7" action="ppaction://hlinksldjump"/>
          </p:cNvPr>
          <p:cNvSpPr/>
          <p:nvPr/>
        </p:nvSpPr>
        <p:spPr>
          <a:xfrm>
            <a:off x="868680" y="5541264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18" name="Text 16">
            <a:hlinkClick r:id="rId7" action="ppaction://hlinksldjump"/>
          </p:cNvPr>
          <p:cNvSpPr/>
          <p:nvPr/>
        </p:nvSpPr>
        <p:spPr>
          <a:xfrm>
            <a:off x="1965960" y="5541264"/>
            <a:ext cx="8686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GIS/GISc Matter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01 Course Overview &amp; Intro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1" name="TextBox 20"/>
          <p:cNvSpPr txBox="1"/>
          <p:nvPr/>
        </p:nvSpPr>
        <p:spPr>
          <a:xfrm>
            <a:off x="548640" y="1476000"/>
            <a:ext cx="9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1">
                <a:solidFill>
                  <a:srgbClr val="E97132"/>
                </a:solidFill>
                <a:latin typeface="Calibri"/>
              </a:rPr>
              <a:t>Click any section below to jump straight to it →</a:t>
            </a:r>
          </a:p>
        </p:txBody>
      </p:sp>
      <p:sp>
        <p:nvSpPr>
          <p:cNvPr id="22" name="Oval 21">
            <a:hlinkClick r:id="rId3" action="ppaction://hlinksldjump"/>
          </p:cNvPr>
          <p:cNvSpPr/>
          <p:nvPr/>
        </p:nvSpPr>
        <p:spPr>
          <a:xfrm>
            <a:off x="11045952" y="1929384"/>
            <a:ext cx="457200" cy="457200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9960" y="1993392"/>
            <a:ext cx="329184" cy="329184"/>
          </a:xfrm>
          <a:prstGeom prst="rect">
            <a:avLst/>
          </a:prstGeom>
        </p:spPr>
      </p:pic>
      <p:sp>
        <p:nvSpPr>
          <p:cNvPr id="24" name="Oval 23">
            <a:hlinkClick r:id="rId4" action="ppaction://hlinksldjump"/>
          </p:cNvPr>
          <p:cNvSpPr/>
          <p:nvPr/>
        </p:nvSpPr>
        <p:spPr>
          <a:xfrm>
            <a:off x="11045952" y="2880360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9960" y="2944368"/>
            <a:ext cx="329184" cy="329184"/>
          </a:xfrm>
          <a:prstGeom prst="rect">
            <a:avLst/>
          </a:prstGeom>
        </p:spPr>
      </p:pic>
      <p:sp>
        <p:nvSpPr>
          <p:cNvPr id="26" name="Oval 25">
            <a:hlinkClick r:id="rId5" action="ppaction://hlinksldjump"/>
          </p:cNvPr>
          <p:cNvSpPr/>
          <p:nvPr/>
        </p:nvSpPr>
        <p:spPr>
          <a:xfrm>
            <a:off x="11045952" y="3831336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9960" y="3895344"/>
            <a:ext cx="329184" cy="329184"/>
          </a:xfrm>
          <a:prstGeom prst="rect">
            <a:avLst/>
          </a:prstGeom>
        </p:spPr>
      </p:pic>
      <p:sp>
        <p:nvSpPr>
          <p:cNvPr id="28" name="Oval 27">
            <a:hlinkClick r:id="rId6" action="ppaction://hlinksldjump"/>
          </p:cNvPr>
          <p:cNvSpPr/>
          <p:nvPr/>
        </p:nvSpPr>
        <p:spPr>
          <a:xfrm>
            <a:off x="11045952" y="4782312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9960" y="4846320"/>
            <a:ext cx="329184" cy="329184"/>
          </a:xfrm>
          <a:prstGeom prst="rect">
            <a:avLst/>
          </a:prstGeom>
        </p:spPr>
      </p:pic>
      <p:sp>
        <p:nvSpPr>
          <p:cNvPr id="30" name="Oval 29">
            <a:hlinkClick r:id="rId7" action="ppaction://hlinksldjump"/>
          </p:cNvPr>
          <p:cNvSpPr/>
          <p:nvPr/>
        </p:nvSpPr>
        <p:spPr>
          <a:xfrm>
            <a:off x="11045952" y="573328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9960" y="5797296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Information System(s) — the tools and technology behind this course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426464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Geographic Information System(s) — software, hardware, data, and people working together to make sense of location.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75104"/>
            <a:ext cx="3483864" cy="3931920"/>
          </a:xfrm>
          <a:prstGeom prst="roundRect">
            <a:avLst>
              <a:gd name="adj" fmla="val 315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33372" y="2340864"/>
            <a:ext cx="914400" cy="9144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tmp/work/icons/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388" y="2468880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438144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3986784"/>
            <a:ext cx="284378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software, hardware, and databases used to capture, store, and manage spatial data — like ArcGIS Pro, QGIS, and ArcGIS Online.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52544" y="1975104"/>
            <a:ext cx="3483864" cy="3931920"/>
          </a:xfrm>
          <a:prstGeom prst="roundRect">
            <a:avLst>
              <a:gd name="adj" fmla="val 315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37276" y="2340864"/>
            <a:ext cx="914400" cy="9144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tmp/work/icons/c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292" y="2468880"/>
            <a:ext cx="658368" cy="6583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1144" y="3438144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672584" y="3986784"/>
            <a:ext cx="284378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functions: capturing, storing, querying, analyzing, and visualizing anything that has a location — from a single address to a whole continent.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56448" y="1975104"/>
            <a:ext cx="3483864" cy="3931920"/>
          </a:xfrm>
          <a:prstGeom prst="roundRect">
            <a:avLst>
              <a:gd name="adj" fmla="val 315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441180" y="2340864"/>
            <a:ext cx="914400" cy="9144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tmp/work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196" y="2468880"/>
            <a:ext cx="658368" cy="6583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85048" y="3438144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476488" y="3986784"/>
            <a:ext cx="284378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products and markets built on top of GIS — location-based apps, imagery providers, and everyday tools people don't realize are GIS.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01 Course Overview &amp; Intro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GISc?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Information Science — the discipline that studies how GIS should work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426464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GISc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Geographic Information Science — the theory and research behind every GIS tool and technique.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75104"/>
            <a:ext cx="5385816" cy="18288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249424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tmp/work/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2345436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231136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Data &amp; Structures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2935224"/>
            <a:ext cx="4837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model the real world as points, lines, polygons, and rasters — and the coordinate systems and topology that hold it all together.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54496" y="1975104"/>
            <a:ext cx="5385816" cy="18288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28816" y="2249424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tmp/work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2345436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97496" y="2231136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Analysis &amp; Statistics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528816" y="2935224"/>
            <a:ext cx="4837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methods for finding patterns, relationships, and trends in geographic data — clustering, spatial autocorrelation, and geostatistics.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078224"/>
            <a:ext cx="5385816" cy="18288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22960" y="4352544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tmp/work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4448556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334256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Cognition &amp; Reasoning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22960" y="5038344"/>
            <a:ext cx="4837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(and computers) perceive, represent, and reason about space — from mental maps to how a machine “understands” a boundary.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54496" y="4078224"/>
            <a:ext cx="5385816" cy="18288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528816" y="4352544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/tmp/work/icons/land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828" y="4448556"/>
            <a:ext cx="493776" cy="4937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97496" y="4334256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Uncertainty, Ethics &amp; Society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528816" y="5038344"/>
            <a:ext cx="4837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 of geographic data — error, bias, privacy, and the politics of who gets to make the map.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01 Course Overview &amp; Intro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Description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course is about, in brief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77240" cy="7772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work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4" y="1891894"/>
            <a:ext cx="559613" cy="559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647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 of GIS/GISc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2167128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data models, data collection, spatial querying, analysis and modeling, geodesy, map projections, cartography, and geovisualization.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935224"/>
            <a:ext cx="777240" cy="7772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tmp/work/icons/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4" y="3044038"/>
            <a:ext cx="559613" cy="5596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91693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Industry Software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00200" y="331927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builds the theory; labs put it into practice using ArcGIS Pro (and QGIS), the tools professionals use every day.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087368"/>
            <a:ext cx="777240" cy="7772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tmp/work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4" y="4196182"/>
            <a:ext cx="559613" cy="5596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0690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Thinking &amp; Analysis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00200" y="4471416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and lab work together to build the analytical skills needed to interpret and reason about geographic data.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239512"/>
            <a:ext cx="777240" cy="7772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tmp/work/icons/proj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4" y="5348326"/>
            <a:ext cx="559613" cy="5596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522122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of Your Own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600200" y="56235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semester-long GIS project lets you apply these skills with originality on a real topic that interests you.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01 Course Overview &amp; Intro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course, you will be able to: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8928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783080"/>
            <a:ext cx="472744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foundational GIS/GISc concepts, spatial thinking, and geospatial data models &amp; structures.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09360" y="1828800"/>
            <a:ext cx="457200" cy="4572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tmp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89280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31152" y="1783080"/>
            <a:ext cx="472744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Acquire, prepare, and manage spatial data — vector, raster, GPS, and tabular — from many sources.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/tmp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0815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2971800"/>
            <a:ext cx="472744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coordinate systems, map projections, and georeferencing correctly in real projects.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309360" y="3017520"/>
            <a:ext cx="457200" cy="4572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/tmp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08152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31152" y="2971800"/>
            <a:ext cx="472744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GIS software (ArcGIS Pro &amp; QGIS): editing, mapping, spatial queries, and joins.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/tmp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270248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70432" y="4160520"/>
            <a:ext cx="472744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spatial analyses — buffering, overlay, proximity, raster/vector operations.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309360" y="4206240"/>
            <a:ext cx="457200" cy="4572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/tmp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4270248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31152" y="4160520"/>
            <a:ext cx="472744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strengths, weaknesses, and assumptions built into different GIS functions.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548640" y="5394960"/>
            <a:ext cx="457200" cy="4572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6" descr="/tmp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5458968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70432" y="5349240"/>
            <a:ext cx="472744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effective, well-designed maps using core cartographic principles.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6309360" y="5394960"/>
            <a:ext cx="457200" cy="4572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7" descr="/tmp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5458968"/>
            <a:ext cx="329184" cy="32918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931152" y="5349240"/>
            <a:ext cx="472744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execute an original GIS project addressing a real-world problem.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01 Course Overview &amp; Intro</a:t>
            </a:r>
            <a:endParaRPr lang="en-US" sz="950" dirty="0"/>
          </a:p>
        </p:txBody>
      </p:sp>
      <p:sp>
        <p:nvSpPr>
          <p:cNvPr id="29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course modules, in order, and what each one covers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9224" y="1655064"/>
            <a:ext cx="365760" cy="3657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9224" y="1655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63677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Introduction, Foundations, and Data Management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157984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2104" y="2112264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 and Intro; Software Installation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2308860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2104" y="2263140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GIS and ArcGIS Ecosystem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" y="2459736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" y="2414016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GIS/GISc Applications; Why GIS/GISc Matter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" y="2610612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104" y="2564892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Politics and Ethics of Mapping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" y="2761488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" y="2715768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Maps &amp; Map Types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" y="2912364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2104" y="2866644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User Interface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" y="3063240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2104" y="3017520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File Types in the ArcGIS Ecosystem; File Management; Troubleshooting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3214116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2104" y="3168396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Resources Exploration; Data Acquisition; Adding Data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" y="3364992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2104" y="3319272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Project, Map, Layer, and Geodatabase Creation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5800" y="3515868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2104" y="3470148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and Projection Systems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44768" y="150876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82512" y="1655064"/>
            <a:ext cx="365760" cy="3657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82512" y="1655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76288" y="163677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 and Mapping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19088" y="2157984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65392" y="2112264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Table and Fields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19088" y="2308860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65392" y="2263140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Table Creation, Management, and Import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19088" y="2459736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65392" y="2414016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Creation, Editing, and Calculation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19088" y="2610612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65392" y="2564892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Cartographic Principles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19088" y="2761488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565392" y="2715768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Classification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419088" y="2912364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65392" y="2866644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Elements, Layout, and Design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419088" y="3063240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65392" y="3017520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by Attributes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19088" y="3214116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65392" y="3168396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by Location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19088" y="3364992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565392" y="3319272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Join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11480" y="402336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49224" y="4169664"/>
            <a:ext cx="365760" cy="3657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9224" y="4169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143000" y="415137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Analysis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685800" y="4672584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32104" y="4626864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Join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85800" y="4823460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32104" y="4777740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85800" y="4974336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32104" y="4928616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85800" y="5125212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32104" y="5079492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85800" y="5276088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32104" y="5230368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(Union/Intersect)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85800" y="5426964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32104" y="5381244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 Analysis: Surface Analysis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85800" y="5577840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32104" y="5532120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Algebra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85800" y="5728716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32104" y="5682996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Modeling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144768" y="402336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382512" y="4169664"/>
            <a:ext cx="365760" cy="3657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382512" y="4169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6876288" y="415137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GISc</a:t>
            </a:r>
            <a:endParaRPr lang="en-US" sz="1250" dirty="0"/>
          </a:p>
        </p:txBody>
      </p:sp>
      <p:sp>
        <p:nvSpPr>
          <p:cNvPr id="74" name="Shape 72"/>
          <p:cNvSpPr/>
          <p:nvPr/>
        </p:nvSpPr>
        <p:spPr>
          <a:xfrm>
            <a:off x="6419088" y="4672584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565392" y="4626864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Geospatial Programming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419088" y="4823460"/>
            <a:ext cx="54864" cy="548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565392" y="4777740"/>
            <a:ext cx="483717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GISc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419088" y="5038344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module — where the course brings everything together.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01 Course Overview &amp; Intro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486400" cy="5486400"/>
          </a:xfrm>
          <a:prstGeom prst="ellipse">
            <a:avLst/>
          </a:prstGeom>
          <a:solidFill>
            <a:srgbClr val="E97132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4754880"/>
            <a:ext cx="4754880" cy="4754880"/>
          </a:xfrm>
          <a:prstGeom prst="ellipse">
            <a:avLst/>
          </a:prstGeom>
          <a:solidFill>
            <a:srgbClr val="E97132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Installation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ArcGIS Pro set up and ready to go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4700016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46177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your ArcGIS organization account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5047488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49651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license under My Settings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5394960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531266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install ArcGIS Pro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ArcGIS Pro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5 — Find the sign-in page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777240" cy="7772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arcgis.com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6060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“ArcGIS Online” or visit arcgis.com directly, then click Sign In in the top right.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554480" y="4023360"/>
            <a:ext cx="1280160" cy="12801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work/icons/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702" y="4202582"/>
            <a:ext cx="921715" cy="92171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49240" y="1417320"/>
            <a:ext cx="6309360" cy="5029200"/>
          </a:xfrm>
          <a:prstGeom prst="roundRect">
            <a:avLst>
              <a:gd name="adj" fmla="val 1818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tmp/work2/assets/shot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788566"/>
            <a:ext cx="5852160" cy="42867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02 Software Installation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ArcGIS Pro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5 — Sign in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777240" cy="7772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21031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login credentials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8803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ArcGIS organization account you were invited to. Check your email for the invitation if you haven't set a password yet.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554480" y="4343400"/>
            <a:ext cx="1280160" cy="12801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work/icons/sign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702" y="4522622"/>
            <a:ext cx="921715" cy="92171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49240" y="1417320"/>
            <a:ext cx="6309360" cy="5029200"/>
          </a:xfrm>
          <a:prstGeom prst="roundRect">
            <a:avLst>
              <a:gd name="adj" fmla="val 1818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tmp/work2/assets/shot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788566"/>
            <a:ext cx="5852160" cy="42867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02 Software Installation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ArcGIS Pro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5 — Open your account settings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777240" cy="7772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21031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 My Settings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697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profile menu in the top right corner and choose “My Settings” to see your available licenses.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554480" y="4114800"/>
            <a:ext cx="1280160" cy="12801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work/icons/c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702" y="4294022"/>
            <a:ext cx="921715" cy="92171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49240" y="1417320"/>
            <a:ext cx="6309360" cy="5029200"/>
          </a:xfrm>
          <a:prstGeom prst="roundRect">
            <a:avLst>
              <a:gd name="adj" fmla="val 1818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tmp/work2/assets/shot_my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420112"/>
            <a:ext cx="5852160" cy="3023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02 Software Installation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ArcGIS Pro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5 — Find your license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777240" cy="7772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21031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 Licenses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697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Licenses tab lists every ArcGIS product your account can access, including ArcGIS Pro.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554480" y="4114800"/>
            <a:ext cx="1280160" cy="12801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work/icons/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702" y="4294022"/>
            <a:ext cx="921715" cy="92171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49240" y="1417320"/>
            <a:ext cx="6309360" cy="5029200"/>
          </a:xfrm>
          <a:prstGeom prst="roundRect">
            <a:avLst>
              <a:gd name="adj" fmla="val 1818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tmp/work2/assets/shot_licen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268931"/>
            <a:ext cx="5852160" cy="33259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02 Software Installation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ArcGIS Pro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5 — Download &amp; install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777240" cy="7772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21031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down and download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6974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ArcGIS Pro in the list and click Download. Run the installer and sign in with the same account when prompted.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554480" y="4251960"/>
            <a:ext cx="1280160" cy="12801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work/icons/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702" y="4431182"/>
            <a:ext cx="921715" cy="92171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49240" y="1417320"/>
            <a:ext cx="6309360" cy="5029200"/>
          </a:xfrm>
          <a:prstGeom prst="roundRect">
            <a:avLst>
              <a:gd name="adj" fmla="val 1818"/>
            </a:avLst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tmp/work2/assets/shot_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259178"/>
            <a:ext cx="5852160" cy="33454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02 Software Installation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486400" cy="5486400"/>
          </a:xfrm>
          <a:prstGeom prst="ellipse">
            <a:avLst/>
          </a:prstGeom>
          <a:solidFill>
            <a:srgbClr val="E97132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4754880"/>
            <a:ext cx="4754880" cy="4754880"/>
          </a:xfrm>
          <a:prstGeom prst="ellipse">
            <a:avLst/>
          </a:prstGeom>
          <a:solidFill>
            <a:srgbClr val="E97132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GIS and ArcGIS Ecosystem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19th-century map to a modern software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4700016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46177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spatial analysis began — before computers existed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5047488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49651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Esri's origins and the ArcGIS product family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5394960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531266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platforms, file formats, and migration paths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Didn’t Start With Computers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historic example from 1854 London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75120" y="1783080"/>
            <a:ext cx="4937760" cy="4206240"/>
          </a:xfrm>
          <a:prstGeom prst="roundRect">
            <a:avLst>
              <a:gd name="adj" fmla="val 2174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40880" y="2880360"/>
            <a:ext cx="4206240" cy="0"/>
          </a:xfrm>
          <a:prstGeom prst="line">
            <a:avLst/>
          </a:prstGeom>
          <a:noFill/>
          <a:ln w="254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40880" y="4160520"/>
            <a:ext cx="4206240" cy="0"/>
          </a:xfrm>
          <a:prstGeom prst="line">
            <a:avLst/>
          </a:prstGeom>
          <a:noFill/>
          <a:ln w="254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0" y="5349240"/>
            <a:ext cx="4206240" cy="0"/>
          </a:xfrm>
          <a:prstGeom prst="line">
            <a:avLst/>
          </a:prstGeom>
          <a:noFill/>
          <a:ln w="254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21040" y="2148840"/>
            <a:ext cx="0" cy="3474720"/>
          </a:xfrm>
          <a:prstGeom prst="line">
            <a:avLst/>
          </a:prstGeom>
          <a:noFill/>
          <a:ln w="254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966960" y="2148840"/>
            <a:ext cx="0" cy="3474720"/>
          </a:xfrm>
          <a:prstGeom prst="line">
            <a:avLst/>
          </a:prstGeom>
          <a:noFill/>
          <a:ln w="254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75320" y="320040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49640" y="301752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823960" y="338328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89720" y="310896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464040" y="329184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738360" y="301752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83880" y="402336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41080" y="393192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15400" y="411480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81160" y="397764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01200" y="411480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921240" y="393192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58200" y="457200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23960" y="466344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89720" y="452628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555480" y="470916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92440" y="365760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875520" y="3566160"/>
            <a:ext cx="91440" cy="91440"/>
          </a:xfrm>
          <a:prstGeom prst="ellipse">
            <a:avLst/>
          </a:prstGeom>
          <a:solidFill>
            <a:srgbClr val="8A94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15984" y="3758184"/>
            <a:ext cx="256032" cy="256032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58200" y="4069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pump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5486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a cholera death, mapped by address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1783080"/>
            <a:ext cx="777240" cy="7772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0" descr="/tmp/work/icons/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4" y="1891894"/>
            <a:ext cx="559613" cy="559613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48640" y="26974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John Snow’s 1854 Cholera Map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548640" y="320040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cholera outbreak in London, physician John Snow mapped every death by home address. The pattern revealed a cluster around a single water pump on Broad Street — pointing to contaminated water, not “bad air,” as the cause.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48640" y="470916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considered one of the first uses of spatial analysis to solve a real-world problem — decades before “GIS” existed as a term.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03 History of GIS &amp; ArcGIS Ecosystem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Esri &amp; the Origins of GIS Software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land-use consulting firm became the industry standard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work2/assets/logo_esr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3063240"/>
            <a:ext cx="3017520" cy="2011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26280" y="1828800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/tmp/work/icons/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292" y="1924812"/>
            <a:ext cx="493776" cy="4937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94960" y="181051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394960" y="2139696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1969, by Jack and Laura Dangermond in Redlands, California.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26280" y="3127248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/tmp/work/icons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292" y="3223260"/>
            <a:ext cx="493776" cy="4937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94960" y="31089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394960" y="3438144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as a land-use consulting firm focused on environmental analysis and geographic research.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526280" y="4425696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/tmp/work/icons/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2292" y="4521708"/>
            <a:ext cx="493776" cy="4937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94960" y="440740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REACH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394960" y="4736592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roughly 350,000 organizations worldwide — governments, NGOs, universities, and private companies.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03 History of GIS &amp; ArcGIS Ecosystem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ArcGIS Ecosystem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name “Arc” actually comes from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work2/assets/logo_arcgis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2651760"/>
            <a:ext cx="27432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06240" y="1783080"/>
            <a:ext cx="6519672" cy="4114800"/>
          </a:xfrm>
          <a:prstGeom prst="roundRect">
            <a:avLst>
              <a:gd name="adj" fmla="val 266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26280" y="2057400"/>
            <a:ext cx="640080" cy="64008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tmp/work/icons/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891" y="2147011"/>
            <a:ext cx="460858" cy="4608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49240" y="20574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Esri built its first GIS software, Arc/INFO, in the late 1970s–early 1980s.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26280" y="292608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time, GIS data was stored using vector topology — maps built from points, lines, and polygons, where lines (arcs) connected the points (nodes) that formed the boundaries of shapes.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26280" y="416052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“Arc” was chosen because the software managed this arc-node topology — and it stuck through every product that followed: ArcInfo, ArcView, ArcMap, ArcGIS Online, and ArcGIS Pro.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03 History of GIS &amp; ArcGIS Ecosystem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Platforms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ArcMap, QGIS, ArcGIS Online, and ArcGIS Pro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7178" cy="4206240"/>
          </a:xfrm>
          <a:prstGeom prst="roundRect">
            <a:avLst>
              <a:gd name="adj" fmla="val 3562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76197" y="1527048"/>
            <a:ext cx="512064" cy="5120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76197" y="15270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220141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tmp/work2/assets/logo_arcmap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2240280"/>
            <a:ext cx="1927098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200400"/>
            <a:ext cx="220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ArcMap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21099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with ArcGIS 8.0 (1999)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4453128"/>
            <a:ext cx="21099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10.x was the last major line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5202936"/>
            <a:ext cx="21099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phased out in favor of Pro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90138" y="1783080"/>
            <a:ext cx="2567178" cy="4206240"/>
          </a:xfrm>
          <a:prstGeom prst="roundRect">
            <a:avLst>
              <a:gd name="adj" fmla="val 3562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17695" y="1527048"/>
            <a:ext cx="512064" cy="5120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17695" y="15270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573018" y="2148840"/>
            <a:ext cx="220141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/tmp/work2/assets/logo_qgi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10178" y="2240280"/>
            <a:ext cx="1927098" cy="7315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73018" y="3200400"/>
            <a:ext cx="220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618738" y="3703320"/>
            <a:ext cx="21099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released July 2002; 1.0 in 2009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618738" y="4453128"/>
            <a:ext cx="21099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618738" y="5202936"/>
            <a:ext cx="21099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macOS, Linux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231636" y="1783080"/>
            <a:ext cx="2567178" cy="4206240"/>
          </a:xfrm>
          <a:prstGeom prst="roundRect">
            <a:avLst>
              <a:gd name="adj" fmla="val 3562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259193" y="1527048"/>
            <a:ext cx="512064" cy="5120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7259193" y="15270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6414516" y="2148840"/>
            <a:ext cx="220141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/tmp/work2/assets/logo_agol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51676" y="2240280"/>
            <a:ext cx="1927098" cy="7315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14516" y="3200400"/>
            <a:ext cx="220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Online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60236" y="3703320"/>
            <a:ext cx="21099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2012 for organizations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460236" y="4453128"/>
            <a:ext cx="21099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Browser-based, Software-as-a-Service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460236" y="5202936"/>
            <a:ext cx="21099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install required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073134" y="1783080"/>
            <a:ext cx="2567178" cy="4206240"/>
          </a:xfrm>
          <a:prstGeom prst="roundRect">
            <a:avLst>
              <a:gd name="adj" fmla="val 3562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10100691" y="1527048"/>
            <a:ext cx="512064" cy="51206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10100691" y="15270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9256014" y="2148840"/>
            <a:ext cx="220141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3" descr="/tmp/work2/assets/logo_arcgispro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393174" y="2240280"/>
            <a:ext cx="1927098" cy="7315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256014" y="3200400"/>
            <a:ext cx="220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Pro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9301734" y="3703320"/>
            <a:ext cx="21099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released 2015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9301734" y="4453128"/>
            <a:ext cx="21099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Windows-only, 64-bit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9301734" y="5202936"/>
            <a:ext cx="21099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Esri's current flagship desktop app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03 History of GIS &amp; ArcGIS Ecosystem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File Formats: Storing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formats you'll open, save, and share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24160" y="384048"/>
            <a:ext cx="566928" cy="566928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wor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3530" y="463418"/>
            <a:ext cx="408188" cy="408188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062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ArcGIS, QGIS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.shp (+.dbf, .shx)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classic GIS format; stores vector features &amp; attributes. Simple, but limited.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Geodatabase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ArcGIS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.gdb folder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Esri's native format; stores multiple layers, tables, and relationships.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GeoPackage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QGIS, ArcGIS Pro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.gpkg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standard; a single file holding many layers (vector + raster).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Raster / Imagery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ArcGIS, QGIS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.tif, .img, .jpg, .png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Pixel-based data — elevation, land cover, satellite imagery.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.csv, .xlsx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data that can be joined to spatial layers.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03 History of GIS &amp; ArcGIS Ecosystem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File Formats: Projects &amp; Styles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 behind your workspace, symbology, and layouts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24160" y="384048"/>
            <a:ext cx="566928" cy="566928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work/icons/c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3530" y="463418"/>
            <a:ext cx="408188" cy="408188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062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QGIS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ArcGIS Pro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.qgz / .qgs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.aprx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workspace — stores map layouts, data links, and settings. Not the data itself.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.qlr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.lyrx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layer appearance (symbology, labels, scale visibility); points to your data.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.qml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.stylx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 ramps, symbols, and fonts for consistent cartography.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Template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.qpt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.pagx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Templates for printable maps: titles, legends, north arrows.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/ Bundle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.gpkg to share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.ppkx, .mapx, .tpkx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Ready-to-share versions of maps or projects with embedded data.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03 History of GIS &amp; ArcGIS Ecosystem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ArcMap → ArcGIS Pro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one-way street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914400" cy="9144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work/icons/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9568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874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Pro can import ArcMap projects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737360" y="2606040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965960" y="2606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these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54880" y="2606040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.mxd (map), .lyr (layer), .style (styles)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737360" y="3630168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965960" y="363016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converts to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754880" y="3630168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.aprx, .lyrx, .stylx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737360" y="4654296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965960" y="4654296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754880" y="4654296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only — ArcMap cannot open .aprx files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03 History of GIS &amp; ArcGIS Ecosystem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Between QGIS &amp; ArcGIS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transfers cleanly, and what doesn't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17236" cy="4206240"/>
          </a:xfrm>
          <a:prstGeom prst="roundRect">
            <a:avLst>
              <a:gd name="adj" fmla="val 2609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tmp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21342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57400"/>
            <a:ext cx="39913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“safe” formats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916936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15568" y="2834640"/>
            <a:ext cx="44028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Shapefile (.shp)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3419856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15568" y="3337560"/>
            <a:ext cx="44028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GeoPackage (.gpkg)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3922776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15568" y="3840480"/>
            <a:ext cx="44028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(.csv)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14400" y="4425696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15568" y="4343400"/>
            <a:ext cx="44028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Geodatabase (.gdb) — often read-only in QGIS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" y="4983480"/>
            <a:ext cx="46771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cannot open Esri project files (.mxd or .aprx) — but it can open the data those projects use.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23076" y="1783080"/>
            <a:ext cx="5317236" cy="4206240"/>
          </a:xfrm>
          <a:prstGeom prst="roundRect">
            <a:avLst>
              <a:gd name="adj" fmla="val 2609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643116" y="2057400"/>
            <a:ext cx="548640" cy="5486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tmp/work/icons/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926" y="2134210"/>
            <a:ext cx="395021" cy="39502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28916" y="2057400"/>
            <a:ext cx="39913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project-to-project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643116" y="2834640"/>
            <a:ext cx="46771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→ ArcMap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643116" y="3182112"/>
            <a:ext cx="46771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transfers well. The QGIS project, symbology, and layouts do not.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643116" y="4023360"/>
            <a:ext cx="46771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ArcMap → QGIS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643116" y="4370832"/>
            <a:ext cx="46771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data, not the project — QGIS cannot open .mxd files.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03 History of GIS &amp; ArcGIS Ecosystem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Migration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steps, whichever direction you're going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88820" y="2103120"/>
            <a:ext cx="640080" cy="64008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9888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you're moving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(yes) vs. project layout/symbology (usually no).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83580" y="2103120"/>
            <a:ext cx="640080" cy="64008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835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a neutral format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3657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Pro/ArcMap → .gpkg / .shp / .csv.  QGIS → .gpkg / .shp / .csv.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78340" y="2103120"/>
            <a:ext cx="640080" cy="64008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783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29718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map design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0" y="3657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Symbology and layouts usually don't transfer — recreate them in the new software.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E2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check: coordinate system / projection · field names &amp; data types · joins, relates, and null values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03 History of GIS &amp; ArcGIS Ecosystem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486400" cy="5486400"/>
          </a:xfrm>
          <a:prstGeom prst="ellipse">
            <a:avLst/>
          </a:prstGeom>
          <a:solidFill>
            <a:srgbClr val="E97132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4754880"/>
            <a:ext cx="4754880" cy="4754880"/>
          </a:xfrm>
          <a:prstGeom prst="ellipse">
            <a:avLst/>
          </a:prstGeom>
          <a:solidFill>
            <a:srgbClr val="E97132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GIS/GISc Applications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use GIS more often than you think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4700016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46177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relies on GIS professionally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5047488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49651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location-based apps you use every day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5394960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531266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across industries and fields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GIS?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professions than most people expect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17830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17830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&amp; Regional Planners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63640" y="17830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Agencies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15400" y="17830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052560" y="17830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 &amp; Analysts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81635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Geologists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37560" y="2816352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0" y="281635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Archaeologists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2816352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281635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Biologists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15400" y="2816352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52560" y="281635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Developers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3922776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...anyone who stores, analyzes, and depends on spatial data.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already used products built on GIS: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594360" cy="5943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0" descr="/tmp/work/icons/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5020970"/>
            <a:ext cx="427939" cy="42793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61872" y="491947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261872" y="523036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site-selection modeling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383280" y="4937760"/>
            <a:ext cx="594360" cy="5943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1" descr="/tmp/work/icons/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6490" y="5020970"/>
            <a:ext cx="427939" cy="427939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096512" y="491947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096512" y="523036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&amp; neighborhood data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217920" y="4937760"/>
            <a:ext cx="594360" cy="5943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2" descr="/tmp/work/icons/gamep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130" y="5020970"/>
            <a:ext cx="427939" cy="427939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931152" y="491947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Pokémon GO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6931152" y="523036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tied to real locations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9052560" y="4937760"/>
            <a:ext cx="594360" cy="5943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3" descr="/tmp/work/icons/utensi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5770" y="5020970"/>
            <a:ext cx="427939" cy="427939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765792" y="491947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DoorDash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9765792" y="523036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zone &amp; routing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04 GIS/GISc Applications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in Everyday Life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“Services” pillar — a market most people never see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software itself, GIS powers a huge market of location-based products and data services — most of which you interact with daily without ever thinking of it as “GIS.”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2953512"/>
            <a:ext cx="594360" cy="5943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tmp/work/icons/c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3036722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95351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Ride-Share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6576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directions, ETA prediction, and route optimization.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26974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99432" y="2953512"/>
            <a:ext cx="594360" cy="5943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tmp/work/icons/clouds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642" y="3036722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295351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Environment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0" y="36576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radar, forecasts, and air-quality maps tied to your exact location.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26974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94192" y="2953512"/>
            <a:ext cx="594360" cy="5943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tmp/work/icons/gamep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402" y="3036722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98280" y="295351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Games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66760" y="36576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Augmented-reality games overlaying gameplay onto real-world coordinates.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7548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04672" y="5010912"/>
            <a:ext cx="594360" cy="5943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tmp/work/icons/utensi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82" y="5094122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501091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Logistics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77240" y="5715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orders to drivers and optimizing delivery zones in real time.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43400" y="47548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99432" y="5010912"/>
            <a:ext cx="594360" cy="5943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/tmp/work/icons/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2642" y="5094122"/>
            <a:ext cx="427939" cy="42793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501091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72000" y="5715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“Near me” search results, ranked by real distance and travel time.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8160" y="47548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94192" y="5010912"/>
            <a:ext cx="594360" cy="59436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/tmp/work/icons/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402" y="5094122"/>
            <a:ext cx="427939" cy="42793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98280" y="501091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Imagery &amp; Data Providers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366760" y="5715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and aerial imagery licensed to governments and businesses.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04 GIS/GISc Applications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Across Fields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industry has a spatial layer to it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tmp/work/icons/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215341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34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Planning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Zoning, transit routes, and infrastructure siting.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7720" y="2057400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tmp/work/icons/le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732" y="215341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834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32004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Habitat, land cover, and conservation tracking.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0" y="2057400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tmp/work/icons/heartb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492" y="215341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834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66760" y="32004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spread, access to care, health equity.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22960" y="4297680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tmp/work/icons/triang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" y="439369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5074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Response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5440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Flood, wildfire, and evacuation modeling.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4023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17720" y="4297680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tmp/work/icons/landm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3732" y="4393692"/>
            <a:ext cx="493776" cy="4937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5074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Policy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72000" y="5440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Redistricting, service delivery, census analysis.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4023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12480" y="4297680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/tmp/work/icons/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8492" y="4393692"/>
            <a:ext cx="493776" cy="4937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5074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Logistics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66760" y="5440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selection, market analysis, delivery routing.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04 GIS/GISc Applications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486400" cy="5486400"/>
          </a:xfrm>
          <a:prstGeom prst="ellipse">
            <a:avLst/>
          </a:prstGeom>
          <a:solidFill>
            <a:srgbClr val="E97132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4754880"/>
            <a:ext cx="4754880" cy="4754880"/>
          </a:xfrm>
          <a:prstGeom prst="ellipse">
            <a:avLst/>
          </a:prstGeom>
          <a:solidFill>
            <a:srgbClr val="E97132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GIS/GISc Matter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mindset and the payoff — why this course is worth your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4700016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46177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thinking: the core skill behind every GIS task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5047488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49651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location leads to better decisions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5394960"/>
            <a:ext cx="82296" cy="82296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531266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isn't useful until it has a “where”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Thinking: The Core Skill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course builds toward asking better “where” questions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05840" cy="10058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work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8" y="2015338"/>
            <a:ext cx="724205" cy="7242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9202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thinking is the habit of asking not just what is happening, but where — and why it's happening there.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08960" y="306324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it? How does that compare to everything nearby?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08736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4087368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108960" y="408736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cluster, a trend, or a relationship across space?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511149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5111496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108960" y="5111496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spatial relationship explains why it's happening there?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05 Why GIS/GISc Matter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GIS? Better Decisions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relationships, patterns, and trends in a geographic context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work/icons/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206197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8483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we open a new store?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tmp/work/icons/c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3022092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04495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route gets a delivery there fastest?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548640" y="3886200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/tmp/work/icons/trian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" y="3982212"/>
            <a:ext cx="493776" cy="4937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40050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neighborhoods will a hurricane hit hardest?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E2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822960" y="49834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turns questions like these into evidence-based answers — instead of guesses.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05 Why GIS/GISc Matter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Just Data — It's Location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numbers mean very little until you know where they happened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17236" cy="4114800"/>
          </a:xfrm>
          <a:prstGeom prst="roundRect">
            <a:avLst>
              <a:gd name="adj" fmla="val 266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777240" cy="7772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tmp/work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2211934"/>
            <a:ext cx="559613" cy="5596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Non-Spatial Data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46771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of electricity used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was last serviced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homes rely on this utility box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5029200"/>
            <a:ext cx="4677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its own, this is just a spreadsheet row.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23076" y="1783080"/>
            <a:ext cx="5317236" cy="4114800"/>
          </a:xfrm>
          <a:prstGeom prst="roundRect">
            <a:avLst>
              <a:gd name="adj" fmla="val 2667"/>
            </a:avLst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688836" y="21031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tmp/work/icons/mapmarker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650" y="2211934"/>
            <a:ext cx="559613" cy="5596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43116" y="306324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...Add a Location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643116" y="3520440"/>
            <a:ext cx="46771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it's a point on a map, next to every other utility box in the city.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643116" y="4297680"/>
            <a:ext cx="46771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emerge: aging equipment clusters in one district, overloaded boxes line up along a single street, maintenance visits cluster near the depot.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GIS  ·  05 Why GIS/GISc Matter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206240" cy="4206240"/>
          </a:xfrm>
          <a:prstGeom prst="ellipse">
            <a:avLst/>
          </a:prstGeom>
          <a:solidFill>
            <a:srgbClr val="E97132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16770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002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where GIS came from, how the ArcGIS ecosystem fits together, and how vector and raster data differ.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tmp/work/icons/lap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90" y="2545690"/>
            <a:ext cx="395021" cy="3950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4688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installed ArcGIS Pro and signed in — you're ready to open the software next class.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3337560"/>
            <a:ext cx="548640" cy="5486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/tmp/work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90" y="3414370"/>
            <a:ext cx="395021" cy="3950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3375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seen who uses GIS, how it shows up in everyday apps, and why turning data into location leads to better decisions.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/tmp/work/icons/ar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90" y="4283050"/>
            <a:ext cx="395021" cy="39502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420624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The Politics and Ethics of Mapping, and Map Types and Modern Maps — bring your laptop with ArcGIS Pro installed and signed in.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40080" y="6172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before next class? Bring them — there are no bad questions in GIS 1.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E57A2DF-8C16-488F-BE6A-A6A34DA03692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2953</Words>
  <Application>Microsoft Office PowerPoint</Application>
  <PresentationFormat>Widescreen</PresentationFormat>
  <Paragraphs>444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Shokran Rahiminezhad</cp:lastModifiedBy>
  <cp:revision>3</cp:revision>
  <dcterms:created xsi:type="dcterms:W3CDTF">2026-07-22T21:37:35Z</dcterms:created>
  <dcterms:modified xsi:type="dcterms:W3CDTF">2026-07-22T23:21:13Z</dcterms:modified>
</cp:coreProperties>
</file>