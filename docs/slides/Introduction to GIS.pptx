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6" r:id="rId21"/>
    <p:sldId id="277" r:id="rId22"/>
    <p:sldId id="278" r:id="rId23"/>
    <p:sldId id="279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89" r:id="rId3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8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4315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jpeg"/><Relationship Id="rId5" Type="http://schemas.openxmlformats.org/officeDocument/2006/relationships/image" Target="../media/image27.jpeg"/><Relationship Id="rId4" Type="http://schemas.openxmlformats.org/officeDocument/2006/relationships/image" Target="../media/image2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3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6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37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0.png"/><Relationship Id="rId4" Type="http://schemas.openxmlformats.org/officeDocument/2006/relationships/image" Target="../media/image3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5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E97132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052560" y="3931920"/>
            <a:ext cx="4206240" cy="420624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tmp/work/icons/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4800600"/>
            <a:ext cx="2286000" cy="2286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417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E97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178308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GIS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640080" y="306324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&amp; Ecosystem  •  Getting Started  •  Applications  •  Why It Matters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40080" y="5989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A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of Geographic Information Science and Systems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of Contents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64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stops on today’s journey into GIS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91672" cy="841248"/>
          </a:xfrm>
          <a:prstGeom prst="roundRect">
            <a:avLst>
              <a:gd name="adj" fmla="val 10870"/>
            </a:avLst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68680" y="1737360"/>
            <a:ext cx="1005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965960" y="1737360"/>
            <a:ext cx="86868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Overview and Intro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688336"/>
            <a:ext cx="11091672" cy="841248"/>
          </a:xfrm>
          <a:prstGeom prst="roundRect">
            <a:avLst>
              <a:gd name="adj" fmla="val 10870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68680" y="2688336"/>
            <a:ext cx="1005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97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965960" y="2688336"/>
            <a:ext cx="86868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Installation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3639312"/>
            <a:ext cx="11091672" cy="841248"/>
          </a:xfrm>
          <a:prstGeom prst="roundRect">
            <a:avLst>
              <a:gd name="adj" fmla="val 10870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3639312"/>
            <a:ext cx="1005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97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965960" y="3639312"/>
            <a:ext cx="86868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of GIS and ArcGIS Ecosystem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4590288"/>
            <a:ext cx="11091672" cy="841248"/>
          </a:xfrm>
          <a:prstGeom prst="roundRect">
            <a:avLst>
              <a:gd name="adj" fmla="val 10870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68680" y="4590288"/>
            <a:ext cx="1005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97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1965960" y="4590288"/>
            <a:ext cx="86868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GIS/GISc Applications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5541264"/>
            <a:ext cx="11091672" cy="841248"/>
          </a:xfrm>
          <a:prstGeom prst="roundRect">
            <a:avLst>
              <a:gd name="adj" fmla="val 10870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68680" y="5541264"/>
            <a:ext cx="1005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97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1965960" y="5541264"/>
            <a:ext cx="86868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GIS/GISc Matter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A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GIS  ·  01 Course Overview &amp; Intro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9A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GIS?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64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Information System(s) — the tools and technology behind this course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48640" y="1426464"/>
            <a:ext cx="11091672" cy="420624"/>
          </a:xfrm>
          <a:prstGeom prst="roundRect">
            <a:avLst>
              <a:gd name="adj" fmla="val 17391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1426464"/>
            <a:ext cx="110916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E97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</a:t>
            </a: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=  Geographic Information System(s) — software, hardware, data, and people working together to make sense of location.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975104"/>
            <a:ext cx="3483864" cy="3931920"/>
          </a:xfrm>
          <a:prstGeom prst="roundRect">
            <a:avLst>
              <a:gd name="adj" fmla="val 3150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833372" y="2340864"/>
            <a:ext cx="914400" cy="91440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/tmp/work/icons/lap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1388" y="2468880"/>
            <a:ext cx="658368" cy="6583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77240" y="3438144"/>
            <a:ext cx="3026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Technology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868680" y="3986784"/>
            <a:ext cx="2843784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software, hardware, and databases used to capture, store, and manage spatial data — like ArcGIS Pro, QGIS, and ArcGIS Online.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352544" y="1975104"/>
            <a:ext cx="3483864" cy="3931920"/>
          </a:xfrm>
          <a:prstGeom prst="roundRect">
            <a:avLst>
              <a:gd name="adj" fmla="val 3150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5637276" y="2340864"/>
            <a:ext cx="914400" cy="91440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/tmp/work/icons/co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5292" y="2468880"/>
            <a:ext cx="658368" cy="65836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581144" y="3438144"/>
            <a:ext cx="3026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672584" y="3986784"/>
            <a:ext cx="2843784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functions: capturing, storing, querying, analyzing, and visualizing anything that has a location — from a single address to a whole continent.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8156448" y="1975104"/>
            <a:ext cx="3483864" cy="3931920"/>
          </a:xfrm>
          <a:prstGeom prst="roundRect">
            <a:avLst>
              <a:gd name="adj" fmla="val 3150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9441180" y="2340864"/>
            <a:ext cx="914400" cy="91440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2" descr="/tmp/work/icons/cha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69196" y="2468880"/>
            <a:ext cx="658368" cy="65836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385048" y="3438144"/>
            <a:ext cx="3026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Industry</a:t>
            </a:r>
            <a:endParaRPr lang="en-US" sz="2000" dirty="0"/>
          </a:p>
        </p:txBody>
      </p:sp>
      <p:sp>
        <p:nvSpPr>
          <p:cNvPr id="20" name="Text 15"/>
          <p:cNvSpPr/>
          <p:nvPr/>
        </p:nvSpPr>
        <p:spPr>
          <a:xfrm>
            <a:off x="8476488" y="3986784"/>
            <a:ext cx="2843784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products and markets built on top of GIS — location-based apps, imagery providers, and everyday tools people don't realize are GIS.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A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GIS  ·  01 Course Overview &amp; Intro</a:t>
            </a:r>
            <a:endParaRPr lang="en-US" sz="950" dirty="0"/>
          </a:p>
        </p:txBody>
      </p:sp>
      <p:sp>
        <p:nvSpPr>
          <p:cNvPr id="22" name="Text 17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9A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GISc?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64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Information Science — the discipline that studies how GIS should work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48640" y="1426464"/>
            <a:ext cx="11091672" cy="420624"/>
          </a:xfrm>
          <a:prstGeom prst="roundRect">
            <a:avLst>
              <a:gd name="adj" fmla="val 17391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1426464"/>
            <a:ext cx="110916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E97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GISc</a:t>
            </a: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=  Geographic Information Science — the theory and research behind every GIS tool and technique.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975104"/>
            <a:ext cx="5385816" cy="18288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22960" y="2249424"/>
            <a:ext cx="685800" cy="68580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/tmp/work/icons/lay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" y="2345436"/>
            <a:ext cx="493776" cy="49377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691640" y="2231136"/>
            <a:ext cx="39684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Data &amp; Structures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822960" y="2935224"/>
            <a:ext cx="4837176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model the real world as points, lines, polygons, and rasters — and the coordinate systems and topology that hold it all together.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54496" y="1975104"/>
            <a:ext cx="5385816" cy="18288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528816" y="2249424"/>
            <a:ext cx="685800" cy="68580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/tmp/work/icons/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4828" y="2345436"/>
            <a:ext cx="493776" cy="49377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397496" y="2231136"/>
            <a:ext cx="39684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Analysis &amp; Statistics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6528816" y="2935224"/>
            <a:ext cx="4837176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methods for finding patterns, relationships, and trends in geographic data — clustering, spatial autocorrelation, and geostatistics.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48640" y="4078224"/>
            <a:ext cx="5385816" cy="18288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822960" y="4352544"/>
            <a:ext cx="685800" cy="68580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2" descr="/tmp/work/icons/bra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" y="4448556"/>
            <a:ext cx="493776" cy="49377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91640" y="4334256"/>
            <a:ext cx="39684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Cognition &amp; Reasoning</a:t>
            </a:r>
            <a:endParaRPr lang="en-US" sz="1550" dirty="0"/>
          </a:p>
        </p:txBody>
      </p:sp>
      <p:sp>
        <p:nvSpPr>
          <p:cNvPr id="20" name="Text 15"/>
          <p:cNvSpPr/>
          <p:nvPr/>
        </p:nvSpPr>
        <p:spPr>
          <a:xfrm>
            <a:off x="822960" y="5038344"/>
            <a:ext cx="4837176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people (and computers) perceive, represent, and reason about space — from mental maps to how a machine “understands” a boundary.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6254496" y="4078224"/>
            <a:ext cx="5385816" cy="18288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17"/>
          <p:cNvSpPr/>
          <p:nvPr/>
        </p:nvSpPr>
        <p:spPr>
          <a:xfrm>
            <a:off x="6528816" y="4352544"/>
            <a:ext cx="685800" cy="68580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3" descr="/tmp/work/icons/land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4828" y="4448556"/>
            <a:ext cx="493776" cy="493776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397496" y="4334256"/>
            <a:ext cx="39684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Uncertainty, Ethics &amp; Society</a:t>
            </a:r>
            <a:endParaRPr lang="en-US" sz="1550" dirty="0"/>
          </a:p>
        </p:txBody>
      </p:sp>
      <p:sp>
        <p:nvSpPr>
          <p:cNvPr id="25" name="Text 19"/>
          <p:cNvSpPr/>
          <p:nvPr/>
        </p:nvSpPr>
        <p:spPr>
          <a:xfrm>
            <a:off x="6528816" y="5038344"/>
            <a:ext cx="4837176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limits of geographic data — error, bias, privacy, and the politics of who gets to make the map.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A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GIS  ·  01 Course Overview &amp; Intro</a:t>
            </a:r>
            <a:endParaRPr lang="en-US" sz="950" dirty="0"/>
          </a:p>
        </p:txBody>
      </p:sp>
      <p:sp>
        <p:nvSpPr>
          <p:cNvPr id="27" name="Text 21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9A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Description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64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course is about, in brief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777240" cy="77724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/tmp/work/icons/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454" y="1891894"/>
            <a:ext cx="559613" cy="55961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76479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Principles of GIS/GISc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600200" y="2167128"/>
            <a:ext cx="9966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data models, data collection, spatial querying, analysis and modeling, geodesy, map projections, cartography, and geovisualization.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2935224"/>
            <a:ext cx="777240" cy="77724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/tmp/work/icons/deskt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454" y="3044038"/>
            <a:ext cx="559613" cy="55961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00200" y="2916936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With Industry Software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600200" y="3319272"/>
            <a:ext cx="9966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builds the theory; labs put it into practice using ArcGIS Pro (and QGIS), the tools professionals use every day.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48640" y="4087368"/>
            <a:ext cx="777240" cy="77724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/tmp/work/icons/sear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454" y="4196182"/>
            <a:ext cx="559613" cy="55961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00200" y="4069080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Thinking &amp; Analysis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00200" y="4471416"/>
            <a:ext cx="9966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and lab work together to build the analytical skills needed to interpret and reason about geographic data.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548640" y="5239512"/>
            <a:ext cx="777240" cy="77724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/tmp/work/icons/projec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454" y="5348326"/>
            <a:ext cx="559613" cy="559613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00200" y="5221224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Project of Your Own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600200" y="5623560"/>
            <a:ext cx="9966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semester-long GIS project lets you apply these skills with originality on a real topic that interests you.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A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GIS  ·  01 Course Overview &amp; Intro</a:t>
            </a:r>
            <a:endParaRPr lang="en-US" sz="950" dirty="0"/>
          </a:p>
        </p:txBody>
      </p:sp>
      <p:sp>
        <p:nvSpPr>
          <p:cNvPr id="21" name="Text 15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9A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64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course, you will be able to: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457200" cy="45720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/tmp/work/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" y="1892808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70432" y="1783080"/>
            <a:ext cx="4727448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foundational GIS/GISc concepts, spatial thinking, and geospatial data models &amp; structures.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309360" y="1828800"/>
            <a:ext cx="457200" cy="45720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1" descr="/tmp/work/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892808"/>
            <a:ext cx="329184" cy="32918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931152" y="1783080"/>
            <a:ext cx="4727448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Acquire, prepare, and manage spatial data — vector, raster, GPS, and tabular — from many sources.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3017520"/>
            <a:ext cx="457200" cy="45720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2" descr="/tmp/work/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" y="3081528"/>
            <a:ext cx="329184" cy="329184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70432" y="2971800"/>
            <a:ext cx="4727448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coordinate systems, map projections, and georeferencing correctly in real projects.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6309360" y="3017520"/>
            <a:ext cx="457200" cy="45720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3" descr="/tmp/work/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3081528"/>
            <a:ext cx="329184" cy="329184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931152" y="2971800"/>
            <a:ext cx="4727448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Operate GIS software (ArcGIS Pro &amp; QGIS): editing, mapping, spatial queries, and joins.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548640" y="4206240"/>
            <a:ext cx="457200" cy="45720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4" descr="/tmp/work/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" y="4270248"/>
            <a:ext cx="329184" cy="329184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170432" y="4160520"/>
            <a:ext cx="4727448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 spatial analyses — buffering, overlay, proximity, raster/vector operations.</a:t>
            </a:r>
            <a:endParaRPr lang="en-US" sz="1250" dirty="0"/>
          </a:p>
        </p:txBody>
      </p:sp>
      <p:sp>
        <p:nvSpPr>
          <p:cNvPr id="19" name="Shape 12"/>
          <p:cNvSpPr/>
          <p:nvPr/>
        </p:nvSpPr>
        <p:spPr>
          <a:xfrm>
            <a:off x="6309360" y="4206240"/>
            <a:ext cx="457200" cy="45720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5" descr="/tmp/work/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4270248"/>
            <a:ext cx="329184" cy="329184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931152" y="4160520"/>
            <a:ext cx="4727448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 strengths, weaknesses, and assumptions built into different GIS functions.</a:t>
            </a:r>
            <a:endParaRPr lang="en-US" sz="1250" dirty="0"/>
          </a:p>
        </p:txBody>
      </p:sp>
      <p:sp>
        <p:nvSpPr>
          <p:cNvPr id="22" name="Shape 14"/>
          <p:cNvSpPr/>
          <p:nvPr/>
        </p:nvSpPr>
        <p:spPr>
          <a:xfrm>
            <a:off x="548640" y="5394960"/>
            <a:ext cx="457200" cy="45720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6" descr="/tmp/work/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" y="5458968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1170432" y="5349240"/>
            <a:ext cx="4727448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effective, well-designed maps using core cartographic principles.</a:t>
            </a:r>
            <a:endParaRPr lang="en-US" sz="1250" dirty="0"/>
          </a:p>
        </p:txBody>
      </p:sp>
      <p:sp>
        <p:nvSpPr>
          <p:cNvPr id="25" name="Shape 16"/>
          <p:cNvSpPr/>
          <p:nvPr/>
        </p:nvSpPr>
        <p:spPr>
          <a:xfrm>
            <a:off x="6309360" y="5394960"/>
            <a:ext cx="457200" cy="45720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7" descr="/tmp/work/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5458968"/>
            <a:ext cx="329184" cy="329184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6931152" y="5349240"/>
            <a:ext cx="4727448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and execute an original GIS project addressing a real-world problem.</a:t>
            </a:r>
            <a:endParaRPr lang="en-US" sz="1250" dirty="0"/>
          </a:p>
        </p:txBody>
      </p:sp>
      <p:sp>
        <p:nvSpPr>
          <p:cNvPr id="28" name="Text 18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A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GIS  ·  01 Course Overview &amp; Intro</a:t>
            </a:r>
            <a:endParaRPr lang="en-US" sz="950" dirty="0"/>
          </a:p>
        </p:txBody>
      </p:sp>
      <p:sp>
        <p:nvSpPr>
          <p:cNvPr id="29" name="Text 19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9A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Roadmap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64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course modules, in order, and what each one covers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11480" y="1508760"/>
            <a:ext cx="5532120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49224" y="1655064"/>
            <a:ext cx="365760" cy="36576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9224" y="165506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43000" y="1636776"/>
            <a:ext cx="4572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Introduction, Foundations, and Data Management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2157984"/>
            <a:ext cx="54864" cy="54864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32104" y="2112264"/>
            <a:ext cx="4837176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Overview and Intro; Software Installation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85800" y="2308860"/>
            <a:ext cx="54864" cy="54864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32104" y="2263140"/>
            <a:ext cx="4837176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of GIS and ArcGIS Ecosystem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85800" y="2459736"/>
            <a:ext cx="54864" cy="54864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32104" y="2414016"/>
            <a:ext cx="4837176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GIS/GISc Applications; Why GIS/GISc Matter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85800" y="2610612"/>
            <a:ext cx="54864" cy="54864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32104" y="2564892"/>
            <a:ext cx="4837176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Politics and Ethics of Mapping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85800" y="2761488"/>
            <a:ext cx="54864" cy="54864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32104" y="2715768"/>
            <a:ext cx="4837176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Power of Maps &amp; Map Types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85800" y="2912364"/>
            <a:ext cx="54864" cy="54864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32104" y="2866644"/>
            <a:ext cx="4837176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User Interface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85800" y="3063240"/>
            <a:ext cx="54864" cy="54864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32104" y="3017520"/>
            <a:ext cx="4837176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and File Types in the ArcGIS Ecosystem; File Management; Troubleshooting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85800" y="3214116"/>
            <a:ext cx="54864" cy="54864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832104" y="3168396"/>
            <a:ext cx="4837176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Resources Exploration; Data Acquisition; Adding Data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685800" y="3364992"/>
            <a:ext cx="54864" cy="54864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832104" y="3319272"/>
            <a:ext cx="4837176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Project, Map, Layer, and Geodatabase Creation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85800" y="3515868"/>
            <a:ext cx="54864" cy="54864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32104" y="3470148"/>
            <a:ext cx="4837176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 and Projection Systems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144768" y="1508760"/>
            <a:ext cx="5532120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382512" y="1655064"/>
            <a:ext cx="365760" cy="36576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382512" y="165506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876288" y="1636776"/>
            <a:ext cx="4572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Data and Mapping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419088" y="2157984"/>
            <a:ext cx="54864" cy="54864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565392" y="2112264"/>
            <a:ext cx="4837176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 Table and Fields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419088" y="2308860"/>
            <a:ext cx="54864" cy="54864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565392" y="2263140"/>
            <a:ext cx="4837176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Table Creation, Management, and Import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419088" y="2459736"/>
            <a:ext cx="54864" cy="54864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565392" y="2414016"/>
            <a:ext cx="4837176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Creation, Editing, and Calculation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6419088" y="2610612"/>
            <a:ext cx="54864" cy="54864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565392" y="2564892"/>
            <a:ext cx="4837176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Cartographic Principles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6419088" y="2761488"/>
            <a:ext cx="54864" cy="54864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6565392" y="2715768"/>
            <a:ext cx="4837176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Classification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419088" y="2912364"/>
            <a:ext cx="54864" cy="54864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6565392" y="2866644"/>
            <a:ext cx="4837176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Elements, Layout, and Design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6419088" y="3063240"/>
            <a:ext cx="54864" cy="54864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6565392" y="3017520"/>
            <a:ext cx="4837176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by Attributes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6419088" y="3214116"/>
            <a:ext cx="54864" cy="54864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565392" y="3168396"/>
            <a:ext cx="4837176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by Location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419088" y="3364992"/>
            <a:ext cx="54864" cy="54864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6565392" y="3319272"/>
            <a:ext cx="4837176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Join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11480" y="4023360"/>
            <a:ext cx="5532120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649224" y="4169664"/>
            <a:ext cx="365760" cy="36576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649224" y="416966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1143000" y="4151376"/>
            <a:ext cx="4572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Analysis</a:t>
            </a:r>
            <a:endParaRPr lang="en-US" sz="1250" dirty="0"/>
          </a:p>
        </p:txBody>
      </p:sp>
      <p:sp>
        <p:nvSpPr>
          <p:cNvPr id="54" name="Shape 52"/>
          <p:cNvSpPr/>
          <p:nvPr/>
        </p:nvSpPr>
        <p:spPr>
          <a:xfrm>
            <a:off x="685800" y="4672584"/>
            <a:ext cx="54864" cy="54864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832104" y="4626864"/>
            <a:ext cx="4837176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Join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685800" y="4823460"/>
            <a:ext cx="54864" cy="54864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832104" y="4777740"/>
            <a:ext cx="4837176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685800" y="4974336"/>
            <a:ext cx="54864" cy="54864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832104" y="4928616"/>
            <a:ext cx="4837176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685800" y="5125212"/>
            <a:ext cx="54864" cy="54864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832104" y="5079492"/>
            <a:ext cx="4837176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Dissolve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685800" y="5276088"/>
            <a:ext cx="54864" cy="54864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832104" y="5230368"/>
            <a:ext cx="4837176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Overlay (Union/Intersect)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685800" y="5426964"/>
            <a:ext cx="54864" cy="54864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832104" y="5381244"/>
            <a:ext cx="4837176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Raster Analysis: Surface Analysis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685800" y="5577840"/>
            <a:ext cx="54864" cy="54864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832104" y="5532120"/>
            <a:ext cx="4837176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Algebra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685800" y="5728716"/>
            <a:ext cx="54864" cy="54864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9" name="Text 67"/>
          <p:cNvSpPr/>
          <p:nvPr/>
        </p:nvSpPr>
        <p:spPr>
          <a:xfrm>
            <a:off x="832104" y="5682996"/>
            <a:ext cx="4837176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Suitability Modeling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6144768" y="4023360"/>
            <a:ext cx="5532120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6382512" y="4169664"/>
            <a:ext cx="365760" cy="36576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6382512" y="416966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73" name="Text 71"/>
          <p:cNvSpPr/>
          <p:nvPr/>
        </p:nvSpPr>
        <p:spPr>
          <a:xfrm>
            <a:off x="6876288" y="4151376"/>
            <a:ext cx="4572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of GISc</a:t>
            </a:r>
            <a:endParaRPr lang="en-US" sz="1250" dirty="0"/>
          </a:p>
        </p:txBody>
      </p:sp>
      <p:sp>
        <p:nvSpPr>
          <p:cNvPr id="74" name="Shape 72"/>
          <p:cNvSpPr/>
          <p:nvPr/>
        </p:nvSpPr>
        <p:spPr>
          <a:xfrm>
            <a:off x="6419088" y="4672584"/>
            <a:ext cx="54864" cy="54864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5" name="Text 73"/>
          <p:cNvSpPr/>
          <p:nvPr/>
        </p:nvSpPr>
        <p:spPr>
          <a:xfrm>
            <a:off x="6565392" y="4626864"/>
            <a:ext cx="4837176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 to Geospatial Programming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6419088" y="4823460"/>
            <a:ext cx="54864" cy="54864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7" name="Text 75"/>
          <p:cNvSpPr/>
          <p:nvPr/>
        </p:nvSpPr>
        <p:spPr>
          <a:xfrm>
            <a:off x="6565392" y="4777740"/>
            <a:ext cx="4837176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of GISc</a:t>
            </a:r>
            <a:endParaRPr lang="en-US" sz="850" dirty="0"/>
          </a:p>
        </p:txBody>
      </p:sp>
      <p:sp>
        <p:nvSpPr>
          <p:cNvPr id="78" name="Text 76"/>
          <p:cNvSpPr/>
          <p:nvPr/>
        </p:nvSpPr>
        <p:spPr>
          <a:xfrm>
            <a:off x="6419088" y="5038344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capstone module — where the course brings everything together.</a:t>
            </a:r>
            <a:endParaRPr lang="en-US" sz="950" dirty="0"/>
          </a:p>
        </p:txBody>
      </p:sp>
      <p:sp>
        <p:nvSpPr>
          <p:cNvPr id="79" name="Text 77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A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GIS  ·  01 Course Overview &amp; Intro</a:t>
            </a:r>
            <a:endParaRPr lang="en-US" sz="950" dirty="0"/>
          </a:p>
        </p:txBody>
      </p:sp>
      <p:sp>
        <p:nvSpPr>
          <p:cNvPr id="80" name="Text 78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9A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828800"/>
            <a:ext cx="5486400" cy="5486400"/>
          </a:xfrm>
          <a:prstGeom prst="ellipse">
            <a:avLst/>
          </a:prstGeom>
          <a:solidFill>
            <a:srgbClr val="E97132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2011680" y="4754880"/>
            <a:ext cx="4754880" cy="4754880"/>
          </a:xfrm>
          <a:prstGeom prst="ellipse">
            <a:avLst/>
          </a:prstGeom>
          <a:solidFill>
            <a:srgbClr val="E97132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29260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E97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Installation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40080" y="38862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ArcGIS Pro set up and ready to go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58368" y="4700016"/>
            <a:ext cx="82296" cy="82296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68680" y="461772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7E2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to your ArcGIS organization account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58368" y="5047488"/>
            <a:ext cx="82296" cy="82296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68680" y="496519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7E2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your license under My Settings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" y="5394960"/>
            <a:ext cx="82296" cy="82296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68680" y="5312664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7E2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and install ArcGIS Pro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Installing ArcGIS Pro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64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of 5 — Find the sign-in page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777240" cy="77724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210312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554480" y="21031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arcgis.com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554480" y="2606040"/>
            <a:ext cx="3566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“ArcGIS Online” or visit arcgis.com directly, then click Sign In in the top right.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1554480" y="4023360"/>
            <a:ext cx="1280160" cy="128016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0" descr="/tmp/work/icons/lap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3702" y="4202582"/>
            <a:ext cx="921715" cy="921715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349240" y="1417320"/>
            <a:ext cx="6309360" cy="5029200"/>
          </a:xfrm>
          <a:prstGeom prst="roundRect">
            <a:avLst>
              <a:gd name="adj" fmla="val 1818"/>
            </a:avLst>
          </a:prstGeom>
          <a:solidFill>
            <a:srgbClr val="F4F4F4"/>
          </a:solidFill>
          <a:ln w="1270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1" descr="/tmp/work2/assets/shot_log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840" y="1788566"/>
            <a:ext cx="5852160" cy="428670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A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GIS  ·  02 Software Installation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9A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Installing ArcGIS Pro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64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of 5 — Sign in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777240" cy="77724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210312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554480" y="2103120"/>
            <a:ext cx="3566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your login credentials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554480" y="2880360"/>
            <a:ext cx="3566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ArcGIS organization account you were invited to. Check your email for the invitation if you haven't set a password yet.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1554480" y="4343400"/>
            <a:ext cx="1280160" cy="128016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0" descr="/tmp/work/icons/sign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3702" y="4522622"/>
            <a:ext cx="921715" cy="921715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349240" y="1417320"/>
            <a:ext cx="6309360" cy="5029200"/>
          </a:xfrm>
          <a:prstGeom prst="roundRect">
            <a:avLst>
              <a:gd name="adj" fmla="val 1818"/>
            </a:avLst>
          </a:prstGeom>
          <a:solidFill>
            <a:srgbClr val="F4F4F4"/>
          </a:solidFill>
          <a:ln w="1270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1" descr="/tmp/work2/assets/shot_log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840" y="1788566"/>
            <a:ext cx="5852160" cy="428670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A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GIS  ·  02 Software Installation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9A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Installing ArcGIS Pro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64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of 5 — Open your account settings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777240" cy="77724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210312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554480" y="210312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on My Settings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554480" y="2697480"/>
            <a:ext cx="3566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profile menu in the top right corner and choose “My Settings” to see your available licenses.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1554480" y="4114800"/>
            <a:ext cx="1280160" cy="128016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0" descr="/tmp/work/icons/co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3702" y="4294022"/>
            <a:ext cx="921715" cy="921715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349240" y="1417320"/>
            <a:ext cx="6309360" cy="5029200"/>
          </a:xfrm>
          <a:prstGeom prst="roundRect">
            <a:avLst>
              <a:gd name="adj" fmla="val 1818"/>
            </a:avLst>
          </a:prstGeom>
          <a:solidFill>
            <a:srgbClr val="F4F4F4"/>
          </a:solidFill>
          <a:ln w="1270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1" descr="/tmp/work2/assets/shot_mysetting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840" y="2420112"/>
            <a:ext cx="5852160" cy="302361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A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GIS  ·  02 Software Installation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9A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Installing ArcGIS Pro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64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of 5 — Find your license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777240" cy="77724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210312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554480" y="210312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on Licenses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554480" y="2697480"/>
            <a:ext cx="3566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Licenses tab lists every ArcGIS product your account can access, including ArcGIS Pro.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1554480" y="4114800"/>
            <a:ext cx="1280160" cy="128016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0" descr="/tmp/work/icons/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3702" y="4294022"/>
            <a:ext cx="921715" cy="921715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349240" y="1417320"/>
            <a:ext cx="6309360" cy="5029200"/>
          </a:xfrm>
          <a:prstGeom prst="roundRect">
            <a:avLst>
              <a:gd name="adj" fmla="val 1818"/>
            </a:avLst>
          </a:prstGeom>
          <a:solidFill>
            <a:srgbClr val="F4F4F4"/>
          </a:solidFill>
          <a:ln w="1270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1" descr="/tmp/work2/assets/shot_licens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840" y="2268931"/>
            <a:ext cx="5852160" cy="332597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A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GIS  ·  02 Software Installation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9A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Installing ArcGIS Pro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64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of 5 — Download &amp; install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777240" cy="77724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210312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554480" y="210312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Scroll down and download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554480" y="2697480"/>
            <a:ext cx="3566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ArcGIS Pro in the list and click Download. Run the installer and sign in with the same account when prompted.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1554480" y="4251960"/>
            <a:ext cx="1280160" cy="128016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0" descr="/tmp/work/icons/downlo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3702" y="4431182"/>
            <a:ext cx="921715" cy="921715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349240" y="1417320"/>
            <a:ext cx="6309360" cy="5029200"/>
          </a:xfrm>
          <a:prstGeom prst="roundRect">
            <a:avLst>
              <a:gd name="adj" fmla="val 1818"/>
            </a:avLst>
          </a:prstGeom>
          <a:solidFill>
            <a:srgbClr val="F4F4F4"/>
          </a:solidFill>
          <a:ln w="1270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1" descr="/tmp/work2/assets/shot_downlo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840" y="2259178"/>
            <a:ext cx="5852160" cy="334548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A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GIS  ·  02 Software Installation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9A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828800"/>
            <a:ext cx="5486400" cy="5486400"/>
          </a:xfrm>
          <a:prstGeom prst="ellipse">
            <a:avLst/>
          </a:prstGeom>
          <a:solidFill>
            <a:srgbClr val="E97132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2011680" y="4754880"/>
            <a:ext cx="4754880" cy="4754880"/>
          </a:xfrm>
          <a:prstGeom prst="ellipse">
            <a:avLst/>
          </a:prstGeom>
          <a:solidFill>
            <a:srgbClr val="E97132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29260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E97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of GIS and ArcGIS Ecosystem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40080" y="38862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19th-century map to a modern software platform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58368" y="4700016"/>
            <a:ext cx="82296" cy="82296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68680" y="461772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7E2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spatial analysis began — before computers existed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58368" y="5047488"/>
            <a:ext cx="82296" cy="82296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68680" y="496519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7E2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Esri's origins and the ArcGIS product family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" y="5394960"/>
            <a:ext cx="82296" cy="82296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68680" y="5312664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7E2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platforms, file formats, and migration paths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 Didn’t Start With Computers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64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historic example from 1854 London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675120" y="1783080"/>
            <a:ext cx="4937760" cy="4206240"/>
          </a:xfrm>
          <a:prstGeom prst="roundRect">
            <a:avLst>
              <a:gd name="adj" fmla="val 2174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040880" y="2880360"/>
            <a:ext cx="4206240" cy="0"/>
          </a:xfrm>
          <a:prstGeom prst="line">
            <a:avLst/>
          </a:prstGeom>
          <a:noFill/>
          <a:ln w="25400">
            <a:solidFill>
              <a:srgbClr val="D6D6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040880" y="4160520"/>
            <a:ext cx="4206240" cy="0"/>
          </a:xfrm>
          <a:prstGeom prst="line">
            <a:avLst/>
          </a:prstGeom>
          <a:noFill/>
          <a:ln w="25400">
            <a:solidFill>
              <a:srgbClr val="D6D6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040880" y="5349240"/>
            <a:ext cx="4206240" cy="0"/>
          </a:xfrm>
          <a:prstGeom prst="line">
            <a:avLst/>
          </a:prstGeom>
          <a:noFill/>
          <a:ln w="25400">
            <a:solidFill>
              <a:srgbClr val="D6D6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321040" y="2148840"/>
            <a:ext cx="0" cy="3474720"/>
          </a:xfrm>
          <a:prstGeom prst="line">
            <a:avLst/>
          </a:prstGeom>
          <a:noFill/>
          <a:ln w="25400">
            <a:solidFill>
              <a:srgbClr val="D6D6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9966960" y="2148840"/>
            <a:ext cx="0" cy="3474720"/>
          </a:xfrm>
          <a:prstGeom prst="line">
            <a:avLst/>
          </a:prstGeom>
          <a:noFill/>
          <a:ln w="25400">
            <a:solidFill>
              <a:srgbClr val="D6D6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8275320" y="3200400"/>
            <a:ext cx="91440" cy="91440"/>
          </a:xfrm>
          <a:prstGeom prst="ellipse">
            <a:avLst/>
          </a:prstGeom>
          <a:solidFill>
            <a:srgbClr val="8A94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549640" y="3017520"/>
            <a:ext cx="91440" cy="91440"/>
          </a:xfrm>
          <a:prstGeom prst="ellipse">
            <a:avLst/>
          </a:prstGeom>
          <a:solidFill>
            <a:srgbClr val="8A94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8823960" y="3383280"/>
            <a:ext cx="91440" cy="91440"/>
          </a:xfrm>
          <a:prstGeom prst="ellipse">
            <a:avLst/>
          </a:prstGeom>
          <a:solidFill>
            <a:srgbClr val="8A94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9189720" y="3108960"/>
            <a:ext cx="91440" cy="91440"/>
          </a:xfrm>
          <a:prstGeom prst="ellipse">
            <a:avLst/>
          </a:prstGeom>
          <a:solidFill>
            <a:srgbClr val="8A94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9464040" y="3291840"/>
            <a:ext cx="91440" cy="91440"/>
          </a:xfrm>
          <a:prstGeom prst="ellipse">
            <a:avLst/>
          </a:prstGeom>
          <a:solidFill>
            <a:srgbClr val="8A94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9738360" y="3017520"/>
            <a:ext cx="91440" cy="91440"/>
          </a:xfrm>
          <a:prstGeom prst="ellipse">
            <a:avLst/>
          </a:prstGeom>
          <a:solidFill>
            <a:srgbClr val="8A94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183880" y="4023360"/>
            <a:ext cx="91440" cy="91440"/>
          </a:xfrm>
          <a:prstGeom prst="ellipse">
            <a:avLst/>
          </a:prstGeom>
          <a:solidFill>
            <a:srgbClr val="8A94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641080" y="3931920"/>
            <a:ext cx="91440" cy="91440"/>
          </a:xfrm>
          <a:prstGeom prst="ellipse">
            <a:avLst/>
          </a:prstGeom>
          <a:solidFill>
            <a:srgbClr val="8A94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915400" y="4114800"/>
            <a:ext cx="91440" cy="91440"/>
          </a:xfrm>
          <a:prstGeom prst="ellipse">
            <a:avLst/>
          </a:prstGeom>
          <a:solidFill>
            <a:srgbClr val="8A94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9281160" y="3977640"/>
            <a:ext cx="91440" cy="91440"/>
          </a:xfrm>
          <a:prstGeom prst="ellipse">
            <a:avLst/>
          </a:prstGeom>
          <a:solidFill>
            <a:srgbClr val="8A94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9601200" y="4114800"/>
            <a:ext cx="91440" cy="91440"/>
          </a:xfrm>
          <a:prstGeom prst="ellipse">
            <a:avLst/>
          </a:prstGeom>
          <a:solidFill>
            <a:srgbClr val="8A94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9921240" y="3931920"/>
            <a:ext cx="91440" cy="91440"/>
          </a:xfrm>
          <a:prstGeom prst="ellipse">
            <a:avLst/>
          </a:prstGeom>
          <a:solidFill>
            <a:srgbClr val="8A94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8458200" y="4572000"/>
            <a:ext cx="91440" cy="91440"/>
          </a:xfrm>
          <a:prstGeom prst="ellipse">
            <a:avLst/>
          </a:prstGeom>
          <a:solidFill>
            <a:srgbClr val="8A94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8823960" y="4663440"/>
            <a:ext cx="91440" cy="91440"/>
          </a:xfrm>
          <a:prstGeom prst="ellipse">
            <a:avLst/>
          </a:prstGeom>
          <a:solidFill>
            <a:srgbClr val="8A94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9189720" y="4526280"/>
            <a:ext cx="91440" cy="91440"/>
          </a:xfrm>
          <a:prstGeom prst="ellipse">
            <a:avLst/>
          </a:prstGeom>
          <a:solidFill>
            <a:srgbClr val="8A94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9555480" y="4709160"/>
            <a:ext cx="91440" cy="91440"/>
          </a:xfrm>
          <a:prstGeom prst="ellipse">
            <a:avLst/>
          </a:prstGeom>
          <a:solidFill>
            <a:srgbClr val="8A94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8092440" y="3657600"/>
            <a:ext cx="91440" cy="91440"/>
          </a:xfrm>
          <a:prstGeom prst="ellipse">
            <a:avLst/>
          </a:prstGeom>
          <a:solidFill>
            <a:srgbClr val="8A94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9875520" y="3566160"/>
            <a:ext cx="91440" cy="91440"/>
          </a:xfrm>
          <a:prstGeom prst="ellipse">
            <a:avLst/>
          </a:prstGeom>
          <a:solidFill>
            <a:srgbClr val="8A94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9015984" y="3758184"/>
            <a:ext cx="256032" cy="256032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458200" y="40690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pump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949440" y="548640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dot = a cholera death, mapped by address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" y="1783080"/>
            <a:ext cx="777240" cy="77724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2" name="Image 0" descr="/tmp/work/icons/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454" y="1891894"/>
            <a:ext cx="559613" cy="559613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548640" y="269748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John Snow’s 1854 Cholera Map</a:t>
            </a:r>
            <a:endParaRPr lang="en-US" sz="1700" dirty="0"/>
          </a:p>
        </p:txBody>
      </p:sp>
      <p:sp>
        <p:nvSpPr>
          <p:cNvPr id="34" name="Text 31"/>
          <p:cNvSpPr/>
          <p:nvPr/>
        </p:nvSpPr>
        <p:spPr>
          <a:xfrm>
            <a:off x="548640" y="3200400"/>
            <a:ext cx="5760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a cholera outbreak in London, physician John Snow mapped every death by home address. The pattern revealed a cluster around a single water pump on Broad Street — pointing to contaminated water, not “bad air,” as the cause.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548640" y="4709160"/>
            <a:ext cx="5760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considered one of the first uses of spatial analysis to solve a real-world problem — decades before “GIS” existed as a term.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A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GIS  ·  03 History of GIS &amp; ArcGIS Ecosystem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9A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Esri &amp; the Origins of GIS Software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64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land-use consulting firm became the industry standard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657600" cy="4114800"/>
          </a:xfrm>
          <a:prstGeom prst="roundRect">
            <a:avLst>
              <a:gd name="adj" fmla="val 3000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/tmp/work2/assets/logo_esri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68680" y="3063240"/>
            <a:ext cx="3017520" cy="2011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26280" y="1828800"/>
            <a:ext cx="685800" cy="68580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/tmp/work/icons/calend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2292" y="1924812"/>
            <a:ext cx="493776" cy="49377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394960" y="1810512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E97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5394960" y="2139696"/>
            <a:ext cx="5760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1969, by Jack and Laura Dangermond in Redlands, California.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26280" y="3127248"/>
            <a:ext cx="685800" cy="68580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2" descr="/tmp/work/icons/rou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22292" y="3223260"/>
            <a:ext cx="493776" cy="49377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394960" y="3108960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E97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5394960" y="3438144"/>
            <a:ext cx="5760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Started as a land-use consulting firm focused on environmental analysis and geographic research.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526280" y="4425696"/>
            <a:ext cx="685800" cy="68580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3" descr="/tmp/work/icons/glob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22292" y="4521708"/>
            <a:ext cx="493776" cy="493776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394960" y="4407408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E97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REACH</a:t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5394960" y="4736592"/>
            <a:ext cx="5760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by roughly 350,000 organizations worldwide — governments, NGOs, universities, and private companies.</a:t>
            </a:r>
            <a:endParaRPr lang="en-US" sz="1300" dirty="0"/>
          </a:p>
        </p:txBody>
      </p:sp>
      <p:sp>
        <p:nvSpPr>
          <p:cNvPr id="18" name="Text 12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A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GIS  ·  03 History of GIS &amp; ArcGIS Ecosystem</a:t>
            </a:r>
            <a:endParaRPr lang="en-US" sz="950" dirty="0"/>
          </a:p>
        </p:txBody>
      </p:sp>
      <p:sp>
        <p:nvSpPr>
          <p:cNvPr id="19" name="Text 13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9A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ArcGIS Ecosystem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64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name “Arc” actually comes from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383280" cy="4114800"/>
          </a:xfrm>
          <a:prstGeom prst="roundRect">
            <a:avLst>
              <a:gd name="adj" fmla="val 3243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/tmp/work2/assets/logo_arcgis.jpe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68680" y="2651760"/>
            <a:ext cx="2743200" cy="274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206240" y="1783080"/>
            <a:ext cx="6519672" cy="4114800"/>
          </a:xfrm>
          <a:prstGeom prst="roundRect">
            <a:avLst>
              <a:gd name="adj" fmla="val 2667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4526280" y="2057400"/>
            <a:ext cx="640080" cy="64008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1" descr="/tmp/work/icons/compa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5891" y="2147011"/>
            <a:ext cx="460858" cy="46085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349240" y="205740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Esri built its first GIS software, Arc/INFO, in the late 1970s–early 1980s.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4526280" y="2926080"/>
            <a:ext cx="5943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time, GIS data was stored using vector topology — maps built from points, lines, and polygons, where lines (arcs) connected the points (nodes) that formed the boundaries of shapes.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4526280" y="416052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name “Arc” was chosen because the software managed this arc-node topology — and it stuck through every product that followed: ArcInfo, ArcView, ArcMap, ArcGIS Online, and ArcGIS Pro.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A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GIS  ·  03 History of GIS &amp; ArcGIS Ecosystem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9A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the Platforms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64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ArcMap, QGIS, ArcGIS Online, and ArcGIS Pro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567178" cy="4206240"/>
          </a:xfrm>
          <a:prstGeom prst="roundRect">
            <a:avLst>
              <a:gd name="adj" fmla="val 3562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576197" y="1527048"/>
            <a:ext cx="512064" cy="512064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576197" y="152704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2148840"/>
            <a:ext cx="220141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/tmp/work2/assets/logo_arcmap.jpe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68680" y="2240280"/>
            <a:ext cx="1927098" cy="7315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3200400"/>
            <a:ext cx="22014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ArcMap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77240" y="3703320"/>
            <a:ext cx="210997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Introduced with ArcGIS 8.0 (1999)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77240" y="4453128"/>
            <a:ext cx="210997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10.x was the last major line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77240" y="5202936"/>
            <a:ext cx="210997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phased out in favor of Pro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3390138" y="1783080"/>
            <a:ext cx="2567178" cy="4206240"/>
          </a:xfrm>
          <a:prstGeom prst="roundRect">
            <a:avLst>
              <a:gd name="adj" fmla="val 3562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4417695" y="1527048"/>
            <a:ext cx="512064" cy="512064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4417695" y="152704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3573018" y="2148840"/>
            <a:ext cx="220141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1" descr="/tmp/work2/assets/logo_qgis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710178" y="2240280"/>
            <a:ext cx="1927098" cy="73152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3573018" y="3200400"/>
            <a:ext cx="22014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QGIS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3618738" y="3703320"/>
            <a:ext cx="210997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released July 2002; 1.0 in 2009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3618738" y="4453128"/>
            <a:ext cx="210997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&amp; open source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3618738" y="5202936"/>
            <a:ext cx="210997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Windows, macOS, Linux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6231636" y="1783080"/>
            <a:ext cx="2567178" cy="4206240"/>
          </a:xfrm>
          <a:prstGeom prst="roundRect">
            <a:avLst>
              <a:gd name="adj" fmla="val 3562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19"/>
          <p:cNvSpPr/>
          <p:nvPr/>
        </p:nvSpPr>
        <p:spPr>
          <a:xfrm>
            <a:off x="7259193" y="1527048"/>
            <a:ext cx="512064" cy="512064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7259193" y="152704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6414516" y="2148840"/>
            <a:ext cx="220141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2" descr="/tmp/work2/assets/logo_agol.jpe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551676" y="2240280"/>
            <a:ext cx="1927098" cy="73152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6414516" y="3200400"/>
            <a:ext cx="22014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Online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60236" y="3703320"/>
            <a:ext cx="210997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Released 2012 for organizations</a:t>
            </a:r>
            <a:endParaRPr lang="en-US" sz="1050" dirty="0"/>
          </a:p>
        </p:txBody>
      </p:sp>
      <p:sp>
        <p:nvSpPr>
          <p:cNvPr id="29" name="Text 24"/>
          <p:cNvSpPr/>
          <p:nvPr/>
        </p:nvSpPr>
        <p:spPr>
          <a:xfrm>
            <a:off x="6460236" y="4453128"/>
            <a:ext cx="210997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Browser-based, Software-as-a-Service</a:t>
            </a:r>
            <a:endParaRPr lang="en-US" sz="1050" dirty="0"/>
          </a:p>
        </p:txBody>
      </p:sp>
      <p:sp>
        <p:nvSpPr>
          <p:cNvPr id="30" name="Text 25"/>
          <p:cNvSpPr/>
          <p:nvPr/>
        </p:nvSpPr>
        <p:spPr>
          <a:xfrm>
            <a:off x="6460236" y="5202936"/>
            <a:ext cx="210997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local install required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9073134" y="1783080"/>
            <a:ext cx="2567178" cy="4206240"/>
          </a:xfrm>
          <a:prstGeom prst="roundRect">
            <a:avLst>
              <a:gd name="adj" fmla="val 3562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27"/>
          <p:cNvSpPr/>
          <p:nvPr/>
        </p:nvSpPr>
        <p:spPr>
          <a:xfrm>
            <a:off x="10100691" y="1527048"/>
            <a:ext cx="512064" cy="512064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28"/>
          <p:cNvSpPr/>
          <p:nvPr/>
        </p:nvSpPr>
        <p:spPr>
          <a:xfrm>
            <a:off x="10100691" y="152704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4" name="Shape 29"/>
          <p:cNvSpPr/>
          <p:nvPr/>
        </p:nvSpPr>
        <p:spPr>
          <a:xfrm>
            <a:off x="9256014" y="2148840"/>
            <a:ext cx="220141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5" name="Image 3" descr="/tmp/work2/assets/logo_arcgispro.jpe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9393174" y="2240280"/>
            <a:ext cx="1927098" cy="731520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9256014" y="3200400"/>
            <a:ext cx="22014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Pro</a:t>
            </a:r>
            <a:endParaRPr lang="en-US" sz="1500" dirty="0"/>
          </a:p>
        </p:txBody>
      </p:sp>
      <p:sp>
        <p:nvSpPr>
          <p:cNvPr id="37" name="Text 31"/>
          <p:cNvSpPr/>
          <p:nvPr/>
        </p:nvSpPr>
        <p:spPr>
          <a:xfrm>
            <a:off x="9301734" y="3703320"/>
            <a:ext cx="210997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1.0 released 2015</a:t>
            </a:r>
            <a:endParaRPr lang="en-US" sz="1050" dirty="0"/>
          </a:p>
        </p:txBody>
      </p:sp>
      <p:sp>
        <p:nvSpPr>
          <p:cNvPr id="38" name="Text 32"/>
          <p:cNvSpPr/>
          <p:nvPr/>
        </p:nvSpPr>
        <p:spPr>
          <a:xfrm>
            <a:off x="9301734" y="4453128"/>
            <a:ext cx="210997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Windows-only, 64-bit</a:t>
            </a:r>
            <a:endParaRPr lang="en-US" sz="1050" dirty="0"/>
          </a:p>
        </p:txBody>
      </p:sp>
      <p:sp>
        <p:nvSpPr>
          <p:cNvPr id="39" name="Text 33"/>
          <p:cNvSpPr/>
          <p:nvPr/>
        </p:nvSpPr>
        <p:spPr>
          <a:xfrm>
            <a:off x="9301734" y="5202936"/>
            <a:ext cx="210997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Esri's current flagship desktop app</a:t>
            </a:r>
            <a:endParaRPr lang="en-US" sz="1050" dirty="0"/>
          </a:p>
        </p:txBody>
      </p:sp>
      <p:sp>
        <p:nvSpPr>
          <p:cNvPr id="40" name="Text 34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A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GIS  ·  03 History of GIS &amp; ArcGIS Ecosystem</a:t>
            </a:r>
            <a:endParaRPr lang="en-US" sz="950" dirty="0"/>
          </a:p>
        </p:txBody>
      </p:sp>
      <p:sp>
        <p:nvSpPr>
          <p:cNvPr id="41" name="Text 35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9A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 File Formats: Storing Data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64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everyday formats you'll open, save, and share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24160" y="384048"/>
            <a:ext cx="566928" cy="566928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/tmp/work/icons/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3530" y="463418"/>
            <a:ext cx="408188" cy="408188"/>
          </a:xfrm>
          <a:prstGeom prst="rect">
            <a:avLst/>
          </a:prstGeom>
        </p:spPr>
      </p:pic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420624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94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01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Extension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0E28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Shapefile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ArcGIS, QGIS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.shp (+.dbf, .shx)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classic GIS format; stores vector features &amp; attributes. Simple, but limited.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0E28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 Geodatabase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ArcGIS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.gdb folder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Esri's native format; stores multiple layers, tables, and relationships.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0E28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GeoPackage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QGIS, ArcGIS Pro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.gpkg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standard; a single file holding many layers (vector + raster).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0E28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Raster / Imagery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ArcGIS, QGIS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.tif, .img, .jpg, .png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Pixel-based data — elevation, land cover, satellite imagery.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0E28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.csv, .xlsx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Attribute data that can be joined to spatial layers.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A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GIS  ·  03 History of GIS &amp; ArcGIS Ecosystem</a:t>
            </a:r>
            <a:endParaRPr lang="en-US" sz="950" dirty="0"/>
          </a:p>
        </p:txBody>
      </p:sp>
      <p:sp>
        <p:nvSpPr>
          <p:cNvPr id="8" name="Text 4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9A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 File Formats: Projects &amp; Styles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64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files behind your workspace, symbology, and layouts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24160" y="384048"/>
            <a:ext cx="566928" cy="566928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/tmp/work/icons/co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3530" y="463418"/>
            <a:ext cx="408188" cy="408188"/>
          </a:xfrm>
          <a:prstGeom prst="rect">
            <a:avLst/>
          </a:prstGeom>
        </p:spPr>
      </p:pic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4206240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50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01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QGIS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ArcGIS Pro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0E28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.qgz / .qgs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.aprx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workspace — stores map layouts, data links, and settings. Not the data itself.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0E28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 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.qlr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.lyrx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Saves layer appearance (symbology, labels, scale visibility); points to your data.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0E28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Style 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.qml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.stylx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 ramps, symbols, and fonts for consistent cartography.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0E28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Layout Template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.qpt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.pagx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Templates for printable maps: titles, legends, north arrows.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0E28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Package / Bundle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.gpkg to share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.ppkx, .mapx, .tpkx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Ready-to-share versions of maps or projects with embedded data.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A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GIS  ·  03 History of GIS &amp; ArcGIS Ecosystem</a:t>
            </a:r>
            <a:endParaRPr lang="en-US" sz="950" dirty="0"/>
          </a:p>
        </p:txBody>
      </p:sp>
      <p:sp>
        <p:nvSpPr>
          <p:cNvPr id="8" name="Text 4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9A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Migrating ArcMap → ArcGIS Pro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64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one-way street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914400" cy="91440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/tmp/work/icons/exchan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1956816"/>
            <a:ext cx="658368" cy="6583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37360" y="18745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Pro can import ArcMap projects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1737360" y="2606040"/>
            <a:ext cx="9875520" cy="868680"/>
          </a:xfrm>
          <a:prstGeom prst="roundRect">
            <a:avLst>
              <a:gd name="adj" fmla="val 8421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1965960" y="2606040"/>
            <a:ext cx="2743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97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these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754880" y="2606040"/>
            <a:ext cx="6675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.mxd (map), .lyr (layer), .style (styles)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1737360" y="3630168"/>
            <a:ext cx="9875520" cy="868680"/>
          </a:xfrm>
          <a:prstGeom prst="roundRect">
            <a:avLst>
              <a:gd name="adj" fmla="val 8421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1965960" y="3630168"/>
            <a:ext cx="2743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97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converts to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754880" y="3630168"/>
            <a:ext cx="6675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.aprx, .lyrx, .stylx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737360" y="4654296"/>
            <a:ext cx="9875520" cy="868680"/>
          </a:xfrm>
          <a:prstGeom prst="roundRect">
            <a:avLst>
              <a:gd name="adj" fmla="val 8421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1965960" y="4654296"/>
            <a:ext cx="2743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97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754880" y="4654296"/>
            <a:ext cx="6675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One-way only — ArcMap cannot open .aprx files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A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GIS  ·  03 History of GIS &amp; ArcGIS Ecosystem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9A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Between QGIS &amp; ArcGIS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64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transfers cleanly, and what doesn't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17236" cy="4206240"/>
          </a:xfrm>
          <a:prstGeom prst="roundRect">
            <a:avLst>
              <a:gd name="adj" fmla="val 2609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68680" y="2057400"/>
            <a:ext cx="548640" cy="54864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tmp/work/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490" y="2134210"/>
            <a:ext cx="395021" cy="3950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2057400"/>
            <a:ext cx="39913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“safe” formats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914400" y="2916936"/>
            <a:ext cx="82296" cy="82296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1115568" y="2834640"/>
            <a:ext cx="44028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Shapefile (.shp)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14400" y="3419856"/>
            <a:ext cx="82296" cy="82296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1115568" y="3337560"/>
            <a:ext cx="44028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GeoPackage (.gpkg)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914400" y="3922776"/>
            <a:ext cx="82296" cy="82296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1115568" y="3840480"/>
            <a:ext cx="44028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(.csv)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914400" y="4425696"/>
            <a:ext cx="82296" cy="82296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1115568" y="4343400"/>
            <a:ext cx="44028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Geodatabase (.gdb) — often read-only in QGIS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68680" y="4983480"/>
            <a:ext cx="467715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QGIS cannot open Esri project files (.mxd or .aprx) — but it can open the data those projects use.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323076" y="1783080"/>
            <a:ext cx="5317236" cy="4206240"/>
          </a:xfrm>
          <a:prstGeom prst="roundRect">
            <a:avLst>
              <a:gd name="adj" fmla="val 2609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6643116" y="2057400"/>
            <a:ext cx="548640" cy="54864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1" descr="/tmp/work/icons/exchan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9926" y="2134210"/>
            <a:ext cx="395021" cy="395021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7328916" y="2057400"/>
            <a:ext cx="39913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project-to-project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6643116" y="2834640"/>
            <a:ext cx="46771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97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QGIS → ArcMap</a:t>
            </a:r>
            <a:endParaRPr lang="en-US" sz="1350" dirty="0"/>
          </a:p>
        </p:txBody>
      </p:sp>
      <p:sp>
        <p:nvSpPr>
          <p:cNvPr id="22" name="Text 18"/>
          <p:cNvSpPr/>
          <p:nvPr/>
        </p:nvSpPr>
        <p:spPr>
          <a:xfrm>
            <a:off x="6643116" y="3182112"/>
            <a:ext cx="467715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transfers well. The QGIS project, symbology, and layouts do not.</a:t>
            </a:r>
            <a:endParaRPr lang="en-US" sz="1250" dirty="0"/>
          </a:p>
        </p:txBody>
      </p:sp>
      <p:sp>
        <p:nvSpPr>
          <p:cNvPr id="23" name="Text 19"/>
          <p:cNvSpPr/>
          <p:nvPr/>
        </p:nvSpPr>
        <p:spPr>
          <a:xfrm>
            <a:off x="6643116" y="4023360"/>
            <a:ext cx="46771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97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ArcMap → QGIS</a:t>
            </a:r>
            <a:endParaRPr lang="en-US" sz="1350" dirty="0"/>
          </a:p>
        </p:txBody>
      </p:sp>
      <p:sp>
        <p:nvSpPr>
          <p:cNvPr id="24" name="Text 20"/>
          <p:cNvSpPr/>
          <p:nvPr/>
        </p:nvSpPr>
        <p:spPr>
          <a:xfrm>
            <a:off x="6643116" y="4370832"/>
            <a:ext cx="467715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the data, not the project — QGIS cannot open .mxd files.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A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GIS  ·  03 History of GIS &amp; ArcGIS Ecosystem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9A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Practical Migration Workflow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64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steps, whichever direction you're going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2926080"/>
          </a:xfrm>
          <a:prstGeom prst="roundRect">
            <a:avLst>
              <a:gd name="adj" fmla="val 3750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988820" y="2103120"/>
            <a:ext cx="640080" cy="64008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988820" y="2103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2971800"/>
            <a:ext cx="29718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what you're moving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22960" y="3657600"/>
            <a:ext cx="2971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(yes) vs. project layout/symbology (usually no).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43400" y="1783080"/>
            <a:ext cx="3520440" cy="2926080"/>
          </a:xfrm>
          <a:prstGeom prst="roundRect">
            <a:avLst>
              <a:gd name="adj" fmla="val 3750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783580" y="2103120"/>
            <a:ext cx="640080" cy="64008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783580" y="2103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617720" y="2971800"/>
            <a:ext cx="29718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to a neutral format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617720" y="3657600"/>
            <a:ext cx="2971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Pro/ArcMap → .gpkg / .shp / .csv.  QGIS → .gpkg / .shp / .csv.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38160" y="1783080"/>
            <a:ext cx="3520440" cy="2926080"/>
          </a:xfrm>
          <a:prstGeom prst="roundRect">
            <a:avLst>
              <a:gd name="adj" fmla="val 3750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9578340" y="2103120"/>
            <a:ext cx="640080" cy="64008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578340" y="2103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412480" y="2971800"/>
            <a:ext cx="29718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 the map design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412480" y="3657600"/>
            <a:ext cx="2971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Symbology and layouts usually don't transfer — recreate them in the new software.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493776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0E284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22960" y="493776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check: coordinate system / projection · field names &amp; data types · joins, relates, and null values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A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GIS  ·  03 History of GIS &amp; ArcGIS Ecosystem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9A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828800"/>
            <a:ext cx="5486400" cy="5486400"/>
          </a:xfrm>
          <a:prstGeom prst="ellipse">
            <a:avLst/>
          </a:prstGeom>
          <a:solidFill>
            <a:srgbClr val="E97132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2011680" y="4754880"/>
            <a:ext cx="4754880" cy="4754880"/>
          </a:xfrm>
          <a:prstGeom prst="ellipse">
            <a:avLst/>
          </a:prstGeom>
          <a:solidFill>
            <a:srgbClr val="E97132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29260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E97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GIS/GISc Applications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40080" y="38862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use GIS more often than you think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58368" y="4700016"/>
            <a:ext cx="82296" cy="82296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68680" y="461772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7E2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relies on GIS professionally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58368" y="5047488"/>
            <a:ext cx="82296" cy="82296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68680" y="496519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7E2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location-based apps you use every day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" y="5394960"/>
            <a:ext cx="82296" cy="82296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68680" y="5312664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7E2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 across industries and fields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GIS?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64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more professions than most people expect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85800" y="178308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337560" y="178308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474720" y="178308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&amp; Regional Planners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26480" y="178308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263640" y="178308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Environmental Agencies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915400" y="178308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052560" y="178308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Scientists &amp; Analysts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2816352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85800" y="2816352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Geologists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337560" y="2816352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474720" y="2816352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Archaeologists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0" y="2816352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263640" y="2816352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Biologists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915400" y="2816352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9052560" y="2816352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Estate Developers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3922776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...anyone who stores, analyzes, and depends on spatial data.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48640" y="4434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You've already used products built on GIS: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4937760"/>
            <a:ext cx="594360" cy="59436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0" descr="/tmp/work/icons/st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50" y="5020970"/>
            <a:ext cx="427939" cy="427939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1261872" y="4919472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Starbucks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1261872" y="5230368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site-selection modeling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3383280" y="4937760"/>
            <a:ext cx="594360" cy="59436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1" descr="/tmp/work/icons/ho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6490" y="5020970"/>
            <a:ext cx="427939" cy="427939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4096512" y="4919472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Zillow</a:t>
            </a:r>
            <a:endParaRPr lang="en-US" sz="1300" dirty="0"/>
          </a:p>
        </p:txBody>
      </p:sp>
      <p:sp>
        <p:nvSpPr>
          <p:cNvPr id="29" name="Text 25"/>
          <p:cNvSpPr/>
          <p:nvPr/>
        </p:nvSpPr>
        <p:spPr>
          <a:xfrm>
            <a:off x="4096512" y="5230368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&amp; neighborhood data</a:t>
            </a:r>
            <a:endParaRPr lang="en-US" sz="1050" dirty="0"/>
          </a:p>
        </p:txBody>
      </p:sp>
      <p:sp>
        <p:nvSpPr>
          <p:cNvPr id="30" name="Shape 26"/>
          <p:cNvSpPr/>
          <p:nvPr/>
        </p:nvSpPr>
        <p:spPr>
          <a:xfrm>
            <a:off x="6217920" y="4937760"/>
            <a:ext cx="594360" cy="59436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1" name="Image 2" descr="/tmp/work/icons/gamep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1130" y="5020970"/>
            <a:ext cx="427939" cy="427939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6931152" y="4919472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Pokémon GO</a:t>
            </a:r>
            <a:endParaRPr lang="en-US" sz="1300" dirty="0"/>
          </a:p>
        </p:txBody>
      </p:sp>
      <p:sp>
        <p:nvSpPr>
          <p:cNvPr id="33" name="Text 28"/>
          <p:cNvSpPr/>
          <p:nvPr/>
        </p:nvSpPr>
        <p:spPr>
          <a:xfrm>
            <a:off x="6931152" y="5230368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 tied to real locations</a:t>
            </a:r>
            <a:endParaRPr 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9052560" y="4937760"/>
            <a:ext cx="594360" cy="59436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5" name="Image 3" descr="/tmp/work/icons/utensil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35770" y="5020970"/>
            <a:ext cx="427939" cy="427939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9765792" y="4919472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DoorDash</a:t>
            </a:r>
            <a:endParaRPr lang="en-US" sz="1300" dirty="0"/>
          </a:p>
        </p:txBody>
      </p:sp>
      <p:sp>
        <p:nvSpPr>
          <p:cNvPr id="37" name="Text 31"/>
          <p:cNvSpPr/>
          <p:nvPr/>
        </p:nvSpPr>
        <p:spPr>
          <a:xfrm>
            <a:off x="9765792" y="5230368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zone &amp; routing</a:t>
            </a:r>
            <a:endParaRPr lang="en-US" sz="1050" dirty="0"/>
          </a:p>
        </p:txBody>
      </p:sp>
      <p:sp>
        <p:nvSpPr>
          <p:cNvPr id="38" name="Text 32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A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GIS  ·  04 GIS/GISc Applications</a:t>
            </a:r>
            <a:endParaRPr lang="en-US" sz="950" dirty="0"/>
          </a:p>
        </p:txBody>
      </p:sp>
      <p:sp>
        <p:nvSpPr>
          <p:cNvPr id="39" name="Text 33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9A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 in Everyday Life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64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“Services” pillar — a market most people never see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software itself, GIS powers a huge market of location-based products and data services — most of which you interact with daily without ever thinking of it as “GIS.”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697480"/>
            <a:ext cx="3520440" cy="182880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04672" y="2953512"/>
            <a:ext cx="594360" cy="59436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/tmp/work/icons/c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882" y="3036722"/>
            <a:ext cx="427939" cy="42793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2953512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&amp; Ride-Share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77240" y="365760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Turn-by-turn directions, ETA prediction, and route optimization.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43400" y="2697480"/>
            <a:ext cx="3520440" cy="182880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599432" y="2953512"/>
            <a:ext cx="594360" cy="59436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/tmp/work/icons/cloudsu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2642" y="3036722"/>
            <a:ext cx="427939" cy="42793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03520" y="2953512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&amp; Environment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4572000" y="365760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radar, forecasts, and air-quality maps tied to your exact location.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8138160" y="2697480"/>
            <a:ext cx="3520440" cy="182880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8394192" y="2953512"/>
            <a:ext cx="594360" cy="59436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2" descr="/tmp/work/icons/gamep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7402" y="3036722"/>
            <a:ext cx="427939" cy="427939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098280" y="2953512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Location-Based Games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8366760" y="365760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Augmented-reality games overlaying gameplay onto real-world coordinates.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548640" y="4754880"/>
            <a:ext cx="3520440" cy="182880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6"/>
          <p:cNvSpPr/>
          <p:nvPr/>
        </p:nvSpPr>
        <p:spPr>
          <a:xfrm>
            <a:off x="804672" y="5010912"/>
            <a:ext cx="594360" cy="59436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3" descr="/tmp/work/icons/utensil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7882" y="5094122"/>
            <a:ext cx="427939" cy="427939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508760" y="5010912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&amp; Logistics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777240" y="571500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orders to drivers and optimizing delivery zones in real time.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4343400" y="4754880"/>
            <a:ext cx="3520440" cy="182880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0"/>
          <p:cNvSpPr/>
          <p:nvPr/>
        </p:nvSpPr>
        <p:spPr>
          <a:xfrm>
            <a:off x="4599432" y="5010912"/>
            <a:ext cx="594360" cy="59436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4" descr="/tmp/work/icons/sear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82642" y="5094122"/>
            <a:ext cx="427939" cy="427939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303520" y="5010912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Search</a:t>
            </a:r>
            <a:endParaRPr lang="en-US" sz="1300" dirty="0"/>
          </a:p>
        </p:txBody>
      </p:sp>
      <p:sp>
        <p:nvSpPr>
          <p:cNvPr id="29" name="Text 22"/>
          <p:cNvSpPr/>
          <p:nvPr/>
        </p:nvSpPr>
        <p:spPr>
          <a:xfrm>
            <a:off x="4572000" y="571500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“Near me” search results, ranked by real distance and travel time.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8138160" y="4754880"/>
            <a:ext cx="3520440" cy="182880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4"/>
          <p:cNvSpPr/>
          <p:nvPr/>
        </p:nvSpPr>
        <p:spPr>
          <a:xfrm>
            <a:off x="8394192" y="5010912"/>
            <a:ext cx="594360" cy="59436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2" name="Image 5" descr="/tmp/work/icons/char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77402" y="5094122"/>
            <a:ext cx="427939" cy="427939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9098280" y="5010912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Imagery &amp; Data Providers</a:t>
            </a:r>
            <a:endParaRPr lang="en-US" sz="1300" dirty="0"/>
          </a:p>
        </p:txBody>
      </p:sp>
      <p:sp>
        <p:nvSpPr>
          <p:cNvPr id="34" name="Text 26"/>
          <p:cNvSpPr/>
          <p:nvPr/>
        </p:nvSpPr>
        <p:spPr>
          <a:xfrm>
            <a:off x="8366760" y="571500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 and aerial imagery licensed to governments and businesses.</a:t>
            </a:r>
            <a:endParaRPr lang="en-US" sz="1050" dirty="0"/>
          </a:p>
        </p:txBody>
      </p:sp>
      <p:sp>
        <p:nvSpPr>
          <p:cNvPr id="35" name="Text 27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A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GIS  ·  04 GIS/GISc Applications</a:t>
            </a:r>
            <a:endParaRPr lang="en-US" sz="950" dirty="0"/>
          </a:p>
        </p:txBody>
      </p:sp>
      <p:sp>
        <p:nvSpPr>
          <p:cNvPr id="36" name="Text 28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9A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 Across Fields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64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every industry has a spatial layer to it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2960" y="2057400"/>
            <a:ext cx="685800" cy="68580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tmp/work/icons/c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" y="215341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83464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Planning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77240" y="3200400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Zoning, transit routes, and infrastructure siting.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43400" y="178308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617720" y="2057400"/>
            <a:ext cx="685800" cy="68580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/tmp/work/icons/lea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3732" y="2153412"/>
            <a:ext cx="493776" cy="4937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72000" y="283464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4572000" y="3200400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Habitat, land cover, and conservation tracking.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38160" y="178308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8412480" y="2057400"/>
            <a:ext cx="685800" cy="68580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/tmp/work/icons/heartbea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8492" y="2153412"/>
            <a:ext cx="493776" cy="49377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66760" y="283464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Health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8366760" y="3200400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spread, access to care, health equity.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48640" y="402336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822960" y="4297680"/>
            <a:ext cx="685800" cy="68580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/tmp/work/icons/triang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8972" y="4393692"/>
            <a:ext cx="493776" cy="49377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77240" y="507492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Disaster Response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777240" y="5440680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Flood, wildfire, and evacuation modeling.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4343400" y="402336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19"/>
          <p:cNvSpPr/>
          <p:nvPr/>
        </p:nvSpPr>
        <p:spPr>
          <a:xfrm>
            <a:off x="4617720" y="4297680"/>
            <a:ext cx="685800" cy="68580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4" descr="/tmp/work/icons/landm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13732" y="4393692"/>
            <a:ext cx="493776" cy="49377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572000" y="507492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&amp; Policy</a:t>
            </a:r>
            <a:endParaRPr lang="en-US" sz="1500" dirty="0"/>
          </a:p>
        </p:txBody>
      </p:sp>
      <p:sp>
        <p:nvSpPr>
          <p:cNvPr id="28" name="Text 21"/>
          <p:cNvSpPr/>
          <p:nvPr/>
        </p:nvSpPr>
        <p:spPr>
          <a:xfrm>
            <a:off x="4572000" y="5440680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Redistricting, service delivery, census analysis.</a:t>
            </a:r>
            <a:endParaRPr lang="en-US" sz="1150" dirty="0"/>
          </a:p>
        </p:txBody>
      </p:sp>
      <p:sp>
        <p:nvSpPr>
          <p:cNvPr id="29" name="Shape 22"/>
          <p:cNvSpPr/>
          <p:nvPr/>
        </p:nvSpPr>
        <p:spPr>
          <a:xfrm>
            <a:off x="8138160" y="402336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3"/>
          <p:cNvSpPr/>
          <p:nvPr/>
        </p:nvSpPr>
        <p:spPr>
          <a:xfrm>
            <a:off x="8412480" y="4297680"/>
            <a:ext cx="685800" cy="68580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1" name="Image 5" descr="/tmp/work/icons/char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08492" y="4393692"/>
            <a:ext cx="493776" cy="493776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366760" y="507492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Logistics</a:t>
            </a:r>
            <a:endParaRPr lang="en-US" sz="1500" dirty="0"/>
          </a:p>
        </p:txBody>
      </p:sp>
      <p:sp>
        <p:nvSpPr>
          <p:cNvPr id="33" name="Text 25"/>
          <p:cNvSpPr/>
          <p:nvPr/>
        </p:nvSpPr>
        <p:spPr>
          <a:xfrm>
            <a:off x="8366760" y="5440680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selection, market analysis, delivery routing.</a:t>
            </a:r>
            <a:endParaRPr lang="en-US" sz="1150" dirty="0"/>
          </a:p>
        </p:txBody>
      </p:sp>
      <p:sp>
        <p:nvSpPr>
          <p:cNvPr id="34" name="Text 26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A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GIS  ·  04 GIS/GISc Applications</a:t>
            </a:r>
            <a:endParaRPr lang="en-US" sz="950" dirty="0"/>
          </a:p>
        </p:txBody>
      </p:sp>
      <p:sp>
        <p:nvSpPr>
          <p:cNvPr id="35" name="Text 27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9A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828800"/>
            <a:ext cx="5486400" cy="5486400"/>
          </a:xfrm>
          <a:prstGeom prst="ellipse">
            <a:avLst/>
          </a:prstGeom>
          <a:solidFill>
            <a:srgbClr val="E97132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2011680" y="4754880"/>
            <a:ext cx="4754880" cy="4754880"/>
          </a:xfrm>
          <a:prstGeom prst="ellipse">
            <a:avLst/>
          </a:prstGeom>
          <a:solidFill>
            <a:srgbClr val="E97132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29260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E97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GIS/GISc Matter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40080" y="38862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mindset and the payoff — why this course is worth your time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58368" y="4700016"/>
            <a:ext cx="82296" cy="82296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68680" y="461772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7E2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thinking: the core skill behind every GIS task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58368" y="5047488"/>
            <a:ext cx="82296" cy="82296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68680" y="496519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7E2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location leads to better decisions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" y="5394960"/>
            <a:ext cx="82296" cy="82296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68680" y="5312664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7E2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data isn't useful until it has a “where”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Thinking: The Core Skill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64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this course builds toward asking better “where” questions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005840" cy="100584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/tmp/work/icons/b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458" y="2015338"/>
            <a:ext cx="724205" cy="72420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828800" y="1920240"/>
            <a:ext cx="9326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thinking is the habit of asking not just what is happening, but where — and why it's happening there.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548640" y="306324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22960" y="3063240"/>
            <a:ext cx="21945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97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108960" y="3063240"/>
            <a:ext cx="8321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is it? How does that compare to everything nearby?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48640" y="408736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822960" y="4087368"/>
            <a:ext cx="21945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97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108960" y="4087368"/>
            <a:ext cx="8321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 cluster, a trend, or a relationship across space?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548640" y="5111496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822960" y="5111496"/>
            <a:ext cx="21945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97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108960" y="5111496"/>
            <a:ext cx="8321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spatial relationship explains why it's happening there?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A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GIS  ·  05 Why GIS/GISc Matter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9A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Use GIS? Better Decisions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64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Seeing relationships, patterns, and trends in a geographic context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685800" cy="68580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/tmp/work/icons/st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" y="2061972"/>
            <a:ext cx="493776" cy="4937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2084832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should we open a new store?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548640" y="2926080"/>
            <a:ext cx="685800" cy="68580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1" descr="/tmp/work/icons/c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" y="3022092"/>
            <a:ext cx="493776" cy="49377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3044952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route gets a delivery there fastest?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548640" y="3886200"/>
            <a:ext cx="685800" cy="68580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2" descr="/tmp/work/icons/triang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" y="3982212"/>
            <a:ext cx="493776" cy="49377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463040" y="4005072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neighborhoods will a hurricane hit hardest?</a:t>
            </a:r>
            <a:endParaRPr lang="en-US" sz="1700" dirty="0"/>
          </a:p>
        </p:txBody>
      </p:sp>
      <p:sp>
        <p:nvSpPr>
          <p:cNvPr id="13" name="Shape 8"/>
          <p:cNvSpPr/>
          <p:nvPr/>
        </p:nvSpPr>
        <p:spPr>
          <a:xfrm>
            <a:off x="548640" y="4983480"/>
            <a:ext cx="11091672" cy="1051560"/>
          </a:xfrm>
          <a:prstGeom prst="roundRect">
            <a:avLst>
              <a:gd name="adj" fmla="val 8696"/>
            </a:avLst>
          </a:prstGeom>
          <a:solidFill>
            <a:srgbClr val="0E284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822960" y="498348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 turns questions like these into evidence-based answers — instead of guesses.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A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GIS  ·  05 Why GIS/GISc Matter</a:t>
            </a:r>
            <a:endParaRPr lang="en-US" sz="950" dirty="0"/>
          </a:p>
        </p:txBody>
      </p:sp>
      <p:sp>
        <p:nvSpPr>
          <p:cNvPr id="16" name="Text 11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9A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Not Just Data — It's Location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64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numbers mean very little until you know where they happened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17236" cy="4114800"/>
          </a:xfrm>
          <a:prstGeom prst="roundRect">
            <a:avLst>
              <a:gd name="adj" fmla="val 2667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14400" y="2103120"/>
            <a:ext cx="777240" cy="77724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tmp/work/icons/bo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214" y="2211934"/>
            <a:ext cx="559613" cy="55961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3063240"/>
            <a:ext cx="46771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Non-Spatial Data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68680" y="3520440"/>
            <a:ext cx="4677156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 of electricity used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it was last serviced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homes rely on this utility box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68680" y="5029200"/>
            <a:ext cx="46771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its own, this is just a spreadsheet row.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323076" y="1783080"/>
            <a:ext cx="5317236" cy="4114800"/>
          </a:xfrm>
          <a:prstGeom prst="roundRect">
            <a:avLst>
              <a:gd name="adj" fmla="val 2667"/>
            </a:avLst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6688836" y="210312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/tmp/work/icons/mapmarker_oran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7650" y="2211934"/>
            <a:ext cx="559613" cy="55961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643116" y="3063240"/>
            <a:ext cx="46771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...Add a Location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6643116" y="3520440"/>
            <a:ext cx="46771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F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it's a point on a map, next to every other utility box in the city.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6643116" y="4297680"/>
            <a:ext cx="4677156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 emerge: aging equipment clusters in one district, overloaded boxes line up along a single street, maintenance visits cluster near the depot.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A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GIS  ·  05 Why GIS/GISc Matter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A9A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206240"/>
            <a:ext cx="4206240" cy="4206240"/>
          </a:xfrm>
          <a:prstGeom prst="ellipse">
            <a:avLst/>
          </a:prstGeom>
          <a:solidFill>
            <a:srgbClr val="E97132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 &amp; Next Steps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48640" cy="54864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/tmp/work/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890" y="1677010"/>
            <a:ext cx="395021" cy="39502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1600200"/>
            <a:ext cx="9601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E5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now know where GIS came from, how the ArcGIS ecosystem fits together, and how vector and raster data differ.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640080" y="2468880"/>
            <a:ext cx="548640" cy="54864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1" descr="/tmp/work/icons/lapt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890" y="2545690"/>
            <a:ext cx="395021" cy="395021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17320" y="2468880"/>
            <a:ext cx="9601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E5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installed ArcGIS Pro and signed in — you're ready to open the software next class.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640080" y="3337560"/>
            <a:ext cx="548640" cy="54864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2" descr="/tmp/work/icons/bra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890" y="3414370"/>
            <a:ext cx="395021" cy="395021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417320" y="3337560"/>
            <a:ext cx="9601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E5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You've seen who uses GIS, how it shows up in everyday apps, and why turning data into location leads to better decisions.</a:t>
            </a:r>
            <a:endParaRPr lang="en-US" sz="1450" dirty="0"/>
          </a:p>
        </p:txBody>
      </p:sp>
      <p:sp>
        <p:nvSpPr>
          <p:cNvPr id="13" name="Shape 8"/>
          <p:cNvSpPr/>
          <p:nvPr/>
        </p:nvSpPr>
        <p:spPr>
          <a:xfrm>
            <a:off x="640080" y="4206240"/>
            <a:ext cx="548640" cy="548640"/>
          </a:xfrm>
          <a:prstGeom prst="ellipse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3" descr="/tmp/work/icons/arro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6890" y="4283050"/>
            <a:ext cx="395021" cy="395021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417320" y="4206240"/>
            <a:ext cx="9601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E5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up: The Politics and Ethics of Mapping, and Map Types and Modern Maps — bring your laptop with ArcGIS Pro installed and signed in.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E57A2DF-8C16-488F-BE6A-A6A34DA03692}">
  <we:reference id="wa200010001" version="1.0.0.1" store="en-US" storeType="OMEX"/>
  <we:alternateReferences>
    <we:reference id="wa200010001" version="1.0.0.1" store="en-US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2902</Words>
  <Application>Microsoft Office PowerPoint</Application>
  <PresentationFormat>Widescreen</PresentationFormat>
  <Paragraphs>436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Shokran Rahiminezhad</cp:lastModifiedBy>
  <cp:revision>3</cp:revision>
  <dcterms:created xsi:type="dcterms:W3CDTF">2026-07-22T21:37:35Z</dcterms:created>
  <dcterms:modified xsi:type="dcterms:W3CDTF">2026-07-22T21:57:21Z</dcterms:modified>
</cp:coreProperties>
</file>