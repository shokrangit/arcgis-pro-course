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23" r:id="rId14"/>
    <p:sldId id="327" r:id="rId15"/>
    <p:sldId id="329" r:id="rId16"/>
    <p:sldId id="334" r:id="rId17"/>
    <p:sldId id="336" r:id="rId18"/>
    <p:sldId id="338" r:id="rId19"/>
    <p:sldId id="340" r:id="rId20"/>
    <p:sldId id="342" r:id="rId21"/>
    <p:sldId id="356" r:id="rId22"/>
    <p:sldId id="369" r:id="rId23"/>
    <p:sldId id="367" r:id="rId24"/>
    <p:sldId id="35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2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title slide contains only original explanatory framing;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https://pro.arcgis.com/en/pro-app/3.4/tool-reference/data-management/add-join.htm
- https://pro.arcgis.com/en/pro-app/latest/help/data/tables/joins-and-relates.htm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https://pro.arcgis.com/en/pro-app/3.4/tool-reference/data-management/add-relate.htm
- https://pro.arcgis.com/en/pro-app/latest/help/data/relationships/data-relationship-options.htm
- https://pro.arcgis.com/en/pro-app/3.4/help/data/relationships/data-relationship-comparison.htm
- https://pro.arcgis.com/en/pro-app/latest/help/data/tables/view-related-data.htm
- Example tables in this slide are original instructional examples created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https://pro.arcgis.com/en/pro-app/latest/help/data/tables/joins-and-relates.htm
- https://pro.arcgis.com/en/pro-app/latest/tool-reference/data-management/an-overview-of-the-joins-toolset.htm
- https://pro.arcgis.com/en/pro-app/3.4/tool-reference/data-management/join-field.htm
- https://pro.arcgis.com/en/pro-app/3.4/help/data/relationships/data-relationship-comparison.htm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sv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13.sv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F3A34"/>
          </a:solidFill>
          <a:ln w="12700">
            <a:solidFill>
              <a:srgbClr val="1F3A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600" y="175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Joins in ArcGIS Pro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8096" y="2487168"/>
            <a:ext cx="1234440" cy="0"/>
          </a:xfrm>
          <a:prstGeom prst="line">
            <a:avLst/>
          </a:prstGeom>
          <a:noFill/>
          <a:ln w="12700">
            <a:solidFill>
              <a:srgbClr val="B0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889000" y="2616200"/>
            <a:ext cx="1524000" cy="381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ubtitle"/>
          <p:cNvSpPr/>
          <p:nvPr/>
        </p:nvSpPr>
        <p:spPr>
          <a:xfrm>
            <a:off x="889000" y="27432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anchor="t">
            <a:normAutofit/>
          </a:bodyPr>
          <a:lstStyle/>
          <a:p>
            <a:pPr algn="l">
              <a:buNone/>
            </a:pPr>
            <a:r>
              <a:rPr lang="en-US" sz="1800" i="1" dirty="0">
                <a:solidFill>
                  <a:srgbClr val="6A6258"/>
                </a:solidFill>
                <a:latin typeface="Times New Roman" pitchFamily="34" charset="0"/>
                <a:cs typeface="Times New Roman" pitchFamily="34" charset="0"/>
              </a:rPr>
              <a:t>Joining data by where features are — not by a shared field</a:t>
            </a:r>
          </a:p>
        </p:txBody>
      </p:sp>
      <p:sp>
        <p:nvSpPr>
          <p:cNvPr id="110" name="Card0"/>
          <p:cNvSpPr/>
          <p:nvPr/>
        </p:nvSpPr>
        <p:spPr>
          <a:xfrm>
            <a:off x="6858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Join by location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Attach attributes using a spatial relationship instead of a shared key field.</a:t>
            </a:r>
          </a:p>
        </p:txBody>
      </p:sp>
      <p:sp>
        <p:nvSpPr>
          <p:cNvPr id="111" name="Bar0"/>
          <p:cNvSpPr/>
          <p:nvPr/>
        </p:nvSpPr>
        <p:spPr>
          <a:xfrm>
            <a:off x="9144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1"/>
          <p:cNvSpPr/>
          <p:nvPr/>
        </p:nvSpPr>
        <p:spPr>
          <a:xfrm>
            <a:off x="43942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Match options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Intersect, within a distance, closest, or contains — you choose the rule.</a:t>
            </a:r>
          </a:p>
        </p:txBody>
      </p:sp>
      <p:sp>
        <p:nvSpPr>
          <p:cNvPr id="113" name="Bar1"/>
          <p:cNvSpPr/>
          <p:nvPr/>
        </p:nvSpPr>
        <p:spPr>
          <a:xfrm>
            <a:off x="46228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2"/>
          <p:cNvSpPr/>
          <p:nvPr/>
        </p:nvSpPr>
        <p:spPr>
          <a:xfrm>
            <a:off x="8102600" y="3810000"/>
            <a:ext cx="3403600" cy="2235200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  <p:txBody>
          <a:bodyPr wrap="square" lIns="228600" tIns="406400" rIns="228600" bIns="20320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F3A34"/>
                </a:solidFill>
                <a:latin typeface="Times New Roman" pitchFamily="34" charset="0"/>
                <a:cs typeface="Times New Roman" pitchFamily="34" charset="0"/>
              </a:rPr>
              <a:t>One or many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500" dirty="0">
                <a:solidFill>
                  <a:srgbClr val="1F1F1F"/>
                </a:solidFill>
                <a:latin typeface="Times New Roman" pitchFamily="34" charset="0"/>
                <a:cs typeface="Times New Roman" pitchFamily="34" charset="0"/>
              </a:rPr>
              <a:t>Keep one summary row per feature, or one row per match.</a:t>
            </a:r>
          </a:p>
        </p:txBody>
      </p:sp>
      <p:sp>
        <p:nvSpPr>
          <p:cNvPr id="115" name="Bar2"/>
          <p:cNvSpPr/>
          <p:nvPr/>
        </p:nvSpPr>
        <p:spPr>
          <a:xfrm>
            <a:off x="8331200" y="4038600"/>
            <a:ext cx="558800" cy="50800"/>
          </a:xfrm>
          <a:prstGeom prst="rect">
            <a:avLst/>
          </a:prstGeom>
          <a:solidFill>
            <a:srgbClr val="B0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01" name="HdrDivider"/>
          <p:cNvSpPr/>
          <p:nvPr/>
        </p:nvSpPr>
        <p:spPr>
          <a:xfrm>
            <a:off x="685800" y="558800"/>
            <a:ext cx="10820400" cy="1778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0" name="PageNum"/>
          <p:cNvSpPr/>
          <p:nvPr/>
        </p:nvSpPr>
        <p:spPr>
          <a:xfrm>
            <a:off x="11036300" y="64135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0958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buNone/>
            </a:pPr>
            <a:r>
              <a:rPr lang="en-US" sz="1000" dirty="0">
                <a:solidFill>
                  <a:srgbClr val="6A6258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Why Spatial Join?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When tables share no key, their location can still link them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10" name="LPanel"/>
          <p:cNvSpPr/>
          <p:nvPr/>
        </p:nvSpPr>
        <p:spPr>
          <a:xfrm>
            <a:off x="685800" y="1574800"/>
            <a:ext cx="53086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Lcirc"/>
          <p:cNvSpPr/>
          <p:nvPr/>
        </p:nvSpPr>
        <p:spPr>
          <a:xfrm>
            <a:off x="939800" y="18542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Lhead"/>
          <p:cNvSpPr/>
          <p:nvPr/>
        </p:nvSpPr>
        <p:spPr>
          <a:xfrm>
            <a:off x="1625600" y="1905000"/>
            <a:ext cx="408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No shared field — but shared space</a:t>
            </a:r>
          </a:p>
        </p:txBody>
      </p:sp>
      <p:sp>
        <p:nvSpPr>
          <p:cNvPr id="322" name="Lbody"/>
          <p:cNvSpPr/>
          <p:nvPr/>
        </p:nvSpPr>
        <p:spPr>
          <a:xfrm>
            <a:off x="939800" y="2540000"/>
            <a:ext cx="4775200" cy="584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Parks are points; boroughs are polygons. They share no common ID to join on — yet every park falls inside exactly one borough.</a:t>
            </a:r>
          </a:p>
        </p:txBody>
      </p:sp>
      <p:sp>
        <p:nvSpPr>
          <p:cNvPr id="323" name="boxA"/>
          <p:cNvSpPr/>
          <p:nvPr/>
        </p:nvSpPr>
        <p:spPr>
          <a:xfrm>
            <a:off x="9398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Parks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point features</a:t>
            </a:r>
          </a:p>
        </p:txBody>
      </p:sp>
      <p:sp>
        <p:nvSpPr>
          <p:cNvPr id="324" name="keyB"/>
          <p:cNvSpPr/>
          <p:nvPr/>
        </p:nvSpPr>
        <p:spPr>
          <a:xfrm>
            <a:off x="2997200" y="3467100"/>
            <a:ext cx="762000" cy="3810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5400" tIns="635" rIns="25400" bIns="635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F3A34"/>
                </a:solidFill>
                <a:latin typeface="Times New Roman"/>
                <a:cs typeface="Times New Roman"/>
              </a:rPr>
              <a:t>within</a:t>
            </a:r>
          </a:p>
        </p:txBody>
      </p:sp>
      <p:sp>
        <p:nvSpPr>
          <p:cNvPr id="325" name="boxB"/>
          <p:cNvSpPr/>
          <p:nvPr/>
        </p:nvSpPr>
        <p:spPr>
          <a:xfrm>
            <a:off x="3810000" y="3276600"/>
            <a:ext cx="1981200" cy="7620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27000" tIns="635" rIns="76200" bIns="635" anchor="ctr">
            <a:norm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1F3A34"/>
                </a:solidFill>
                <a:latin typeface="Times New Roman"/>
                <a:cs typeface="Times New Roman"/>
              </a:rPr>
              <a:t>Boroughs</a:t>
            </a:r>
          </a:p>
          <a:p>
            <a:pPr>
              <a:spcBef>
                <a:spcPts val="200"/>
              </a:spcBef>
              <a:buNone/>
            </a:pPr>
            <a:r>
              <a:rPr lang="en-US" sz="1200" dirty="0">
                <a:solidFill>
                  <a:srgbClr val="1F1F1F"/>
                </a:solidFill>
                <a:latin typeface="Times New Roman"/>
                <a:cs typeface="Times New Roman"/>
              </a:rPr>
              <a:t>polygon features</a:t>
            </a:r>
          </a:p>
        </p:txBody>
      </p:sp>
      <p:sp>
        <p:nvSpPr>
          <p:cNvPr id="326" name="Ltake"/>
          <p:cNvSpPr/>
          <p:nvPr/>
        </p:nvSpPr>
        <p:spPr>
          <a:xfrm>
            <a:off x="939800" y="429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The link: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their geometry — a spatial relationship — stands in for the key field.</a:t>
            </a:r>
          </a:p>
        </p:txBody>
      </p:sp>
      <p:sp>
        <p:nvSpPr>
          <p:cNvPr id="330" name="RPanel"/>
          <p:cNvSpPr/>
          <p:nvPr/>
        </p:nvSpPr>
        <p:spPr>
          <a:xfrm>
            <a:off x="6223000" y="1574800"/>
            <a:ext cx="5283200" cy="4648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Rhead"/>
          <p:cNvSpPr/>
          <p:nvPr/>
        </p:nvSpPr>
        <p:spPr>
          <a:xfrm>
            <a:off x="6477000" y="18034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What a spatial join needs</a:t>
            </a:r>
          </a:p>
        </p:txBody>
      </p:sp>
      <p:sp>
        <p:nvSpPr>
          <p:cNvPr id="341" name="S341"/>
          <p:cNvSpPr/>
          <p:nvPr/>
        </p:nvSpPr>
        <p:spPr>
          <a:xfrm>
            <a:off x="6477000" y="25908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Target features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layer that receives the attributes; you get one row back per target feature.</a:t>
            </a:r>
          </a:p>
        </p:txBody>
      </p:sp>
      <p:sp>
        <p:nvSpPr>
          <p:cNvPr id="342" name="S342"/>
          <p:cNvSpPr/>
          <p:nvPr/>
        </p:nvSpPr>
        <p:spPr>
          <a:xfrm>
            <a:off x="6477000" y="34036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Join features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the layer whose attributes are attached wherever they match in space.</a:t>
            </a:r>
          </a:p>
        </p:txBody>
      </p:sp>
      <p:sp>
        <p:nvSpPr>
          <p:cNvPr id="343" name="S343"/>
          <p:cNvSpPr/>
          <p:nvPr/>
        </p:nvSpPr>
        <p:spPr>
          <a:xfrm>
            <a:off x="6477000" y="4191000"/>
            <a:ext cx="4927600" cy="711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635" rIns="25400" bIns="635" anchor="t">
            <a:normAutofit/>
          </a:bodyPr>
          <a:lstStyle/>
          <a:p>
            <a:pPr marL="203200" indent="-203200">
              <a:lnSpc>
                <a:spcPct val="108000"/>
              </a:lnSpc>
              <a:buClr>
                <a:srgbClr val="B08B57"/>
              </a:buClr>
              <a:buFont typeface="Arial"/>
              <a:buChar char="•"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Spatial relationship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— </a:t>
            </a: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intersect, within a distance, or closest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 decides what counts as a match.</a:t>
            </a:r>
          </a:p>
        </p:txBody>
      </p:sp>
      <p:pic>
        <p:nvPicPr>
          <p:cNvPr id="344" name="Graphic 344" descr="Location mark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19685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5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Spatial Relationship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rule that decides a match — the spatial stand-in for the key field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50" name="Intro"/>
          <p:cNvSpPr/>
          <p:nvPr/>
        </p:nvSpPr>
        <p:spPr>
          <a:xfrm>
            <a:off x="685800" y="1524000"/>
            <a:ext cx="1082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A spatial join has no key field. Instead, you choose a spatial relationship — the rule that decides which features match.</a:t>
            </a:r>
          </a:p>
        </p:txBody>
      </p:sp>
      <p:sp>
        <p:nvSpPr>
          <p:cNvPr id="360" name="C360"/>
          <p:cNvSpPr/>
          <p:nvPr/>
        </p:nvSpPr>
        <p:spPr>
          <a:xfrm>
            <a:off x="6858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S361"/>
          <p:cNvSpPr/>
          <p:nvPr/>
        </p:nvSpPr>
        <p:spPr>
          <a:xfrm>
            <a:off x="9144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Containment</a:t>
            </a:r>
          </a:p>
        </p:txBody>
      </p:sp>
      <p:sp>
        <p:nvSpPr>
          <p:cNvPr id="362" name="S362"/>
          <p:cNvSpPr/>
          <p:nvPr/>
        </p:nvSpPr>
        <p:spPr>
          <a:xfrm>
            <a:off x="9144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One feature falls completely inside another.</a:t>
            </a:r>
          </a:p>
        </p:txBody>
      </p:sp>
      <p:sp>
        <p:nvSpPr>
          <p:cNvPr id="363" name="S363"/>
          <p:cNvSpPr/>
          <p:nvPr/>
        </p:nvSpPr>
        <p:spPr>
          <a:xfrm>
            <a:off x="9144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a park within a borough.</a:t>
            </a:r>
          </a:p>
        </p:txBody>
      </p:sp>
      <p:sp>
        <p:nvSpPr>
          <p:cNvPr id="370" name="C370"/>
          <p:cNvSpPr/>
          <p:nvPr/>
        </p:nvSpPr>
        <p:spPr>
          <a:xfrm>
            <a:off x="43942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71" name="S371"/>
          <p:cNvSpPr/>
          <p:nvPr/>
        </p:nvSpPr>
        <p:spPr>
          <a:xfrm>
            <a:off x="46228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Proximity</a:t>
            </a:r>
          </a:p>
        </p:txBody>
      </p:sp>
      <p:sp>
        <p:nvSpPr>
          <p:cNvPr id="372" name="S372"/>
          <p:cNvSpPr/>
          <p:nvPr/>
        </p:nvSpPr>
        <p:spPr>
          <a:xfrm>
            <a:off x="46228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lie within a set distance of each other.</a:t>
            </a:r>
          </a:p>
        </p:txBody>
      </p:sp>
      <p:sp>
        <p:nvSpPr>
          <p:cNvPr id="373" name="S373"/>
          <p:cNvSpPr/>
          <p:nvPr/>
        </p:nvSpPr>
        <p:spPr>
          <a:xfrm>
            <a:off x="46228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homes within one mile of a station.</a:t>
            </a:r>
          </a:p>
        </p:txBody>
      </p:sp>
      <p:sp>
        <p:nvSpPr>
          <p:cNvPr id="380" name="C380"/>
          <p:cNvSpPr/>
          <p:nvPr/>
        </p:nvSpPr>
        <p:spPr>
          <a:xfrm>
            <a:off x="8102600" y="2082800"/>
            <a:ext cx="3403600" cy="2921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81" name="S381"/>
          <p:cNvSpPr/>
          <p:nvPr/>
        </p:nvSpPr>
        <p:spPr>
          <a:xfrm>
            <a:off x="8331200" y="23368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Intersection</a:t>
            </a:r>
          </a:p>
        </p:txBody>
      </p:sp>
      <p:sp>
        <p:nvSpPr>
          <p:cNvPr id="382" name="S382"/>
          <p:cNvSpPr/>
          <p:nvPr/>
        </p:nvSpPr>
        <p:spPr>
          <a:xfrm>
            <a:off x="8331200" y="2997200"/>
            <a:ext cx="294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touch, cross, or overlap.</a:t>
            </a:r>
          </a:p>
        </p:txBody>
      </p:sp>
      <p:sp>
        <p:nvSpPr>
          <p:cNvPr id="383" name="S383"/>
          <p:cNvSpPr/>
          <p:nvPr/>
        </p:nvSpPr>
        <p:spPr>
          <a:xfrm>
            <a:off x="8331200" y="4318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8A6A2F"/>
                </a:solidFill>
                <a:latin typeface="Times New Roman"/>
                <a:cs typeface="Times New Roman"/>
              </a:rPr>
              <a:t>e.g., roads crossing a floodplain.</a:t>
            </a:r>
          </a:p>
        </p:txBody>
      </p:sp>
      <p:sp>
        <p:nvSpPr>
          <p:cNvPr id="390" name="Strip"/>
          <p:cNvSpPr/>
          <p:nvPr/>
        </p:nvSpPr>
        <p:spPr>
          <a:xfrm>
            <a:off x="685800" y="5181600"/>
            <a:ext cx="10820400" cy="7112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28600" tIns="635" rIns="228600" bIns="635" anchor="ctr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8A6A2F"/>
                </a:solidFill>
                <a:latin typeface="Times New Roman"/>
                <a:cs typeface="Times New Roman"/>
              </a:rPr>
              <a:t>The rule shapes the result — </a:t>
            </a: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pick the relationship that matches the question you're asking.</a:t>
            </a:r>
          </a:p>
        </p:txBody>
      </p:sp>
    </p:spTree>
    <p:extLst>
      <p:ext uri="{BB962C8B-B14F-4D97-AF65-F5344CB8AC3E}">
        <p14:creationId xmlns:p14="http://schemas.microsoft.com/office/powerpoint/2010/main" val="1979861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Where to Find Spatial Join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One tool, reached from the menu or the ribbon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00" name="Card0"/>
          <p:cNvSpPr/>
          <p:nvPr/>
        </p:nvSpPr>
        <p:spPr>
          <a:xfrm>
            <a:off x="6858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0" name="Circ0"/>
          <p:cNvSpPr/>
          <p:nvPr/>
        </p:nvSpPr>
        <p:spPr>
          <a:xfrm>
            <a:off x="9398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0" name="Hd0"/>
          <p:cNvSpPr/>
          <p:nvPr/>
        </p:nvSpPr>
        <p:spPr>
          <a:xfrm>
            <a:off x="16256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From the map</a:t>
            </a:r>
          </a:p>
        </p:txBody>
      </p:sp>
      <p:sp>
        <p:nvSpPr>
          <p:cNvPr id="430" name="Dv0"/>
          <p:cNvSpPr/>
          <p:nvPr/>
        </p:nvSpPr>
        <p:spPr>
          <a:xfrm>
            <a:off x="9398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01" name="Card1"/>
          <p:cNvSpPr/>
          <p:nvPr/>
        </p:nvSpPr>
        <p:spPr>
          <a:xfrm>
            <a:off x="43815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Circ1"/>
          <p:cNvSpPr/>
          <p:nvPr/>
        </p:nvSpPr>
        <p:spPr>
          <a:xfrm>
            <a:off x="4635500" y="1854200"/>
            <a:ext cx="533400" cy="5334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Hd1"/>
          <p:cNvSpPr/>
          <p:nvPr/>
        </p:nvSpPr>
        <p:spPr>
          <a:xfrm>
            <a:off x="53213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From the ribbon</a:t>
            </a:r>
          </a:p>
        </p:txBody>
      </p:sp>
      <p:sp>
        <p:nvSpPr>
          <p:cNvPr id="431" name="Dv1"/>
          <p:cNvSpPr/>
          <p:nvPr/>
        </p:nvSpPr>
        <p:spPr>
          <a:xfrm>
            <a:off x="46355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02" name="Card2"/>
          <p:cNvSpPr/>
          <p:nvPr/>
        </p:nvSpPr>
        <p:spPr>
          <a:xfrm>
            <a:off x="8077200" y="1600200"/>
            <a:ext cx="3429000" cy="3733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2" name="Circ2"/>
          <p:cNvSpPr/>
          <p:nvPr/>
        </p:nvSpPr>
        <p:spPr>
          <a:xfrm>
            <a:off x="8331200" y="1854200"/>
            <a:ext cx="533400" cy="5334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2" name="Hd2"/>
          <p:cNvSpPr/>
          <p:nvPr/>
        </p:nvSpPr>
        <p:spPr>
          <a:xfrm>
            <a:off x="9017000" y="1955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you'll set</a:t>
            </a:r>
          </a:p>
        </p:txBody>
      </p:sp>
      <p:sp>
        <p:nvSpPr>
          <p:cNvPr id="432" name="Dv2"/>
          <p:cNvSpPr/>
          <p:nvPr/>
        </p:nvSpPr>
        <p:spPr>
          <a:xfrm>
            <a:off x="8331200" y="2540000"/>
            <a:ext cx="29210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0" name="S440"/>
          <p:cNvSpPr/>
          <p:nvPr/>
        </p:nvSpPr>
        <p:spPr>
          <a:xfrm>
            <a:off x="939800" y="27178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Right-click a layer → Joins and Relates → Spatial Join</a:t>
            </a:r>
          </a:p>
        </p:txBody>
      </p:sp>
      <p:sp>
        <p:nvSpPr>
          <p:cNvPr id="441" name="S441"/>
          <p:cNvSpPr/>
          <p:nvPr/>
        </p:nvSpPr>
        <p:spPr>
          <a:xfrm>
            <a:off x="939800" y="3810000"/>
            <a:ext cx="292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Opens the tool with that layer already set as the target.</a:t>
            </a:r>
          </a:p>
        </p:txBody>
      </p:sp>
      <p:sp>
        <p:nvSpPr>
          <p:cNvPr id="450" name="S450"/>
          <p:cNvSpPr/>
          <p:nvPr/>
        </p:nvSpPr>
        <p:spPr>
          <a:xfrm>
            <a:off x="4635500" y="2717800"/>
            <a:ext cx="2921000" cy="88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Analysis tab → Tools → search “Spatial Join”</a:t>
            </a:r>
          </a:p>
        </p:txBody>
      </p:sp>
      <p:sp>
        <p:nvSpPr>
          <p:cNvPr id="451" name="S451"/>
          <p:cNvSpPr/>
          <p:nvPr/>
        </p:nvSpPr>
        <p:spPr>
          <a:xfrm>
            <a:off x="4635500" y="3810000"/>
            <a:ext cx="292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8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full geoprocessing tool, with every option exposed.</a:t>
            </a:r>
          </a:p>
        </p:txBody>
      </p:sp>
      <p:sp>
        <p:nvSpPr>
          <p:cNvPr id="460" name="S460"/>
          <p:cNvSpPr/>
          <p:nvPr/>
        </p:nvSpPr>
        <p:spPr>
          <a:xfrm>
            <a:off x="8331200" y="2717800"/>
            <a:ext cx="2921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Target features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Join features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Match Option</a:t>
            </a:r>
          </a:p>
          <a:p>
            <a:pPr marL="203200" indent="-203200">
              <a:lnSpc>
                <a:spcPct val="106000"/>
              </a:lnSpc>
              <a:spcBef>
                <a:spcPts val="6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500" dirty="0">
                <a:solidFill>
                  <a:srgbClr val="1F1F1F"/>
                </a:solidFill>
                <a:latin typeface="Times New Roman"/>
                <a:cs typeface="Times New Roman"/>
              </a:rPr>
              <a:t>Output feature class</a:t>
            </a:r>
          </a:p>
        </p:txBody>
      </p:sp>
      <p:sp>
        <p:nvSpPr>
          <p:cNvPr id="470" name="Tip"/>
          <p:cNvSpPr/>
          <p:nvPr/>
        </p:nvSpPr>
        <p:spPr>
          <a:xfrm>
            <a:off x="685800" y="5537200"/>
            <a:ext cx="108204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Note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Unlike Add Join, a spatial join always writes a new output layer — there is no temporary, live version.</a:t>
            </a:r>
          </a:p>
        </p:txBody>
      </p:sp>
      <p:pic>
        <p:nvPicPr>
          <p:cNvPr id="471" name="Graphic 471" descr="Right-click men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81200"/>
            <a:ext cx="279400" cy="279400"/>
          </a:xfrm>
          <a:prstGeom prst="rect">
            <a:avLst/>
          </a:prstGeom>
        </p:spPr>
      </p:pic>
      <p:pic>
        <p:nvPicPr>
          <p:cNvPr id="472" name="Graphic 472" descr="Geoprocessing too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981200"/>
            <a:ext cx="279400" cy="279400"/>
          </a:xfrm>
          <a:prstGeom prst="rect">
            <a:avLst/>
          </a:prstGeom>
        </p:spPr>
      </p:pic>
      <p:pic>
        <p:nvPicPr>
          <p:cNvPr id="473" name="Graphic 473" descr="Tool paramet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1981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6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Spatial Join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inputs, one rule, and a brand-new output layer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Target"/>
          <p:cNvSpPr/>
          <p:nvPr/>
        </p:nvSpPr>
        <p:spPr>
          <a:xfrm>
            <a:off x="685800" y="2133600"/>
            <a:ext cx="2844800" cy="1219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Target features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the layer you keep</a:t>
            </a:r>
          </a:p>
        </p:txBody>
      </p:sp>
      <p:sp>
        <p:nvSpPr>
          <p:cNvPr id="501" name="Plus"/>
          <p:cNvSpPr/>
          <p:nvPr/>
        </p:nvSpPr>
        <p:spPr>
          <a:xfrm>
            <a:off x="3581400" y="2133600"/>
            <a:ext cx="40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8A6A2F"/>
                </a:solidFill>
                <a:latin typeface="Times New Roman"/>
                <a:cs typeface="Times New Roman"/>
              </a:rPr>
              <a:t>+</a:t>
            </a:r>
          </a:p>
        </p:txBody>
      </p:sp>
      <p:sp>
        <p:nvSpPr>
          <p:cNvPr id="502" name="Join"/>
          <p:cNvSpPr/>
          <p:nvPr/>
        </p:nvSpPr>
        <p:spPr>
          <a:xfrm>
            <a:off x="4038600" y="2133600"/>
            <a:ext cx="2844800" cy="12192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Join features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attributes to attach</a:t>
            </a:r>
          </a:p>
        </p:txBody>
      </p:sp>
      <p:sp>
        <p:nvSpPr>
          <p:cNvPr id="503" name="ArrLbl"/>
          <p:cNvSpPr/>
          <p:nvPr/>
        </p:nvSpPr>
        <p:spPr>
          <a:xfrm>
            <a:off x="6959600" y="223520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/>
          </a:bodyPr>
          <a:lstStyle/>
          <a:p>
            <a:pPr algn="ctr">
              <a:buNone/>
            </a:pPr>
            <a:r>
              <a:rPr lang="en-US" sz="1100" b="1" spc="60" dirty="0">
                <a:solidFill>
                  <a:srgbClr val="8A6A2F"/>
                </a:solidFill>
                <a:latin typeface="Times New Roman"/>
                <a:cs typeface="Times New Roman"/>
              </a:rPr>
              <a:t>match option</a:t>
            </a:r>
          </a:p>
        </p:txBody>
      </p:sp>
      <p:sp>
        <p:nvSpPr>
          <p:cNvPr id="504" name="Arrow"/>
          <p:cNvSpPr/>
          <p:nvPr/>
        </p:nvSpPr>
        <p:spPr>
          <a:xfrm>
            <a:off x="7010400" y="2540000"/>
            <a:ext cx="838200" cy="4318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92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5" name="Output"/>
          <p:cNvSpPr/>
          <p:nvPr/>
        </p:nvSpPr>
        <p:spPr>
          <a:xfrm>
            <a:off x="7975600" y="2133600"/>
            <a:ext cx="3530600" cy="12192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Output layer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300" dirty="0">
                <a:solidFill>
                  <a:srgbClr val="1F1F1F"/>
                </a:solidFill>
                <a:latin typeface="Times New Roman"/>
                <a:cs typeface="Times New Roman"/>
              </a:rPr>
              <a:t>a new feature class on disk</a:t>
            </a:r>
          </a:p>
        </p:txBody>
      </p:sp>
      <p:sp>
        <p:nvSpPr>
          <p:cNvPr id="511" name="N1"/>
          <p:cNvSpPr/>
          <p:nvPr/>
        </p:nvSpPr>
        <p:spPr>
          <a:xfrm>
            <a:off x="6858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One row per target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With one-to-one, each target feature returns a single summary row.</a:t>
            </a:r>
          </a:p>
        </p:txBody>
      </p:sp>
      <p:sp>
        <p:nvSpPr>
          <p:cNvPr id="512" name="N2"/>
          <p:cNvSpPr/>
          <p:nvPr/>
        </p:nvSpPr>
        <p:spPr>
          <a:xfrm>
            <a:off x="43942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Static output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Saved to disk — it will not refresh when the inputs change.</a:t>
            </a:r>
          </a:p>
        </p:txBody>
      </p:sp>
      <p:sp>
        <p:nvSpPr>
          <p:cNvPr id="513" name="N3"/>
          <p:cNvSpPr/>
          <p:nvPr/>
        </p:nvSpPr>
        <p:spPr>
          <a:xfrm>
            <a:off x="8102600" y="3835400"/>
            <a:ext cx="3403600" cy="14986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203200" tIns="635" rIns="17780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Fields appended</a:t>
            </a:r>
          </a:p>
          <a:p>
            <a:pPr>
              <a:lnSpc>
                <a:spcPct val="106000"/>
              </a:lnSpc>
              <a:spcBef>
                <a:spcPts val="4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Attributes from the join layer are added to the output table.</a:t>
            </a:r>
          </a:p>
        </p:txBody>
      </p:sp>
      <p:sp>
        <p:nvSpPr>
          <p:cNvPr id="520" name="Tip"/>
          <p:cNvSpPr/>
          <p:nvPr/>
        </p:nvSpPr>
        <p:spPr>
          <a:xfrm>
            <a:off x="685800" y="5562600"/>
            <a:ext cx="10820400" cy="6604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Remember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Match Option decides which join features count for each target — choose it deliberately.</a:t>
            </a:r>
          </a:p>
        </p:txBody>
      </p:sp>
    </p:spTree>
    <p:extLst>
      <p:ext uri="{BB962C8B-B14F-4D97-AF65-F5344CB8AC3E}">
        <p14:creationId xmlns:p14="http://schemas.microsoft.com/office/powerpoint/2010/main" val="364271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Options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spatial relationship you pick decides which features match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MOc"/>
          <p:cNvSpPr/>
          <p:nvPr/>
        </p:nvSpPr>
        <p:spPr>
          <a:xfrm>
            <a:off x="6858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28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Intersect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209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INTERSECT</a:t>
            </a:r>
          </a:p>
        </p:txBody>
      </p:sp>
      <p:sp>
        <p:nvSpPr>
          <p:cNvPr id="503" name="S503"/>
          <p:cNvSpPr/>
          <p:nvPr/>
        </p:nvSpPr>
        <p:spPr>
          <a:xfrm>
            <a:off x="965200" y="2514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4" name="S504"/>
          <p:cNvSpPr/>
          <p:nvPr/>
        </p:nvSpPr>
        <p:spPr>
          <a:xfrm>
            <a:off x="965200" y="26670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features that touch or overlap.</a:t>
            </a:r>
          </a:p>
        </p:txBody>
      </p:sp>
      <p:sp>
        <p:nvSpPr>
          <p:cNvPr id="505" name="S505"/>
          <p:cNvSpPr/>
          <p:nvPr/>
        </p:nvSpPr>
        <p:spPr>
          <a:xfrm>
            <a:off x="965200" y="3225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counting points in polygons; roads crossing zones.</a:t>
            </a:r>
          </a:p>
        </p:txBody>
      </p:sp>
      <p:sp>
        <p:nvSpPr>
          <p:cNvPr id="506" name="MOc"/>
          <p:cNvSpPr/>
          <p:nvPr/>
        </p:nvSpPr>
        <p:spPr>
          <a:xfrm>
            <a:off x="62230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7" name="S507"/>
          <p:cNvSpPr/>
          <p:nvPr/>
        </p:nvSpPr>
        <p:spPr>
          <a:xfrm>
            <a:off x="6502400" y="18288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Within a distance</a:t>
            </a:r>
          </a:p>
        </p:txBody>
      </p:sp>
      <p:sp>
        <p:nvSpPr>
          <p:cNvPr id="508" name="S508"/>
          <p:cNvSpPr/>
          <p:nvPr/>
        </p:nvSpPr>
        <p:spPr>
          <a:xfrm>
            <a:off x="6502400" y="22098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WITHIN_A_DISTANCE</a:t>
            </a:r>
          </a:p>
        </p:txBody>
      </p:sp>
      <p:sp>
        <p:nvSpPr>
          <p:cNvPr id="509" name="S509"/>
          <p:cNvSpPr/>
          <p:nvPr/>
        </p:nvSpPr>
        <p:spPr>
          <a:xfrm>
            <a:off x="6502400" y="2514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0" name="S510"/>
          <p:cNvSpPr/>
          <p:nvPr/>
        </p:nvSpPr>
        <p:spPr>
          <a:xfrm>
            <a:off x="6502400" y="26670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join features inside a search radius you set.</a:t>
            </a:r>
          </a:p>
        </p:txBody>
      </p:sp>
      <p:sp>
        <p:nvSpPr>
          <p:cNvPr id="511" name="S511"/>
          <p:cNvSpPr/>
          <p:nvPr/>
        </p:nvSpPr>
        <p:spPr>
          <a:xfrm>
            <a:off x="6502400" y="3225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homes within a half-mile of a station.</a:t>
            </a:r>
          </a:p>
        </p:txBody>
      </p:sp>
      <p:sp>
        <p:nvSpPr>
          <p:cNvPr id="512" name="MOc"/>
          <p:cNvSpPr/>
          <p:nvPr/>
        </p:nvSpPr>
        <p:spPr>
          <a:xfrm>
            <a:off x="6858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3" name="S513"/>
          <p:cNvSpPr/>
          <p:nvPr/>
        </p:nvSpPr>
        <p:spPr>
          <a:xfrm>
            <a:off x="965200" y="41656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Closest</a:t>
            </a:r>
          </a:p>
        </p:txBody>
      </p:sp>
      <p:sp>
        <p:nvSpPr>
          <p:cNvPr id="514" name="S514"/>
          <p:cNvSpPr/>
          <p:nvPr/>
        </p:nvSpPr>
        <p:spPr>
          <a:xfrm>
            <a:off x="965200" y="45466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CLOSEST</a:t>
            </a:r>
          </a:p>
        </p:txBody>
      </p:sp>
      <p:sp>
        <p:nvSpPr>
          <p:cNvPr id="515" name="S515"/>
          <p:cNvSpPr/>
          <p:nvPr/>
        </p:nvSpPr>
        <p:spPr>
          <a:xfrm>
            <a:off x="965200" y="4851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6" name="S516"/>
          <p:cNvSpPr/>
          <p:nvPr/>
        </p:nvSpPr>
        <p:spPr>
          <a:xfrm>
            <a:off x="965200" y="5003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single nearest join feature.</a:t>
            </a:r>
          </a:p>
        </p:txBody>
      </p:sp>
      <p:sp>
        <p:nvSpPr>
          <p:cNvPr id="517" name="S517"/>
          <p:cNvSpPr/>
          <p:nvPr/>
        </p:nvSpPr>
        <p:spPr>
          <a:xfrm>
            <a:off x="965200" y="55626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each address to its nearest hospital.</a:t>
            </a:r>
          </a:p>
        </p:txBody>
      </p:sp>
      <p:sp>
        <p:nvSpPr>
          <p:cNvPr id="518" name="MOc"/>
          <p:cNvSpPr/>
          <p:nvPr/>
        </p:nvSpPr>
        <p:spPr>
          <a:xfrm>
            <a:off x="62230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9" name="S519"/>
          <p:cNvSpPr/>
          <p:nvPr/>
        </p:nvSpPr>
        <p:spPr>
          <a:xfrm>
            <a:off x="6502400" y="4165600"/>
            <a:ext cx="472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Contains / Within</a:t>
            </a:r>
          </a:p>
        </p:txBody>
      </p:sp>
      <p:sp>
        <p:nvSpPr>
          <p:cNvPr id="520" name="S520"/>
          <p:cNvSpPr/>
          <p:nvPr/>
        </p:nvSpPr>
        <p:spPr>
          <a:xfrm>
            <a:off x="6502400" y="45466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CONTAINS · WITHIN</a:t>
            </a:r>
          </a:p>
        </p:txBody>
      </p:sp>
      <p:sp>
        <p:nvSpPr>
          <p:cNvPr id="521" name="S521"/>
          <p:cNvSpPr/>
          <p:nvPr/>
        </p:nvSpPr>
        <p:spPr>
          <a:xfrm>
            <a:off x="6502400" y="4851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2" name="S522"/>
          <p:cNvSpPr/>
          <p:nvPr/>
        </p:nvSpPr>
        <p:spPr>
          <a:xfrm>
            <a:off x="6502400" y="50038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Matches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feature fully inside another.</a:t>
            </a:r>
          </a:p>
        </p:txBody>
      </p:sp>
      <p:sp>
        <p:nvSpPr>
          <p:cNvPr id="523" name="S523"/>
          <p:cNvSpPr/>
          <p:nvPr/>
        </p:nvSpPr>
        <p:spPr>
          <a:xfrm>
            <a:off x="6502400" y="5562600"/>
            <a:ext cx="4724400" cy="508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Use when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parcels entirely within a floodplain.</a:t>
            </a:r>
          </a:p>
        </p:txBody>
      </p:sp>
    </p:spTree>
    <p:extLst>
      <p:ext uri="{BB962C8B-B14F-4D97-AF65-F5344CB8AC3E}">
        <p14:creationId xmlns:p14="http://schemas.microsoft.com/office/powerpoint/2010/main" val="3869205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One-to-One vs One-to-Many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rows come back for each target feature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S500"/>
          <p:cNvSpPr/>
          <p:nvPr/>
        </p:nvSpPr>
        <p:spPr>
          <a:xfrm>
            <a:off x="685800" y="1625600"/>
            <a:ext cx="5283200" cy="3810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54200"/>
            <a:ext cx="472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One to one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235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JOIN_ONE_TO_ONE</a:t>
            </a:r>
          </a:p>
        </p:txBody>
      </p:sp>
      <p:sp>
        <p:nvSpPr>
          <p:cNvPr id="503" name="S503"/>
          <p:cNvSpPr/>
          <p:nvPr/>
        </p:nvSpPr>
        <p:spPr>
          <a:xfrm>
            <a:off x="965200" y="2565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4" name="S504"/>
          <p:cNvSpPr/>
          <p:nvPr/>
        </p:nvSpPr>
        <p:spPr>
          <a:xfrm>
            <a:off x="965200" y="2692400"/>
            <a:ext cx="4724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row back per target feature.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Multiple matches collapse using a merge rule.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Adds a Join_Count field — how many matched.</a:t>
            </a:r>
          </a:p>
        </p:txBody>
      </p:sp>
      <p:sp>
        <p:nvSpPr>
          <p:cNvPr id="505" name="S505"/>
          <p:cNvSpPr/>
          <p:nvPr/>
        </p:nvSpPr>
        <p:spPr>
          <a:xfrm>
            <a:off x="965200" y="47244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A6258"/>
                </a:solidFill>
                <a:latin typeface="Times New Roman"/>
                <a:cs typeface="Times New Roman"/>
              </a:rPr>
              <a:t>Parks per borough → one row per borough, with a count.</a:t>
            </a:r>
          </a:p>
        </p:txBody>
      </p:sp>
      <p:sp>
        <p:nvSpPr>
          <p:cNvPr id="520" name="S520"/>
          <p:cNvSpPr/>
          <p:nvPr/>
        </p:nvSpPr>
        <p:spPr>
          <a:xfrm>
            <a:off x="6223000" y="1625600"/>
            <a:ext cx="5283200" cy="3810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S521"/>
          <p:cNvSpPr/>
          <p:nvPr/>
        </p:nvSpPr>
        <p:spPr>
          <a:xfrm>
            <a:off x="6502400" y="1854200"/>
            <a:ext cx="472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One to many</a:t>
            </a:r>
          </a:p>
        </p:txBody>
      </p:sp>
      <p:sp>
        <p:nvSpPr>
          <p:cNvPr id="522" name="S522"/>
          <p:cNvSpPr/>
          <p:nvPr/>
        </p:nvSpPr>
        <p:spPr>
          <a:xfrm>
            <a:off x="6502400" y="2235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8A6A2F"/>
                </a:solidFill>
                <a:latin typeface="Consolas"/>
                <a:cs typeface="Consolas"/>
              </a:rPr>
              <a:t>JOIN_ONE_TO_MANY</a:t>
            </a:r>
          </a:p>
        </p:txBody>
      </p:sp>
      <p:sp>
        <p:nvSpPr>
          <p:cNvPr id="523" name="S523"/>
          <p:cNvSpPr/>
          <p:nvPr/>
        </p:nvSpPr>
        <p:spPr>
          <a:xfrm>
            <a:off x="6502400" y="25654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4" name="S524"/>
          <p:cNvSpPr/>
          <p:nvPr/>
        </p:nvSpPr>
        <p:spPr>
          <a:xfrm>
            <a:off x="6502400" y="2692400"/>
            <a:ext cx="4724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 output row per matching pair.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Target features repeat — once for each match.</a:t>
            </a:r>
          </a:p>
          <a:p>
            <a:pPr marL="190500" indent="-190500">
              <a:lnSpc>
                <a:spcPct val="104000"/>
              </a:lnSpc>
              <a:spcBef>
                <a:spcPts val="500"/>
              </a:spcBef>
              <a:buClr>
                <a:srgbClr val="B08B57"/>
              </a:buClr>
              <a:buFont typeface="Arial"/>
              <a:buChar char="•"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Nothing is aggregated; every match is kept.</a:t>
            </a:r>
          </a:p>
        </p:txBody>
      </p:sp>
      <p:sp>
        <p:nvSpPr>
          <p:cNvPr id="525" name="S525"/>
          <p:cNvSpPr/>
          <p:nvPr/>
        </p:nvSpPr>
        <p:spPr>
          <a:xfrm>
            <a:off x="6502400" y="47244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A6258"/>
                </a:solidFill>
                <a:latin typeface="Times New Roman"/>
                <a:cs typeface="Times New Roman"/>
              </a:rPr>
              <a:t>Each borough repeated once per park it contains.</a:t>
            </a:r>
          </a:p>
        </p:txBody>
      </p:sp>
      <p:sp>
        <p:nvSpPr>
          <p:cNvPr id="540" name="S540"/>
          <p:cNvSpPr/>
          <p:nvPr/>
        </p:nvSpPr>
        <p:spPr>
          <a:xfrm>
            <a:off x="685800" y="5588000"/>
            <a:ext cx="10820400" cy="7112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203200" tIns="635" rIns="2032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Merge rules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with one-to-one, choose how values combine per field — Sum, Mean, Min, Max, or First.</a:t>
            </a:r>
          </a:p>
        </p:txBody>
      </p:sp>
    </p:spTree>
    <p:extLst>
      <p:ext uri="{BB962C8B-B14F-4D97-AF65-F5344CB8AC3E}">
        <p14:creationId xmlns:p14="http://schemas.microsoft.com/office/powerpoint/2010/main" val="1698089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Spatial Joins Surprise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things that trip people up — and how to fix each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PC0"/>
          <p:cNvSpPr/>
          <p:nvPr/>
        </p:nvSpPr>
        <p:spPr>
          <a:xfrm>
            <a:off x="6858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965200" y="18288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No matches at all</a:t>
            </a:r>
          </a:p>
        </p:txBody>
      </p:sp>
      <p:sp>
        <p:nvSpPr>
          <p:cNvPr id="502" name="S502"/>
          <p:cNvSpPr/>
          <p:nvPr/>
        </p:nvSpPr>
        <p:spPr>
          <a:xfrm>
            <a:off x="965200" y="23368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03" name="S503"/>
          <p:cNvSpPr/>
          <p:nvPr/>
        </p:nvSpPr>
        <p:spPr>
          <a:xfrm>
            <a:off x="965200" y="2463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layers are in different coordinate systems.</a:t>
            </a:r>
          </a:p>
        </p:txBody>
      </p:sp>
      <p:sp>
        <p:nvSpPr>
          <p:cNvPr id="504" name="S504"/>
          <p:cNvSpPr/>
          <p:nvPr/>
        </p:nvSpPr>
        <p:spPr>
          <a:xfrm>
            <a:off x="965200" y="3098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project both to the same CRS, then re-run.</a:t>
            </a:r>
          </a:p>
        </p:txBody>
      </p:sp>
      <p:sp>
        <p:nvSpPr>
          <p:cNvPr id="510" name="PC1"/>
          <p:cNvSpPr/>
          <p:nvPr/>
        </p:nvSpPr>
        <p:spPr>
          <a:xfrm>
            <a:off x="6223000" y="16256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11" name="S511"/>
          <p:cNvSpPr/>
          <p:nvPr/>
        </p:nvSpPr>
        <p:spPr>
          <a:xfrm>
            <a:off x="6502400" y="18288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The row count exploded</a:t>
            </a:r>
          </a:p>
        </p:txBody>
      </p:sp>
      <p:sp>
        <p:nvSpPr>
          <p:cNvPr id="512" name="S512"/>
          <p:cNvSpPr/>
          <p:nvPr/>
        </p:nvSpPr>
        <p:spPr>
          <a:xfrm>
            <a:off x="6502400" y="23368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13" name="S513"/>
          <p:cNvSpPr/>
          <p:nvPr/>
        </p:nvSpPr>
        <p:spPr>
          <a:xfrm>
            <a:off x="6502400" y="2463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one-to-many join with many overlaps.</a:t>
            </a:r>
          </a:p>
        </p:txBody>
      </p:sp>
      <p:sp>
        <p:nvSpPr>
          <p:cNvPr id="514" name="S514"/>
          <p:cNvSpPr/>
          <p:nvPr/>
        </p:nvSpPr>
        <p:spPr>
          <a:xfrm>
            <a:off x="6502400" y="30988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use one-to-one, or expect repeated targets.</a:t>
            </a:r>
          </a:p>
        </p:txBody>
      </p:sp>
      <p:sp>
        <p:nvSpPr>
          <p:cNvPr id="520" name="PC2"/>
          <p:cNvSpPr/>
          <p:nvPr/>
        </p:nvSpPr>
        <p:spPr>
          <a:xfrm>
            <a:off x="6858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S521"/>
          <p:cNvSpPr/>
          <p:nvPr/>
        </p:nvSpPr>
        <p:spPr>
          <a:xfrm>
            <a:off x="965200" y="41656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The counts look wrong</a:t>
            </a:r>
          </a:p>
        </p:txBody>
      </p:sp>
      <p:sp>
        <p:nvSpPr>
          <p:cNvPr id="522" name="S522"/>
          <p:cNvSpPr/>
          <p:nvPr/>
        </p:nvSpPr>
        <p:spPr>
          <a:xfrm>
            <a:off x="965200" y="4673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23" name="S523"/>
          <p:cNvSpPr/>
          <p:nvPr/>
        </p:nvSpPr>
        <p:spPr>
          <a:xfrm>
            <a:off x="965200" y="4800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Match Option is too broad or too narrow.</a:t>
            </a:r>
          </a:p>
        </p:txBody>
      </p:sp>
      <p:sp>
        <p:nvSpPr>
          <p:cNvPr id="524" name="S524"/>
          <p:cNvSpPr/>
          <p:nvPr/>
        </p:nvSpPr>
        <p:spPr>
          <a:xfrm>
            <a:off x="965200" y="5435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compare Intersect with Within a distance.</a:t>
            </a:r>
          </a:p>
        </p:txBody>
      </p:sp>
      <p:sp>
        <p:nvSpPr>
          <p:cNvPr id="530" name="PC3"/>
          <p:cNvSpPr/>
          <p:nvPr/>
        </p:nvSpPr>
        <p:spPr>
          <a:xfrm>
            <a:off x="6223000" y="3962400"/>
            <a:ext cx="5283200" cy="218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31" name="S531"/>
          <p:cNvSpPr/>
          <p:nvPr/>
        </p:nvSpPr>
        <p:spPr>
          <a:xfrm>
            <a:off x="6502400" y="4165600"/>
            <a:ext cx="4724400" cy="431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3A34"/>
                </a:solidFill>
                <a:latin typeface="Times New Roman"/>
                <a:cs typeface="Times New Roman"/>
              </a:rPr>
              <a:t>It won't update</a:t>
            </a:r>
          </a:p>
        </p:txBody>
      </p:sp>
      <p:sp>
        <p:nvSpPr>
          <p:cNvPr id="532" name="S532"/>
          <p:cNvSpPr/>
          <p:nvPr/>
        </p:nvSpPr>
        <p:spPr>
          <a:xfrm>
            <a:off x="6502400" y="4673600"/>
            <a:ext cx="47244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3" name="S533"/>
          <p:cNvSpPr/>
          <p:nvPr/>
        </p:nvSpPr>
        <p:spPr>
          <a:xfrm>
            <a:off x="6502400" y="4800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Why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spatial-join output is static, saved to disk.</a:t>
            </a:r>
          </a:p>
        </p:txBody>
      </p:sp>
      <p:sp>
        <p:nvSpPr>
          <p:cNvPr id="534" name="S534"/>
          <p:cNvSpPr/>
          <p:nvPr/>
        </p:nvSpPr>
        <p:spPr>
          <a:xfrm>
            <a:off x="6502400" y="54356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Fix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re-run the tool after the inputs change.</a:t>
            </a:r>
          </a:p>
        </p:txBody>
      </p:sp>
    </p:spTree>
    <p:extLst>
      <p:ext uri="{BB962C8B-B14F-4D97-AF65-F5344CB8AC3E}">
        <p14:creationId xmlns:p14="http://schemas.microsoft.com/office/powerpoint/2010/main" val="3354520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Match Option Should You Use?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questions point you to the right spatial relationship</a:t>
            </a:r>
            <a:endParaRPr lang="en-US" sz="1600" dirty="0"/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500" name="Q0"/>
          <p:cNvSpPr/>
          <p:nvPr/>
        </p:nvSpPr>
        <p:spPr>
          <a:xfrm>
            <a:off x="685800" y="14986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1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Do the features overlap or touch?</a:t>
            </a:r>
          </a:p>
        </p:txBody>
      </p:sp>
      <p:sp>
        <p:nvSpPr>
          <p:cNvPr id="501" name="Q1"/>
          <p:cNvSpPr/>
          <p:nvPr/>
        </p:nvSpPr>
        <p:spPr>
          <a:xfrm>
            <a:off x="685800" y="31750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2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Do you need everything within a set distance?</a:t>
            </a:r>
          </a:p>
        </p:txBody>
      </p:sp>
      <p:sp>
        <p:nvSpPr>
          <p:cNvPr id="502" name="Q2"/>
          <p:cNvSpPr/>
          <p:nvPr/>
        </p:nvSpPr>
        <p:spPr>
          <a:xfrm>
            <a:off x="685800" y="4851400"/>
            <a:ext cx="4521200" cy="11684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B08B57"/>
            </a:solidFill>
          </a:ln>
        </p:spPr>
        <p:txBody>
          <a:bodyPr wrap="square" lIns="228600" tIns="635" rIns="177800" bIns="635" anchor="ctr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8A6A2F"/>
                </a:solidFill>
                <a:latin typeface="Times New Roman"/>
                <a:cs typeface="Times New Roman"/>
              </a:rPr>
              <a:t>3   </a:t>
            </a: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Only the single nearest feature?</a:t>
            </a:r>
          </a:p>
        </p:txBody>
      </p:sp>
      <p:sp>
        <p:nvSpPr>
          <p:cNvPr id="510" name="Out0"/>
          <p:cNvSpPr/>
          <p:nvPr/>
        </p:nvSpPr>
        <p:spPr>
          <a:xfrm>
            <a:off x="6604000" y="1498600"/>
            <a:ext cx="4902200" cy="11684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Intersect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features that touch or overlap count as a match.</a:t>
            </a:r>
          </a:p>
        </p:txBody>
      </p:sp>
      <p:sp>
        <p:nvSpPr>
          <p:cNvPr id="511" name="Out1"/>
          <p:cNvSpPr/>
          <p:nvPr/>
        </p:nvSpPr>
        <p:spPr>
          <a:xfrm>
            <a:off x="6604000" y="31750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Within a distance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matches anything inside the search radius you set.</a:t>
            </a:r>
          </a:p>
        </p:txBody>
      </p:sp>
      <p:sp>
        <p:nvSpPr>
          <p:cNvPr id="512" name="Out2"/>
          <p:cNvSpPr/>
          <p:nvPr/>
        </p:nvSpPr>
        <p:spPr>
          <a:xfrm>
            <a:off x="6604000" y="4851400"/>
            <a:ext cx="4902200" cy="1168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1F3A34"/>
            </a:solidFill>
          </a:ln>
        </p:spPr>
        <p:txBody>
          <a:bodyPr wrap="square" lIns="228600" tIns="635" rIns="203200" bIns="635" anchor="ctr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Closest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keeps just the single nearest join feature.</a:t>
            </a:r>
          </a:p>
        </p:txBody>
      </p:sp>
      <p:sp>
        <p:nvSpPr>
          <p:cNvPr id="520" name="Arr0"/>
          <p:cNvSpPr/>
          <p:nvPr/>
        </p:nvSpPr>
        <p:spPr>
          <a:xfrm>
            <a:off x="5283200" y="19685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0" name="Yes0"/>
          <p:cNvSpPr/>
          <p:nvPr/>
        </p:nvSpPr>
        <p:spPr>
          <a:xfrm>
            <a:off x="5283200" y="17018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21" name="Arr1"/>
          <p:cNvSpPr/>
          <p:nvPr/>
        </p:nvSpPr>
        <p:spPr>
          <a:xfrm>
            <a:off x="5283200" y="36449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1" name="Yes1"/>
          <p:cNvSpPr/>
          <p:nvPr/>
        </p:nvSpPr>
        <p:spPr>
          <a:xfrm>
            <a:off x="5283200" y="33782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22" name="Arr2"/>
          <p:cNvSpPr/>
          <p:nvPr/>
        </p:nvSpPr>
        <p:spPr>
          <a:xfrm>
            <a:off x="5283200" y="5321300"/>
            <a:ext cx="1244600" cy="228600"/>
          </a:xfrm>
          <a:prstGeom prst="rightArrow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 fontScale="475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532" name="Yes2"/>
          <p:cNvSpPr/>
          <p:nvPr/>
        </p:nvSpPr>
        <p:spPr>
          <a:xfrm>
            <a:off x="5283200" y="5054600"/>
            <a:ext cx="1244600" cy="203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b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Yes</a:t>
            </a:r>
          </a:p>
        </p:txBody>
      </p:sp>
      <p:sp>
        <p:nvSpPr>
          <p:cNvPr id="540" name="DA0"/>
          <p:cNvSpPr/>
          <p:nvPr/>
        </p:nvSpPr>
        <p:spPr>
          <a:xfrm>
            <a:off x="2844800" y="2692400"/>
            <a:ext cx="203200" cy="431800"/>
          </a:xfrm>
          <a:prstGeom prst="downArrow">
            <a:avLst/>
          </a:prstGeom>
          <a:solidFill>
            <a:srgbClr val="8A6A2F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50" name="No0"/>
          <p:cNvSpPr/>
          <p:nvPr/>
        </p:nvSpPr>
        <p:spPr>
          <a:xfrm>
            <a:off x="3098800" y="2768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</a:t>
            </a:r>
          </a:p>
        </p:txBody>
      </p:sp>
      <p:sp>
        <p:nvSpPr>
          <p:cNvPr id="541" name="DA1"/>
          <p:cNvSpPr/>
          <p:nvPr/>
        </p:nvSpPr>
        <p:spPr>
          <a:xfrm>
            <a:off x="2844800" y="4368800"/>
            <a:ext cx="203200" cy="431800"/>
          </a:xfrm>
          <a:prstGeom prst="downArrow">
            <a:avLst/>
          </a:prstGeom>
          <a:solidFill>
            <a:srgbClr val="8A6A2F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51" name="No1"/>
          <p:cNvSpPr/>
          <p:nvPr/>
        </p:nvSpPr>
        <p:spPr>
          <a:xfrm>
            <a:off x="3098800" y="4445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</a:t>
            </a:r>
          </a:p>
        </p:txBody>
      </p:sp>
      <p:sp>
        <p:nvSpPr>
          <p:cNvPr id="560" name="ElseNote"/>
          <p:cNvSpPr/>
          <p:nvPr/>
        </p:nvSpPr>
        <p:spPr>
          <a:xfrm>
            <a:off x="685800" y="61214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8A6A2F"/>
                </a:solidFill>
                <a:latin typeface="Times New Roman"/>
                <a:cs typeface="Times New Roman"/>
              </a:rPr>
              <a:t>No to all three?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Use Contains / Within for features that fall fully inside another.</a:t>
            </a:r>
          </a:p>
        </p:txBody>
      </p:sp>
    </p:spTree>
    <p:extLst>
      <p:ext uri="{BB962C8B-B14F-4D97-AF65-F5344CB8AC3E}">
        <p14:creationId xmlns:p14="http://schemas.microsoft.com/office/powerpoint/2010/main" val="2464480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Your turn — hands-on lab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Count the parks in each borough with a spatial join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301" name="TaskPanel"/>
          <p:cNvSpPr/>
          <p:nvPr/>
        </p:nvSpPr>
        <p:spPr>
          <a:xfrm>
            <a:off x="685800" y="1524000"/>
            <a:ext cx="53086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02" name="TaskHdr"/>
          <p:cNvSpPr/>
          <p:nvPr/>
        </p:nvSpPr>
        <p:spPr>
          <a:xfrm>
            <a:off x="1219200" y="1752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F3A34"/>
                </a:solidFill>
                <a:latin typeface="Times New Roman"/>
                <a:cs typeface="Times New Roman"/>
              </a:rPr>
              <a:t>Task</a:t>
            </a:r>
          </a:p>
        </p:txBody>
      </p:sp>
      <p:sp>
        <p:nvSpPr>
          <p:cNvPr id="303" name="Steps"/>
          <p:cNvSpPr/>
          <p:nvPr/>
        </p:nvSpPr>
        <p:spPr>
          <a:xfrm>
            <a:off x="990600" y="2311400"/>
            <a:ext cx="4851400" cy="3835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635" rIns="76200" bIns="635" anchor="t">
            <a:normAutofit/>
          </a:bodyPr>
          <a:lstStyle/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Add parks_nyc (points) and boroughs (polygons) to your map.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Right-click boroughs → Joins and Relates → Spatial Join.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Set Target = boroughs, Join Features = parks_nyc, Match Option = Intersect.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Set the Join Operation to one-to-one so each borough gets a single row.</a:t>
            </a:r>
          </a:p>
          <a:p>
            <a:pPr marL="330200" indent="-330200">
              <a:lnSpc>
                <a:spcPct val="104000"/>
              </a:lnSpc>
              <a:spcBef>
                <a:spcPts val="800"/>
              </a:spcBef>
              <a:buFont typeface="+mj-lt"/>
              <a:buAutoNum type="arabicPeriod"/>
            </a:pPr>
            <a:r>
              <a:rPr lang="en-US" sz="1450" dirty="0">
                <a:solidFill>
                  <a:srgbClr val="1F1F1F"/>
                </a:solidFill>
                <a:latin typeface="Times New Roman"/>
                <a:cs typeface="Times New Roman"/>
              </a:rPr>
              <a:t>Run it, open the output table, and read Join_Count for each borough.</a:t>
            </a:r>
          </a:p>
        </p:txBody>
      </p:sp>
      <p:sp>
        <p:nvSpPr>
          <p:cNvPr id="310" name="AnsPanel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EDE5D7"/>
          </a:solidFill>
          <a:ln w="19050">
            <a:solidFill>
              <a:srgbClr val="B08B57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311" name="Pill"/>
          <p:cNvSpPr/>
          <p:nvPr/>
        </p:nvSpPr>
        <p:spPr>
          <a:xfrm>
            <a:off x="6502400" y="1752600"/>
            <a:ext cx="1981200" cy="3810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76200" tIns="635" rIns="76200" bIns="635" anchor="ctr">
            <a:normAutofit/>
          </a:bodyPr>
          <a:lstStyle/>
          <a:p>
            <a:pPr algn="ctr">
              <a:buNone/>
            </a:pPr>
            <a:r>
              <a:rPr lang="en-US" sz="13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ANSWER KEY</a:t>
            </a:r>
          </a:p>
        </p:txBody>
      </p:sp>
      <p:sp>
        <p:nvSpPr>
          <p:cNvPr id="312" name="S3"/>
          <p:cNvSpPr/>
          <p:nvPr/>
        </p:nvSpPr>
        <p:spPr>
          <a:xfrm>
            <a:off x="6502400" y="2336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3</a:t>
            </a:r>
          </a:p>
        </p:txBody>
      </p:sp>
      <p:sp>
        <p:nvSpPr>
          <p:cNvPr id="313" name="Code3"/>
          <p:cNvSpPr/>
          <p:nvPr/>
        </p:nvSpPr>
        <p:spPr>
          <a:xfrm>
            <a:off x="6502400" y="2667000"/>
            <a:ext cx="4724400" cy="5588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Target: boroughs · Join: parks_nyc · Match: INTERSECT</a:t>
            </a:r>
          </a:p>
        </p:txBody>
      </p:sp>
      <p:sp>
        <p:nvSpPr>
          <p:cNvPr id="314" name="S4"/>
          <p:cNvSpPr/>
          <p:nvPr/>
        </p:nvSpPr>
        <p:spPr>
          <a:xfrm>
            <a:off x="6502400" y="3378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Step 4</a:t>
            </a:r>
          </a:p>
        </p:txBody>
      </p:sp>
      <p:sp>
        <p:nvSpPr>
          <p:cNvPr id="315" name="Code4"/>
          <p:cNvSpPr/>
          <p:nvPr/>
        </p:nvSpPr>
        <p:spPr>
          <a:xfrm>
            <a:off x="6502400" y="3708400"/>
            <a:ext cx="4724400" cy="5588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77800" tIns="635" rIns="127000" bIns="635" anchor="ctr">
            <a:normAutofit/>
          </a:bodyPr>
          <a:lstStyle/>
          <a:p>
            <a:pPr>
              <a:buNone/>
            </a:pPr>
            <a:r>
              <a:rPr lang="en-US" sz="1200" dirty="0">
                <a:solidFill>
                  <a:srgbClr val="1F3A34"/>
                </a:solidFill>
                <a:latin typeface="Consolas"/>
                <a:cs typeface="Consolas"/>
              </a:rPr>
              <a:t>Join operation: JOIN_ONE_TO_ONE → adds Join_Count</a:t>
            </a:r>
          </a:p>
        </p:txBody>
      </p:sp>
      <p:sp>
        <p:nvSpPr>
          <p:cNvPr id="316" name="Expected"/>
          <p:cNvSpPr/>
          <p:nvPr/>
        </p:nvSpPr>
        <p:spPr>
          <a:xfrm>
            <a:off x="6502400" y="4470400"/>
            <a:ext cx="4724400" cy="1320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Expected result   </a:t>
            </a:r>
            <a:r>
              <a:rPr lang="en-US" sz="1400" i="1" dirty="0">
                <a:solidFill>
                  <a:srgbClr val="6A6258"/>
                </a:solidFill>
                <a:latin typeface="Times New Roman"/>
                <a:cs typeface="Times New Roman"/>
              </a:rPr>
              <a:t>a boroughs layer whose Join_Count field gives the number of parks in each borough.</a:t>
            </a:r>
          </a:p>
        </p:txBody>
      </p:sp>
      <p:pic>
        <p:nvPicPr>
          <p:cNvPr id="317" name="Graphic 317" descr="Ta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330200" cy="330200"/>
          </a:xfrm>
          <a:prstGeom prst="rect">
            <a:avLst/>
          </a:prstGeom>
        </p:spPr>
      </p:pic>
      <p:sp>
        <p:nvSpPr>
          <p:cNvPr id="701" name="Prompt701"/>
          <p:cNvSpPr/>
          <p:nvPr/>
        </p:nvSpPr>
        <p:spPr>
          <a:xfrm>
            <a:off x="8585200" y="17780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 ▸</a:t>
            </a:r>
          </a:p>
        </p:txBody>
      </p:sp>
    </p:spTree>
    <p:extLst>
      <p:ext uri="{BB962C8B-B14F-4D97-AF65-F5344CB8AC3E}">
        <p14:creationId xmlns:p14="http://schemas.microsoft.com/office/powerpoint/2010/main" val="83842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Knowledge check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Check your understanding of spatial joins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10" name="KC1"/>
          <p:cNvSpPr/>
          <p:nvPr/>
        </p:nvSpPr>
        <p:spPr>
          <a:xfrm>
            <a:off x="685800" y="15240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S411"/>
          <p:cNvSpPr/>
          <p:nvPr/>
        </p:nvSpPr>
        <p:spPr>
          <a:xfrm>
            <a:off x="9398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12" name="S412"/>
          <p:cNvSpPr/>
          <p:nvPr/>
        </p:nvSpPr>
        <p:spPr>
          <a:xfrm>
            <a:off x="1422400" y="1778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What links features in a spatial join?</a:t>
            </a:r>
          </a:p>
        </p:txBody>
      </p:sp>
      <p:sp>
        <p:nvSpPr>
          <p:cNvPr id="413" name="S413"/>
          <p:cNvSpPr/>
          <p:nvPr/>
        </p:nvSpPr>
        <p:spPr>
          <a:xfrm>
            <a:off x="939800" y="27432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14" name="S414"/>
          <p:cNvSpPr/>
          <p:nvPr/>
        </p:nvSpPr>
        <p:spPr>
          <a:xfrm>
            <a:off x="939800" y="31750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spatial relationship such as intersect or within — not a shared key field.</a:t>
            </a:r>
          </a:p>
        </p:txBody>
      </p:sp>
      <p:sp>
        <p:nvSpPr>
          <p:cNvPr id="420" name="KC2"/>
          <p:cNvSpPr/>
          <p:nvPr/>
        </p:nvSpPr>
        <p:spPr>
          <a:xfrm>
            <a:off x="6223000" y="15240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6477000" y="1727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22" name="S422"/>
          <p:cNvSpPr/>
          <p:nvPr/>
        </p:nvSpPr>
        <p:spPr>
          <a:xfrm>
            <a:off x="6959600" y="1778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does one-to-one add a Join_Count?</a:t>
            </a:r>
          </a:p>
        </p:txBody>
      </p:sp>
      <p:sp>
        <p:nvSpPr>
          <p:cNvPr id="423" name="S423"/>
          <p:cNvSpPr/>
          <p:nvPr/>
        </p:nvSpPr>
        <p:spPr>
          <a:xfrm>
            <a:off x="6477000" y="27432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24" name="S424"/>
          <p:cNvSpPr/>
          <p:nvPr/>
        </p:nvSpPr>
        <p:spPr>
          <a:xfrm>
            <a:off x="6477000" y="31750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it reports how many join features matched each target feature.</a:t>
            </a:r>
          </a:p>
        </p:txBody>
      </p:sp>
      <p:sp>
        <p:nvSpPr>
          <p:cNvPr id="430" name="KC3"/>
          <p:cNvSpPr/>
          <p:nvPr/>
        </p:nvSpPr>
        <p:spPr>
          <a:xfrm>
            <a:off x="685800" y="3962400"/>
            <a:ext cx="53086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9398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32" name="S432"/>
          <p:cNvSpPr/>
          <p:nvPr/>
        </p:nvSpPr>
        <p:spPr>
          <a:xfrm>
            <a:off x="1422400" y="42164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Why might a spatial join return no matches?</a:t>
            </a:r>
          </a:p>
        </p:txBody>
      </p:sp>
      <p:sp>
        <p:nvSpPr>
          <p:cNvPr id="433" name="S433"/>
          <p:cNvSpPr/>
          <p:nvPr/>
        </p:nvSpPr>
        <p:spPr>
          <a:xfrm>
            <a:off x="939800" y="5181600"/>
            <a:ext cx="48006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34" name="S434"/>
          <p:cNvSpPr/>
          <p:nvPr/>
        </p:nvSpPr>
        <p:spPr>
          <a:xfrm>
            <a:off x="939800" y="56134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the layers are usually in different coordinate systems — reproject them to match.</a:t>
            </a:r>
          </a:p>
        </p:txBody>
      </p:sp>
      <p:sp>
        <p:nvSpPr>
          <p:cNvPr id="440" name="KC4"/>
          <p:cNvSpPr/>
          <p:nvPr/>
        </p:nvSpPr>
        <p:spPr>
          <a:xfrm>
            <a:off x="6223000" y="3962400"/>
            <a:ext cx="5283200" cy="22860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41" name="S441"/>
          <p:cNvSpPr/>
          <p:nvPr/>
        </p:nvSpPr>
        <p:spPr>
          <a:xfrm>
            <a:off x="6477000" y="416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B08B57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442" name="S442"/>
          <p:cNvSpPr/>
          <p:nvPr/>
        </p:nvSpPr>
        <p:spPr>
          <a:xfrm>
            <a:off x="6959600" y="42164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Is a spatial join dynamic like Add Join?</a:t>
            </a:r>
          </a:p>
        </p:txBody>
      </p:sp>
      <p:sp>
        <p:nvSpPr>
          <p:cNvPr id="443" name="S443"/>
          <p:cNvSpPr/>
          <p:nvPr/>
        </p:nvSpPr>
        <p:spPr>
          <a:xfrm>
            <a:off x="6477000" y="5181600"/>
            <a:ext cx="4775200" cy="25400"/>
          </a:xfrm>
          <a:prstGeom prst="rect">
            <a:avLst/>
          </a:prstGeom>
          <a:solidFill>
            <a:srgbClr val="C8BCA8"/>
          </a:solidFill>
          <a:ln>
            <a:noFill/>
          </a:ln>
        </p:spPr>
        <p:txBody>
          <a:bodyPr wrap="square" lIns="1270" tIns="635" rIns="1270" bIns="635">
            <a:normAutofit fontScale="25000" lnSpcReduction="20000"/>
          </a:bodyPr>
          <a:lstStyle/>
          <a:p>
            <a:pPr>
              <a:buNone/>
            </a:pPr>
            <a:endParaRPr/>
          </a:p>
        </p:txBody>
      </p:sp>
      <p:sp>
        <p:nvSpPr>
          <p:cNvPr id="444" name="S444"/>
          <p:cNvSpPr/>
          <p:nvPr/>
        </p:nvSpPr>
        <p:spPr>
          <a:xfrm>
            <a:off x="6477000" y="5613400"/>
            <a:ext cx="4775200" cy="609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8B57"/>
                </a:solidFill>
                <a:latin typeface="Times New Roman"/>
                <a:cs typeface="Times New Roman"/>
              </a:rPr>
              <a:t>Answer   </a:t>
            </a: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no — it writes a static output layer; re-run it after the data changes.</a:t>
            </a:r>
          </a:p>
        </p:txBody>
      </p:sp>
      <p:sp>
        <p:nvSpPr>
          <p:cNvPr id="701" name="Prompt701"/>
          <p:cNvSpPr/>
          <p:nvPr/>
        </p:nvSpPr>
        <p:spPr>
          <a:xfrm>
            <a:off x="939800" y="28448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2" name="Prompt702"/>
          <p:cNvSpPr/>
          <p:nvPr/>
        </p:nvSpPr>
        <p:spPr>
          <a:xfrm>
            <a:off x="6477000" y="28448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3" name="Prompt703"/>
          <p:cNvSpPr/>
          <p:nvPr/>
        </p:nvSpPr>
        <p:spPr>
          <a:xfrm>
            <a:off x="939800" y="52832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  <p:sp>
        <p:nvSpPr>
          <p:cNvPr id="704" name="Prompt704"/>
          <p:cNvSpPr/>
          <p:nvPr/>
        </p:nvSpPr>
        <p:spPr>
          <a:xfrm>
            <a:off x="6477000" y="52832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en-US" sz="1400" i="1" dirty="0">
                <a:solidFill>
                  <a:srgbClr val="8A6A2F"/>
                </a:solidFill>
                <a:latin typeface="Times New Roman"/>
                <a:cs typeface="Times New Roman"/>
              </a:rPr>
              <a:t>Click to reveal answer</a:t>
            </a:r>
          </a:p>
        </p:txBody>
      </p:sp>
    </p:spTree>
    <p:extLst>
      <p:ext uri="{BB962C8B-B14F-4D97-AF65-F5344CB8AC3E}">
        <p14:creationId xmlns:p14="http://schemas.microsoft.com/office/powerpoint/2010/main" val="23915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410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420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430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440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58800"/>
            <a:ext cx="10820400" cy="0"/>
          </a:xfrm>
          <a:prstGeom prst="line">
            <a:avLst/>
          </a:prstGeom>
          <a:noFill/>
          <a:ln w="12700">
            <a:solidFill>
              <a:srgbClr val="C8B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2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1F3A34"/>
                </a:solidFill>
                <a:latin typeface="Times New Roman"/>
                <a:cs typeface="Times New Roman"/>
              </a:rPr>
              <a:t>Recap and what's next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6A6258"/>
                </a:solidFill>
                <a:latin typeface="Times New Roman"/>
                <a:cs typeface="Times New Roman"/>
              </a:rPr>
              <a:t>You can join by location — next, reshape and combine the geometry itself</a:t>
            </a:r>
          </a:p>
        </p:txBody>
      </p:sp>
      <p:sp>
        <p:nvSpPr>
          <p:cNvPr id="300" name="Eyebrow"/>
          <p:cNvSpPr/>
          <p:nvPr/>
        </p:nvSpPr>
        <p:spPr>
          <a:xfrm>
            <a:off x="685800" y="254000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 anchor="t">
            <a:normAutofit/>
          </a:bodyPr>
          <a:lstStyle/>
          <a:p>
            <a:pPr algn="l">
              <a:buNone/>
            </a:pPr>
            <a:r>
              <a:rPr lang="en-US" sz="1300" b="1" spc="180" dirty="0">
                <a:solidFill>
                  <a:srgbClr val="B08B57"/>
                </a:solidFill>
                <a:latin typeface="Times New Roman"/>
                <a:cs typeface="Times New Roman"/>
              </a:rPr>
              <a:t>ArcGIS Pro — Spatial Join</a:t>
            </a:r>
          </a:p>
        </p:txBody>
      </p:sp>
      <p:sp>
        <p:nvSpPr>
          <p:cNvPr id="400" name="S400"/>
          <p:cNvSpPr/>
          <p:nvPr/>
        </p:nvSpPr>
        <p:spPr>
          <a:xfrm>
            <a:off x="685800" y="1574800"/>
            <a:ext cx="530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410" name="S410"/>
          <p:cNvSpPr/>
          <p:nvPr/>
        </p:nvSpPr>
        <p:spPr>
          <a:xfrm>
            <a:off x="685800" y="19050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0" name="S420"/>
          <p:cNvSpPr/>
          <p:nvPr/>
        </p:nvSpPr>
        <p:spPr>
          <a:xfrm>
            <a:off x="914400" y="21209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0" name="S430"/>
          <p:cNvSpPr/>
          <p:nvPr/>
        </p:nvSpPr>
        <p:spPr>
          <a:xfrm>
            <a:off x="1625600" y="20701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Location is the key</a:t>
            </a:r>
          </a:p>
        </p:txBody>
      </p:sp>
      <p:sp>
        <p:nvSpPr>
          <p:cNvPr id="440" name="S440"/>
          <p:cNvSpPr/>
          <p:nvPr/>
        </p:nvSpPr>
        <p:spPr>
          <a:xfrm>
            <a:off x="1625600" y="24003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A spatial relationship replaces the shared field.</a:t>
            </a:r>
          </a:p>
        </p:txBody>
      </p:sp>
      <p:sp>
        <p:nvSpPr>
          <p:cNvPr id="411" name="S411"/>
          <p:cNvSpPr/>
          <p:nvPr/>
        </p:nvSpPr>
        <p:spPr>
          <a:xfrm>
            <a:off x="685800" y="29464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1" name="S421"/>
          <p:cNvSpPr/>
          <p:nvPr/>
        </p:nvSpPr>
        <p:spPr>
          <a:xfrm>
            <a:off x="914400" y="31623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1" name="S431"/>
          <p:cNvSpPr/>
          <p:nvPr/>
        </p:nvSpPr>
        <p:spPr>
          <a:xfrm>
            <a:off x="1625600" y="31115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One tool, clear inputs</a:t>
            </a:r>
          </a:p>
        </p:txBody>
      </p:sp>
      <p:sp>
        <p:nvSpPr>
          <p:cNvPr id="441" name="S441"/>
          <p:cNvSpPr/>
          <p:nvPr/>
        </p:nvSpPr>
        <p:spPr>
          <a:xfrm>
            <a:off x="1625600" y="34417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Target, Join, a Match Option, and an output layer.</a:t>
            </a:r>
          </a:p>
        </p:txBody>
      </p:sp>
      <p:sp>
        <p:nvSpPr>
          <p:cNvPr id="412" name="S412"/>
          <p:cNvSpPr/>
          <p:nvPr/>
        </p:nvSpPr>
        <p:spPr>
          <a:xfrm>
            <a:off x="685800" y="39878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2" name="S422"/>
          <p:cNvSpPr/>
          <p:nvPr/>
        </p:nvSpPr>
        <p:spPr>
          <a:xfrm>
            <a:off x="914400" y="4203700"/>
            <a:ext cx="508000" cy="508000"/>
          </a:xfrm>
          <a:prstGeom prst="ellipse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2" name="S432"/>
          <p:cNvSpPr/>
          <p:nvPr/>
        </p:nvSpPr>
        <p:spPr>
          <a:xfrm>
            <a:off x="1625600" y="41529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Shape the result</a:t>
            </a:r>
          </a:p>
        </p:txBody>
      </p:sp>
      <p:sp>
        <p:nvSpPr>
          <p:cNvPr id="442" name="S442"/>
          <p:cNvSpPr/>
          <p:nvPr/>
        </p:nvSpPr>
        <p:spPr>
          <a:xfrm>
            <a:off x="1625600" y="44831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One-to-one summarizes; one-to-many keeps every match.</a:t>
            </a:r>
          </a:p>
        </p:txBody>
      </p:sp>
      <p:sp>
        <p:nvSpPr>
          <p:cNvPr id="413" name="S413"/>
          <p:cNvSpPr/>
          <p:nvPr/>
        </p:nvSpPr>
        <p:spPr>
          <a:xfrm>
            <a:off x="685800" y="5029200"/>
            <a:ext cx="5308600" cy="9398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23" name="S423"/>
          <p:cNvSpPr/>
          <p:nvPr/>
        </p:nvSpPr>
        <p:spPr>
          <a:xfrm>
            <a:off x="914400" y="5245100"/>
            <a:ext cx="508000" cy="508000"/>
          </a:xfrm>
          <a:prstGeom prst="ellipse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433" name="S433"/>
          <p:cNvSpPr/>
          <p:nvPr/>
        </p:nvSpPr>
        <p:spPr>
          <a:xfrm>
            <a:off x="1625600" y="5194300"/>
            <a:ext cx="416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A34"/>
                </a:solidFill>
                <a:latin typeface="Times New Roman"/>
                <a:cs typeface="Times New Roman"/>
              </a:rPr>
              <a:t>Check the CRS first</a:t>
            </a:r>
          </a:p>
        </p:txBody>
      </p:sp>
      <p:sp>
        <p:nvSpPr>
          <p:cNvPr id="443" name="S443"/>
          <p:cNvSpPr/>
          <p:nvPr/>
        </p:nvSpPr>
        <p:spPr>
          <a:xfrm>
            <a:off x="1625600" y="5524500"/>
            <a:ext cx="416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 fontScale="92500"/>
          </a:bodyPr>
          <a:lstStyle/>
          <a:p>
            <a:pPr>
              <a:lnSpc>
                <a:spcPct val="104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Times New Roman"/>
                <a:cs typeface="Times New Roman"/>
              </a:rPr>
              <a:t>Most empty results trace to mismatched coordinate systems.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524000"/>
            <a:ext cx="5283200" cy="4724400"/>
          </a:xfrm>
          <a:prstGeom prst="roundRect">
            <a:avLst/>
          </a:prstGeom>
          <a:solidFill>
            <a:srgbClr val="F7F2E9"/>
          </a:solidFill>
          <a:ln w="12700">
            <a:solidFill>
              <a:srgbClr val="C8BCA8"/>
            </a:solidFill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endParaRPr/>
          </a:p>
        </p:txBody>
      </p:sp>
      <p:sp>
        <p:nvSpPr>
          <p:cNvPr id="501" name="S501"/>
          <p:cNvSpPr/>
          <p:nvPr/>
        </p:nvSpPr>
        <p:spPr>
          <a:xfrm>
            <a:off x="6477000" y="17272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3A34"/>
                </a:solidFill>
                <a:latin typeface="Times New Roman"/>
                <a:cs typeface="Times New Roman"/>
              </a:rPr>
              <a:t>Up next: Spatial Analysis</a:t>
            </a:r>
          </a:p>
        </p:txBody>
      </p:sp>
      <p:sp>
        <p:nvSpPr>
          <p:cNvPr id="510" name="S510"/>
          <p:cNvSpPr/>
          <p:nvPr/>
        </p:nvSpPr>
        <p:spPr>
          <a:xfrm>
            <a:off x="6477000" y="21590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520" name="S520"/>
          <p:cNvSpPr/>
          <p:nvPr/>
        </p:nvSpPr>
        <p:spPr>
          <a:xfrm>
            <a:off x="6934200" y="21971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Buffer</a:t>
            </a:r>
          </a:p>
        </p:txBody>
      </p:sp>
      <p:sp>
        <p:nvSpPr>
          <p:cNvPr id="530" name="S530"/>
          <p:cNvSpPr/>
          <p:nvPr/>
        </p:nvSpPr>
        <p:spPr>
          <a:xfrm>
            <a:off x="6477000" y="25400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grow a feature outward by a set distance</a:t>
            </a:r>
          </a:p>
        </p:txBody>
      </p:sp>
      <p:sp>
        <p:nvSpPr>
          <p:cNvPr id="511" name="S511"/>
          <p:cNvSpPr/>
          <p:nvPr/>
        </p:nvSpPr>
        <p:spPr>
          <a:xfrm>
            <a:off x="6477000" y="29464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521" name="S521"/>
          <p:cNvSpPr/>
          <p:nvPr/>
        </p:nvSpPr>
        <p:spPr>
          <a:xfrm>
            <a:off x="6934200" y="29845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Clip</a:t>
            </a:r>
          </a:p>
        </p:txBody>
      </p:sp>
      <p:sp>
        <p:nvSpPr>
          <p:cNvPr id="531" name="S531"/>
          <p:cNvSpPr/>
          <p:nvPr/>
        </p:nvSpPr>
        <p:spPr>
          <a:xfrm>
            <a:off x="6477000" y="33274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cut one layer to the shape of another</a:t>
            </a:r>
          </a:p>
        </p:txBody>
      </p:sp>
      <p:sp>
        <p:nvSpPr>
          <p:cNvPr id="512" name="S512"/>
          <p:cNvSpPr/>
          <p:nvPr/>
        </p:nvSpPr>
        <p:spPr>
          <a:xfrm>
            <a:off x="6477000" y="3733800"/>
            <a:ext cx="355600" cy="355600"/>
          </a:xfrm>
          <a:prstGeom prst="roundRect">
            <a:avLst/>
          </a:prstGeom>
          <a:solidFill>
            <a:srgbClr val="1F3A34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522" name="S522"/>
          <p:cNvSpPr/>
          <p:nvPr/>
        </p:nvSpPr>
        <p:spPr>
          <a:xfrm>
            <a:off x="6934200" y="37719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Dissolve</a:t>
            </a:r>
          </a:p>
        </p:txBody>
      </p:sp>
      <p:sp>
        <p:nvSpPr>
          <p:cNvPr id="532" name="S532"/>
          <p:cNvSpPr/>
          <p:nvPr/>
        </p:nvSpPr>
        <p:spPr>
          <a:xfrm>
            <a:off x="6477000" y="41148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merge features that share an attribute</a:t>
            </a:r>
          </a:p>
        </p:txBody>
      </p:sp>
      <p:sp>
        <p:nvSpPr>
          <p:cNvPr id="513" name="S513"/>
          <p:cNvSpPr/>
          <p:nvPr/>
        </p:nvSpPr>
        <p:spPr>
          <a:xfrm>
            <a:off x="6477000" y="4521200"/>
            <a:ext cx="355600" cy="355600"/>
          </a:xfrm>
          <a:prstGeom prst="roundRect">
            <a:avLst/>
          </a:prstGeom>
          <a:solidFill>
            <a:srgbClr val="B08B57"/>
          </a:solidFill>
          <a:ln>
            <a:noFill/>
          </a:ln>
        </p:spPr>
        <p:txBody>
          <a:bodyPr wrap="square" lIns="1270" tIns="635" rIns="1270" bIns="635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523" name="S523"/>
          <p:cNvSpPr/>
          <p:nvPr/>
        </p:nvSpPr>
        <p:spPr>
          <a:xfrm>
            <a:off x="6934200" y="45593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1270" tIns="635" rIns="1270" bIns="635"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A34"/>
                </a:solidFill>
                <a:latin typeface="Times New Roman"/>
                <a:cs typeface="Times New Roman"/>
              </a:rPr>
              <a:t>Overlay</a:t>
            </a:r>
          </a:p>
        </p:txBody>
      </p:sp>
      <p:sp>
        <p:nvSpPr>
          <p:cNvPr id="533" name="S533"/>
          <p:cNvSpPr/>
          <p:nvPr/>
        </p:nvSpPr>
        <p:spPr>
          <a:xfrm>
            <a:off x="6477000" y="4902200"/>
            <a:ext cx="4927600" cy="33020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C8BCA8"/>
            </a:solidFill>
          </a:ln>
        </p:spPr>
        <p:txBody>
          <a:bodyPr wrap="square" lIns="152400" tIns="635" rIns="101600" bIns="635" anchor="ctr">
            <a:normAutofit/>
          </a:bodyPr>
          <a:lstStyle/>
          <a:p>
            <a:pPr>
              <a:buNone/>
            </a:pPr>
            <a:r>
              <a:rPr lang="en-US" sz="1300" dirty="0">
                <a:solidFill>
                  <a:srgbClr val="1F3A34"/>
                </a:solidFill>
                <a:latin typeface="Consolas"/>
                <a:cs typeface="Consolas"/>
              </a:rPr>
              <a:t>combine two layers into one new layer</a:t>
            </a:r>
          </a:p>
        </p:txBody>
      </p:sp>
      <p:sp>
        <p:nvSpPr>
          <p:cNvPr id="540" name="S540"/>
          <p:cNvSpPr/>
          <p:nvPr/>
        </p:nvSpPr>
        <p:spPr>
          <a:xfrm>
            <a:off x="6477000" y="5384800"/>
            <a:ext cx="4927600" cy="685800"/>
          </a:xfrm>
          <a:prstGeom prst="roundRect">
            <a:avLst/>
          </a:prstGeom>
          <a:solidFill>
            <a:srgbClr val="EDE5D7"/>
          </a:solidFill>
          <a:ln w="15875">
            <a:solidFill>
              <a:srgbClr val="B08B57"/>
            </a:solidFill>
          </a:ln>
        </p:spPr>
        <p:txBody>
          <a:bodyPr wrap="square" lIns="177800" tIns="635" rIns="152400" bIns="635" anchor="ctr">
            <a:norm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400" b="1" i="1" dirty="0">
                <a:solidFill>
                  <a:srgbClr val="1F3A34"/>
                </a:solidFill>
                <a:latin typeface="Times New Roman"/>
                <a:cs typeface="Times New Roman"/>
              </a:rPr>
              <a:t>You've joined features by location — next: reshape geometry with buffer, clip, dissolve, and overlay.</a:t>
            </a:r>
          </a:p>
        </p:txBody>
      </p:sp>
      <p:pic>
        <p:nvPicPr>
          <p:cNvPr id="541" name="Graphic 541" descr="One too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3276600"/>
            <a:ext cx="279400" cy="279400"/>
          </a:xfrm>
          <a:prstGeom prst="rect">
            <a:avLst/>
          </a:prstGeom>
        </p:spPr>
      </p:pic>
      <p:pic>
        <p:nvPicPr>
          <p:cNvPr id="542" name="Graphic 542" descr="Shape resul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" y="4318000"/>
            <a:ext cx="279400" cy="279400"/>
          </a:xfrm>
          <a:prstGeom prst="rect">
            <a:avLst/>
          </a:prstGeom>
        </p:spPr>
      </p:pic>
      <p:pic>
        <p:nvPicPr>
          <p:cNvPr id="543" name="Graphic 543" descr="Check C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" y="5359400"/>
            <a:ext cx="279400" cy="279400"/>
          </a:xfrm>
          <a:prstGeom prst="rect">
            <a:avLst/>
          </a:prstGeom>
        </p:spPr>
      </p:pic>
      <p:pic>
        <p:nvPicPr>
          <p:cNvPr id="544" name="Graphic 544" descr="Location is the ke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" y="22352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75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D52E94-C73C-473C-99B1-A424D4DC44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544b410-5520-4670-a105-09a24c7e55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6366</TotalTime>
  <Words>5367</Words>
  <Application>Microsoft Office PowerPoint</Application>
  <PresentationFormat>Widescreen</PresentationFormat>
  <Paragraphs>570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ArcGIS Pro table joins and relates</dc:title>
  <dc:subject>ArcGIS Pro table joins and relates</dc:subject>
  <dc:creator>OpenAI</dc:creator>
  <cp:lastModifiedBy>Shokran Rahiminezhad</cp:lastModifiedBy>
  <cp:revision>9</cp:revision>
  <dcterms:created xsi:type="dcterms:W3CDTF">2026-03-11T00:41:06Z</dcterms:created>
  <dcterms:modified xsi:type="dcterms:W3CDTF">2026-07-08T21:25:18Z</dcterms:modified>
</cp:coreProperties>
</file>