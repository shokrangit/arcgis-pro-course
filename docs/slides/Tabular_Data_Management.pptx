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8.xml"/><Relationship Id="rId4" Type="http://schemas.openxmlformats.org/officeDocument/2006/relationships/slide" Target="slide12.xml"/><Relationship Id="rId5" Type="http://schemas.openxmlformats.org/officeDocument/2006/relationships/slide" Target="slide18.xml"/><Relationship Id="rId6" Type="http://schemas.openxmlformats.org/officeDocument/2006/relationships/slide" Target="slide26.xml"/><Relationship Id="rId7" Type="http://schemas.openxmlformats.org/officeDocument/2006/relationships/slide" Target="slide3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8.xml"/><Relationship Id="rId4" Type="http://schemas.openxmlformats.org/officeDocument/2006/relationships/slide" Target="slide12.xml"/><Relationship Id="rId5" Type="http://schemas.openxmlformats.org/officeDocument/2006/relationships/slide" Target="slide18.xml"/><Relationship Id="rId6" Type="http://schemas.openxmlformats.org/officeDocument/2006/relationships/slide" Target="slide26.xml"/><Relationship Id="rId7" Type="http://schemas.openxmlformats.org/officeDocument/2006/relationships/slide" Target="slide3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6ED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092000" y="5758000"/>
            <a:ext cx="2800000" cy="28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92000" y="5058000"/>
            <a:ext cx="4200000" cy="42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92000" y="4358000"/>
            <a:ext cx="5600000" cy="56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92000" y="3658000"/>
            <a:ext cx="7000000" cy="70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00000"/>
            <a:ext cx="10820400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E08A2B"/>
                </a:solidFill>
                <a:latin typeface="Consolas"/>
              </a:rPr>
              <a:t>ARCGIS PRO  ·  GIS FUNDAMENTALS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050000"/>
            <a:ext cx="108204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142F4C"/>
                </a:solidFill>
                <a:latin typeface="Georgia"/>
              </a:rPr>
              <a:t>Tabular Data Management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736600" y="1950000"/>
            <a:ext cx="900000" cy="38100"/>
          </a:xfrm>
          <a:prstGeom prst="rect">
            <a:avLst/>
          </a:prstGeom>
          <a:solidFill>
            <a:srgbClr val="E08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150000"/>
            <a:ext cx="104000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1">
                <a:solidFill>
                  <a:srgbClr val="4A5A6A"/>
                </a:solidFill>
                <a:latin typeface="Georgia"/>
              </a:rPr>
              <a:t>From a CSV on your desktop to a fully attributed feature class — coordinates, field types, and the Field Calculator</a:t>
            </a:r>
          </a:p>
        </p:txBody>
      </p:sp>
      <p:sp>
        <p:nvSpPr>
          <p:cNvPr id="11" name="Rectangle 10">
            <a:hlinkClick action="ppaction://hlinksldjump" r:id="rId2"/>
          </p:cNvPr>
          <p:cNvSpPr/>
          <p:nvPr/>
        </p:nvSpPr>
        <p:spPr>
          <a:xfrm>
            <a:off x="731520" y="2950000"/>
            <a:ext cx="3466666" cy="1750000"/>
          </a:xfrm>
          <a:prstGeom prst="rect">
            <a:avLst/>
          </a:prstGeom>
          <a:solidFill>
            <a:srgbClr val="EFF3F7"/>
          </a:solidFill>
          <a:ln w="12700">
            <a:solidFill>
              <a:srgbClr val="C7D3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>
            <a:hlinkClick action="ppaction://hlinksldjump" r:id="rId2"/>
          </p:cNvPr>
          <p:cNvSpPr/>
          <p:nvPr/>
        </p:nvSpPr>
        <p:spPr>
          <a:xfrm>
            <a:off x="731520" y="2950000"/>
            <a:ext cx="3466666" cy="381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>
            <a:hlinkClick action="ppaction://hlinksldjump" r:id="rId2"/>
          </p:cNvPr>
          <p:cNvSpPr txBox="1"/>
          <p:nvPr/>
        </p:nvSpPr>
        <p:spPr>
          <a:xfrm>
            <a:off x="906780" y="3170000"/>
            <a:ext cx="70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2E86C1"/>
                </a:solidFill>
                <a:latin typeface="Consolas"/>
              </a:rPr>
              <a:t>01</a:t>
            </a:r>
          </a:p>
        </p:txBody>
      </p:sp>
      <p:sp>
        <p:nvSpPr>
          <p:cNvPr id="14" name="TextBox 13">
            <a:hlinkClick action="ppaction://hlinksldjump" r:id="rId2"/>
          </p:cNvPr>
          <p:cNvSpPr txBox="1"/>
          <p:nvPr/>
        </p:nvSpPr>
        <p:spPr>
          <a:xfrm>
            <a:off x="906780" y="3630000"/>
            <a:ext cx="3116666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 i="0">
                <a:solidFill>
                  <a:srgbClr val="142F4C"/>
                </a:solidFill>
                <a:latin typeface="Georgia"/>
              </a:rPr>
              <a:t>CSV Fundamentals</a:t>
            </a:r>
          </a:p>
        </p:txBody>
      </p:sp>
      <p:sp>
        <p:nvSpPr>
          <p:cNvPr id="15" name="TextBox 14">
            <a:hlinkClick action="ppaction://hlinksldjump" r:id="rId2"/>
          </p:cNvPr>
          <p:cNvSpPr txBox="1"/>
          <p:nvPr/>
        </p:nvSpPr>
        <p:spPr>
          <a:xfrm>
            <a:off x="906780" y="4030000"/>
            <a:ext cx="3116666" cy="5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 b="0" i="0">
                <a:solidFill>
                  <a:srgbClr val="4A5A6A"/>
                </a:solidFill>
                <a:latin typeface="Georgia"/>
              </a:rPr>
              <a:t>Rows, columns, and what a CSV needs before it can become map data</a:t>
            </a:r>
          </a:p>
        </p:txBody>
      </p:sp>
      <p:sp>
        <p:nvSpPr>
          <p:cNvPr id="16" name="Rectangle 15">
            <a:hlinkClick action="ppaction://hlinksldjump" r:id="rId3"/>
          </p:cNvPr>
          <p:cNvSpPr/>
          <p:nvPr/>
        </p:nvSpPr>
        <p:spPr>
          <a:xfrm>
            <a:off x="4358186" y="2950000"/>
            <a:ext cx="3466666" cy="1750000"/>
          </a:xfrm>
          <a:prstGeom prst="rect">
            <a:avLst/>
          </a:prstGeom>
          <a:solidFill>
            <a:srgbClr val="EFF3F7"/>
          </a:solidFill>
          <a:ln w="12700">
            <a:solidFill>
              <a:srgbClr val="C7D3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>
            <a:hlinkClick action="ppaction://hlinksldjump" r:id="rId3"/>
          </p:cNvPr>
          <p:cNvSpPr/>
          <p:nvPr/>
        </p:nvSpPr>
        <p:spPr>
          <a:xfrm>
            <a:off x="4358186" y="2950000"/>
            <a:ext cx="3466666" cy="38100"/>
          </a:xfrm>
          <a:prstGeom prst="rect">
            <a:avLst/>
          </a:prstGeom>
          <a:solidFill>
            <a:srgbClr val="E08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3"/>
          </p:cNvPr>
          <p:cNvSpPr txBox="1"/>
          <p:nvPr/>
        </p:nvSpPr>
        <p:spPr>
          <a:xfrm>
            <a:off x="4533446" y="3170000"/>
            <a:ext cx="70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E08A2B"/>
                </a:solidFill>
                <a:latin typeface="Consolas"/>
              </a:rPr>
              <a:t>02</a:t>
            </a:r>
          </a:p>
        </p:txBody>
      </p:sp>
      <p:sp>
        <p:nvSpPr>
          <p:cNvPr id="19" name="TextBox 18">
            <a:hlinkClick action="ppaction://hlinksldjump" r:id="rId3"/>
          </p:cNvPr>
          <p:cNvSpPr txBox="1"/>
          <p:nvPr/>
        </p:nvSpPr>
        <p:spPr>
          <a:xfrm>
            <a:off x="4533446" y="3630000"/>
            <a:ext cx="3116666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 i="0">
                <a:solidFill>
                  <a:srgbClr val="142F4C"/>
                </a:solidFill>
                <a:latin typeface="Georgia"/>
              </a:rPr>
              <a:t>Display XY Data</a:t>
            </a:r>
          </a:p>
        </p:txBody>
      </p:sp>
      <p:sp>
        <p:nvSpPr>
          <p:cNvPr id="20" name="TextBox 19">
            <a:hlinkClick action="ppaction://hlinksldjump" r:id="rId3"/>
          </p:cNvPr>
          <p:cNvSpPr txBox="1"/>
          <p:nvPr/>
        </p:nvSpPr>
        <p:spPr>
          <a:xfrm>
            <a:off x="4533446" y="4030000"/>
            <a:ext cx="3116666" cy="5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 b="0" i="0">
                <a:solidFill>
                  <a:srgbClr val="4A5A6A"/>
                </a:solidFill>
                <a:latin typeface="Georgia"/>
              </a:rPr>
              <a:t>Turning X/Y columns — or an address — into a live point layer</a:t>
            </a:r>
          </a:p>
        </p:txBody>
      </p:sp>
      <p:sp>
        <p:nvSpPr>
          <p:cNvPr id="21" name="Rectangle 20">
            <a:hlinkClick action="ppaction://hlinksldjump" r:id="rId4"/>
          </p:cNvPr>
          <p:cNvSpPr/>
          <p:nvPr/>
        </p:nvSpPr>
        <p:spPr>
          <a:xfrm>
            <a:off x="7984852" y="2950000"/>
            <a:ext cx="3466666" cy="1750000"/>
          </a:xfrm>
          <a:prstGeom prst="rect">
            <a:avLst/>
          </a:prstGeom>
          <a:solidFill>
            <a:srgbClr val="EFF3F7"/>
          </a:solidFill>
          <a:ln w="12700">
            <a:solidFill>
              <a:srgbClr val="C7D3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>
            <a:hlinkClick action="ppaction://hlinksldjump" r:id="rId4"/>
          </p:cNvPr>
          <p:cNvSpPr/>
          <p:nvPr/>
        </p:nvSpPr>
        <p:spPr>
          <a:xfrm>
            <a:off x="7984852" y="2950000"/>
            <a:ext cx="3466666" cy="38100"/>
          </a:xfrm>
          <a:prstGeom prst="rect">
            <a:avLst/>
          </a:prstGeom>
          <a:solidFill>
            <a:srgbClr val="C051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>
            <a:hlinkClick action="ppaction://hlinksldjump" r:id="rId4"/>
          </p:cNvPr>
          <p:cNvSpPr txBox="1"/>
          <p:nvPr/>
        </p:nvSpPr>
        <p:spPr>
          <a:xfrm>
            <a:off x="8160112" y="3170000"/>
            <a:ext cx="70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C0512B"/>
                </a:solidFill>
                <a:latin typeface="Consolas"/>
              </a:rPr>
              <a:t>03</a:t>
            </a:r>
          </a:p>
        </p:txBody>
      </p:sp>
      <p:sp>
        <p:nvSpPr>
          <p:cNvPr id="24" name="TextBox 23">
            <a:hlinkClick action="ppaction://hlinksldjump" r:id="rId4"/>
          </p:cNvPr>
          <p:cNvSpPr txBox="1"/>
          <p:nvPr/>
        </p:nvSpPr>
        <p:spPr>
          <a:xfrm>
            <a:off x="8160112" y="3630000"/>
            <a:ext cx="3116666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 i="0">
                <a:solidFill>
                  <a:srgbClr val="142F4C"/>
                </a:solidFill>
                <a:latin typeface="Georgia"/>
              </a:rPr>
              <a:t>Making It Permanent</a:t>
            </a:r>
          </a:p>
        </p:txBody>
      </p:sp>
      <p:sp>
        <p:nvSpPr>
          <p:cNvPr id="25" name="TextBox 24">
            <a:hlinkClick action="ppaction://hlinksldjump" r:id="rId4"/>
          </p:cNvPr>
          <p:cNvSpPr txBox="1"/>
          <p:nvPr/>
        </p:nvSpPr>
        <p:spPr>
          <a:xfrm>
            <a:off x="8160112" y="4030000"/>
            <a:ext cx="3116666" cy="5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 b="0" i="0">
                <a:solidFill>
                  <a:srgbClr val="4A5A6A"/>
                </a:solidFill>
                <a:latin typeface="Georgia"/>
              </a:rPr>
              <a:t>Exporting, summarizing, and getting your data back out</a:t>
            </a:r>
          </a:p>
        </p:txBody>
      </p:sp>
      <p:sp>
        <p:nvSpPr>
          <p:cNvPr id="26" name="Rectangle 25">
            <a:hlinkClick action="ppaction://hlinksldjump" r:id="rId5"/>
          </p:cNvPr>
          <p:cNvSpPr/>
          <p:nvPr/>
        </p:nvSpPr>
        <p:spPr>
          <a:xfrm>
            <a:off x="731520" y="4860000"/>
            <a:ext cx="3466666" cy="1750000"/>
          </a:xfrm>
          <a:prstGeom prst="rect">
            <a:avLst/>
          </a:prstGeom>
          <a:solidFill>
            <a:srgbClr val="EFF3F7"/>
          </a:solidFill>
          <a:ln w="12700">
            <a:solidFill>
              <a:srgbClr val="C7D3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>
            <a:hlinkClick action="ppaction://hlinksldjump" r:id="rId5"/>
          </p:cNvPr>
          <p:cNvSpPr/>
          <p:nvPr/>
        </p:nvSpPr>
        <p:spPr>
          <a:xfrm>
            <a:off x="731520" y="4860000"/>
            <a:ext cx="3466666" cy="38100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>
            <a:hlinkClick action="ppaction://hlinksldjump" r:id="rId5"/>
          </p:cNvPr>
          <p:cNvSpPr txBox="1"/>
          <p:nvPr/>
        </p:nvSpPr>
        <p:spPr>
          <a:xfrm>
            <a:off x="906780" y="5080000"/>
            <a:ext cx="70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3D7A5C"/>
                </a:solidFill>
                <a:latin typeface="Consolas"/>
              </a:rPr>
              <a:t>04</a:t>
            </a:r>
          </a:p>
        </p:txBody>
      </p:sp>
      <p:sp>
        <p:nvSpPr>
          <p:cNvPr id="29" name="TextBox 28">
            <a:hlinkClick action="ppaction://hlinksldjump" r:id="rId5"/>
          </p:cNvPr>
          <p:cNvSpPr txBox="1"/>
          <p:nvPr/>
        </p:nvSpPr>
        <p:spPr>
          <a:xfrm>
            <a:off x="906780" y="5540000"/>
            <a:ext cx="3116666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 i="0">
                <a:solidFill>
                  <a:srgbClr val="142F4C"/>
                </a:solidFill>
                <a:latin typeface="Georgia"/>
              </a:rPr>
              <a:t>Field Types &amp; Attributes</a:t>
            </a:r>
          </a:p>
        </p:txBody>
      </p:sp>
      <p:sp>
        <p:nvSpPr>
          <p:cNvPr id="30" name="TextBox 29">
            <a:hlinkClick action="ppaction://hlinksldjump" r:id="rId5"/>
          </p:cNvPr>
          <p:cNvSpPr txBox="1"/>
          <p:nvPr/>
        </p:nvSpPr>
        <p:spPr>
          <a:xfrm>
            <a:off x="906780" y="5940000"/>
            <a:ext cx="3116666" cy="5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 b="0" i="0">
                <a:solidFill>
                  <a:srgbClr val="4A5A6A"/>
                </a:solidFill>
                <a:latin typeface="Georgia"/>
              </a:rPr>
              <a:t>Choosing types, adding fields, domains, and NULLs</a:t>
            </a:r>
          </a:p>
        </p:txBody>
      </p:sp>
      <p:sp>
        <p:nvSpPr>
          <p:cNvPr id="31" name="Rectangle 30">
            <a:hlinkClick action="ppaction://hlinksldjump" r:id="rId6"/>
          </p:cNvPr>
          <p:cNvSpPr/>
          <p:nvPr/>
        </p:nvSpPr>
        <p:spPr>
          <a:xfrm>
            <a:off x="4358186" y="4860000"/>
            <a:ext cx="3466666" cy="1750000"/>
          </a:xfrm>
          <a:prstGeom prst="rect">
            <a:avLst/>
          </a:prstGeom>
          <a:solidFill>
            <a:srgbClr val="EFF3F7"/>
          </a:solidFill>
          <a:ln w="12700">
            <a:solidFill>
              <a:srgbClr val="C7D3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>
            <a:hlinkClick action="ppaction://hlinksldjump" r:id="rId6"/>
          </p:cNvPr>
          <p:cNvSpPr/>
          <p:nvPr/>
        </p:nvSpPr>
        <p:spPr>
          <a:xfrm>
            <a:off x="4358186" y="4860000"/>
            <a:ext cx="3466666" cy="38100"/>
          </a:xfrm>
          <a:prstGeom prst="rect">
            <a:avLst/>
          </a:prstGeom>
          <a:solidFill>
            <a:srgbClr val="6B4C8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>
            <a:hlinkClick action="ppaction://hlinksldjump" r:id="rId6"/>
          </p:cNvPr>
          <p:cNvSpPr txBox="1"/>
          <p:nvPr/>
        </p:nvSpPr>
        <p:spPr>
          <a:xfrm>
            <a:off x="4533446" y="5080000"/>
            <a:ext cx="70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6B4C8F"/>
                </a:solidFill>
                <a:latin typeface="Consolas"/>
              </a:rPr>
              <a:t>05</a:t>
            </a:r>
          </a:p>
        </p:txBody>
      </p:sp>
      <p:sp>
        <p:nvSpPr>
          <p:cNvPr id="34" name="TextBox 33">
            <a:hlinkClick action="ppaction://hlinksldjump" r:id="rId6"/>
          </p:cNvPr>
          <p:cNvSpPr txBox="1"/>
          <p:nvPr/>
        </p:nvSpPr>
        <p:spPr>
          <a:xfrm>
            <a:off x="4533446" y="5540000"/>
            <a:ext cx="3116666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 i="0">
                <a:solidFill>
                  <a:srgbClr val="142F4C"/>
                </a:solidFill>
                <a:latin typeface="Georgia"/>
              </a:rPr>
              <a:t>The Field Calculator</a:t>
            </a:r>
          </a:p>
        </p:txBody>
      </p:sp>
      <p:sp>
        <p:nvSpPr>
          <p:cNvPr id="35" name="TextBox 34">
            <a:hlinkClick action="ppaction://hlinksldjump" r:id="rId6"/>
          </p:cNvPr>
          <p:cNvSpPr txBox="1"/>
          <p:nvPr/>
        </p:nvSpPr>
        <p:spPr>
          <a:xfrm>
            <a:off x="4533446" y="5940000"/>
            <a:ext cx="3116666" cy="5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 b="0" i="0">
                <a:solidFill>
                  <a:srgbClr val="4A5A6A"/>
                </a:solidFill>
                <a:latin typeface="Georgia"/>
              </a:rPr>
              <a:t>Populating a field for every row at once</a:t>
            </a:r>
          </a:p>
        </p:txBody>
      </p:sp>
      <p:sp>
        <p:nvSpPr>
          <p:cNvPr id="36" name="Rectangle 35">
            <a:hlinkClick action="ppaction://hlinksldjump" r:id="rId7"/>
          </p:cNvPr>
          <p:cNvSpPr/>
          <p:nvPr/>
        </p:nvSpPr>
        <p:spPr>
          <a:xfrm>
            <a:off x="7984852" y="4860000"/>
            <a:ext cx="3466666" cy="1750000"/>
          </a:xfrm>
          <a:prstGeom prst="rect">
            <a:avLst/>
          </a:prstGeom>
          <a:solidFill>
            <a:srgbClr val="EFF3F7"/>
          </a:solidFill>
          <a:ln w="12700">
            <a:solidFill>
              <a:srgbClr val="C7D3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>
            <a:hlinkClick action="ppaction://hlinksldjump" r:id="rId7"/>
          </p:cNvPr>
          <p:cNvSpPr/>
          <p:nvPr/>
        </p:nvSpPr>
        <p:spPr>
          <a:xfrm>
            <a:off x="7984852" y="4860000"/>
            <a:ext cx="3466666" cy="3810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7"/>
          </p:cNvPr>
          <p:cNvSpPr txBox="1"/>
          <p:nvPr/>
        </p:nvSpPr>
        <p:spPr>
          <a:xfrm>
            <a:off x="8160112" y="5080000"/>
            <a:ext cx="70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1C7C8C"/>
                </a:solidFill>
                <a:latin typeface="Consolas"/>
              </a:rPr>
              <a:t>06</a:t>
            </a:r>
          </a:p>
        </p:txBody>
      </p:sp>
      <p:sp>
        <p:nvSpPr>
          <p:cNvPr id="39" name="TextBox 38">
            <a:hlinkClick action="ppaction://hlinksldjump" r:id="rId7"/>
          </p:cNvPr>
          <p:cNvSpPr txBox="1"/>
          <p:nvPr/>
        </p:nvSpPr>
        <p:spPr>
          <a:xfrm>
            <a:off x="8160112" y="5540000"/>
            <a:ext cx="3116666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 i="0">
                <a:solidFill>
                  <a:srgbClr val="142F4C"/>
                </a:solidFill>
                <a:latin typeface="Georgia"/>
              </a:rPr>
              <a:t>Practice &amp; Recap</a:t>
            </a:r>
          </a:p>
        </p:txBody>
      </p:sp>
      <p:sp>
        <p:nvSpPr>
          <p:cNvPr id="40" name="TextBox 39">
            <a:hlinkClick action="ppaction://hlinksldjump" r:id="rId7"/>
          </p:cNvPr>
          <p:cNvSpPr txBox="1"/>
          <p:nvPr/>
        </p:nvSpPr>
        <p:spPr>
          <a:xfrm>
            <a:off x="8160112" y="5940000"/>
            <a:ext cx="3116666" cy="5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 b="0" i="0">
                <a:solidFill>
                  <a:srgbClr val="4A5A6A"/>
                </a:solidFill>
                <a:latin typeface="Georgia"/>
              </a:rPr>
              <a:t>Troubleshooting, practice, and checking your understanding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6600" y="6489700"/>
            <a:ext cx="355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 i="0">
                <a:solidFill>
                  <a:srgbClr val="6E6E6E"/>
                </a:solidFill>
                <a:latin typeface="Georgia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6ED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092000" y="5758000"/>
            <a:ext cx="2800000" cy="28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92000" y="5058000"/>
            <a:ext cx="4200000" cy="42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92000" y="4358000"/>
            <a:ext cx="5600000" cy="56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92000" y="3658000"/>
            <a:ext cx="7000000" cy="70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00000"/>
            <a:ext cx="10820400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E08A2B"/>
                </a:solidFill>
                <a:latin typeface="Consolas"/>
              </a:rPr>
              <a:t>TABLE OF CONTENTS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0000"/>
            <a:ext cx="1082040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142F4C"/>
                </a:solidFill>
                <a:latin typeface="Georgia"/>
              </a:rPr>
              <a:t>Where to find everything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736600" y="1194800"/>
            <a:ext cx="609600" cy="38100"/>
          </a:xfrm>
          <a:prstGeom prst="rect">
            <a:avLst/>
          </a:prstGeom>
          <a:solidFill>
            <a:srgbClr val="E08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14800"/>
            <a:ext cx="108204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1">
                <a:solidFill>
                  <a:srgbClr val="4A5A6A"/>
                </a:solidFill>
                <a:latin typeface="Georgia"/>
              </a:rPr>
              <a:t>Six stops, in the order you'll use them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64922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6E6E6E"/>
                </a:solidFill>
                <a:latin typeface="Georgia"/>
              </a:rPr>
              <a:t>ArcGIS | Tabular Data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600" y="6489700"/>
            <a:ext cx="355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 i="0">
                <a:solidFill>
                  <a:srgbClr val="6E6E6E"/>
                </a:solidFill>
                <a:latin typeface="Georgia"/>
              </a:rPr>
              <a:t>2</a:t>
            </a:r>
          </a:p>
        </p:txBody>
      </p:sp>
      <p:sp>
        <p:nvSpPr>
          <p:cNvPr id="13" name="Rectangle 12">
            <a:hlinkClick action="ppaction://hlinksldjump" r:id="rId2"/>
          </p:cNvPr>
          <p:cNvSpPr/>
          <p:nvPr/>
        </p:nvSpPr>
        <p:spPr>
          <a:xfrm>
            <a:off x="731520" y="2050000"/>
            <a:ext cx="10727360" cy="660000"/>
          </a:xfrm>
          <a:prstGeom prst="rect">
            <a:avLst/>
          </a:prstGeom>
          <a:solidFill>
            <a:srgbClr val="EFF3F7"/>
          </a:solidFill>
          <a:ln w="12700">
            <a:solidFill>
              <a:srgbClr val="C7D3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2050000"/>
            <a:ext cx="38100" cy="6600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1520" y="2050000"/>
            <a:ext cx="700000" cy="6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400" b="1" i="0">
                <a:solidFill>
                  <a:srgbClr val="2E86C1"/>
                </a:solidFill>
                <a:latin typeface="Consolas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21520" y="2155600"/>
            <a:ext cx="9477360" cy="2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42F4C"/>
                </a:solidFill>
                <a:latin typeface="Georgia"/>
              </a:rPr>
              <a:t>CSV Fundamentals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21520" y="2399800"/>
            <a:ext cx="9477360" cy="27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4A5A6A"/>
                </a:solidFill>
                <a:latin typeface="Georgia"/>
              </a:rPr>
              <a:t>What a CSV needs before ArcGIS Pro can turn its rows into map features</a:t>
            </a:r>
          </a:p>
        </p:txBody>
      </p:sp>
      <p:sp>
        <p:nvSpPr>
          <p:cNvPr id="18" name="Rectangle 17">
            <a:hlinkClick action="ppaction://hlinksldjump" r:id="rId3"/>
          </p:cNvPr>
          <p:cNvSpPr/>
          <p:nvPr/>
        </p:nvSpPr>
        <p:spPr>
          <a:xfrm>
            <a:off x="731520" y="2750000"/>
            <a:ext cx="10727360" cy="660000"/>
          </a:xfrm>
          <a:prstGeom prst="rect">
            <a:avLst/>
          </a:prstGeom>
          <a:solidFill>
            <a:srgbClr val="EFF3F7"/>
          </a:solidFill>
          <a:ln w="12700">
            <a:solidFill>
              <a:srgbClr val="C7D3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2750000"/>
            <a:ext cx="38100" cy="660000"/>
          </a:xfrm>
          <a:prstGeom prst="rect">
            <a:avLst/>
          </a:prstGeom>
          <a:solidFill>
            <a:srgbClr val="E08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1520" y="2750000"/>
            <a:ext cx="700000" cy="6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400" b="1" i="0">
                <a:solidFill>
                  <a:srgbClr val="E08A2B"/>
                </a:solidFill>
                <a:latin typeface="Consolas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21520" y="2855600"/>
            <a:ext cx="9477360" cy="2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42F4C"/>
                </a:solidFill>
                <a:latin typeface="Georgia"/>
              </a:rPr>
              <a:t>Display XY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21520" y="3099800"/>
            <a:ext cx="9477360" cy="27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4A5A6A"/>
                </a:solidFill>
                <a:latin typeface="Georgia"/>
              </a:rPr>
              <a:t>Turning X/Y coordinates — or a street address — into a live point layer, the fast way in</a:t>
            </a:r>
          </a:p>
        </p:txBody>
      </p:sp>
      <p:sp>
        <p:nvSpPr>
          <p:cNvPr id="23" name="Rectangle 22">
            <a:hlinkClick action="ppaction://hlinksldjump" r:id="rId4"/>
          </p:cNvPr>
          <p:cNvSpPr/>
          <p:nvPr/>
        </p:nvSpPr>
        <p:spPr>
          <a:xfrm>
            <a:off x="731520" y="3450000"/>
            <a:ext cx="10727360" cy="660000"/>
          </a:xfrm>
          <a:prstGeom prst="rect">
            <a:avLst/>
          </a:prstGeom>
          <a:solidFill>
            <a:srgbClr val="EFF3F7"/>
          </a:solidFill>
          <a:ln w="12700">
            <a:solidFill>
              <a:srgbClr val="C7D3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3450000"/>
            <a:ext cx="38100" cy="660000"/>
          </a:xfrm>
          <a:prstGeom prst="rect">
            <a:avLst/>
          </a:prstGeom>
          <a:solidFill>
            <a:srgbClr val="C051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1520" y="3450000"/>
            <a:ext cx="700000" cy="6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400" b="1" i="0">
                <a:solidFill>
                  <a:srgbClr val="C0512B"/>
                </a:solidFill>
                <a:latin typeface="Consolas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21520" y="3555600"/>
            <a:ext cx="9477360" cy="2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42F4C"/>
                </a:solidFill>
                <a:latin typeface="Georgia"/>
              </a:rPr>
              <a:t>Making It Permanent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21520" y="3799800"/>
            <a:ext cx="9477360" cy="27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4A5A6A"/>
                </a:solidFill>
                <a:latin typeface="Georgia"/>
              </a:rPr>
              <a:t>Exporting an event layer into a real feature class, then summarizing or exporting the results</a:t>
            </a:r>
          </a:p>
        </p:txBody>
      </p:sp>
      <p:sp>
        <p:nvSpPr>
          <p:cNvPr id="28" name="Rectangle 27">
            <a:hlinkClick action="ppaction://hlinksldjump" r:id="rId5"/>
          </p:cNvPr>
          <p:cNvSpPr/>
          <p:nvPr/>
        </p:nvSpPr>
        <p:spPr>
          <a:xfrm>
            <a:off x="731520" y="4150000"/>
            <a:ext cx="10727360" cy="660000"/>
          </a:xfrm>
          <a:prstGeom prst="rect">
            <a:avLst/>
          </a:prstGeom>
          <a:solidFill>
            <a:srgbClr val="EFF3F7"/>
          </a:solidFill>
          <a:ln w="12700">
            <a:solidFill>
              <a:srgbClr val="C7D3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" y="4150000"/>
            <a:ext cx="38100" cy="660000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1520" y="4150000"/>
            <a:ext cx="700000" cy="6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400" b="1" i="0">
                <a:solidFill>
                  <a:srgbClr val="3D7A5C"/>
                </a:solidFill>
                <a:latin typeface="Consolas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21520" y="4255600"/>
            <a:ext cx="9477360" cy="2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42F4C"/>
                </a:solidFill>
                <a:latin typeface="Georgia"/>
              </a:rPr>
              <a:t>Field Types &amp; Attributes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21520" y="4499800"/>
            <a:ext cx="9477360" cy="27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4A5A6A"/>
                </a:solidFill>
                <a:latin typeface="Georgia"/>
              </a:rPr>
              <a:t>Choosing the right field type, constraining it with domains, and handling NULLs</a:t>
            </a:r>
          </a:p>
        </p:txBody>
      </p:sp>
      <p:sp>
        <p:nvSpPr>
          <p:cNvPr id="33" name="Rectangle 32">
            <a:hlinkClick action="ppaction://hlinksldjump" r:id="rId6"/>
          </p:cNvPr>
          <p:cNvSpPr/>
          <p:nvPr/>
        </p:nvSpPr>
        <p:spPr>
          <a:xfrm>
            <a:off x="731520" y="4850000"/>
            <a:ext cx="10727360" cy="660000"/>
          </a:xfrm>
          <a:prstGeom prst="rect">
            <a:avLst/>
          </a:prstGeom>
          <a:solidFill>
            <a:srgbClr val="EFF3F7"/>
          </a:solidFill>
          <a:ln w="12700">
            <a:solidFill>
              <a:srgbClr val="C7D3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31520" y="4850000"/>
            <a:ext cx="38100" cy="660000"/>
          </a:xfrm>
          <a:prstGeom prst="rect">
            <a:avLst/>
          </a:prstGeom>
          <a:solidFill>
            <a:srgbClr val="6B4C8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1520" y="4850000"/>
            <a:ext cx="700000" cy="6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400" b="1" i="0">
                <a:solidFill>
                  <a:srgbClr val="6B4C8F"/>
                </a:solidFill>
                <a:latin typeface="Consolas"/>
              </a:rP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21520" y="4955600"/>
            <a:ext cx="9477360" cy="2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42F4C"/>
                </a:solidFill>
                <a:latin typeface="Georgia"/>
              </a:rPr>
              <a:t>The Field Calculator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21520" y="5199800"/>
            <a:ext cx="9477360" cy="27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4A5A6A"/>
                </a:solidFill>
                <a:latin typeface="Georgia"/>
              </a:rPr>
              <a:t>Populating a field for every row at once with an expression instead of typing by hand</a:t>
            </a:r>
          </a:p>
        </p:txBody>
      </p:sp>
      <p:sp>
        <p:nvSpPr>
          <p:cNvPr id="38" name="Rectangle 37">
            <a:hlinkClick action="ppaction://hlinksldjump" r:id="rId7"/>
          </p:cNvPr>
          <p:cNvSpPr/>
          <p:nvPr/>
        </p:nvSpPr>
        <p:spPr>
          <a:xfrm>
            <a:off x="731520" y="5550000"/>
            <a:ext cx="10727360" cy="660000"/>
          </a:xfrm>
          <a:prstGeom prst="rect">
            <a:avLst/>
          </a:prstGeom>
          <a:solidFill>
            <a:srgbClr val="EFF3F7"/>
          </a:solidFill>
          <a:ln w="12700">
            <a:solidFill>
              <a:srgbClr val="C7D3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31520" y="5550000"/>
            <a:ext cx="38100" cy="66000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91520" y="5550000"/>
            <a:ext cx="700000" cy="6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400" b="1" i="0">
                <a:solidFill>
                  <a:srgbClr val="1C7C8C"/>
                </a:solidFill>
                <a:latin typeface="Consolas"/>
              </a:rPr>
              <a:t>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21520" y="5655600"/>
            <a:ext cx="9477360" cy="2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42F4C"/>
                </a:solidFill>
                <a:latin typeface="Georgia"/>
              </a:rPr>
              <a:t>Practice &amp; Recap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21520" y="5899800"/>
            <a:ext cx="9477360" cy="27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4A5A6A"/>
                </a:solidFill>
                <a:latin typeface="Georgia"/>
              </a:rPr>
              <a:t>Putting the whole workflow together, troubleshooting when it breaks, and checking your understanding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6ED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092000" y="5758000"/>
            <a:ext cx="2800000" cy="28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92000" y="5058000"/>
            <a:ext cx="4200000" cy="42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92000" y="4358000"/>
            <a:ext cx="5600000" cy="56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92000" y="3658000"/>
            <a:ext cx="7000000" cy="70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12800" y="1780000"/>
            <a:ext cx="603504" cy="402336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2800" y="18000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60000" y="1810000"/>
            <a:ext cx="440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1" i="0">
                <a:solidFill>
                  <a:srgbClr val="2E86C1"/>
                </a:solidFill>
                <a:latin typeface="Consolas"/>
              </a:rPr>
              <a:t>SECTION 01 OF 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800" y="2320000"/>
            <a:ext cx="102000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600" b="1" i="0">
                <a:solidFill>
                  <a:srgbClr val="142F4C"/>
                </a:solidFill>
                <a:latin typeface="Georgia"/>
              </a:rPr>
              <a:t>CSV Fundamentals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2800" y="3160000"/>
            <a:ext cx="900000" cy="381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2800" y="3350000"/>
            <a:ext cx="970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1">
                <a:solidFill>
                  <a:srgbClr val="4A5A6A"/>
                </a:solidFill>
                <a:latin typeface="Georgia"/>
              </a:rPr>
              <a:t>What a CSV needs before ArcGIS Pro can turn its rows into map 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600" y="6489700"/>
            <a:ext cx="355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 i="0">
                <a:solidFill>
                  <a:srgbClr val="6E6E6E"/>
                </a:solidFill>
                <a:latin typeface="Georgia"/>
              </a:rPr>
              <a:t>3</a:t>
            </a:r>
          </a:p>
        </p:txBody>
      </p:sp>
      <p:sp>
        <p:nvSpPr>
          <p:cNvPr id="15" name="TextBox 14">
            <a:hlinkClick action="ppaction://hlinksldjump" r:id="rId2"/>
          </p:cNvPr>
          <p:cNvSpPr txBox="1"/>
          <p:nvPr/>
        </p:nvSpPr>
        <p:spPr>
          <a:xfrm>
            <a:off x="1143000" y="6489700"/>
            <a:ext cx="24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1">
                <a:solidFill>
                  <a:srgbClr val="2E86C1"/>
                </a:solidFill>
                <a:latin typeface="Georgia"/>
              </a:rPr>
              <a:t>◂  Table of Contents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6ED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092000" y="5758000"/>
            <a:ext cx="2800000" cy="28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92000" y="5058000"/>
            <a:ext cx="4200000" cy="42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92000" y="4358000"/>
            <a:ext cx="5600000" cy="56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92000" y="3658000"/>
            <a:ext cx="7000000" cy="70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00000"/>
            <a:ext cx="10820400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2E86C1"/>
                </a:solidFill>
                <a:latin typeface="Consolas"/>
              </a:rPr>
              <a:t>CSV · DISPLAY XY · FEATURE CLASS · FIELDS · CALCULATOR · PRACTICE · 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0000"/>
            <a:ext cx="1082040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142F4C"/>
                </a:solidFill>
                <a:latin typeface="Georgia"/>
              </a:rPr>
              <a:t>Why tabular data matters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6600" y="1194800"/>
            <a:ext cx="609600" cy="381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14800"/>
            <a:ext cx="108204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1">
                <a:solidFill>
                  <a:srgbClr val="4A5A6A"/>
                </a:solidFill>
                <a:latin typeface="Georgia"/>
              </a:rPr>
              <a:t>Most real-world data starts as rows and columns, not shapes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64922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6E6E6E"/>
                </a:solidFill>
                <a:latin typeface="Georgia"/>
              </a:rPr>
              <a:t>ArcGIS | Tabular Data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600" y="6489700"/>
            <a:ext cx="355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 i="0">
                <a:solidFill>
                  <a:srgbClr val="6E6E6E"/>
                </a:solidFill>
                <a:latin typeface="Georgia"/>
              </a:rPr>
              <a:t>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1905000"/>
            <a:ext cx="10727360" cy="1040710"/>
          </a:xfrm>
          <a:prstGeom prst="rect">
            <a:avLst/>
          </a:prstGeom>
          <a:solidFill>
            <a:srgbClr val="EFF3F7"/>
          </a:solidFill>
          <a:ln w="12700">
            <a:solidFill>
              <a:srgbClr val="C7D3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1905000"/>
            <a:ext cx="10727360" cy="381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1943100"/>
            <a:ext cx="137160" cy="9525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1943100"/>
            <a:ext cx="9525" cy="7543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321720" y="1943100"/>
            <a:ext cx="137160" cy="9525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449355" y="1943100"/>
            <a:ext cx="9525" cy="7543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6780" y="2057400"/>
            <a:ext cx="103997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 i="0">
                <a:solidFill>
                  <a:srgbClr val="142F4C"/>
                </a:solidFill>
                <a:latin typeface="Georgia"/>
              </a:rPr>
              <a:t>You can analyze before you map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6780" y="2407400"/>
            <a:ext cx="10399700" cy="4383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00" b="0" i="0">
                <a:solidFill>
                  <a:srgbClr val="4A5A6A"/>
                </a:solidFill>
                <a:latin typeface="Georgia"/>
              </a:rPr>
              <a:t>Select by Attribute and Summary Statistics both work directly on a table — sorting, filtering, and totals don't require a single point on the screen.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2991430"/>
            <a:ext cx="10727360" cy="1040710"/>
          </a:xfrm>
          <a:prstGeom prst="rect">
            <a:avLst/>
          </a:prstGeom>
          <a:solidFill>
            <a:srgbClr val="EFF3F7"/>
          </a:solidFill>
          <a:ln w="12700">
            <a:solidFill>
              <a:srgbClr val="C7D3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2991430"/>
            <a:ext cx="10727360" cy="381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3029530"/>
            <a:ext cx="137160" cy="9525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3029530"/>
            <a:ext cx="9525" cy="7543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321720" y="3029530"/>
            <a:ext cx="137160" cy="9525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449355" y="3029530"/>
            <a:ext cx="9525" cy="7543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6780" y="3143830"/>
            <a:ext cx="103997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 i="0">
                <a:solidFill>
                  <a:srgbClr val="142F4C"/>
                </a:solidFill>
                <a:latin typeface="Georgia"/>
              </a:rPr>
              <a:t>Attribute quality drives map quality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6780" y="3493830"/>
            <a:ext cx="10399700" cy="4383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00" b="0" i="0">
                <a:solidFill>
                  <a:srgbClr val="4A5A6A"/>
                </a:solidFill>
                <a:latin typeface="Georgia"/>
              </a:rPr>
              <a:t>A typo, a mixed-up type, or an inconsistent column silently breaks symbology, labeling, and any calculation downstream.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077860"/>
            <a:ext cx="10727360" cy="1040710"/>
          </a:xfrm>
          <a:prstGeom prst="rect">
            <a:avLst/>
          </a:prstGeom>
          <a:solidFill>
            <a:srgbClr val="EFF3F7"/>
          </a:solidFill>
          <a:ln w="12700">
            <a:solidFill>
              <a:srgbClr val="C7D3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" y="4077860"/>
            <a:ext cx="10727360" cy="381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1520" y="4115960"/>
            <a:ext cx="137160" cy="9525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1520" y="4115960"/>
            <a:ext cx="9525" cy="7543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321720" y="4115960"/>
            <a:ext cx="137160" cy="9525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449355" y="4115960"/>
            <a:ext cx="9525" cy="7543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6780" y="4230260"/>
            <a:ext cx="103997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 i="0">
                <a:solidFill>
                  <a:srgbClr val="142F4C"/>
                </a:solidFill>
                <a:latin typeface="Georgia"/>
              </a:rPr>
              <a:t>Most data starts as a table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6780" y="4580260"/>
            <a:ext cx="10399700" cy="4383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00" b="0" i="0">
                <a:solidFill>
                  <a:srgbClr val="4A5A6A"/>
                </a:solidFill>
                <a:latin typeface="Georgia"/>
              </a:rPr>
              <a:t>Spreadsheets, sensor exports, business systems — clean tabular habits pay off long before a coordinate ever enters the picture.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6ED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092000" y="5758000"/>
            <a:ext cx="2800000" cy="28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92000" y="5058000"/>
            <a:ext cx="4200000" cy="42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92000" y="4358000"/>
            <a:ext cx="5600000" cy="56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92000" y="3658000"/>
            <a:ext cx="7000000" cy="70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00000"/>
            <a:ext cx="10820400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2E86C1"/>
                </a:solidFill>
                <a:latin typeface="Consolas"/>
              </a:rPr>
              <a:t>CSV · DISPLAY XY · FEATURE CLASS · FIELDS · CALCULATOR · PRACTICE · 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0000"/>
            <a:ext cx="1082040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142F4C"/>
                </a:solidFill>
                <a:latin typeface="Georgia"/>
              </a:rPr>
              <a:t>What makes a CSV mappable?</a:t>
            </a:r>
          </a:p>
        </p:txBody>
      </p:sp>
      <p:sp>
        <p:nvSpPr>
          <p:cNvPr id="9" name="Rectangle 8"/>
          <p:cNvSpPr/>
          <p:nvPr/>
        </p:nvSpPr>
        <p:spPr>
          <a:xfrm>
            <a:off x="736600" y="1194800"/>
            <a:ext cx="609600" cy="381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14800"/>
            <a:ext cx="108204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1">
                <a:solidFill>
                  <a:srgbClr val="4A5A6A"/>
                </a:solidFill>
                <a:latin typeface="Georgia"/>
              </a:rPr>
              <a:t>Comma-separated values — the simplest format ArcGIS Pro can read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64922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6E6E6E"/>
                </a:solidFill>
                <a:latin typeface="Georgia"/>
              </a:rPr>
              <a:t>ArcGIS | Tabular Data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600" y="6489700"/>
            <a:ext cx="355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 i="0">
                <a:solidFill>
                  <a:srgbClr val="6E6E6E"/>
                </a:solidFill>
                <a:latin typeface="Georgia"/>
              </a:rPr>
              <a:t>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1905000"/>
            <a:ext cx="10727360" cy="1040710"/>
          </a:xfrm>
          <a:prstGeom prst="rect">
            <a:avLst/>
          </a:prstGeom>
          <a:solidFill>
            <a:srgbClr val="EFF3F7"/>
          </a:solidFill>
          <a:ln w="12700">
            <a:solidFill>
              <a:srgbClr val="C7D3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1905000"/>
            <a:ext cx="10727360" cy="381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1943100"/>
            <a:ext cx="137160" cy="9525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1943100"/>
            <a:ext cx="9525" cy="7543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321720" y="1943100"/>
            <a:ext cx="137160" cy="9525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449355" y="1943100"/>
            <a:ext cx="9525" cy="7543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6780" y="2057400"/>
            <a:ext cx="103997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 i="0">
                <a:solidFill>
                  <a:srgbClr val="142F4C"/>
                </a:solidFill>
                <a:latin typeface="Georgia"/>
              </a:rPr>
              <a:t>Plain rows and columns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6780" y="2407400"/>
            <a:ext cx="10399700" cy="4383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00" b="0" i="0">
                <a:solidFill>
                  <a:srgbClr val="4A5A6A"/>
                </a:solidFill>
                <a:latin typeface="Georgia"/>
              </a:rPr>
              <a:t>A CSV is just text: one header row naming each field, then one row per feature — no formatting, no formulas, no merged cells.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2991430"/>
            <a:ext cx="10727360" cy="1040710"/>
          </a:xfrm>
          <a:prstGeom prst="rect">
            <a:avLst/>
          </a:prstGeom>
          <a:solidFill>
            <a:srgbClr val="EFF3F7"/>
          </a:solidFill>
          <a:ln w="12700">
            <a:solidFill>
              <a:srgbClr val="C7D3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2991430"/>
            <a:ext cx="10727360" cy="381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3029530"/>
            <a:ext cx="137160" cy="9525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3029530"/>
            <a:ext cx="9525" cy="7543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321720" y="3029530"/>
            <a:ext cx="137160" cy="9525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449355" y="3029530"/>
            <a:ext cx="9525" cy="7543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6780" y="3143830"/>
            <a:ext cx="103997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 i="0">
                <a:solidFill>
                  <a:srgbClr val="142F4C"/>
                </a:solidFill>
                <a:latin typeface="Georgia"/>
              </a:rPr>
              <a:t>Coordinates or a complete address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6780" y="3493830"/>
            <a:ext cx="10399700" cy="4383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00" b="0" i="0">
                <a:solidFill>
                  <a:srgbClr val="4A5A6A"/>
                </a:solidFill>
                <a:latin typeface="Georgia"/>
              </a:rPr>
              <a:t>Give ArcGIS Pro a numeric X (longitude) and Y (latitude) column, or a single well-formed address field it can geocode — either path can become a point.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077860"/>
            <a:ext cx="10727360" cy="1040710"/>
          </a:xfrm>
          <a:prstGeom prst="rect">
            <a:avLst/>
          </a:prstGeom>
          <a:solidFill>
            <a:srgbClr val="EFF3F7"/>
          </a:solidFill>
          <a:ln w="12700">
            <a:solidFill>
              <a:srgbClr val="C7D3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" y="4077860"/>
            <a:ext cx="10727360" cy="381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1520" y="4115960"/>
            <a:ext cx="137160" cy="9525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1520" y="4115960"/>
            <a:ext cx="9525" cy="7543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321720" y="4115960"/>
            <a:ext cx="137160" cy="9525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449355" y="4115960"/>
            <a:ext cx="9525" cy="7543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6780" y="4230260"/>
            <a:ext cx="103997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 i="0">
                <a:solidFill>
                  <a:srgbClr val="142F4C"/>
                </a:solidFill>
                <a:latin typeface="Georgia"/>
              </a:rPr>
              <a:t>One data type per column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6780" y="4580260"/>
            <a:ext cx="10399700" cy="4383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00" b="0" i="0">
                <a:solidFill>
                  <a:srgbClr val="4A5A6A"/>
                </a:solidFill>
                <a:latin typeface="Georgia"/>
              </a:rPr>
              <a:t>Every value in a column should share a type — a “Latitude” column that's sometimes text and sometimes a number will import unpredictably.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6ED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092000" y="5758000"/>
            <a:ext cx="2800000" cy="28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92000" y="5058000"/>
            <a:ext cx="4200000" cy="42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92000" y="4358000"/>
            <a:ext cx="5600000" cy="56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92000" y="3658000"/>
            <a:ext cx="7000000" cy="70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00000"/>
            <a:ext cx="10820400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2E86C1"/>
                </a:solidFill>
                <a:latin typeface="Consolas"/>
              </a:rPr>
              <a:t>CSV · DISPLAY XY · FEATURE CLASS · FIELDS · CALCULATOR · PRACTICE · 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0000"/>
            <a:ext cx="1082040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142F4C"/>
                </a:solidFill>
                <a:latin typeface="Georgia"/>
              </a:rPr>
              <a:t>Common CSV pitfalls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6600" y="1194800"/>
            <a:ext cx="609600" cy="381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14800"/>
            <a:ext cx="108204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1">
                <a:solidFill>
                  <a:srgbClr val="4A5A6A"/>
                </a:solidFill>
                <a:latin typeface="Georgia"/>
              </a:rPr>
              <a:t>Small mistakes that break the import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64922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6E6E6E"/>
                </a:solidFill>
                <a:latin typeface="Georgia"/>
              </a:rPr>
              <a:t>ArcGIS | Tabular Data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600" y="6489700"/>
            <a:ext cx="355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 i="0">
                <a:solidFill>
                  <a:srgbClr val="6E6E6E"/>
                </a:solidFill>
                <a:latin typeface="Georgia"/>
              </a:rPr>
              <a:t>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050000"/>
            <a:ext cx="6172200" cy="3900000"/>
          </a:xfrm>
          <a:prstGeom prst="roundRect">
            <a:avLst>
              <a:gd name="adj" fmla="val 2000"/>
            </a:avLst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2050000"/>
            <a:ext cx="6172200" cy="304800"/>
          </a:xfrm>
          <a:prstGeom prst="roundRect">
            <a:avLst>
              <a:gd name="adj" fmla="val 2000"/>
            </a:avLst>
          </a:prstGeom>
          <a:solidFill>
            <a:srgbClr val="141B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294800"/>
            <a:ext cx="6172200" cy="60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3920" y="2050000"/>
            <a:ext cx="5872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D7DEEA"/>
                </a:solidFill>
                <a:latin typeface="Georgia"/>
              </a:rPr>
              <a:t>sites.csv — preview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354800"/>
            <a:ext cx="6172200" cy="3595200"/>
          </a:xfrm>
          <a:prstGeom prst="rect">
            <a:avLst/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2394800"/>
            <a:ext cx="6172200" cy="280000"/>
          </a:xfrm>
          <a:prstGeom prst="rect">
            <a:avLst/>
          </a:prstGeom>
          <a:solidFill>
            <a:srgbClr val="1B24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1520" y="2394800"/>
            <a:ext cx="15000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1" i="0">
                <a:solidFill>
                  <a:srgbClr val="FFFFFF"/>
                </a:solidFill>
                <a:latin typeface="Georgia"/>
              </a:rPr>
              <a:t>Site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1520" y="2394800"/>
            <a:ext cx="15500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1" i="0">
                <a:solidFill>
                  <a:srgbClr val="FFFFFF"/>
                </a:solidFill>
                <a:latin typeface="Georgia"/>
              </a:rPr>
              <a:t>Latitude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1520" y="2394800"/>
            <a:ext cx="16000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1" i="0">
                <a:solidFill>
                  <a:srgbClr val="FFFFFF"/>
                </a:solidFill>
                <a:latin typeface="Georgia"/>
              </a:rPr>
              <a:t>Longitude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1520" y="2394800"/>
            <a:ext cx="15000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1" i="0">
                <a:solidFill>
                  <a:srgbClr val="FFFFFF"/>
                </a:solidFill>
                <a:latin typeface="Georgia"/>
              </a:rPr>
              <a:t>Category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520" y="2674800"/>
            <a:ext cx="15000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>Trailhead 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520" y="2674800"/>
            <a:ext cx="15500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>40.7128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81520" y="2674800"/>
            <a:ext cx="16000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>-74.0060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1520" y="2674800"/>
            <a:ext cx="15000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>Recreation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1520" y="2954800"/>
            <a:ext cx="15000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>Well Site 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31520" y="2954800"/>
            <a:ext cx="15500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>"40.71"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81520" y="2954800"/>
            <a:ext cx="16000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>-74.006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1520" y="2954800"/>
            <a:ext cx="15000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>Utility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1520" y="3234800"/>
            <a:ext cx="15000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>Depot North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31520" y="3234800"/>
            <a:ext cx="15500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>-74.0089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81520" y="3234800"/>
            <a:ext cx="16000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>40.7306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1520" y="3234800"/>
            <a:ext cx="15000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>Storage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1520" y="3514800"/>
            <a:ext cx="15000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/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31520" y="3514800"/>
            <a:ext cx="15500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>40.6892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81520" y="3514800"/>
            <a:ext cx="16000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>-74.0445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1520" y="3514800"/>
            <a:ext cx="15000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>Recreation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056120" y="2050000"/>
            <a:ext cx="4487672" cy="1269520"/>
          </a:xfrm>
          <a:prstGeom prst="rect">
            <a:avLst/>
          </a:prstGeom>
          <a:solidFill>
            <a:srgbClr val="EFF3F7"/>
          </a:solidFill>
          <a:ln w="12700">
            <a:solidFill>
              <a:srgbClr val="C7D3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056120" y="2050000"/>
            <a:ext cx="4487672" cy="381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056120" y="2088100"/>
            <a:ext cx="137160" cy="9525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056120" y="2088100"/>
            <a:ext cx="9525" cy="7543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406632" y="2088100"/>
            <a:ext cx="137160" cy="9525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1534267" y="2088100"/>
            <a:ext cx="9525" cy="7543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31380" y="2380565"/>
            <a:ext cx="41371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142F4C"/>
                </a:solidFill>
                <a:latin typeface="Georgia"/>
              </a:rPr>
              <a:t>Coordinates stored as text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31380" y="2760565"/>
            <a:ext cx="4137152" cy="4589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00" b="0" i="0">
                <a:solidFill>
                  <a:srgbClr val="4A5A6A"/>
                </a:solidFill>
                <a:latin typeface="Georgia"/>
              </a:rPr>
              <a:t>A value like "40.71" saved as Text won't work as a numeric X/Y field — Display XY Data needs real numbers.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056120" y="3365240"/>
            <a:ext cx="4487672" cy="1269520"/>
          </a:xfrm>
          <a:prstGeom prst="rect">
            <a:avLst/>
          </a:prstGeom>
          <a:solidFill>
            <a:srgbClr val="EFF3F7"/>
          </a:solidFill>
          <a:ln w="12700">
            <a:solidFill>
              <a:srgbClr val="C7D3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056120" y="3365240"/>
            <a:ext cx="4487672" cy="381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056120" y="3403340"/>
            <a:ext cx="137160" cy="9525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056120" y="3403340"/>
            <a:ext cx="9525" cy="7543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1406632" y="3403340"/>
            <a:ext cx="137160" cy="9525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1534267" y="3403340"/>
            <a:ext cx="9525" cy="7543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231380" y="3695805"/>
            <a:ext cx="41371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142F4C"/>
                </a:solidFill>
                <a:latin typeface="Georgia"/>
              </a:rPr>
              <a:t>Latitude and longitude swapped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31380" y="4075805"/>
            <a:ext cx="4137152" cy="4589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00" b="0" i="0">
                <a:solidFill>
                  <a:srgbClr val="4A5A6A"/>
                </a:solidFill>
                <a:latin typeface="Georgia"/>
              </a:rPr>
              <a:t>ArcGIS Pro expects X (longitude) then Y (latitude) — reverse them and every point lands in the wrong hemisphere.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056120" y="4680480"/>
            <a:ext cx="4487672" cy="1269520"/>
          </a:xfrm>
          <a:prstGeom prst="rect">
            <a:avLst/>
          </a:prstGeom>
          <a:solidFill>
            <a:srgbClr val="EFF3F7"/>
          </a:solidFill>
          <a:ln w="12700">
            <a:solidFill>
              <a:srgbClr val="C7D3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056120" y="4680480"/>
            <a:ext cx="4487672" cy="381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056120" y="4718580"/>
            <a:ext cx="137160" cy="9525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056120" y="4718580"/>
            <a:ext cx="9525" cy="7543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1406632" y="4718580"/>
            <a:ext cx="137160" cy="9525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1534267" y="4718580"/>
            <a:ext cx="9525" cy="7543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231380" y="5011045"/>
            <a:ext cx="41371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142F4C"/>
                </a:solidFill>
                <a:latin typeface="Georgia"/>
              </a:rPr>
              <a:t>A missing value breaks the row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31380" y="5391045"/>
            <a:ext cx="4137152" cy="4589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00" b="0" i="0">
                <a:solidFill>
                  <a:srgbClr val="4A5A6A"/>
                </a:solidFill>
                <a:latin typeface="Georgia"/>
              </a:rPr>
              <a:t>An empty Site name won't stop the import, but it will leave that feature unlabeled and hard to find later.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6ED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092000" y="5758000"/>
            <a:ext cx="2800000" cy="28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92000" y="5058000"/>
            <a:ext cx="4200000" cy="42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92000" y="4358000"/>
            <a:ext cx="5600000" cy="56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92000" y="3658000"/>
            <a:ext cx="7000000" cy="70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00000"/>
            <a:ext cx="10820400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2E86C1"/>
                </a:solidFill>
                <a:latin typeface="Consolas"/>
              </a:rPr>
              <a:t>CSV · DISPLAY XY · FEATURE CLASS · FIELDS · CALCULATOR · PRACTICE · 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0000"/>
            <a:ext cx="1082040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142F4C"/>
                </a:solidFill>
                <a:latin typeface="Georgia"/>
              </a:rPr>
              <a:t>More import gotchas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6600" y="1194800"/>
            <a:ext cx="609600" cy="381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14800"/>
            <a:ext cx="108204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1">
                <a:solidFill>
                  <a:srgbClr val="4A5A6A"/>
                </a:solidFill>
                <a:latin typeface="Georgia"/>
              </a:rPr>
              <a:t>The mistakes that only show up after the file already looks fine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64922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6E6E6E"/>
                </a:solidFill>
                <a:latin typeface="Georgia"/>
              </a:rPr>
              <a:t>ArcGIS | Tabular Data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600" y="6489700"/>
            <a:ext cx="355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 i="0">
                <a:solidFill>
                  <a:srgbClr val="6E6E6E"/>
                </a:solidFill>
                <a:latin typeface="Georgia"/>
              </a:rPr>
              <a:t>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1905000"/>
            <a:ext cx="10727360" cy="930000"/>
          </a:xfrm>
          <a:prstGeom prst="rect">
            <a:avLst/>
          </a:prstGeom>
          <a:solidFill>
            <a:srgbClr val="EFF3F7"/>
          </a:solidFill>
          <a:ln w="12700">
            <a:solidFill>
              <a:srgbClr val="C7D3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1905000"/>
            <a:ext cx="10727360" cy="381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1943100"/>
            <a:ext cx="137160" cy="9525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1943100"/>
            <a:ext cx="9525" cy="7543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321720" y="1943100"/>
            <a:ext cx="137160" cy="9525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449355" y="1943100"/>
            <a:ext cx="9525" cy="7543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6780" y="2057400"/>
            <a:ext cx="103997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 i="0">
                <a:solidFill>
                  <a:srgbClr val="142F4C"/>
                </a:solidFill>
                <a:latin typeface="Georgia"/>
              </a:rPr>
              <a:t>Encoding and hidden BOM characters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6780" y="2407400"/>
            <a:ext cx="10399700" cy="32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00" b="0" i="0">
                <a:solidFill>
                  <a:srgbClr val="4A5A6A"/>
                </a:solidFill>
                <a:latin typeface="Georgia"/>
              </a:rPr>
              <a:t>A CSV saved with a UTF-8 byte-order mark can rename your very first column — “ï»¿Site” instead of “Site” — and every reference to it silently fails.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2880720"/>
            <a:ext cx="10727360" cy="930000"/>
          </a:xfrm>
          <a:prstGeom prst="rect">
            <a:avLst/>
          </a:prstGeom>
          <a:solidFill>
            <a:srgbClr val="EFF3F7"/>
          </a:solidFill>
          <a:ln w="12700">
            <a:solidFill>
              <a:srgbClr val="C7D3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2880720"/>
            <a:ext cx="10727360" cy="381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2918820"/>
            <a:ext cx="137160" cy="9525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2918820"/>
            <a:ext cx="9525" cy="7543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321720" y="2918820"/>
            <a:ext cx="137160" cy="9525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449355" y="2918820"/>
            <a:ext cx="9525" cy="7543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6780" y="3033120"/>
            <a:ext cx="103997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 i="0">
                <a:solidFill>
                  <a:srgbClr val="142F4C"/>
                </a:solidFill>
                <a:latin typeface="Georgia"/>
              </a:rPr>
              <a:t>Locale-specific decimal separators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6780" y="3383120"/>
            <a:ext cx="10399700" cy="32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00" b="0" i="0">
                <a:solidFill>
                  <a:srgbClr val="4A5A6A"/>
                </a:solidFill>
                <a:latin typeface="Georgia"/>
              </a:rPr>
              <a:t>A spreadsheet saved in a European locale may write “40,7128” instead of “40.7128” — that comma reads as two values, not one decimal.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3856440"/>
            <a:ext cx="10727360" cy="930000"/>
          </a:xfrm>
          <a:prstGeom prst="rect">
            <a:avLst/>
          </a:prstGeom>
          <a:solidFill>
            <a:srgbClr val="EFF3F7"/>
          </a:solidFill>
          <a:ln w="12700">
            <a:solidFill>
              <a:srgbClr val="C7D3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" y="3856440"/>
            <a:ext cx="10727360" cy="381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1520" y="3894540"/>
            <a:ext cx="137160" cy="9525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1520" y="3894540"/>
            <a:ext cx="9525" cy="7543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321720" y="3894540"/>
            <a:ext cx="137160" cy="9525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449355" y="3894540"/>
            <a:ext cx="9525" cy="7543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6780" y="4008840"/>
            <a:ext cx="103997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 i="0">
                <a:solidFill>
                  <a:srgbClr val="142F4C"/>
                </a:solidFill>
                <a:latin typeface="Georgia"/>
              </a:rPr>
              <a:t>Geodatabase field name limits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6780" y="4358840"/>
            <a:ext cx="10399700" cy="32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00" b="0" i="0">
                <a:solidFill>
                  <a:srgbClr val="4A5A6A"/>
                </a:solidFill>
                <a:latin typeface="Georgia"/>
              </a:rPr>
              <a:t>Feature class field names can't start with a number, can't contain spaces or most punctuation, and are capped in length — ArcGIS Pro will silently rename anything that breaks the rules.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4832160"/>
            <a:ext cx="10727360" cy="930000"/>
          </a:xfrm>
          <a:prstGeom prst="rect">
            <a:avLst/>
          </a:prstGeom>
          <a:solidFill>
            <a:srgbClr val="EFF3F7"/>
          </a:solidFill>
          <a:ln w="12700">
            <a:solidFill>
              <a:srgbClr val="C7D3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4832160"/>
            <a:ext cx="10727360" cy="381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31520" y="4870260"/>
            <a:ext cx="137160" cy="9525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31520" y="4870260"/>
            <a:ext cx="9525" cy="7543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1321720" y="4870260"/>
            <a:ext cx="137160" cy="9525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1449355" y="4870260"/>
            <a:ext cx="9525" cy="7543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06780" y="5036210"/>
            <a:ext cx="560000" cy="560000"/>
          </a:xfrm>
          <a:prstGeom prst="roundRect">
            <a:avLst>
              <a:gd name="adj" fmla="val 20000"/>
            </a:avLst>
          </a:prstGeom>
          <a:solidFill>
            <a:srgbClr val="E6EDF3"/>
          </a:solidFill>
          <a:ln w="12700">
            <a:solidFill>
              <a:srgbClr val="2E86C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6780" y="5036210"/>
            <a:ext cx="560000" cy="5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2E86C1"/>
                </a:solidFill>
                <a:latin typeface="Consolas"/>
              </a:rPr>
              <a:t>TXT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03940" y="4984560"/>
            <a:ext cx="97025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 i="0">
                <a:solidFill>
                  <a:srgbClr val="142F4C"/>
                </a:solidFill>
                <a:latin typeface="Georgia"/>
              </a:rPr>
              <a:t>Numeric-looking codes need to stay text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03940" y="5334560"/>
            <a:ext cx="9702540" cy="32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00" b="0" i="0">
                <a:solidFill>
                  <a:srgbClr val="4A5A6A"/>
                </a:solidFill>
                <a:latin typeface="Georgia"/>
              </a:rPr>
              <a:t>A ZIP code stored as a number loses its leading zero — “07302” becomes “7302” — which breaks sorting, joins to other tables, and labels alike.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6ED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092000" y="5758000"/>
            <a:ext cx="2800000" cy="28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92000" y="5058000"/>
            <a:ext cx="4200000" cy="42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92000" y="4358000"/>
            <a:ext cx="5600000" cy="56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92000" y="3658000"/>
            <a:ext cx="7000000" cy="70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08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12800" y="1780000"/>
            <a:ext cx="603504" cy="402336"/>
          </a:xfrm>
          <a:prstGeom prst="rect">
            <a:avLst/>
          </a:prstGeom>
          <a:solidFill>
            <a:srgbClr val="E08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2800" y="18000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60000" y="1810000"/>
            <a:ext cx="440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1" i="0">
                <a:solidFill>
                  <a:srgbClr val="E08A2B"/>
                </a:solidFill>
                <a:latin typeface="Consolas"/>
              </a:rPr>
              <a:t>SECTION 02 OF 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800" y="2320000"/>
            <a:ext cx="102000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600" b="1" i="0">
                <a:solidFill>
                  <a:srgbClr val="142F4C"/>
                </a:solidFill>
                <a:latin typeface="Georgia"/>
              </a:rPr>
              <a:t>Display XY Data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2800" y="3160000"/>
            <a:ext cx="900000" cy="38100"/>
          </a:xfrm>
          <a:prstGeom prst="rect">
            <a:avLst/>
          </a:prstGeom>
          <a:solidFill>
            <a:srgbClr val="E08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2800" y="3350000"/>
            <a:ext cx="970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1">
                <a:solidFill>
                  <a:srgbClr val="4A5A6A"/>
                </a:solidFill>
                <a:latin typeface="Georgia"/>
              </a:rPr>
              <a:t>Turning X/Y coordinates — or a street address — into a live point layer, the fast way 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600" y="6489700"/>
            <a:ext cx="355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 i="0">
                <a:solidFill>
                  <a:srgbClr val="6E6E6E"/>
                </a:solidFill>
                <a:latin typeface="Georgia"/>
              </a:rPr>
              <a:t>8</a:t>
            </a:r>
          </a:p>
        </p:txBody>
      </p:sp>
      <p:sp>
        <p:nvSpPr>
          <p:cNvPr id="15" name="TextBox 14">
            <a:hlinkClick action="ppaction://hlinksldjump" r:id="rId2"/>
          </p:cNvPr>
          <p:cNvSpPr txBox="1"/>
          <p:nvPr/>
        </p:nvSpPr>
        <p:spPr>
          <a:xfrm>
            <a:off x="1143000" y="6489700"/>
            <a:ext cx="24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1">
                <a:solidFill>
                  <a:srgbClr val="E08A2B"/>
                </a:solidFill>
                <a:latin typeface="Georgia"/>
              </a:rPr>
              <a:t>◂  Table of Contents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6ED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092000" y="5758000"/>
            <a:ext cx="2800000" cy="28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92000" y="5058000"/>
            <a:ext cx="4200000" cy="42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92000" y="4358000"/>
            <a:ext cx="5600000" cy="56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92000" y="3658000"/>
            <a:ext cx="7000000" cy="70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00000"/>
            <a:ext cx="10820400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E08A2B"/>
                </a:solidFill>
                <a:latin typeface="Consolas"/>
              </a:rPr>
              <a:t>CSV · DISPLAY XY · FEATURE CLASS · FIELDS · CALCULATOR · PRACTICE · DISPLAY XY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0000"/>
            <a:ext cx="1082040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142F4C"/>
                </a:solidFill>
                <a:latin typeface="Georgia"/>
              </a:rPr>
              <a:t>Display XY Data</a:t>
            </a:r>
          </a:p>
        </p:txBody>
      </p:sp>
      <p:sp>
        <p:nvSpPr>
          <p:cNvPr id="9" name="Rectangle 8"/>
          <p:cNvSpPr/>
          <p:nvPr/>
        </p:nvSpPr>
        <p:spPr>
          <a:xfrm>
            <a:off x="736600" y="1194800"/>
            <a:ext cx="609600" cy="38100"/>
          </a:xfrm>
          <a:prstGeom prst="rect">
            <a:avLst/>
          </a:prstGeom>
          <a:solidFill>
            <a:srgbClr val="E08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14800"/>
            <a:ext cx="108204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1">
                <a:solidFill>
                  <a:srgbClr val="4A5A6A"/>
                </a:solidFill>
                <a:latin typeface="Georgia"/>
              </a:rPr>
              <a:t>Turning coordinate columns into a point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64922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6E6E6E"/>
                </a:solidFill>
                <a:latin typeface="Georgia"/>
              </a:rPr>
              <a:t>ArcGIS | Tabular Data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600" y="6489700"/>
            <a:ext cx="355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 i="0">
                <a:solidFill>
                  <a:srgbClr val="6E6E6E"/>
                </a:solidFill>
                <a:latin typeface="Georgia"/>
              </a:rPr>
              <a:t>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050000"/>
            <a:ext cx="6172200" cy="4300000"/>
          </a:xfrm>
          <a:prstGeom prst="roundRect">
            <a:avLst>
              <a:gd name="adj" fmla="val 2000"/>
            </a:avLst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2050000"/>
            <a:ext cx="6172200" cy="304800"/>
          </a:xfrm>
          <a:prstGeom prst="roundRect">
            <a:avLst>
              <a:gd name="adj" fmla="val 2000"/>
            </a:avLst>
          </a:prstGeom>
          <a:solidFill>
            <a:srgbClr val="141B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294800"/>
            <a:ext cx="6172200" cy="60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3920" y="2050000"/>
            <a:ext cx="5872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D7DEEA"/>
                </a:solidFill>
                <a:latin typeface="Georgia"/>
              </a:rPr>
              <a:t>Display XY Data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354800"/>
            <a:ext cx="6172200" cy="3995200"/>
          </a:xfrm>
          <a:prstGeom prst="rect">
            <a:avLst/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484800"/>
            <a:ext cx="589788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 i="0">
                <a:solidFill>
                  <a:srgbClr val="8A94A8"/>
                </a:solidFill>
                <a:latin typeface="Georgia"/>
              </a:rPr>
              <a:t>Input Table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2724800"/>
            <a:ext cx="5897880" cy="280000"/>
          </a:xfrm>
          <a:prstGeom prst="rect">
            <a:avLst/>
          </a:prstGeom>
          <a:solidFill>
            <a:srgbClr val="0B0F1A"/>
          </a:solidFill>
          <a:ln w="9525">
            <a:solidFill>
              <a:srgbClr val="2A344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1520" y="2724800"/>
            <a:ext cx="57722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>sites.csv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134800"/>
            <a:ext cx="589788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 i="0">
                <a:solidFill>
                  <a:srgbClr val="8A94A8"/>
                </a:solidFill>
                <a:latin typeface="Georgia"/>
              </a:rPr>
              <a:t>X Field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" y="3374800"/>
            <a:ext cx="5897880" cy="280000"/>
          </a:xfrm>
          <a:prstGeom prst="rect">
            <a:avLst/>
          </a:prstGeom>
          <a:solidFill>
            <a:srgbClr val="0B0F1A"/>
          </a:solidFill>
          <a:ln w="9525">
            <a:solidFill>
              <a:srgbClr val="2A344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1520" y="3374800"/>
            <a:ext cx="57722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>Longitude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3784800"/>
            <a:ext cx="589788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 i="0">
                <a:solidFill>
                  <a:srgbClr val="8A94A8"/>
                </a:solidFill>
                <a:latin typeface="Georgia"/>
              </a:rPr>
              <a:t>Y Field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" y="4024800"/>
            <a:ext cx="5897880" cy="280000"/>
          </a:xfrm>
          <a:prstGeom prst="rect">
            <a:avLst/>
          </a:prstGeom>
          <a:solidFill>
            <a:srgbClr val="0B0F1A"/>
          </a:solidFill>
          <a:ln w="9525">
            <a:solidFill>
              <a:srgbClr val="2A344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1520" y="4024800"/>
            <a:ext cx="57722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>Latitude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4434800"/>
            <a:ext cx="589788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 i="0">
                <a:solidFill>
                  <a:srgbClr val="8A94A8"/>
                </a:solidFill>
                <a:latin typeface="Georgia"/>
              </a:rPr>
              <a:t>Z Field (optional)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80" y="4674800"/>
            <a:ext cx="5897880" cy="280000"/>
          </a:xfrm>
          <a:prstGeom prst="rect">
            <a:avLst/>
          </a:prstGeom>
          <a:solidFill>
            <a:srgbClr val="0B0F1A"/>
          </a:solidFill>
          <a:ln w="9525">
            <a:solidFill>
              <a:srgbClr val="2A344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1520" y="4674800"/>
            <a:ext cx="57722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>&lt;none&gt;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5084800"/>
            <a:ext cx="589788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 i="0">
                <a:solidFill>
                  <a:srgbClr val="8A94A8"/>
                </a:solidFill>
                <a:latin typeface="Georgia"/>
              </a:rPr>
              <a:t>Coordinate System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8680" y="5324800"/>
            <a:ext cx="5897880" cy="280000"/>
          </a:xfrm>
          <a:prstGeom prst="rect">
            <a:avLst/>
          </a:prstGeom>
          <a:solidFill>
            <a:srgbClr val="0B0F1A"/>
          </a:solidFill>
          <a:ln w="9525">
            <a:solidFill>
              <a:srgbClr val="2A344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1520" y="5324800"/>
            <a:ext cx="57722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>GCS_WGS_1984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53720" y="5850000"/>
            <a:ext cx="1300000" cy="350000"/>
          </a:xfrm>
          <a:prstGeom prst="roundRect">
            <a:avLst>
              <a:gd name="adj" fmla="val 10000"/>
            </a:avLst>
          </a:prstGeom>
          <a:solidFill>
            <a:srgbClr val="E08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53720" y="5850000"/>
            <a:ext cx="1300000" cy="3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Georgia"/>
              </a:rPr>
              <a:t>OK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056120" y="2050000"/>
            <a:ext cx="4487672" cy="2127140"/>
          </a:xfrm>
          <a:prstGeom prst="rect">
            <a:avLst/>
          </a:prstGeom>
          <a:solidFill>
            <a:srgbClr val="EFF3F7"/>
          </a:solidFill>
          <a:ln w="12700">
            <a:solidFill>
              <a:srgbClr val="C7D3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056120" y="2050000"/>
            <a:ext cx="4487672" cy="38100"/>
          </a:xfrm>
          <a:prstGeom prst="rect">
            <a:avLst/>
          </a:prstGeom>
          <a:solidFill>
            <a:srgbClr val="E08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056120" y="2088100"/>
            <a:ext cx="137160" cy="9525"/>
          </a:xfrm>
          <a:prstGeom prst="rect">
            <a:avLst/>
          </a:prstGeom>
          <a:solidFill>
            <a:srgbClr val="E08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056120" y="2088100"/>
            <a:ext cx="9525" cy="75438"/>
          </a:xfrm>
          <a:prstGeom prst="rect">
            <a:avLst/>
          </a:prstGeom>
          <a:solidFill>
            <a:srgbClr val="E08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406632" y="2088100"/>
            <a:ext cx="137160" cy="9525"/>
          </a:xfrm>
          <a:prstGeom prst="rect">
            <a:avLst/>
          </a:prstGeom>
          <a:solidFill>
            <a:srgbClr val="E08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1534267" y="2088100"/>
            <a:ext cx="9525" cy="75438"/>
          </a:xfrm>
          <a:prstGeom prst="rect">
            <a:avLst/>
          </a:prstGeom>
          <a:solidFill>
            <a:srgbClr val="E08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31380" y="2380565"/>
            <a:ext cx="41371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142F4C"/>
                </a:solidFill>
                <a:latin typeface="Georgia"/>
              </a:rPr>
              <a:t>Defaults to WGS 1984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31380" y="2760565"/>
            <a:ext cx="4137152" cy="13165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00" b="0" i="0">
                <a:solidFill>
                  <a:srgbClr val="4A5A6A"/>
                </a:solidFill>
                <a:latin typeface="Georgia"/>
              </a:rPr>
              <a:t>Unless you tell it otherwise, ArcGIS Pro assumes your coordinates are decimal degrees in WGS 1984 — set this explicitly if your data uses something else.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056120" y="4222860"/>
            <a:ext cx="4487672" cy="2127140"/>
          </a:xfrm>
          <a:prstGeom prst="rect">
            <a:avLst/>
          </a:prstGeom>
          <a:solidFill>
            <a:srgbClr val="EFF3F7"/>
          </a:solidFill>
          <a:ln w="12700">
            <a:solidFill>
              <a:srgbClr val="C7D3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056120" y="4222860"/>
            <a:ext cx="4487672" cy="38100"/>
          </a:xfrm>
          <a:prstGeom prst="rect">
            <a:avLst/>
          </a:prstGeom>
          <a:solidFill>
            <a:srgbClr val="E08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056120" y="4260960"/>
            <a:ext cx="137160" cy="9525"/>
          </a:xfrm>
          <a:prstGeom prst="rect">
            <a:avLst/>
          </a:prstGeom>
          <a:solidFill>
            <a:srgbClr val="E08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056120" y="4260960"/>
            <a:ext cx="9525" cy="75438"/>
          </a:xfrm>
          <a:prstGeom prst="rect">
            <a:avLst/>
          </a:prstGeom>
          <a:solidFill>
            <a:srgbClr val="E08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1406632" y="4260960"/>
            <a:ext cx="137160" cy="9525"/>
          </a:xfrm>
          <a:prstGeom prst="rect">
            <a:avLst/>
          </a:prstGeom>
          <a:solidFill>
            <a:srgbClr val="E08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534267" y="4260960"/>
            <a:ext cx="9525" cy="75438"/>
          </a:xfrm>
          <a:prstGeom prst="rect">
            <a:avLst/>
          </a:prstGeom>
          <a:solidFill>
            <a:srgbClr val="E08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231380" y="4553425"/>
            <a:ext cx="41371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142F4C"/>
                </a:solidFill>
                <a:latin typeface="Georgia"/>
              </a:rPr>
              <a:t>This creates an event layer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31380" y="4933425"/>
            <a:ext cx="4137152" cy="13165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00" b="0" i="0">
                <a:solidFill>
                  <a:srgbClr val="4A5A6A"/>
                </a:solidFill>
                <a:latin typeface="Georgia"/>
              </a:rPr>
              <a:t>Not a real feature class yet — just a live view over the table's rows, drawn as points.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6ED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092000" y="5758000"/>
            <a:ext cx="2800000" cy="28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92000" y="5058000"/>
            <a:ext cx="4200000" cy="42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92000" y="4358000"/>
            <a:ext cx="5600000" cy="56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92000" y="3658000"/>
            <a:ext cx="7000000" cy="70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00000"/>
            <a:ext cx="10820400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E08A2B"/>
                </a:solidFill>
                <a:latin typeface="Consolas"/>
              </a:rPr>
              <a:t>CSV · DISPLAY XY · FEATURE CLASS · FIELDS · CALCULATOR · PRACTICE · DISPLAY XY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0000"/>
            <a:ext cx="1082040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142F4C"/>
                </a:solidFill>
                <a:latin typeface="Georgia"/>
              </a:rPr>
              <a:t>Event layers are temporary</a:t>
            </a:r>
          </a:p>
        </p:txBody>
      </p:sp>
      <p:sp>
        <p:nvSpPr>
          <p:cNvPr id="9" name="Rectangle 8"/>
          <p:cNvSpPr/>
          <p:nvPr/>
        </p:nvSpPr>
        <p:spPr>
          <a:xfrm>
            <a:off x="736600" y="1194800"/>
            <a:ext cx="609600" cy="38100"/>
          </a:xfrm>
          <a:prstGeom prst="rect">
            <a:avLst/>
          </a:prstGeom>
          <a:solidFill>
            <a:srgbClr val="E08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14800"/>
            <a:ext cx="108204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1">
                <a:solidFill>
                  <a:srgbClr val="4A5A6A"/>
                </a:solidFill>
                <a:latin typeface="Georgia"/>
              </a:rPr>
              <a:t>Useful for a quick look — not for keeping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64922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6E6E6E"/>
                </a:solidFill>
                <a:latin typeface="Georgia"/>
              </a:rPr>
              <a:t>ArcGIS | Tabular Data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600" y="6489700"/>
            <a:ext cx="355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 i="0">
                <a:solidFill>
                  <a:srgbClr val="6E6E6E"/>
                </a:solidFill>
                <a:latin typeface="Georgia"/>
              </a:rPr>
              <a:t>10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1905000"/>
            <a:ext cx="10727360" cy="1040710"/>
          </a:xfrm>
          <a:prstGeom prst="rect">
            <a:avLst/>
          </a:prstGeom>
          <a:solidFill>
            <a:srgbClr val="EFF3F7"/>
          </a:solidFill>
          <a:ln w="12700">
            <a:solidFill>
              <a:srgbClr val="C7D3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1905000"/>
            <a:ext cx="10727360" cy="38100"/>
          </a:xfrm>
          <a:prstGeom prst="rect">
            <a:avLst/>
          </a:prstGeom>
          <a:solidFill>
            <a:srgbClr val="E08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1943100"/>
            <a:ext cx="137160" cy="9525"/>
          </a:xfrm>
          <a:prstGeom prst="rect">
            <a:avLst/>
          </a:prstGeom>
          <a:solidFill>
            <a:srgbClr val="E08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1943100"/>
            <a:ext cx="9525" cy="75438"/>
          </a:xfrm>
          <a:prstGeom prst="rect">
            <a:avLst/>
          </a:prstGeom>
          <a:solidFill>
            <a:srgbClr val="E08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321720" y="1943100"/>
            <a:ext cx="137160" cy="9525"/>
          </a:xfrm>
          <a:prstGeom prst="rect">
            <a:avLst/>
          </a:prstGeom>
          <a:solidFill>
            <a:srgbClr val="E08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449355" y="1943100"/>
            <a:ext cx="9525" cy="75438"/>
          </a:xfrm>
          <a:prstGeom prst="rect">
            <a:avLst/>
          </a:prstGeom>
          <a:solidFill>
            <a:srgbClr val="E08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6780" y="2057400"/>
            <a:ext cx="103997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 i="0">
                <a:solidFill>
                  <a:srgbClr val="142F4C"/>
                </a:solidFill>
                <a:latin typeface="Georgia"/>
              </a:rPr>
              <a:t>It's a live query, not stored geometry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6780" y="2407400"/>
            <a:ext cx="10399700" cy="4383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00" b="0" i="0">
                <a:solidFill>
                  <a:srgbClr val="4A5A6A"/>
                </a:solidFill>
                <a:latin typeface="Georgia"/>
              </a:rPr>
              <a:t>The event layer re-reads the CSV every time it draws; rename or move the source file and the layer breaks.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2991430"/>
            <a:ext cx="10727360" cy="1040710"/>
          </a:xfrm>
          <a:prstGeom prst="rect">
            <a:avLst/>
          </a:prstGeom>
          <a:solidFill>
            <a:srgbClr val="EFF3F7"/>
          </a:solidFill>
          <a:ln w="12700">
            <a:solidFill>
              <a:srgbClr val="C7D3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2991430"/>
            <a:ext cx="10727360" cy="38100"/>
          </a:xfrm>
          <a:prstGeom prst="rect">
            <a:avLst/>
          </a:prstGeom>
          <a:solidFill>
            <a:srgbClr val="E08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3029530"/>
            <a:ext cx="137160" cy="9525"/>
          </a:xfrm>
          <a:prstGeom prst="rect">
            <a:avLst/>
          </a:prstGeom>
          <a:solidFill>
            <a:srgbClr val="E08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3029530"/>
            <a:ext cx="9525" cy="75438"/>
          </a:xfrm>
          <a:prstGeom prst="rect">
            <a:avLst/>
          </a:prstGeom>
          <a:solidFill>
            <a:srgbClr val="E08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321720" y="3029530"/>
            <a:ext cx="137160" cy="9525"/>
          </a:xfrm>
          <a:prstGeom prst="rect">
            <a:avLst/>
          </a:prstGeom>
          <a:solidFill>
            <a:srgbClr val="E08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449355" y="3029530"/>
            <a:ext cx="9525" cy="75438"/>
          </a:xfrm>
          <a:prstGeom prst="rect">
            <a:avLst/>
          </a:prstGeom>
          <a:solidFill>
            <a:srgbClr val="E08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6780" y="3143830"/>
            <a:ext cx="103997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 i="0">
                <a:solidFill>
                  <a:srgbClr val="142F4C"/>
                </a:solidFill>
                <a:latin typeface="Georgia"/>
              </a:rPr>
              <a:t>You can't edit its geometry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6780" y="3493830"/>
            <a:ext cx="10399700" cy="4383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00" b="0" i="0">
                <a:solidFill>
                  <a:srgbClr val="4A5A6A"/>
                </a:solidFill>
                <a:latin typeface="Georgia"/>
              </a:rPr>
              <a:t>No digitizing, no moving points — there's no feature geometry to edit yet, only coordinate values in a table.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077860"/>
            <a:ext cx="10727360" cy="1040710"/>
          </a:xfrm>
          <a:prstGeom prst="rect">
            <a:avLst/>
          </a:prstGeom>
          <a:solidFill>
            <a:srgbClr val="EFF3F7"/>
          </a:solidFill>
          <a:ln w="12700">
            <a:solidFill>
              <a:srgbClr val="C7D3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" y="4077860"/>
            <a:ext cx="10727360" cy="38100"/>
          </a:xfrm>
          <a:prstGeom prst="rect">
            <a:avLst/>
          </a:prstGeom>
          <a:solidFill>
            <a:srgbClr val="E08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1520" y="4115960"/>
            <a:ext cx="137160" cy="9525"/>
          </a:xfrm>
          <a:prstGeom prst="rect">
            <a:avLst/>
          </a:prstGeom>
          <a:solidFill>
            <a:srgbClr val="E08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1520" y="4115960"/>
            <a:ext cx="9525" cy="75438"/>
          </a:xfrm>
          <a:prstGeom prst="rect">
            <a:avLst/>
          </a:prstGeom>
          <a:solidFill>
            <a:srgbClr val="E08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321720" y="4115960"/>
            <a:ext cx="137160" cy="9525"/>
          </a:xfrm>
          <a:prstGeom prst="rect">
            <a:avLst/>
          </a:prstGeom>
          <a:solidFill>
            <a:srgbClr val="E08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449355" y="4115960"/>
            <a:ext cx="9525" cy="75438"/>
          </a:xfrm>
          <a:prstGeom prst="rect">
            <a:avLst/>
          </a:prstGeom>
          <a:solidFill>
            <a:srgbClr val="E08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6780" y="4230260"/>
            <a:ext cx="103997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 i="0">
                <a:solidFill>
                  <a:srgbClr val="142F4C"/>
                </a:solidFill>
                <a:latin typeface="Georgia"/>
              </a:rPr>
              <a:t>It won't share or perform like real data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6780" y="4580260"/>
            <a:ext cx="10399700" cy="4383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00" b="0" i="0">
                <a:solidFill>
                  <a:srgbClr val="4A5A6A"/>
                </a:solidFill>
                <a:latin typeface="Georgia"/>
              </a:rPr>
              <a:t>No spatial index, and most publishing workflows expect a genuine feature class, not a temporary event layer.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6ED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092000" y="5758000"/>
            <a:ext cx="2800000" cy="28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92000" y="5058000"/>
            <a:ext cx="4200000" cy="42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92000" y="4358000"/>
            <a:ext cx="5600000" cy="56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92000" y="3658000"/>
            <a:ext cx="7000000" cy="70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00000"/>
            <a:ext cx="10820400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E08A2B"/>
                </a:solidFill>
                <a:latin typeface="Consolas"/>
              </a:rPr>
              <a:t>CSV · DISPLAY XY · FEATURE CLASS · FIELDS · CALCULATOR · PRACTICE · DISPLAY XY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0000"/>
            <a:ext cx="1082040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142F4C"/>
                </a:solidFill>
                <a:latin typeface="Georgia"/>
              </a:rPr>
              <a:t>No coordinates? Geocode an address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6600" y="1194800"/>
            <a:ext cx="609600" cy="38100"/>
          </a:xfrm>
          <a:prstGeom prst="rect">
            <a:avLst/>
          </a:prstGeom>
          <a:solidFill>
            <a:srgbClr val="E08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14800"/>
            <a:ext cx="108204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1">
                <a:solidFill>
                  <a:srgbClr val="4A5A6A"/>
                </a:solidFill>
                <a:latin typeface="Georgia"/>
              </a:rPr>
              <a:t>Turning street addresses into points using a locator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64922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6E6E6E"/>
                </a:solidFill>
                <a:latin typeface="Georgia"/>
              </a:rPr>
              <a:t>ArcGIS | Tabular Data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600" y="6489700"/>
            <a:ext cx="355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 i="0">
                <a:solidFill>
                  <a:srgbClr val="6E6E6E"/>
                </a:solidFill>
                <a:latin typeface="Georgia"/>
              </a:rPr>
              <a:t>11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050000"/>
            <a:ext cx="6172200" cy="4300000"/>
          </a:xfrm>
          <a:prstGeom prst="roundRect">
            <a:avLst>
              <a:gd name="adj" fmla="val 2000"/>
            </a:avLst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2050000"/>
            <a:ext cx="6172200" cy="304800"/>
          </a:xfrm>
          <a:prstGeom prst="roundRect">
            <a:avLst>
              <a:gd name="adj" fmla="val 2000"/>
            </a:avLst>
          </a:prstGeom>
          <a:solidFill>
            <a:srgbClr val="141B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294800"/>
            <a:ext cx="6172200" cy="60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3920" y="2050000"/>
            <a:ext cx="5872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D7DEEA"/>
                </a:solidFill>
                <a:latin typeface="Georgia"/>
              </a:rPr>
              <a:t>Geocode Addresses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354800"/>
            <a:ext cx="6172200" cy="3995200"/>
          </a:xfrm>
          <a:prstGeom prst="rect">
            <a:avLst/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484800"/>
            <a:ext cx="589788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 i="0">
                <a:solidFill>
                  <a:srgbClr val="8A94A8"/>
                </a:solidFill>
                <a:latin typeface="Georgia"/>
              </a:rPr>
              <a:t>Input Table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2724800"/>
            <a:ext cx="5897880" cy="280000"/>
          </a:xfrm>
          <a:prstGeom prst="rect">
            <a:avLst/>
          </a:prstGeom>
          <a:solidFill>
            <a:srgbClr val="0B0F1A"/>
          </a:solidFill>
          <a:ln w="9525">
            <a:solidFill>
              <a:srgbClr val="2A344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1520" y="2724800"/>
            <a:ext cx="57722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>clients.csv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134800"/>
            <a:ext cx="589788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 i="0">
                <a:solidFill>
                  <a:srgbClr val="8A94A8"/>
                </a:solidFill>
                <a:latin typeface="Georgia"/>
              </a:rPr>
              <a:t>Input Address Locator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" y="3374800"/>
            <a:ext cx="5897880" cy="280000"/>
          </a:xfrm>
          <a:prstGeom prst="rect">
            <a:avLst/>
          </a:prstGeom>
          <a:solidFill>
            <a:srgbClr val="0B0F1A"/>
          </a:solidFill>
          <a:ln w="9525">
            <a:solidFill>
              <a:srgbClr val="2A344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1520" y="3374800"/>
            <a:ext cx="57722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>USA_StreetAddress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3784800"/>
            <a:ext cx="589788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 i="0">
                <a:solidFill>
                  <a:srgbClr val="8A94A8"/>
                </a:solidFill>
                <a:latin typeface="Georgia"/>
              </a:rPr>
              <a:t>Address Field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" y="4024800"/>
            <a:ext cx="5897880" cy="280000"/>
          </a:xfrm>
          <a:prstGeom prst="rect">
            <a:avLst/>
          </a:prstGeom>
          <a:solidFill>
            <a:srgbClr val="0B0F1A"/>
          </a:solidFill>
          <a:ln w="9525">
            <a:solidFill>
              <a:srgbClr val="2A344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1520" y="4024800"/>
            <a:ext cx="57722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>Full_Address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4434800"/>
            <a:ext cx="589788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 i="0">
                <a:solidFill>
                  <a:srgbClr val="8A94A8"/>
                </a:solidFill>
                <a:latin typeface="Georgia"/>
              </a:rPr>
              <a:t>Output Feature Class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80" y="4674800"/>
            <a:ext cx="5897880" cy="280000"/>
          </a:xfrm>
          <a:prstGeom prst="rect">
            <a:avLst/>
          </a:prstGeom>
          <a:solidFill>
            <a:srgbClr val="0B0F1A"/>
          </a:solidFill>
          <a:ln w="9525">
            <a:solidFill>
              <a:srgbClr val="2A344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1520" y="4674800"/>
            <a:ext cx="57722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>Clients_Geocoded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53720" y="5850000"/>
            <a:ext cx="1300000" cy="350000"/>
          </a:xfrm>
          <a:prstGeom prst="roundRect">
            <a:avLst>
              <a:gd name="adj" fmla="val 10000"/>
            </a:avLst>
          </a:prstGeom>
          <a:solidFill>
            <a:srgbClr val="E08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53720" y="5850000"/>
            <a:ext cx="1300000" cy="3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Georgia"/>
              </a:rPr>
              <a:t>Run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56120" y="2050000"/>
            <a:ext cx="4487672" cy="1402853"/>
          </a:xfrm>
          <a:prstGeom prst="rect">
            <a:avLst/>
          </a:prstGeom>
          <a:solidFill>
            <a:srgbClr val="EFF3F7"/>
          </a:solidFill>
          <a:ln w="12700">
            <a:solidFill>
              <a:srgbClr val="C7D3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056120" y="2050000"/>
            <a:ext cx="4487672" cy="38100"/>
          </a:xfrm>
          <a:prstGeom prst="rect">
            <a:avLst/>
          </a:prstGeom>
          <a:solidFill>
            <a:srgbClr val="E08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056120" y="2088100"/>
            <a:ext cx="137160" cy="9525"/>
          </a:xfrm>
          <a:prstGeom prst="rect">
            <a:avLst/>
          </a:prstGeom>
          <a:solidFill>
            <a:srgbClr val="E08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056120" y="2088100"/>
            <a:ext cx="9525" cy="75438"/>
          </a:xfrm>
          <a:prstGeom prst="rect">
            <a:avLst/>
          </a:prstGeom>
          <a:solidFill>
            <a:srgbClr val="E08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1406632" y="2088100"/>
            <a:ext cx="137160" cy="9525"/>
          </a:xfrm>
          <a:prstGeom prst="rect">
            <a:avLst/>
          </a:prstGeom>
          <a:solidFill>
            <a:srgbClr val="E08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1534267" y="2088100"/>
            <a:ext cx="9525" cy="75438"/>
          </a:xfrm>
          <a:prstGeom prst="rect">
            <a:avLst/>
          </a:prstGeom>
          <a:solidFill>
            <a:srgbClr val="E08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31380" y="2380565"/>
            <a:ext cx="41371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142F4C"/>
                </a:solidFill>
                <a:latin typeface="Georgia"/>
              </a:rPr>
              <a:t>Uses a locator, not lat/long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31380" y="2760565"/>
            <a:ext cx="4137152" cy="592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00" b="0" i="0">
                <a:solidFill>
                  <a:srgbClr val="4A5A6A"/>
                </a:solidFill>
                <a:latin typeface="Georgia"/>
              </a:rPr>
              <a:t>A locator is a reference dataset trained on street ranges — it matches text addresses to approximate coordinates.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056120" y="3498573"/>
            <a:ext cx="4487672" cy="1402853"/>
          </a:xfrm>
          <a:prstGeom prst="rect">
            <a:avLst/>
          </a:prstGeom>
          <a:solidFill>
            <a:srgbClr val="EFF3F7"/>
          </a:solidFill>
          <a:ln w="12700">
            <a:solidFill>
              <a:srgbClr val="C7D3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056120" y="3498573"/>
            <a:ext cx="4487672" cy="38100"/>
          </a:xfrm>
          <a:prstGeom prst="rect">
            <a:avLst/>
          </a:prstGeom>
          <a:solidFill>
            <a:srgbClr val="E08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056120" y="3536673"/>
            <a:ext cx="137160" cy="9525"/>
          </a:xfrm>
          <a:prstGeom prst="rect">
            <a:avLst/>
          </a:prstGeom>
          <a:solidFill>
            <a:srgbClr val="E08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056120" y="3536673"/>
            <a:ext cx="9525" cy="75438"/>
          </a:xfrm>
          <a:prstGeom prst="rect">
            <a:avLst/>
          </a:prstGeom>
          <a:solidFill>
            <a:srgbClr val="E08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1406632" y="3536673"/>
            <a:ext cx="137160" cy="9525"/>
          </a:xfrm>
          <a:prstGeom prst="rect">
            <a:avLst/>
          </a:prstGeom>
          <a:solidFill>
            <a:srgbClr val="E08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1534267" y="3536673"/>
            <a:ext cx="9525" cy="75438"/>
          </a:xfrm>
          <a:prstGeom prst="rect">
            <a:avLst/>
          </a:prstGeom>
          <a:solidFill>
            <a:srgbClr val="E08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231380" y="3829138"/>
            <a:ext cx="41371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142F4C"/>
                </a:solidFill>
                <a:latin typeface="Georgia"/>
              </a:rPr>
              <a:t>Every match gets a score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31380" y="4209138"/>
            <a:ext cx="4137152" cy="592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00" b="0" i="0">
                <a:solidFill>
                  <a:srgbClr val="4A5A6A"/>
                </a:solidFill>
                <a:latin typeface="Georgia"/>
              </a:rPr>
              <a:t>Matched, Tied, or Unmatched, plus a numeric score — a perfectly formatted address still isn't a guaranteed automatic match.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056120" y="4947146"/>
            <a:ext cx="4487672" cy="1402853"/>
          </a:xfrm>
          <a:prstGeom prst="rect">
            <a:avLst/>
          </a:prstGeom>
          <a:solidFill>
            <a:srgbClr val="EFF3F7"/>
          </a:solidFill>
          <a:ln w="12700">
            <a:solidFill>
              <a:srgbClr val="C7D3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056120" y="4947146"/>
            <a:ext cx="4487672" cy="38100"/>
          </a:xfrm>
          <a:prstGeom prst="rect">
            <a:avLst/>
          </a:prstGeom>
          <a:solidFill>
            <a:srgbClr val="E08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056120" y="4985246"/>
            <a:ext cx="137160" cy="9525"/>
          </a:xfrm>
          <a:prstGeom prst="rect">
            <a:avLst/>
          </a:prstGeom>
          <a:solidFill>
            <a:srgbClr val="E08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056120" y="4985246"/>
            <a:ext cx="9525" cy="75438"/>
          </a:xfrm>
          <a:prstGeom prst="rect">
            <a:avLst/>
          </a:prstGeom>
          <a:solidFill>
            <a:srgbClr val="E08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1406632" y="4985246"/>
            <a:ext cx="137160" cy="9525"/>
          </a:xfrm>
          <a:prstGeom prst="rect">
            <a:avLst/>
          </a:prstGeom>
          <a:solidFill>
            <a:srgbClr val="E08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534267" y="4985246"/>
            <a:ext cx="9525" cy="75438"/>
          </a:xfrm>
          <a:prstGeom prst="rect">
            <a:avLst/>
          </a:prstGeom>
          <a:solidFill>
            <a:srgbClr val="E08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231380" y="5277711"/>
            <a:ext cx="41371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142F4C"/>
                </a:solidFill>
                <a:latin typeface="Georgia"/>
              </a:rPr>
              <a:t>Review before you trust it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31380" y="5657711"/>
            <a:ext cx="4137152" cy="592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00" b="0" i="0">
                <a:solidFill>
                  <a:srgbClr val="4A5A6A"/>
                </a:solidFill>
                <a:latin typeface="Georgia"/>
              </a:rPr>
              <a:t>Use Interactive Rematch to manually resolve Ties and Unmatched records, or clean up the address data and rerun.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6ED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092000" y="5758000"/>
            <a:ext cx="2800000" cy="28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92000" y="5058000"/>
            <a:ext cx="4200000" cy="42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92000" y="4358000"/>
            <a:ext cx="5600000" cy="56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92000" y="3658000"/>
            <a:ext cx="7000000" cy="70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051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12800" y="1780000"/>
            <a:ext cx="603504" cy="402336"/>
          </a:xfrm>
          <a:prstGeom prst="rect">
            <a:avLst/>
          </a:prstGeom>
          <a:solidFill>
            <a:srgbClr val="C051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2800" y="18000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Georgia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60000" y="1810000"/>
            <a:ext cx="440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1" i="0">
                <a:solidFill>
                  <a:srgbClr val="C0512B"/>
                </a:solidFill>
                <a:latin typeface="Consolas"/>
              </a:rPr>
              <a:t>SECTION 03 OF 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800" y="2320000"/>
            <a:ext cx="102000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600" b="1" i="0">
                <a:solidFill>
                  <a:srgbClr val="142F4C"/>
                </a:solidFill>
                <a:latin typeface="Georgia"/>
              </a:rPr>
              <a:t>Making It Permanent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2800" y="3160000"/>
            <a:ext cx="900000" cy="38100"/>
          </a:xfrm>
          <a:prstGeom prst="rect">
            <a:avLst/>
          </a:prstGeom>
          <a:solidFill>
            <a:srgbClr val="C051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2800" y="3350000"/>
            <a:ext cx="970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1">
                <a:solidFill>
                  <a:srgbClr val="4A5A6A"/>
                </a:solidFill>
                <a:latin typeface="Georgia"/>
              </a:rPr>
              <a:t>Exporting an event layer into a real feature class, then summarizing or exporting the results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600" y="6489700"/>
            <a:ext cx="355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 i="0">
                <a:solidFill>
                  <a:srgbClr val="6E6E6E"/>
                </a:solidFill>
                <a:latin typeface="Georgia"/>
              </a:rPr>
              <a:t>12</a:t>
            </a:r>
          </a:p>
        </p:txBody>
      </p:sp>
      <p:sp>
        <p:nvSpPr>
          <p:cNvPr id="15" name="TextBox 14">
            <a:hlinkClick action="ppaction://hlinksldjump" r:id="rId2"/>
          </p:cNvPr>
          <p:cNvSpPr txBox="1"/>
          <p:nvPr/>
        </p:nvSpPr>
        <p:spPr>
          <a:xfrm>
            <a:off x="1143000" y="6489700"/>
            <a:ext cx="24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1">
                <a:solidFill>
                  <a:srgbClr val="C0512B"/>
                </a:solidFill>
                <a:latin typeface="Georgia"/>
              </a:rPr>
              <a:t>◂  Table of Contents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6ED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092000" y="5758000"/>
            <a:ext cx="2800000" cy="28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92000" y="5058000"/>
            <a:ext cx="4200000" cy="42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92000" y="4358000"/>
            <a:ext cx="5600000" cy="56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92000" y="3658000"/>
            <a:ext cx="7000000" cy="70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00000"/>
            <a:ext cx="10820400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C0512B"/>
                </a:solidFill>
                <a:latin typeface="Consolas"/>
              </a:rPr>
              <a:t>CSV · DISPLAY XY · FEATURE CLASS · FIELDS · CALCULATOR · PRACTICE · FEATURE CLASS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0000"/>
            <a:ext cx="1082040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142F4C"/>
                </a:solidFill>
                <a:latin typeface="Georgia"/>
              </a:rPr>
              <a:t>Where Export Features lives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6600" y="1194800"/>
            <a:ext cx="609600" cy="38100"/>
          </a:xfrm>
          <a:prstGeom prst="rect">
            <a:avLst/>
          </a:prstGeom>
          <a:solidFill>
            <a:srgbClr val="C051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14800"/>
            <a:ext cx="108204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1">
                <a:solidFill>
                  <a:srgbClr val="4A5A6A"/>
                </a:solidFill>
                <a:latin typeface="Georgia"/>
              </a:rPr>
              <a:t>Right-click the layer in the Contents pane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64922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6E6E6E"/>
                </a:solidFill>
                <a:latin typeface="Georgia"/>
              </a:rPr>
              <a:t>ArcGIS | Tabular Data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600" y="6489700"/>
            <a:ext cx="355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 i="0">
                <a:solidFill>
                  <a:srgbClr val="6E6E6E"/>
                </a:solidFill>
                <a:latin typeface="Georgia"/>
              </a:rPr>
              <a:t>13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050000"/>
            <a:ext cx="6172200" cy="4300000"/>
          </a:xfrm>
          <a:prstGeom prst="roundRect">
            <a:avLst>
              <a:gd name="adj" fmla="val 2000"/>
            </a:avLst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2050000"/>
            <a:ext cx="6172200" cy="304800"/>
          </a:xfrm>
          <a:prstGeom prst="roundRect">
            <a:avLst>
              <a:gd name="adj" fmla="val 2000"/>
            </a:avLst>
          </a:prstGeom>
          <a:solidFill>
            <a:srgbClr val="141B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294800"/>
            <a:ext cx="6172200" cy="60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3920" y="2050000"/>
            <a:ext cx="5872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D7DEEA"/>
                </a:solidFill>
                <a:latin typeface="Georgia"/>
              </a:rPr>
              <a:t>Contents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354800"/>
            <a:ext cx="6172200" cy="3995200"/>
          </a:xfrm>
          <a:prstGeom prst="rect">
            <a:avLst/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2354800"/>
            <a:ext cx="6172200" cy="320000"/>
          </a:xfrm>
          <a:prstGeom prst="rect">
            <a:avLst/>
          </a:prstGeom>
          <a:solidFill>
            <a:srgbClr val="1B24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2354800"/>
            <a:ext cx="589788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 i="0">
                <a:solidFill>
                  <a:srgbClr val="FFFFFF"/>
                </a:solidFill>
                <a:latin typeface="Georgia"/>
              </a:rPr>
              <a:t>Map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2674800"/>
            <a:ext cx="5989320" cy="340000"/>
          </a:xfrm>
          <a:prstGeom prst="roundRect">
            <a:avLst>
              <a:gd name="adj" fmla="val 8000"/>
            </a:avLst>
          </a:prstGeom>
          <a:solidFill>
            <a:srgbClr val="C051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21100" y="2674800"/>
            <a:ext cx="562164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50" b="1" i="0">
                <a:solidFill>
                  <a:srgbClr val="FFFFFF"/>
                </a:solidFill>
                <a:latin typeface="Georgia"/>
              </a:rPr>
              <a:t>Sites (event layer)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1100" y="3014800"/>
            <a:ext cx="562164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50" b="0" i="0">
                <a:solidFill>
                  <a:srgbClr val="A8B4AC"/>
                </a:solidFill>
                <a:latin typeface="Georgia"/>
              </a:rPr>
              <a:t>Basemap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9700" y="3354800"/>
            <a:ext cx="539304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50" b="0" i="0">
                <a:solidFill>
                  <a:srgbClr val="A8B4AC"/>
                </a:solidFill>
                <a:latin typeface="Georgia"/>
              </a:rPr>
              <a:t>World Topographic Map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53720" y="3054800"/>
            <a:ext cx="2650000" cy="1660000"/>
          </a:xfrm>
          <a:prstGeom prst="rect">
            <a:avLst/>
          </a:prstGeom>
          <a:solidFill>
            <a:srgbClr val="1B243D"/>
          </a:solidFill>
          <a:ln w="9525">
            <a:solidFill>
              <a:srgbClr val="2A344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0880" y="3084800"/>
            <a:ext cx="237568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50" b="0" i="0">
                <a:solidFill>
                  <a:srgbClr val="A8B4AC"/>
                </a:solidFill>
                <a:latin typeface="Georgia"/>
              </a:rPr>
              <a:t>Zoom To Layer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0880" y="3404800"/>
            <a:ext cx="237568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50" b="0" i="0">
                <a:solidFill>
                  <a:srgbClr val="A8B4AC"/>
                </a:solidFill>
                <a:latin typeface="Georgia"/>
              </a:rPr>
              <a:t>Attribute Table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73720" y="3724800"/>
            <a:ext cx="2610000" cy="320000"/>
          </a:xfrm>
          <a:prstGeom prst="rect">
            <a:avLst/>
          </a:prstGeom>
          <a:solidFill>
            <a:srgbClr val="C051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0880" y="3724800"/>
            <a:ext cx="237568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50" b="1" i="0">
                <a:solidFill>
                  <a:srgbClr val="FFFFFF"/>
                </a:solidFill>
                <a:latin typeface="Georgia"/>
              </a:rPr>
              <a:t>Data  ▸  Export Features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0880" y="4044800"/>
            <a:ext cx="237568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50" b="0" i="0">
                <a:solidFill>
                  <a:srgbClr val="A8B4AC"/>
                </a:solidFill>
                <a:latin typeface="Georgia"/>
              </a:rPr>
              <a:t>Symbology…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0880" y="4364800"/>
            <a:ext cx="237568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50" b="0" i="0">
                <a:solidFill>
                  <a:srgbClr val="A8B4AC"/>
                </a:solidFill>
                <a:latin typeface="Georgia"/>
              </a:rPr>
              <a:t>Remove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056120" y="2050000"/>
            <a:ext cx="4487672" cy="2127140"/>
          </a:xfrm>
          <a:prstGeom prst="rect">
            <a:avLst/>
          </a:prstGeom>
          <a:solidFill>
            <a:srgbClr val="EFF3F7"/>
          </a:solidFill>
          <a:ln w="12700">
            <a:solidFill>
              <a:srgbClr val="C7D3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056120" y="2050000"/>
            <a:ext cx="4487672" cy="38100"/>
          </a:xfrm>
          <a:prstGeom prst="rect">
            <a:avLst/>
          </a:prstGeom>
          <a:solidFill>
            <a:srgbClr val="C051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056120" y="2088100"/>
            <a:ext cx="137160" cy="9525"/>
          </a:xfrm>
          <a:prstGeom prst="rect">
            <a:avLst/>
          </a:prstGeom>
          <a:solidFill>
            <a:srgbClr val="C051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056120" y="2088100"/>
            <a:ext cx="9525" cy="75438"/>
          </a:xfrm>
          <a:prstGeom prst="rect">
            <a:avLst/>
          </a:prstGeom>
          <a:solidFill>
            <a:srgbClr val="C051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406632" y="2088100"/>
            <a:ext cx="137160" cy="9525"/>
          </a:xfrm>
          <a:prstGeom prst="rect">
            <a:avLst/>
          </a:prstGeom>
          <a:solidFill>
            <a:srgbClr val="C051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1534267" y="2088100"/>
            <a:ext cx="9525" cy="75438"/>
          </a:xfrm>
          <a:prstGeom prst="rect">
            <a:avLst/>
          </a:prstGeom>
          <a:solidFill>
            <a:srgbClr val="C051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31380" y="2380565"/>
            <a:ext cx="41371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142F4C"/>
                </a:solidFill>
                <a:latin typeface="Georgia"/>
              </a:rPr>
              <a:t>Contents pane → right-click → Data → Export Features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31380" y="2760565"/>
            <a:ext cx="4137152" cy="13165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00" b="0" i="0">
                <a:solidFill>
                  <a:srgbClr val="4A5A6A"/>
                </a:solidFill>
                <a:latin typeface="Georgia"/>
              </a:rPr>
              <a:t>The same path works for any layer — event layer, feature class, or table — not only the one you just displayed.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056120" y="4222860"/>
            <a:ext cx="4487672" cy="2127140"/>
          </a:xfrm>
          <a:prstGeom prst="rect">
            <a:avLst/>
          </a:prstGeom>
          <a:solidFill>
            <a:srgbClr val="EFF3F7"/>
          </a:solidFill>
          <a:ln w="12700">
            <a:solidFill>
              <a:srgbClr val="C7D3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056120" y="4222860"/>
            <a:ext cx="4487672" cy="38100"/>
          </a:xfrm>
          <a:prstGeom prst="rect">
            <a:avLst/>
          </a:prstGeom>
          <a:solidFill>
            <a:srgbClr val="C051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056120" y="4260960"/>
            <a:ext cx="137160" cy="9525"/>
          </a:xfrm>
          <a:prstGeom prst="rect">
            <a:avLst/>
          </a:prstGeom>
          <a:solidFill>
            <a:srgbClr val="C051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056120" y="4260960"/>
            <a:ext cx="9525" cy="75438"/>
          </a:xfrm>
          <a:prstGeom prst="rect">
            <a:avLst/>
          </a:prstGeom>
          <a:solidFill>
            <a:srgbClr val="C051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406632" y="4260960"/>
            <a:ext cx="137160" cy="9525"/>
          </a:xfrm>
          <a:prstGeom prst="rect">
            <a:avLst/>
          </a:prstGeom>
          <a:solidFill>
            <a:srgbClr val="C051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1534267" y="4260960"/>
            <a:ext cx="9525" cy="75438"/>
          </a:xfrm>
          <a:prstGeom prst="rect">
            <a:avLst/>
          </a:prstGeom>
          <a:solidFill>
            <a:srgbClr val="C051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31380" y="4553425"/>
            <a:ext cx="41371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142F4C"/>
                </a:solidFill>
                <a:latin typeface="Georgia"/>
              </a:rPr>
              <a:t>Same menu holds most layer actions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31380" y="4933425"/>
            <a:ext cx="4137152" cy="13165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00" b="0" i="0">
                <a:solidFill>
                  <a:srgbClr val="4A5A6A"/>
                </a:solidFill>
                <a:latin typeface="Georgia"/>
              </a:rPr>
              <a:t>Symbology, labeling, and export options are grouped under this one right-click menu — it's worth learning by heart.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6ED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092000" y="5758000"/>
            <a:ext cx="2800000" cy="28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92000" y="5058000"/>
            <a:ext cx="4200000" cy="42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92000" y="4358000"/>
            <a:ext cx="5600000" cy="56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92000" y="3658000"/>
            <a:ext cx="7000000" cy="70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00000"/>
            <a:ext cx="10820400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C0512B"/>
                </a:solidFill>
                <a:latin typeface="Consolas"/>
              </a:rPr>
              <a:t>CSV · DISPLAY XY · FEATURE CLASS · FIELDS · CALCULATOR · PRACTICE · FEATURE CLASS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0000"/>
            <a:ext cx="1082040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142F4C"/>
                </a:solidFill>
                <a:latin typeface="Georgia"/>
              </a:rPr>
              <a:t>From event layer to feature class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6600" y="1194800"/>
            <a:ext cx="609600" cy="38100"/>
          </a:xfrm>
          <a:prstGeom prst="rect">
            <a:avLst/>
          </a:prstGeom>
          <a:solidFill>
            <a:srgbClr val="C051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14800"/>
            <a:ext cx="108204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1">
                <a:solidFill>
                  <a:srgbClr val="4A5A6A"/>
                </a:solidFill>
                <a:latin typeface="Georgia"/>
              </a:rPr>
              <a:t>Export Features writes real geometry to a geodatabase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64922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6E6E6E"/>
                </a:solidFill>
                <a:latin typeface="Georgia"/>
              </a:rPr>
              <a:t>ArcGIS | Tabular Data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600" y="6489700"/>
            <a:ext cx="355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 i="0">
                <a:solidFill>
                  <a:srgbClr val="6E6E6E"/>
                </a:solidFill>
                <a:latin typeface="Georgia"/>
              </a:rPr>
              <a:t>14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050000"/>
            <a:ext cx="6172200" cy="4300000"/>
          </a:xfrm>
          <a:prstGeom prst="roundRect">
            <a:avLst>
              <a:gd name="adj" fmla="val 2000"/>
            </a:avLst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2050000"/>
            <a:ext cx="6172200" cy="304800"/>
          </a:xfrm>
          <a:prstGeom prst="roundRect">
            <a:avLst>
              <a:gd name="adj" fmla="val 2000"/>
            </a:avLst>
          </a:prstGeom>
          <a:solidFill>
            <a:srgbClr val="141B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294800"/>
            <a:ext cx="6172200" cy="60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3920" y="2050000"/>
            <a:ext cx="5872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D7DEEA"/>
                </a:solidFill>
                <a:latin typeface="Georgia"/>
              </a:rPr>
              <a:t>Export Features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354800"/>
            <a:ext cx="6172200" cy="3995200"/>
          </a:xfrm>
          <a:prstGeom prst="rect">
            <a:avLst/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484800"/>
            <a:ext cx="589788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 i="0">
                <a:solidFill>
                  <a:srgbClr val="8A94A8"/>
                </a:solidFill>
                <a:latin typeface="Georgia"/>
              </a:rPr>
              <a:t>Input Features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2724800"/>
            <a:ext cx="5897880" cy="280000"/>
          </a:xfrm>
          <a:prstGeom prst="rect">
            <a:avLst/>
          </a:prstGeom>
          <a:solidFill>
            <a:srgbClr val="0B0F1A"/>
          </a:solidFill>
          <a:ln w="9525">
            <a:solidFill>
              <a:srgbClr val="2A344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1520" y="2724800"/>
            <a:ext cx="57722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>sites.csv Events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134800"/>
            <a:ext cx="589788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 i="0">
                <a:solidFill>
                  <a:srgbClr val="8A94A8"/>
                </a:solidFill>
                <a:latin typeface="Georgia"/>
              </a:rPr>
              <a:t>Output Location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" y="3374800"/>
            <a:ext cx="5897880" cy="280000"/>
          </a:xfrm>
          <a:prstGeom prst="rect">
            <a:avLst/>
          </a:prstGeom>
          <a:solidFill>
            <a:srgbClr val="0B0F1A"/>
          </a:solidFill>
          <a:ln w="9525">
            <a:solidFill>
              <a:srgbClr val="2A344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1520" y="3374800"/>
            <a:ext cx="57722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>TabularData.gdb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3784800"/>
            <a:ext cx="589788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 i="0">
                <a:solidFill>
                  <a:srgbClr val="8A94A8"/>
                </a:solidFill>
                <a:latin typeface="Georgia"/>
              </a:rPr>
              <a:t>Output Name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" y="4024800"/>
            <a:ext cx="5897880" cy="280000"/>
          </a:xfrm>
          <a:prstGeom prst="rect">
            <a:avLst/>
          </a:prstGeom>
          <a:solidFill>
            <a:srgbClr val="0B0F1A"/>
          </a:solidFill>
          <a:ln w="9525">
            <a:solidFill>
              <a:srgbClr val="2A344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1520" y="4024800"/>
            <a:ext cx="57722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>Sites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53720" y="5850000"/>
            <a:ext cx="1300000" cy="350000"/>
          </a:xfrm>
          <a:prstGeom prst="roundRect">
            <a:avLst>
              <a:gd name="adj" fmla="val 10000"/>
            </a:avLst>
          </a:prstGeom>
          <a:solidFill>
            <a:srgbClr val="C051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53720" y="5850000"/>
            <a:ext cx="1300000" cy="3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Georgia"/>
              </a:rPr>
              <a:t>Run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56120" y="2050000"/>
            <a:ext cx="4487672" cy="2127140"/>
          </a:xfrm>
          <a:prstGeom prst="rect">
            <a:avLst/>
          </a:prstGeom>
          <a:solidFill>
            <a:srgbClr val="EFF3F7"/>
          </a:solidFill>
          <a:ln w="12700">
            <a:solidFill>
              <a:srgbClr val="C7D3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056120" y="2050000"/>
            <a:ext cx="4487672" cy="38100"/>
          </a:xfrm>
          <a:prstGeom prst="rect">
            <a:avLst/>
          </a:prstGeom>
          <a:solidFill>
            <a:srgbClr val="C051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056120" y="2088100"/>
            <a:ext cx="137160" cy="9525"/>
          </a:xfrm>
          <a:prstGeom prst="rect">
            <a:avLst/>
          </a:prstGeom>
          <a:solidFill>
            <a:srgbClr val="C051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056120" y="2088100"/>
            <a:ext cx="9525" cy="75438"/>
          </a:xfrm>
          <a:prstGeom prst="rect">
            <a:avLst/>
          </a:prstGeom>
          <a:solidFill>
            <a:srgbClr val="C051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406632" y="2088100"/>
            <a:ext cx="137160" cy="9525"/>
          </a:xfrm>
          <a:prstGeom prst="rect">
            <a:avLst/>
          </a:prstGeom>
          <a:solidFill>
            <a:srgbClr val="C051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534267" y="2088100"/>
            <a:ext cx="9525" cy="75438"/>
          </a:xfrm>
          <a:prstGeom prst="rect">
            <a:avLst/>
          </a:prstGeom>
          <a:solidFill>
            <a:srgbClr val="C051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31380" y="2380565"/>
            <a:ext cx="41371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142F4C"/>
                </a:solidFill>
                <a:latin typeface="Georgia"/>
              </a:rPr>
              <a:t>Right-click the layer to get here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31380" y="2760565"/>
            <a:ext cx="4137152" cy="13165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00" b="0" i="0">
                <a:solidFill>
                  <a:srgbClr val="4A5A6A"/>
                </a:solidFill>
                <a:latin typeface="Georgia"/>
              </a:rPr>
              <a:t>Contents pane → right-click the event layer → Data → Export Features.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056120" y="4222860"/>
            <a:ext cx="4487672" cy="2127140"/>
          </a:xfrm>
          <a:prstGeom prst="rect">
            <a:avLst/>
          </a:prstGeom>
          <a:solidFill>
            <a:srgbClr val="EFF3F7"/>
          </a:solidFill>
          <a:ln w="12700">
            <a:solidFill>
              <a:srgbClr val="C7D3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056120" y="4222860"/>
            <a:ext cx="4487672" cy="38100"/>
          </a:xfrm>
          <a:prstGeom prst="rect">
            <a:avLst/>
          </a:prstGeom>
          <a:solidFill>
            <a:srgbClr val="C051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056120" y="4260960"/>
            <a:ext cx="137160" cy="9525"/>
          </a:xfrm>
          <a:prstGeom prst="rect">
            <a:avLst/>
          </a:prstGeom>
          <a:solidFill>
            <a:srgbClr val="C051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056120" y="4260960"/>
            <a:ext cx="9525" cy="75438"/>
          </a:xfrm>
          <a:prstGeom prst="rect">
            <a:avLst/>
          </a:prstGeom>
          <a:solidFill>
            <a:srgbClr val="C051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1406632" y="4260960"/>
            <a:ext cx="137160" cy="9525"/>
          </a:xfrm>
          <a:prstGeom prst="rect">
            <a:avLst/>
          </a:prstGeom>
          <a:solidFill>
            <a:srgbClr val="C051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1534267" y="4260960"/>
            <a:ext cx="9525" cy="75438"/>
          </a:xfrm>
          <a:prstGeom prst="rect">
            <a:avLst/>
          </a:prstGeom>
          <a:solidFill>
            <a:srgbClr val="C051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231380" y="4553425"/>
            <a:ext cx="41371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142F4C"/>
                </a:solidFill>
                <a:latin typeface="Georgia"/>
              </a:rPr>
              <a:t>Now it's real geometry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31380" y="4933425"/>
            <a:ext cx="4137152" cy="13165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00" b="0" i="0">
                <a:solidFill>
                  <a:srgbClr val="4A5A6A"/>
                </a:solidFill>
                <a:latin typeface="Georgia"/>
              </a:rPr>
              <a:t>Stored permanently in the geodatabase — it survives the source CSV changing, moving, or disappearing.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6ED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092000" y="5758000"/>
            <a:ext cx="2800000" cy="28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92000" y="5058000"/>
            <a:ext cx="4200000" cy="42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92000" y="4358000"/>
            <a:ext cx="5600000" cy="56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92000" y="3658000"/>
            <a:ext cx="7000000" cy="70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00000"/>
            <a:ext cx="10820400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C0512B"/>
                </a:solidFill>
                <a:latin typeface="Consolas"/>
              </a:rPr>
              <a:t>CSV · DISPLAY XY · FEATURE CLASS · FIELDS · CALCULATOR · PRACTICE · FEATURE CLASS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0000"/>
            <a:ext cx="1082040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142F4C"/>
                </a:solidFill>
                <a:latin typeface="Georgia"/>
              </a:rPr>
              <a:t>Event layer vs. feature class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6600" y="1194800"/>
            <a:ext cx="609600" cy="38100"/>
          </a:xfrm>
          <a:prstGeom prst="rect">
            <a:avLst/>
          </a:prstGeom>
          <a:solidFill>
            <a:srgbClr val="C051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14800"/>
            <a:ext cx="108204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1">
                <a:solidFill>
                  <a:srgbClr val="4A5A6A"/>
                </a:solidFill>
                <a:latin typeface="Georgia"/>
              </a:rPr>
              <a:t>Why the export step is worth doing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64922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6E6E6E"/>
                </a:solidFill>
                <a:latin typeface="Georgia"/>
              </a:rPr>
              <a:t>ArcGIS | Tabular Data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600" y="6489700"/>
            <a:ext cx="355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 i="0">
                <a:solidFill>
                  <a:srgbClr val="6E6E6E"/>
                </a:solidFill>
                <a:latin typeface="Georgia"/>
              </a:rPr>
              <a:t>15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100000"/>
            <a:ext cx="10727360" cy="3900000"/>
          </a:xfrm>
          <a:prstGeom prst="roundRect">
            <a:avLst>
              <a:gd name="adj" fmla="val 2000"/>
            </a:avLst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2100000"/>
            <a:ext cx="10727360" cy="304800"/>
          </a:xfrm>
          <a:prstGeom prst="roundRect">
            <a:avLst>
              <a:gd name="adj" fmla="val 2000"/>
            </a:avLst>
          </a:prstGeom>
          <a:solidFill>
            <a:srgbClr val="141B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344800"/>
            <a:ext cx="10727360" cy="60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3920" y="2100000"/>
            <a:ext cx="1042736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D7DEEA"/>
                </a:solidFill>
                <a:latin typeface="Georgia"/>
              </a:rPr>
              <a:t>Comparison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404800"/>
            <a:ext cx="10727360" cy="3595200"/>
          </a:xfrm>
          <a:prstGeom prst="rect">
            <a:avLst/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2444800"/>
            <a:ext cx="10727360" cy="280000"/>
          </a:xfrm>
          <a:prstGeom prst="rect">
            <a:avLst/>
          </a:prstGeom>
          <a:solidFill>
            <a:srgbClr val="1B24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1520" y="2444800"/>
            <a:ext cx="432736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1" i="0">
                <a:solidFill>
                  <a:srgbClr val="FFFFFF"/>
                </a:solidFill>
                <a:latin typeface="Georgia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58880" y="2444800"/>
            <a:ext cx="32000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1" i="0">
                <a:solidFill>
                  <a:srgbClr val="FFFFFF"/>
                </a:solidFill>
                <a:latin typeface="Georgia"/>
              </a:rPr>
              <a:t>XY Event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8880" y="2444800"/>
            <a:ext cx="32000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1" i="0">
                <a:solidFill>
                  <a:srgbClr val="FFFFFF"/>
                </a:solidFill>
                <a:latin typeface="Georgia"/>
              </a:rPr>
              <a:t>Feature Class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520" y="2724800"/>
            <a:ext cx="432736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>Editable geometry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58880" y="2724800"/>
            <a:ext cx="32000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>No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58880" y="2724800"/>
            <a:ext cx="32000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>Yes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520" y="3004800"/>
            <a:ext cx="432736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>Spatial index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58880" y="3004800"/>
            <a:ext cx="32000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>No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58880" y="3004800"/>
            <a:ext cx="32000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>Yes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1520" y="3284800"/>
            <a:ext cx="432736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>Survives source CSV changing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58880" y="3284800"/>
            <a:ext cx="32000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>No — re-reads live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58880" y="3284800"/>
            <a:ext cx="32000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>Yes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1520" y="3564800"/>
            <a:ext cx="432736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>Shareable as a web layer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58880" y="3564800"/>
            <a:ext cx="32000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>No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58880" y="3564800"/>
            <a:ext cx="32000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>Yes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6ED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092000" y="5758000"/>
            <a:ext cx="2800000" cy="28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92000" y="5058000"/>
            <a:ext cx="4200000" cy="42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92000" y="4358000"/>
            <a:ext cx="5600000" cy="56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92000" y="3658000"/>
            <a:ext cx="7000000" cy="70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00000"/>
            <a:ext cx="10820400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C0512B"/>
                </a:solidFill>
                <a:latin typeface="Consolas"/>
              </a:rPr>
              <a:t>CSV · DISPLAY XY · FEATURE CLASS · FIELDS · CALCULATOR · PRACTICE · FEATURE CLASS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0000"/>
            <a:ext cx="1082040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142F4C"/>
                </a:solidFill>
                <a:latin typeface="Georgia"/>
              </a:rPr>
              <a:t>Summarizing your data</a:t>
            </a:r>
          </a:p>
        </p:txBody>
      </p:sp>
      <p:sp>
        <p:nvSpPr>
          <p:cNvPr id="9" name="Rectangle 8"/>
          <p:cNvSpPr/>
          <p:nvPr/>
        </p:nvSpPr>
        <p:spPr>
          <a:xfrm>
            <a:off x="736600" y="1194800"/>
            <a:ext cx="609600" cy="38100"/>
          </a:xfrm>
          <a:prstGeom prst="rect">
            <a:avLst/>
          </a:prstGeom>
          <a:solidFill>
            <a:srgbClr val="C051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14800"/>
            <a:ext cx="108204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1">
                <a:solidFill>
                  <a:srgbClr val="4A5A6A"/>
                </a:solidFill>
                <a:latin typeface="Georgia"/>
              </a:rPr>
              <a:t>Statistics on a table — no map required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64922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6E6E6E"/>
                </a:solidFill>
                <a:latin typeface="Georgia"/>
              </a:rPr>
              <a:t>ArcGIS | Tabular Data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600" y="6489700"/>
            <a:ext cx="355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 i="0">
                <a:solidFill>
                  <a:srgbClr val="6E6E6E"/>
                </a:solidFill>
                <a:latin typeface="Georgia"/>
              </a:rPr>
              <a:t>16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050000"/>
            <a:ext cx="6172200" cy="4300000"/>
          </a:xfrm>
          <a:prstGeom prst="roundRect">
            <a:avLst>
              <a:gd name="adj" fmla="val 2000"/>
            </a:avLst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2050000"/>
            <a:ext cx="6172200" cy="304800"/>
          </a:xfrm>
          <a:prstGeom prst="roundRect">
            <a:avLst>
              <a:gd name="adj" fmla="val 2000"/>
            </a:avLst>
          </a:prstGeom>
          <a:solidFill>
            <a:srgbClr val="141B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294800"/>
            <a:ext cx="6172200" cy="60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3920" y="2050000"/>
            <a:ext cx="5872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D7DEEA"/>
                </a:solidFill>
                <a:latin typeface="Georgia"/>
              </a:rPr>
              <a:t>Summary Statistics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354800"/>
            <a:ext cx="6172200" cy="3995200"/>
          </a:xfrm>
          <a:prstGeom prst="rect">
            <a:avLst/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484800"/>
            <a:ext cx="589788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 i="0">
                <a:solidFill>
                  <a:srgbClr val="8A94A8"/>
                </a:solidFill>
                <a:latin typeface="Georgia"/>
              </a:rPr>
              <a:t>Input Table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2724800"/>
            <a:ext cx="5897880" cy="280000"/>
          </a:xfrm>
          <a:prstGeom prst="rect">
            <a:avLst/>
          </a:prstGeom>
          <a:solidFill>
            <a:srgbClr val="0B0F1A"/>
          </a:solidFill>
          <a:ln w="9525">
            <a:solidFill>
              <a:srgbClr val="2A344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1520" y="2724800"/>
            <a:ext cx="57722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>Sites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134800"/>
            <a:ext cx="589788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 i="0">
                <a:solidFill>
                  <a:srgbClr val="8A94A8"/>
                </a:solidFill>
                <a:latin typeface="Georgia"/>
              </a:rPr>
              <a:t>Field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" y="3374800"/>
            <a:ext cx="5897880" cy="280000"/>
          </a:xfrm>
          <a:prstGeom prst="rect">
            <a:avLst/>
          </a:prstGeom>
          <a:solidFill>
            <a:srgbClr val="0B0F1A"/>
          </a:solidFill>
          <a:ln w="9525">
            <a:solidFill>
              <a:srgbClr val="2A344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1520" y="3374800"/>
            <a:ext cx="57722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>Visits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3784800"/>
            <a:ext cx="589788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 i="0">
                <a:solidFill>
                  <a:srgbClr val="8A94A8"/>
                </a:solidFill>
                <a:latin typeface="Georgia"/>
              </a:rPr>
              <a:t>Statistic Type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" y="4024800"/>
            <a:ext cx="5897880" cy="280000"/>
          </a:xfrm>
          <a:prstGeom prst="rect">
            <a:avLst/>
          </a:prstGeom>
          <a:solidFill>
            <a:srgbClr val="0B0F1A"/>
          </a:solidFill>
          <a:ln w="9525">
            <a:solidFill>
              <a:srgbClr val="2A344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1520" y="4024800"/>
            <a:ext cx="57722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>Sum, Mean, Count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4434800"/>
            <a:ext cx="589788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 i="0">
                <a:solidFill>
                  <a:srgbClr val="8A94A8"/>
                </a:solidFill>
                <a:latin typeface="Georgia"/>
              </a:rPr>
              <a:t>Case Field (optional)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80" y="4674800"/>
            <a:ext cx="5897880" cy="280000"/>
          </a:xfrm>
          <a:prstGeom prst="rect">
            <a:avLst/>
          </a:prstGeom>
          <a:solidFill>
            <a:srgbClr val="0B0F1A"/>
          </a:solidFill>
          <a:ln w="9525">
            <a:solidFill>
              <a:srgbClr val="2A344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1520" y="4674800"/>
            <a:ext cx="57722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>Category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53720" y="5850000"/>
            <a:ext cx="1300000" cy="350000"/>
          </a:xfrm>
          <a:prstGeom prst="roundRect">
            <a:avLst>
              <a:gd name="adj" fmla="val 10000"/>
            </a:avLst>
          </a:prstGeom>
          <a:solidFill>
            <a:srgbClr val="C051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53720" y="5850000"/>
            <a:ext cx="1300000" cy="3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Georgia"/>
              </a:rPr>
              <a:t>Run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56120" y="2050000"/>
            <a:ext cx="4487672" cy="2127140"/>
          </a:xfrm>
          <a:prstGeom prst="rect">
            <a:avLst/>
          </a:prstGeom>
          <a:solidFill>
            <a:srgbClr val="EFF3F7"/>
          </a:solidFill>
          <a:ln w="12700">
            <a:solidFill>
              <a:srgbClr val="C7D3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056120" y="2050000"/>
            <a:ext cx="4487672" cy="38100"/>
          </a:xfrm>
          <a:prstGeom prst="rect">
            <a:avLst/>
          </a:prstGeom>
          <a:solidFill>
            <a:srgbClr val="C051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056120" y="2088100"/>
            <a:ext cx="137160" cy="9525"/>
          </a:xfrm>
          <a:prstGeom prst="rect">
            <a:avLst/>
          </a:prstGeom>
          <a:solidFill>
            <a:srgbClr val="C051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056120" y="2088100"/>
            <a:ext cx="9525" cy="75438"/>
          </a:xfrm>
          <a:prstGeom prst="rect">
            <a:avLst/>
          </a:prstGeom>
          <a:solidFill>
            <a:srgbClr val="C051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1406632" y="2088100"/>
            <a:ext cx="137160" cy="9525"/>
          </a:xfrm>
          <a:prstGeom prst="rect">
            <a:avLst/>
          </a:prstGeom>
          <a:solidFill>
            <a:srgbClr val="C051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1534267" y="2088100"/>
            <a:ext cx="9525" cy="75438"/>
          </a:xfrm>
          <a:prstGeom prst="rect">
            <a:avLst/>
          </a:prstGeom>
          <a:solidFill>
            <a:srgbClr val="C051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31380" y="2380565"/>
            <a:ext cx="41371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142F4C"/>
                </a:solidFill>
                <a:latin typeface="Georgia"/>
              </a:rPr>
              <a:t>Works on any table, spatial or not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31380" y="2760565"/>
            <a:ext cx="4137152" cy="13165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00" b="0" i="0">
                <a:solidFill>
                  <a:srgbClr val="4A5A6A"/>
                </a:solidFill>
                <a:latin typeface="Georgia"/>
              </a:rPr>
              <a:t>Summary Statistics runs on a standalone table or a feature class's attribute table exactly the same way.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056120" y="4222860"/>
            <a:ext cx="4487672" cy="2127140"/>
          </a:xfrm>
          <a:prstGeom prst="rect">
            <a:avLst/>
          </a:prstGeom>
          <a:solidFill>
            <a:srgbClr val="EFF3F7"/>
          </a:solidFill>
          <a:ln w="12700">
            <a:solidFill>
              <a:srgbClr val="C7D3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056120" y="4222860"/>
            <a:ext cx="4487672" cy="38100"/>
          </a:xfrm>
          <a:prstGeom prst="rect">
            <a:avLst/>
          </a:prstGeom>
          <a:solidFill>
            <a:srgbClr val="C051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056120" y="4260960"/>
            <a:ext cx="137160" cy="9525"/>
          </a:xfrm>
          <a:prstGeom prst="rect">
            <a:avLst/>
          </a:prstGeom>
          <a:solidFill>
            <a:srgbClr val="C051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056120" y="4260960"/>
            <a:ext cx="9525" cy="75438"/>
          </a:xfrm>
          <a:prstGeom prst="rect">
            <a:avLst/>
          </a:prstGeom>
          <a:solidFill>
            <a:srgbClr val="C051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1406632" y="4260960"/>
            <a:ext cx="137160" cy="9525"/>
          </a:xfrm>
          <a:prstGeom prst="rect">
            <a:avLst/>
          </a:prstGeom>
          <a:solidFill>
            <a:srgbClr val="C051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1534267" y="4260960"/>
            <a:ext cx="9525" cy="75438"/>
          </a:xfrm>
          <a:prstGeom prst="rect">
            <a:avLst/>
          </a:prstGeom>
          <a:solidFill>
            <a:srgbClr val="C051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231380" y="4553425"/>
            <a:ext cx="41371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142F4C"/>
                </a:solidFill>
                <a:latin typeface="Georgia"/>
              </a:rPr>
              <a:t>Case Field groups the results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31380" y="4933425"/>
            <a:ext cx="4137152" cy="13165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00" b="0" i="0">
                <a:solidFill>
                  <a:srgbClr val="4A5A6A"/>
                </a:solidFill>
                <a:latin typeface="Georgia"/>
              </a:rPr>
              <a:t>Add a Case Field and you get one row of statistics per category instead of a single overall row.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6ED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092000" y="5758000"/>
            <a:ext cx="2800000" cy="28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92000" y="5058000"/>
            <a:ext cx="4200000" cy="42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92000" y="4358000"/>
            <a:ext cx="5600000" cy="56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92000" y="3658000"/>
            <a:ext cx="7000000" cy="70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00000"/>
            <a:ext cx="10820400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C0512B"/>
                </a:solidFill>
                <a:latin typeface="Consolas"/>
              </a:rPr>
              <a:t>CSV · DISPLAY XY · FEATURE CLASS · FIELDS · CALCULATOR · PRACTICE · FEATURE CLASS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0000"/>
            <a:ext cx="1082040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142F4C"/>
                </a:solidFill>
                <a:latin typeface="Georgia"/>
              </a:rPr>
              <a:t>Exporting back out</a:t>
            </a:r>
          </a:p>
        </p:txBody>
      </p:sp>
      <p:sp>
        <p:nvSpPr>
          <p:cNvPr id="9" name="Rectangle 8"/>
          <p:cNvSpPr/>
          <p:nvPr/>
        </p:nvSpPr>
        <p:spPr>
          <a:xfrm>
            <a:off x="736600" y="1194800"/>
            <a:ext cx="609600" cy="38100"/>
          </a:xfrm>
          <a:prstGeom prst="rect">
            <a:avLst/>
          </a:prstGeom>
          <a:solidFill>
            <a:srgbClr val="C051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14800"/>
            <a:ext cx="108204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1">
                <a:solidFill>
                  <a:srgbClr val="4A5A6A"/>
                </a:solidFill>
                <a:latin typeface="Georgia"/>
              </a:rPr>
              <a:t>Getting a table from ArcGIS Pro into Excel or CSV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64922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6E6E6E"/>
                </a:solidFill>
                <a:latin typeface="Georgia"/>
              </a:rPr>
              <a:t>ArcGIS | Tabular Data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600" y="6489700"/>
            <a:ext cx="355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 i="0">
                <a:solidFill>
                  <a:srgbClr val="6E6E6E"/>
                </a:solidFill>
                <a:latin typeface="Georgia"/>
              </a:rPr>
              <a:t>17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050000"/>
            <a:ext cx="6172200" cy="4300000"/>
          </a:xfrm>
          <a:prstGeom prst="roundRect">
            <a:avLst>
              <a:gd name="adj" fmla="val 2000"/>
            </a:avLst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2050000"/>
            <a:ext cx="6172200" cy="304800"/>
          </a:xfrm>
          <a:prstGeom prst="roundRect">
            <a:avLst>
              <a:gd name="adj" fmla="val 2000"/>
            </a:avLst>
          </a:prstGeom>
          <a:solidFill>
            <a:srgbClr val="141B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294800"/>
            <a:ext cx="6172200" cy="60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3920" y="2050000"/>
            <a:ext cx="5872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D7DEEA"/>
                </a:solidFill>
                <a:latin typeface="Georgia"/>
              </a:rPr>
              <a:t>Table To Excel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354800"/>
            <a:ext cx="6172200" cy="3995200"/>
          </a:xfrm>
          <a:prstGeom prst="rect">
            <a:avLst/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484800"/>
            <a:ext cx="589788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 i="0">
                <a:solidFill>
                  <a:srgbClr val="8A94A8"/>
                </a:solidFill>
                <a:latin typeface="Georgia"/>
              </a:rPr>
              <a:t>Input Table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2724800"/>
            <a:ext cx="5897880" cy="280000"/>
          </a:xfrm>
          <a:prstGeom prst="rect">
            <a:avLst/>
          </a:prstGeom>
          <a:solidFill>
            <a:srgbClr val="0B0F1A"/>
          </a:solidFill>
          <a:ln w="9525">
            <a:solidFill>
              <a:srgbClr val="2A344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1520" y="2724800"/>
            <a:ext cx="57722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>Sites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134800"/>
            <a:ext cx="589788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 i="0">
                <a:solidFill>
                  <a:srgbClr val="8A94A8"/>
                </a:solidFill>
                <a:latin typeface="Georgia"/>
              </a:rPr>
              <a:t>Output Excel File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" y="3374800"/>
            <a:ext cx="5897880" cy="280000"/>
          </a:xfrm>
          <a:prstGeom prst="rect">
            <a:avLst/>
          </a:prstGeom>
          <a:solidFill>
            <a:srgbClr val="0B0F1A"/>
          </a:solidFill>
          <a:ln w="9525">
            <a:solidFill>
              <a:srgbClr val="2A344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1520" y="3374800"/>
            <a:ext cx="57722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>Sites_Export.xlsx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53720" y="5850000"/>
            <a:ext cx="1300000" cy="350000"/>
          </a:xfrm>
          <a:prstGeom prst="roundRect">
            <a:avLst>
              <a:gd name="adj" fmla="val 10000"/>
            </a:avLst>
          </a:prstGeom>
          <a:solidFill>
            <a:srgbClr val="C051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53720" y="5850000"/>
            <a:ext cx="1300000" cy="3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Georgia"/>
              </a:rPr>
              <a:t>Run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56120" y="2050000"/>
            <a:ext cx="4487672" cy="2127140"/>
          </a:xfrm>
          <a:prstGeom prst="rect">
            <a:avLst/>
          </a:prstGeom>
          <a:solidFill>
            <a:srgbClr val="EFF3F7"/>
          </a:solidFill>
          <a:ln w="12700">
            <a:solidFill>
              <a:srgbClr val="C7D3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056120" y="2050000"/>
            <a:ext cx="4487672" cy="38100"/>
          </a:xfrm>
          <a:prstGeom prst="rect">
            <a:avLst/>
          </a:prstGeom>
          <a:solidFill>
            <a:srgbClr val="C051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056120" y="2088100"/>
            <a:ext cx="137160" cy="9525"/>
          </a:xfrm>
          <a:prstGeom prst="rect">
            <a:avLst/>
          </a:prstGeom>
          <a:solidFill>
            <a:srgbClr val="C051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056120" y="2088100"/>
            <a:ext cx="9525" cy="75438"/>
          </a:xfrm>
          <a:prstGeom prst="rect">
            <a:avLst/>
          </a:prstGeom>
          <a:solidFill>
            <a:srgbClr val="C051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406632" y="2088100"/>
            <a:ext cx="137160" cy="9525"/>
          </a:xfrm>
          <a:prstGeom prst="rect">
            <a:avLst/>
          </a:prstGeom>
          <a:solidFill>
            <a:srgbClr val="C051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1534267" y="2088100"/>
            <a:ext cx="9525" cy="75438"/>
          </a:xfrm>
          <a:prstGeom prst="rect">
            <a:avLst/>
          </a:prstGeom>
          <a:solidFill>
            <a:srgbClr val="C051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31380" y="2380565"/>
            <a:ext cx="41371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142F4C"/>
                </a:solidFill>
                <a:latin typeface="Georgia"/>
              </a:rPr>
              <a:t>Table To Excel or Export Table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31380" y="2760565"/>
            <a:ext cx="4137152" cy="13165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00" b="0" i="0">
                <a:solidFill>
                  <a:srgbClr val="4A5A6A"/>
                </a:solidFill>
                <a:latin typeface="Georgia"/>
              </a:rPr>
              <a:t>Both write attribute values out — Table To Excel keeps field names as headers automatically; Export Table can also write a CSV or another table format.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56120" y="4222860"/>
            <a:ext cx="4487672" cy="2127140"/>
          </a:xfrm>
          <a:prstGeom prst="rect">
            <a:avLst/>
          </a:prstGeom>
          <a:solidFill>
            <a:srgbClr val="EFF3F7"/>
          </a:solidFill>
          <a:ln w="12700">
            <a:solidFill>
              <a:srgbClr val="C7D3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056120" y="4222860"/>
            <a:ext cx="4487672" cy="38100"/>
          </a:xfrm>
          <a:prstGeom prst="rect">
            <a:avLst/>
          </a:prstGeom>
          <a:solidFill>
            <a:srgbClr val="C051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056120" y="4260960"/>
            <a:ext cx="137160" cy="9525"/>
          </a:xfrm>
          <a:prstGeom prst="rect">
            <a:avLst/>
          </a:prstGeom>
          <a:solidFill>
            <a:srgbClr val="C051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056120" y="4260960"/>
            <a:ext cx="9525" cy="75438"/>
          </a:xfrm>
          <a:prstGeom prst="rect">
            <a:avLst/>
          </a:prstGeom>
          <a:solidFill>
            <a:srgbClr val="C051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1406632" y="4260960"/>
            <a:ext cx="137160" cy="9525"/>
          </a:xfrm>
          <a:prstGeom prst="rect">
            <a:avLst/>
          </a:prstGeom>
          <a:solidFill>
            <a:srgbClr val="C051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534267" y="4260960"/>
            <a:ext cx="9525" cy="75438"/>
          </a:xfrm>
          <a:prstGeom prst="rect">
            <a:avLst/>
          </a:prstGeom>
          <a:solidFill>
            <a:srgbClr val="C051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231380" y="4553425"/>
            <a:ext cx="41371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142F4C"/>
                </a:solidFill>
                <a:latin typeface="Georgia"/>
              </a:rPr>
              <a:t>Geometry doesn't travel with a plain export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31380" y="4933425"/>
            <a:ext cx="4137152" cy="13165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00" b="0" i="0">
                <a:solidFill>
                  <a:srgbClr val="4A5A6A"/>
                </a:solidFill>
                <a:latin typeface="Georgia"/>
              </a:rPr>
              <a:t>X/Y or shape values aren't included automatically — add them as real fields first if the destination needs coordinates too.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6ED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092000" y="5758000"/>
            <a:ext cx="2800000" cy="28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92000" y="5058000"/>
            <a:ext cx="4200000" cy="42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92000" y="4358000"/>
            <a:ext cx="5600000" cy="56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92000" y="3658000"/>
            <a:ext cx="7000000" cy="70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12800" y="1780000"/>
            <a:ext cx="603504" cy="402336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2800" y="18000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Georgia"/>
              </a:rP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60000" y="1810000"/>
            <a:ext cx="440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1" i="0">
                <a:solidFill>
                  <a:srgbClr val="3D7A5C"/>
                </a:solidFill>
                <a:latin typeface="Consolas"/>
              </a:rPr>
              <a:t>SECTION 04 OF 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800" y="2320000"/>
            <a:ext cx="102000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600" b="1" i="0">
                <a:solidFill>
                  <a:srgbClr val="142F4C"/>
                </a:solidFill>
                <a:latin typeface="Georgia"/>
              </a:rPr>
              <a:t>Field Types &amp; Attributes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2800" y="3160000"/>
            <a:ext cx="900000" cy="38100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2800" y="3350000"/>
            <a:ext cx="970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1">
                <a:solidFill>
                  <a:srgbClr val="4A5A6A"/>
                </a:solidFill>
                <a:latin typeface="Georgia"/>
              </a:rPr>
              <a:t>Choosing the right field type, constraining it with domains, and handling NULLs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600" y="6489700"/>
            <a:ext cx="355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 i="0">
                <a:solidFill>
                  <a:srgbClr val="6E6E6E"/>
                </a:solidFill>
                <a:latin typeface="Georgia"/>
              </a:rPr>
              <a:t>18</a:t>
            </a:r>
          </a:p>
        </p:txBody>
      </p:sp>
      <p:sp>
        <p:nvSpPr>
          <p:cNvPr id="15" name="TextBox 14">
            <a:hlinkClick action="ppaction://hlinksldjump" r:id="rId2"/>
          </p:cNvPr>
          <p:cNvSpPr txBox="1"/>
          <p:nvPr/>
        </p:nvSpPr>
        <p:spPr>
          <a:xfrm>
            <a:off x="1143000" y="6489700"/>
            <a:ext cx="24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1">
                <a:solidFill>
                  <a:srgbClr val="3D7A5C"/>
                </a:solidFill>
                <a:latin typeface="Georgia"/>
              </a:rPr>
              <a:t>◂  Table of Contents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6ED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092000" y="5758000"/>
            <a:ext cx="2800000" cy="28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92000" y="5058000"/>
            <a:ext cx="4200000" cy="42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92000" y="4358000"/>
            <a:ext cx="5600000" cy="56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92000" y="3658000"/>
            <a:ext cx="7000000" cy="70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00000"/>
            <a:ext cx="10820400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3D7A5C"/>
                </a:solidFill>
                <a:latin typeface="Consolas"/>
              </a:rPr>
              <a:t>CSV · DISPLAY XY · FEATURE CLASS · FIELDS · CALCULATOR · PRACTICE · FIELDS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0000"/>
            <a:ext cx="1082040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142F4C"/>
                </a:solidFill>
                <a:latin typeface="Georgia"/>
              </a:rPr>
              <a:t>Two meanings of “type”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736600" y="1194800"/>
            <a:ext cx="609600" cy="38100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14800"/>
            <a:ext cx="108204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1">
                <a:solidFill>
                  <a:srgbClr val="4A5A6A"/>
                </a:solidFill>
                <a:latin typeface="Georgia"/>
              </a:rPr>
              <a:t>Meaning and storage are different questions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64922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6E6E6E"/>
                </a:solidFill>
                <a:latin typeface="Georgia"/>
              </a:rPr>
              <a:t>ArcGIS | Tabular Data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600" y="6489700"/>
            <a:ext cx="355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 i="0">
                <a:solidFill>
                  <a:srgbClr val="6E6E6E"/>
                </a:solidFill>
                <a:latin typeface="Georgia"/>
              </a:rPr>
              <a:t>19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1905000"/>
            <a:ext cx="10727360" cy="1250000"/>
          </a:xfrm>
          <a:prstGeom prst="rect">
            <a:avLst/>
          </a:prstGeom>
          <a:solidFill>
            <a:srgbClr val="EFF3F7"/>
          </a:solidFill>
          <a:ln w="12700">
            <a:solidFill>
              <a:srgbClr val="C7D3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1905000"/>
            <a:ext cx="10727360" cy="38100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1943100"/>
            <a:ext cx="137160" cy="9525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1943100"/>
            <a:ext cx="9525" cy="75438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321720" y="1943100"/>
            <a:ext cx="137160" cy="9525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449355" y="1943100"/>
            <a:ext cx="9525" cy="75438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6780" y="2057400"/>
            <a:ext cx="103997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 i="0">
                <a:solidFill>
                  <a:srgbClr val="142F4C"/>
                </a:solidFill>
                <a:latin typeface="Georgia"/>
              </a:rPr>
              <a:t>Variable type — what it means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6780" y="2407400"/>
            <a:ext cx="10399700" cy="64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00" b="0" i="0">
                <a:solidFill>
                  <a:srgbClr val="4A5A6A"/>
                </a:solidFill>
                <a:latin typeface="Georgia"/>
              </a:rPr>
              <a:t>Is this value categorical (a label, like a borough name) or numerical (a count or measurement)? Within categorical, is there a natural order — nominal vs. ordinal?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200720"/>
            <a:ext cx="10727360" cy="1250000"/>
          </a:xfrm>
          <a:prstGeom prst="rect">
            <a:avLst/>
          </a:prstGeom>
          <a:solidFill>
            <a:srgbClr val="EFF3F7"/>
          </a:solidFill>
          <a:ln w="12700">
            <a:solidFill>
              <a:srgbClr val="C7D3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3200720"/>
            <a:ext cx="10727360" cy="38100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3238820"/>
            <a:ext cx="137160" cy="9525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3238820"/>
            <a:ext cx="9525" cy="75438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321720" y="3238820"/>
            <a:ext cx="137160" cy="9525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449355" y="3238820"/>
            <a:ext cx="9525" cy="75438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6780" y="3353120"/>
            <a:ext cx="103997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 i="0">
                <a:solidFill>
                  <a:srgbClr val="142F4C"/>
                </a:solidFill>
                <a:latin typeface="Georgia"/>
              </a:rPr>
              <a:t>Field type — how it's stored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6780" y="3703120"/>
            <a:ext cx="10399700" cy="64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00" b="0" i="0">
                <a:solidFill>
                  <a:srgbClr val="4A5A6A"/>
                </a:solidFill>
                <a:latin typeface="Georgia"/>
              </a:rPr>
              <a:t>Text, Short/Long Integer, Float/Double, Date — the storage format ArcGIS Pro actually saves in the table, and what it controls: sorting, symbology, and calculations.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556440"/>
            <a:ext cx="10727360" cy="620000"/>
          </a:xfrm>
          <a:prstGeom prst="rect">
            <a:avLst/>
          </a:prstGeom>
          <a:solidFill>
            <a:srgbClr val="EFF3F7"/>
          </a:solidFill>
          <a:ln w="12700">
            <a:solidFill>
              <a:srgbClr val="3D7A5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" y="4556440"/>
            <a:ext cx="38100" cy="620000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6780" y="4556440"/>
            <a:ext cx="10376840" cy="6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 i="0">
                <a:solidFill>
                  <a:srgbClr val="142F4C"/>
                </a:solidFill>
                <a:latin typeface="Georgia"/>
              </a:rPr>
              <a:t>Rule of thumb: decide the meaning first — then pick the field type that supports it.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6ED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092000" y="5758000"/>
            <a:ext cx="2800000" cy="28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92000" y="5058000"/>
            <a:ext cx="4200000" cy="42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92000" y="4358000"/>
            <a:ext cx="5600000" cy="56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92000" y="3658000"/>
            <a:ext cx="7000000" cy="70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00000"/>
            <a:ext cx="10820400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3D7A5C"/>
                </a:solidFill>
                <a:latin typeface="Consolas"/>
              </a:rPr>
              <a:t>CSV · DISPLAY XY · FEATURE CLASS · FIELDS · CALCULATOR · PRACTICE · FIELDS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0000"/>
            <a:ext cx="1082040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142F4C"/>
                </a:solidFill>
                <a:latin typeface="Georgia"/>
              </a:rPr>
              <a:t>Choosing the right field type</a:t>
            </a:r>
          </a:p>
        </p:txBody>
      </p:sp>
      <p:sp>
        <p:nvSpPr>
          <p:cNvPr id="9" name="Rectangle 8"/>
          <p:cNvSpPr/>
          <p:nvPr/>
        </p:nvSpPr>
        <p:spPr>
          <a:xfrm>
            <a:off x="736600" y="1194800"/>
            <a:ext cx="609600" cy="38100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14800"/>
            <a:ext cx="108204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1">
                <a:solidFill>
                  <a:srgbClr val="4A5A6A"/>
                </a:solidFill>
                <a:latin typeface="Georgia"/>
              </a:rPr>
              <a:t>The type determines how a field sorts, displays, and calculates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64922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6E6E6E"/>
                </a:solidFill>
                <a:latin typeface="Georgia"/>
              </a:rPr>
              <a:t>ArcGIS | Tabular Data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600" y="6489700"/>
            <a:ext cx="355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 i="0">
                <a:solidFill>
                  <a:srgbClr val="6E6E6E"/>
                </a:solidFill>
                <a:latin typeface="Georgia"/>
              </a:rPr>
              <a:t>20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1905000"/>
            <a:ext cx="10727360" cy="930000"/>
          </a:xfrm>
          <a:prstGeom prst="rect">
            <a:avLst/>
          </a:prstGeom>
          <a:solidFill>
            <a:srgbClr val="EFF3F7"/>
          </a:solidFill>
          <a:ln w="12700">
            <a:solidFill>
              <a:srgbClr val="C7D3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1905000"/>
            <a:ext cx="10727360" cy="38100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1943100"/>
            <a:ext cx="137160" cy="9525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1943100"/>
            <a:ext cx="9525" cy="75438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321720" y="1943100"/>
            <a:ext cx="137160" cy="9525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449355" y="1943100"/>
            <a:ext cx="9525" cy="75438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06780" y="2109050"/>
            <a:ext cx="560000" cy="560000"/>
          </a:xfrm>
          <a:prstGeom prst="roundRect">
            <a:avLst>
              <a:gd name="adj" fmla="val 20000"/>
            </a:avLst>
          </a:prstGeom>
          <a:solidFill>
            <a:srgbClr val="E6EDF3"/>
          </a:solidFill>
          <a:ln w="12700">
            <a:solidFill>
              <a:srgbClr val="3D7A5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6780" y="2109050"/>
            <a:ext cx="560000" cy="5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3D7A5C"/>
                </a:solidFill>
                <a:latin typeface="Consolas"/>
              </a:rPr>
              <a:t>TXT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3940" y="2057400"/>
            <a:ext cx="97025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 i="0">
                <a:solidFill>
                  <a:srgbClr val="142F4C"/>
                </a:solidFill>
                <a:latin typeface="Georgia"/>
              </a:rPr>
              <a:t>Text (String)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3940" y="2407400"/>
            <a:ext cx="9702540" cy="32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00" b="0" i="0">
                <a:solidFill>
                  <a:srgbClr val="4A5A6A"/>
                </a:solidFill>
                <a:latin typeface="Georgia"/>
              </a:rPr>
              <a:t>Names, codes, categories — anything that isn't itself a number you'd calculate with, like “Category” or “Site ID”.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2880720"/>
            <a:ext cx="10727360" cy="930000"/>
          </a:xfrm>
          <a:prstGeom prst="rect">
            <a:avLst/>
          </a:prstGeom>
          <a:solidFill>
            <a:srgbClr val="EFF3F7"/>
          </a:solidFill>
          <a:ln w="12700">
            <a:solidFill>
              <a:srgbClr val="C7D3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2880720"/>
            <a:ext cx="10727360" cy="38100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2918820"/>
            <a:ext cx="137160" cy="9525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2918820"/>
            <a:ext cx="9525" cy="75438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321720" y="2918820"/>
            <a:ext cx="137160" cy="9525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449355" y="2918820"/>
            <a:ext cx="9525" cy="75438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06780" y="3084770"/>
            <a:ext cx="560000" cy="560000"/>
          </a:xfrm>
          <a:prstGeom prst="roundRect">
            <a:avLst>
              <a:gd name="adj" fmla="val 20000"/>
            </a:avLst>
          </a:prstGeom>
          <a:solidFill>
            <a:srgbClr val="E6EDF3"/>
          </a:solidFill>
          <a:ln w="12700">
            <a:solidFill>
              <a:srgbClr val="3D7A5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6780" y="3084770"/>
            <a:ext cx="560000" cy="5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3D7A5C"/>
                </a:solidFill>
                <a:latin typeface="Consolas"/>
              </a:rPr>
              <a:t>INT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03940" y="3033120"/>
            <a:ext cx="97025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 i="0">
                <a:solidFill>
                  <a:srgbClr val="142F4C"/>
                </a:solidFill>
                <a:latin typeface="Georgia"/>
              </a:rPr>
              <a:t>Short / Long Integer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03940" y="3383120"/>
            <a:ext cx="9702540" cy="32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00" b="0" i="0">
                <a:solidFill>
                  <a:srgbClr val="4A5A6A"/>
                </a:solidFill>
                <a:latin typeface="Georgia"/>
              </a:rPr>
              <a:t>Whole numbers — counts, years, IDs. Use Long Integer for anything that might exceed about 32,000.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3856440"/>
            <a:ext cx="10727360" cy="930000"/>
          </a:xfrm>
          <a:prstGeom prst="rect">
            <a:avLst/>
          </a:prstGeom>
          <a:solidFill>
            <a:srgbClr val="EFF3F7"/>
          </a:solidFill>
          <a:ln w="12700">
            <a:solidFill>
              <a:srgbClr val="C7D3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31520" y="3856440"/>
            <a:ext cx="10727360" cy="38100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31520" y="3894540"/>
            <a:ext cx="137160" cy="9525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1520" y="3894540"/>
            <a:ext cx="9525" cy="75438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1321720" y="3894540"/>
            <a:ext cx="137160" cy="9525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1449355" y="3894540"/>
            <a:ext cx="9525" cy="75438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06780" y="4060490"/>
            <a:ext cx="560000" cy="560000"/>
          </a:xfrm>
          <a:prstGeom prst="roundRect">
            <a:avLst>
              <a:gd name="adj" fmla="val 20000"/>
            </a:avLst>
          </a:prstGeom>
          <a:solidFill>
            <a:srgbClr val="E6EDF3"/>
          </a:solidFill>
          <a:ln w="12700">
            <a:solidFill>
              <a:srgbClr val="3D7A5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6780" y="4060490"/>
            <a:ext cx="560000" cy="5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3D7A5C"/>
                </a:solidFill>
                <a:latin typeface="Consolas"/>
              </a:rPr>
              <a:t>DBL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03940" y="4008840"/>
            <a:ext cx="97025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 i="0">
                <a:solidFill>
                  <a:srgbClr val="142F4C"/>
                </a:solidFill>
                <a:latin typeface="Georgia"/>
              </a:rPr>
              <a:t>Float / Double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03940" y="4358840"/>
            <a:ext cx="9702540" cy="32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00" b="0" i="0">
                <a:solidFill>
                  <a:srgbClr val="4A5A6A"/>
                </a:solidFill>
                <a:latin typeface="Georgia"/>
              </a:rPr>
              <a:t>Decimal numbers — Double gives far more precision and is the safer default for coordinates and measurements.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1520" y="4832160"/>
            <a:ext cx="10727360" cy="930000"/>
          </a:xfrm>
          <a:prstGeom prst="rect">
            <a:avLst/>
          </a:prstGeom>
          <a:solidFill>
            <a:srgbClr val="EFF3F7"/>
          </a:solidFill>
          <a:ln w="12700">
            <a:solidFill>
              <a:srgbClr val="C7D3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31520" y="4832160"/>
            <a:ext cx="10727360" cy="38100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31520" y="4870260"/>
            <a:ext cx="137160" cy="9525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1520" y="4870260"/>
            <a:ext cx="9525" cy="75438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1321720" y="4870260"/>
            <a:ext cx="137160" cy="9525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449355" y="4870260"/>
            <a:ext cx="9525" cy="75438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906780" y="5036210"/>
            <a:ext cx="560000" cy="560000"/>
          </a:xfrm>
          <a:prstGeom prst="roundRect">
            <a:avLst>
              <a:gd name="adj" fmla="val 20000"/>
            </a:avLst>
          </a:prstGeom>
          <a:solidFill>
            <a:srgbClr val="E6EDF3"/>
          </a:solidFill>
          <a:ln w="12700">
            <a:solidFill>
              <a:srgbClr val="3D7A5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06780" y="5036210"/>
            <a:ext cx="560000" cy="5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3D7A5C"/>
                </a:solidFill>
                <a:latin typeface="Consolas"/>
              </a:rPr>
              <a:t>DATE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603940" y="4984560"/>
            <a:ext cx="97025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 i="0">
                <a:solidFill>
                  <a:srgbClr val="142F4C"/>
                </a:solidFill>
                <a:latin typeface="Georgia"/>
              </a:rPr>
              <a:t>Date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603940" y="5334560"/>
            <a:ext cx="9702540" cy="32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00" b="0" i="0">
                <a:solidFill>
                  <a:srgbClr val="4A5A6A"/>
                </a:solidFill>
                <a:latin typeface="Georgia"/>
              </a:rPr>
              <a:t>Calendar dates and times — stored so they sort chronologically and support date-based queries, unlike a text date.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6ED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092000" y="5758000"/>
            <a:ext cx="2800000" cy="28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92000" y="5058000"/>
            <a:ext cx="4200000" cy="42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92000" y="4358000"/>
            <a:ext cx="5600000" cy="56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92000" y="3658000"/>
            <a:ext cx="7000000" cy="70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00000"/>
            <a:ext cx="10820400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3D7A5C"/>
                </a:solidFill>
                <a:latin typeface="Consolas"/>
              </a:rPr>
              <a:t>CSV · DISPLAY XY · FEATURE CLASS · FIELDS · CALCULATOR · PRACTICE · FIELDS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0000"/>
            <a:ext cx="1082040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142F4C"/>
                </a:solidFill>
                <a:latin typeface="Georgia"/>
              </a:rPr>
              <a:t>Precision matters: Float vs Double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36600" y="1194800"/>
            <a:ext cx="609600" cy="38100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14800"/>
            <a:ext cx="108204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1">
                <a:solidFill>
                  <a:srgbClr val="4A5A6A"/>
                </a:solidFill>
                <a:latin typeface="Georgia"/>
              </a:rPr>
              <a:t>The same coordinate, stored two different 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64922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6E6E6E"/>
                </a:solidFill>
                <a:latin typeface="Georgia"/>
              </a:rPr>
              <a:t>ArcGIS | Tabular Data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600" y="6489700"/>
            <a:ext cx="355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 i="0">
                <a:solidFill>
                  <a:srgbClr val="6E6E6E"/>
                </a:solidFill>
                <a:latin typeface="Georgia"/>
              </a:rPr>
              <a:t>21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050000"/>
            <a:ext cx="5200000" cy="1750000"/>
          </a:xfrm>
          <a:prstGeom prst="rect">
            <a:avLst/>
          </a:prstGeom>
          <a:solidFill>
            <a:srgbClr val="EFF3F7"/>
          </a:solidFill>
          <a:ln w="12700">
            <a:solidFill>
              <a:srgbClr val="C7D3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2050000"/>
            <a:ext cx="5200000" cy="38100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6780" y="2225000"/>
            <a:ext cx="485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142F4C"/>
                </a:solidFill>
                <a:latin typeface="Georgia"/>
              </a:rPr>
              <a:t>Double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6780" y="2610000"/>
            <a:ext cx="48500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0F2E4D"/>
                </a:solidFill>
                <a:latin typeface="Consolas"/>
              </a:rPr>
              <a:t>-73.9856643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6780" y="3270000"/>
            <a:ext cx="485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1">
                <a:solidFill>
                  <a:srgbClr val="4A5A6A"/>
                </a:solidFill>
                <a:latin typeface="Georgia"/>
              </a:rPr>
              <a:t>Keeps more digits of precision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58880" y="2050000"/>
            <a:ext cx="5200000" cy="1750000"/>
          </a:xfrm>
          <a:prstGeom prst="rect">
            <a:avLst/>
          </a:prstGeom>
          <a:solidFill>
            <a:srgbClr val="EFF3F7"/>
          </a:solidFill>
          <a:ln w="12700">
            <a:solidFill>
              <a:srgbClr val="C7D3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58880" y="2050000"/>
            <a:ext cx="5200000" cy="38100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4140" y="2225000"/>
            <a:ext cx="485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142F4C"/>
                </a:solidFill>
                <a:latin typeface="Georgia"/>
              </a:rPr>
              <a:t>Float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4140" y="2610000"/>
            <a:ext cx="48500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0F2E4D"/>
                </a:solidFill>
                <a:latin typeface="Consolas"/>
              </a:rPr>
              <a:t>-73.98566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4140" y="3270000"/>
            <a:ext cx="485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1">
                <a:solidFill>
                  <a:srgbClr val="4A5A6A"/>
                </a:solidFill>
                <a:latin typeface="Georgia"/>
              </a:rPr>
              <a:t>Rounds earlier — less precision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100000"/>
            <a:ext cx="10727360" cy="850000"/>
          </a:xfrm>
          <a:prstGeom prst="rect">
            <a:avLst/>
          </a:prstGeom>
          <a:solidFill>
            <a:srgbClr val="EFF3F7"/>
          </a:solidFill>
          <a:ln w="12700">
            <a:solidFill>
              <a:srgbClr val="C7D3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4100000"/>
            <a:ext cx="10727360" cy="38100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4138100"/>
            <a:ext cx="137160" cy="9525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4138100"/>
            <a:ext cx="9525" cy="75438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321720" y="4138100"/>
            <a:ext cx="137160" cy="9525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449355" y="4138100"/>
            <a:ext cx="9525" cy="75438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6780" y="4252400"/>
            <a:ext cx="103997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 i="0">
                <a:solidFill>
                  <a:srgbClr val="142F4C"/>
                </a:solidFill>
                <a:latin typeface="Georgia"/>
              </a:rPr>
              <a:t>Less precision can shift points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6780" y="4602400"/>
            <a:ext cx="10399700" cy="24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00" b="0" i="0">
                <a:solidFill>
                  <a:srgbClr val="4A5A6A"/>
                </a:solidFill>
                <a:latin typeface="Georgia"/>
              </a:rPr>
              <a:t>Rounding a coordinate early can move a point enough to break snapping or matching against other layers.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4995720"/>
            <a:ext cx="10727360" cy="850000"/>
          </a:xfrm>
          <a:prstGeom prst="rect">
            <a:avLst/>
          </a:prstGeom>
          <a:solidFill>
            <a:srgbClr val="EFF3F7"/>
          </a:solidFill>
          <a:ln w="12700">
            <a:solidFill>
              <a:srgbClr val="C7D3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1520" y="4995720"/>
            <a:ext cx="10727360" cy="38100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1520" y="5033820"/>
            <a:ext cx="137160" cy="9525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31520" y="5033820"/>
            <a:ext cx="9525" cy="75438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321720" y="5033820"/>
            <a:ext cx="137160" cy="9525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1449355" y="5033820"/>
            <a:ext cx="9525" cy="75438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6780" y="5148120"/>
            <a:ext cx="103997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 i="0">
                <a:solidFill>
                  <a:srgbClr val="142F4C"/>
                </a:solidFill>
                <a:latin typeface="Georgia"/>
              </a:rPr>
              <a:t>Double is the safer default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6780" y="5498120"/>
            <a:ext cx="10399700" cy="24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00" b="0" i="0">
                <a:solidFill>
                  <a:srgbClr val="4A5A6A"/>
                </a:solidFill>
                <a:latin typeface="Georgia"/>
              </a:rPr>
              <a:t>For coordinates and any measurement where downstream analysis matters, choose Double over Float unless storage size is a hard constraint.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6ED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092000" y="5758000"/>
            <a:ext cx="2800000" cy="28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92000" y="5058000"/>
            <a:ext cx="4200000" cy="42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92000" y="4358000"/>
            <a:ext cx="5600000" cy="56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92000" y="3658000"/>
            <a:ext cx="7000000" cy="70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00000"/>
            <a:ext cx="10820400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3D7A5C"/>
                </a:solidFill>
                <a:latin typeface="Consolas"/>
              </a:rPr>
              <a:t>CSV · DISPLAY XY · FEATURE CLASS · FIELDS · CALCULATOR · PRACTICE · FIELDS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0000"/>
            <a:ext cx="1082040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142F4C"/>
                </a:solidFill>
                <a:latin typeface="Georgia"/>
              </a:rPr>
              <a:t>Type drives symbology</a:t>
            </a:r>
          </a:p>
        </p:txBody>
      </p:sp>
      <p:sp>
        <p:nvSpPr>
          <p:cNvPr id="9" name="Rectangle 8"/>
          <p:cNvSpPr/>
          <p:nvPr/>
        </p:nvSpPr>
        <p:spPr>
          <a:xfrm>
            <a:off x="736600" y="1194800"/>
            <a:ext cx="609600" cy="38100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14800"/>
            <a:ext cx="108204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1">
                <a:solidFill>
                  <a:srgbClr val="4A5A6A"/>
                </a:solidFill>
                <a:latin typeface="Georgia"/>
              </a:rPr>
              <a:t>Categorical values and numeric values ask for different maps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64922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6E6E6E"/>
                </a:solidFill>
                <a:latin typeface="Georgia"/>
              </a:rPr>
              <a:t>ArcGIS | Tabular Data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600" y="6489700"/>
            <a:ext cx="355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 i="0">
                <a:solidFill>
                  <a:srgbClr val="6E6E6E"/>
                </a:solidFill>
                <a:latin typeface="Georgia"/>
              </a:rPr>
              <a:t>22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050000"/>
            <a:ext cx="4700000" cy="1900000"/>
          </a:xfrm>
          <a:prstGeom prst="roundRect">
            <a:avLst>
              <a:gd name="adj" fmla="val 2000"/>
            </a:avLst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06520" y="2090000"/>
            <a:ext cx="0" cy="1820000"/>
          </a:xfrm>
          <a:prstGeom prst="rect">
            <a:avLst/>
          </a:prstGeom>
          <a:noFill/>
          <a:ln w="6350">
            <a:solidFill>
              <a:srgbClr val="2A344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81520" y="2090000"/>
            <a:ext cx="0" cy="1820000"/>
          </a:xfrm>
          <a:prstGeom prst="rect">
            <a:avLst/>
          </a:prstGeom>
          <a:noFill/>
          <a:ln w="6350">
            <a:solidFill>
              <a:srgbClr val="2A344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6520" y="2090000"/>
            <a:ext cx="0" cy="1820000"/>
          </a:xfrm>
          <a:prstGeom prst="rect">
            <a:avLst/>
          </a:prstGeom>
          <a:noFill/>
          <a:ln w="6350">
            <a:solidFill>
              <a:srgbClr val="2A344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1520" y="2683333"/>
            <a:ext cx="4620000" cy="0"/>
          </a:xfrm>
          <a:prstGeom prst="rect">
            <a:avLst/>
          </a:prstGeom>
          <a:noFill/>
          <a:ln w="6350">
            <a:solidFill>
              <a:srgbClr val="2A344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1520" y="3316666"/>
            <a:ext cx="4620000" cy="0"/>
          </a:xfrm>
          <a:prstGeom prst="rect">
            <a:avLst/>
          </a:prstGeom>
          <a:noFill/>
          <a:ln w="6350">
            <a:solidFill>
              <a:srgbClr val="2A344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1520" y="2140000"/>
            <a:ext cx="444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 i="0">
                <a:solidFill>
                  <a:srgbClr val="D7DEEA"/>
                </a:solidFill>
                <a:latin typeface="Consolas"/>
              </a:rPr>
              <a:t>UNIQUE VALUES — BY CATEGORY</a:t>
            </a:r>
          </a:p>
        </p:txBody>
      </p:sp>
      <p:sp>
        <p:nvSpPr>
          <p:cNvPr id="20" name="Oval 19"/>
          <p:cNvSpPr/>
          <p:nvPr/>
        </p:nvSpPr>
        <p:spPr>
          <a:xfrm>
            <a:off x="1376520" y="2655000"/>
            <a:ext cx="120000" cy="120000"/>
          </a:xfrm>
          <a:prstGeom prst="ellipse">
            <a:avLst/>
          </a:prstGeom>
          <a:solidFill>
            <a:srgbClr val="2E86C1"/>
          </a:solidFill>
          <a:ln w="9525">
            <a:solidFill>
              <a:srgbClr val="1016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987520" y="3225000"/>
            <a:ext cx="120000" cy="120000"/>
          </a:xfrm>
          <a:prstGeom prst="ellipse">
            <a:avLst/>
          </a:prstGeom>
          <a:solidFill>
            <a:srgbClr val="E08A2B"/>
          </a:solidFill>
          <a:ln w="9525">
            <a:solidFill>
              <a:srgbClr val="1016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645520" y="2465000"/>
            <a:ext cx="120000" cy="120000"/>
          </a:xfrm>
          <a:prstGeom prst="ellipse">
            <a:avLst/>
          </a:prstGeom>
          <a:solidFill>
            <a:srgbClr val="C0512B"/>
          </a:solidFill>
          <a:ln w="9525">
            <a:solidFill>
              <a:srgbClr val="1016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256520" y="3035000"/>
            <a:ext cx="120000" cy="120000"/>
          </a:xfrm>
          <a:prstGeom prst="ellipse">
            <a:avLst/>
          </a:prstGeom>
          <a:solidFill>
            <a:srgbClr val="3D7A5C"/>
          </a:solidFill>
          <a:ln w="9525">
            <a:solidFill>
              <a:srgbClr val="1016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867520" y="2560000"/>
            <a:ext cx="120000" cy="120000"/>
          </a:xfrm>
          <a:prstGeom prst="ellipse">
            <a:avLst/>
          </a:prstGeom>
          <a:solidFill>
            <a:srgbClr val="6B4C8F"/>
          </a:solidFill>
          <a:ln w="9525">
            <a:solidFill>
              <a:srgbClr val="1016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337520" y="3320000"/>
            <a:ext cx="120000" cy="120000"/>
          </a:xfrm>
          <a:prstGeom prst="ellipse">
            <a:avLst/>
          </a:prstGeom>
          <a:solidFill>
            <a:srgbClr val="2E86C1"/>
          </a:solidFill>
          <a:ln w="9525">
            <a:solidFill>
              <a:srgbClr val="1016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807520" y="2845000"/>
            <a:ext cx="120000" cy="120000"/>
          </a:xfrm>
          <a:prstGeom prst="ellipse">
            <a:avLst/>
          </a:prstGeom>
          <a:solidFill>
            <a:srgbClr val="3D7A5C"/>
          </a:solidFill>
          <a:ln w="9525">
            <a:solidFill>
              <a:srgbClr val="1016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316520" y="3510000"/>
            <a:ext cx="120000" cy="120000"/>
          </a:xfrm>
          <a:prstGeom prst="ellipse">
            <a:avLst/>
          </a:prstGeom>
          <a:solidFill>
            <a:srgbClr val="E08A2B"/>
          </a:solidFill>
          <a:ln w="9525">
            <a:solidFill>
              <a:srgbClr val="1016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31520" y="4170000"/>
            <a:ext cx="4700000" cy="1900000"/>
          </a:xfrm>
          <a:prstGeom prst="roundRect">
            <a:avLst>
              <a:gd name="adj" fmla="val 2000"/>
            </a:avLst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906520" y="4210000"/>
            <a:ext cx="0" cy="1820000"/>
          </a:xfrm>
          <a:prstGeom prst="rect">
            <a:avLst/>
          </a:prstGeom>
          <a:noFill/>
          <a:ln w="6350">
            <a:solidFill>
              <a:srgbClr val="2A344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81520" y="4210000"/>
            <a:ext cx="0" cy="1820000"/>
          </a:xfrm>
          <a:prstGeom prst="rect">
            <a:avLst/>
          </a:prstGeom>
          <a:noFill/>
          <a:ln w="6350">
            <a:solidFill>
              <a:srgbClr val="2A344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56520" y="4210000"/>
            <a:ext cx="0" cy="1820000"/>
          </a:xfrm>
          <a:prstGeom prst="rect">
            <a:avLst/>
          </a:prstGeom>
          <a:noFill/>
          <a:ln w="6350">
            <a:solidFill>
              <a:srgbClr val="2A344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1520" y="4803333"/>
            <a:ext cx="4620000" cy="0"/>
          </a:xfrm>
          <a:prstGeom prst="rect">
            <a:avLst/>
          </a:prstGeom>
          <a:noFill/>
          <a:ln w="6350">
            <a:solidFill>
              <a:srgbClr val="2A344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71520" y="5436666"/>
            <a:ext cx="4620000" cy="0"/>
          </a:xfrm>
          <a:prstGeom prst="rect">
            <a:avLst/>
          </a:prstGeom>
          <a:noFill/>
          <a:ln w="6350">
            <a:solidFill>
              <a:srgbClr val="2A344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1520" y="4260000"/>
            <a:ext cx="444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 i="0">
                <a:solidFill>
                  <a:srgbClr val="D7DEEA"/>
                </a:solidFill>
                <a:latin typeface="Consolas"/>
              </a:rPr>
              <a:t>GRADUATED SIZES — BY COUNT</a:t>
            </a:r>
          </a:p>
        </p:txBody>
      </p:sp>
      <p:sp>
        <p:nvSpPr>
          <p:cNvPr id="35" name="Oval 34"/>
          <p:cNvSpPr/>
          <p:nvPr/>
        </p:nvSpPr>
        <p:spPr>
          <a:xfrm>
            <a:off x="1537520" y="4890000"/>
            <a:ext cx="80000" cy="80000"/>
          </a:xfrm>
          <a:prstGeom prst="ellipse">
            <a:avLst/>
          </a:prstGeom>
          <a:solidFill>
            <a:srgbClr val="3D7A5C"/>
          </a:solidFill>
          <a:ln w="9525">
            <a:solidFill>
              <a:srgbClr val="1016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160520" y="5235000"/>
            <a:ext cx="150000" cy="150000"/>
          </a:xfrm>
          <a:prstGeom prst="ellipse">
            <a:avLst/>
          </a:prstGeom>
          <a:solidFill>
            <a:srgbClr val="3D7A5C"/>
          </a:solidFill>
          <a:ln w="9525">
            <a:solidFill>
              <a:srgbClr val="1016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932520" y="4685000"/>
            <a:ext cx="110000" cy="110000"/>
          </a:xfrm>
          <a:prstGeom prst="ellipse">
            <a:avLst/>
          </a:prstGeom>
          <a:solidFill>
            <a:srgbClr val="3D7A5C"/>
          </a:solidFill>
          <a:ln w="9525">
            <a:solidFill>
              <a:srgbClr val="1016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451520" y="5210000"/>
            <a:ext cx="200000" cy="200000"/>
          </a:xfrm>
          <a:prstGeom prst="ellipse">
            <a:avLst/>
          </a:prstGeom>
          <a:solidFill>
            <a:srgbClr val="3D7A5C"/>
          </a:solidFill>
          <a:ln w="9525">
            <a:solidFill>
              <a:srgbClr val="1016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050520" y="4770000"/>
            <a:ext cx="130000" cy="130000"/>
          </a:xfrm>
          <a:prstGeom prst="ellipse">
            <a:avLst/>
          </a:prstGeom>
          <a:solidFill>
            <a:srgbClr val="3D7A5C"/>
          </a:solidFill>
          <a:ln w="9525">
            <a:solidFill>
              <a:srgbClr val="1016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681520" y="5170000"/>
            <a:ext cx="90000" cy="90000"/>
          </a:xfrm>
          <a:prstGeom prst="ellipse">
            <a:avLst/>
          </a:prstGeom>
          <a:solidFill>
            <a:srgbClr val="3D7A5C"/>
          </a:solidFill>
          <a:ln w="9525">
            <a:solidFill>
              <a:srgbClr val="1016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526520" y="5567000"/>
            <a:ext cx="170000" cy="170000"/>
          </a:xfrm>
          <a:prstGeom prst="ellipse">
            <a:avLst/>
          </a:prstGeom>
          <a:solidFill>
            <a:srgbClr val="3D7A5C"/>
          </a:solidFill>
          <a:ln w="9525">
            <a:solidFill>
              <a:srgbClr val="1016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731520" y="2050000"/>
            <a:ext cx="5727360" cy="1250000"/>
          </a:xfrm>
          <a:prstGeom prst="rect">
            <a:avLst/>
          </a:prstGeom>
          <a:solidFill>
            <a:srgbClr val="EFF3F7"/>
          </a:solidFill>
          <a:ln w="12700">
            <a:solidFill>
              <a:srgbClr val="C7D3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731520" y="2050000"/>
            <a:ext cx="5727360" cy="38100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731520" y="2088100"/>
            <a:ext cx="137160" cy="9525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731520" y="2088100"/>
            <a:ext cx="9525" cy="75438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1321720" y="2088100"/>
            <a:ext cx="137160" cy="9525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1449355" y="2088100"/>
            <a:ext cx="9525" cy="75438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06780" y="2202400"/>
            <a:ext cx="53997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 i="0">
                <a:solidFill>
                  <a:srgbClr val="142F4C"/>
                </a:solidFill>
                <a:latin typeface="Georgia"/>
              </a:rPr>
              <a:t>Categorical → Unique Values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06780" y="2552400"/>
            <a:ext cx="5399700" cy="64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00" b="0" i="0">
                <a:solidFill>
                  <a:srgbClr val="4A5A6A"/>
                </a:solidFill>
                <a:latin typeface="Georgia"/>
              </a:rPr>
              <a:t>Borough, land-use type, neighborhood name — give each distinct value in a Text field its own color or symbol.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731520" y="3345720"/>
            <a:ext cx="5727360" cy="1250000"/>
          </a:xfrm>
          <a:prstGeom prst="rect">
            <a:avLst/>
          </a:prstGeom>
          <a:solidFill>
            <a:srgbClr val="EFF3F7"/>
          </a:solidFill>
          <a:ln w="12700">
            <a:solidFill>
              <a:srgbClr val="C7D3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731520" y="3345720"/>
            <a:ext cx="5727360" cy="38100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731520" y="3383820"/>
            <a:ext cx="137160" cy="9525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731520" y="3383820"/>
            <a:ext cx="9525" cy="75438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1321720" y="3383820"/>
            <a:ext cx="137160" cy="9525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1449355" y="3383820"/>
            <a:ext cx="9525" cy="75438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906780" y="3498120"/>
            <a:ext cx="53997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 i="0">
                <a:solidFill>
                  <a:srgbClr val="142F4C"/>
                </a:solidFill>
                <a:latin typeface="Georgia"/>
              </a:rPr>
              <a:t>Numerical → Graduated colors or sizes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06780" y="3848120"/>
            <a:ext cx="5399700" cy="64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00" b="0" i="0">
                <a:solidFill>
                  <a:srgbClr val="4A5A6A"/>
                </a:solidFill>
                <a:latin typeface="Georgia"/>
              </a:rPr>
              <a:t>Counts and measurements — population, elevation, complaint volume — read best as a color ramp or symbol size tied to the number.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731520" y="4641440"/>
            <a:ext cx="5727360" cy="1250000"/>
          </a:xfrm>
          <a:prstGeom prst="rect">
            <a:avLst/>
          </a:prstGeom>
          <a:solidFill>
            <a:srgbClr val="EFF3F7"/>
          </a:solidFill>
          <a:ln w="12700">
            <a:solidFill>
              <a:srgbClr val="C7D3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31520" y="4641440"/>
            <a:ext cx="5727360" cy="38100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731520" y="4679540"/>
            <a:ext cx="137160" cy="9525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731520" y="4679540"/>
            <a:ext cx="9525" cy="75438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1321720" y="4679540"/>
            <a:ext cx="137160" cy="9525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1449355" y="4679540"/>
            <a:ext cx="9525" cy="75438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906780" y="4793840"/>
            <a:ext cx="53997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 i="0">
                <a:solidFill>
                  <a:srgbClr val="142F4C"/>
                </a:solidFill>
                <a:latin typeface="Georgia"/>
              </a:rPr>
              <a:t>Ordinal sits in between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906780" y="5143840"/>
            <a:ext cx="5399700" cy="64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00" b="0" i="0">
                <a:solidFill>
                  <a:srgbClr val="4A5A6A"/>
                </a:solidFill>
                <a:latin typeface="Georgia"/>
              </a:rPr>
              <a:t>A ranked category like Risk Level (Low → High) can use either approach, but an ordered color ramp usually communicates the ranking better.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6ED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092000" y="5758000"/>
            <a:ext cx="2800000" cy="28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92000" y="5058000"/>
            <a:ext cx="4200000" cy="42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92000" y="4358000"/>
            <a:ext cx="5600000" cy="56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92000" y="3658000"/>
            <a:ext cx="7000000" cy="70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00000"/>
            <a:ext cx="10820400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3D7A5C"/>
                </a:solidFill>
                <a:latin typeface="Consolas"/>
              </a:rPr>
              <a:t>CSV · DISPLAY XY · FEATURE CLASS · FIELDS · CALCULATOR · PRACTICE · FIELDS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0000"/>
            <a:ext cx="1082040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142F4C"/>
                </a:solidFill>
                <a:latin typeface="Georgia"/>
              </a:rPr>
              <a:t>Standalone tables and domains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6600" y="1194800"/>
            <a:ext cx="609600" cy="38100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14800"/>
            <a:ext cx="108204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1">
                <a:solidFill>
                  <a:srgbClr val="4A5A6A"/>
                </a:solidFill>
                <a:latin typeface="Georgia"/>
              </a:rPr>
              <a:t>Not every table needs geometry — and not every field should take just any 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64922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6E6E6E"/>
                </a:solidFill>
                <a:latin typeface="Georgia"/>
              </a:rPr>
              <a:t>ArcGIS | Tabular Data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600" y="6489700"/>
            <a:ext cx="355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 i="0">
                <a:solidFill>
                  <a:srgbClr val="6E6E6E"/>
                </a:solidFill>
                <a:latin typeface="Georgia"/>
              </a:rPr>
              <a:t>23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050000"/>
            <a:ext cx="6172200" cy="4300000"/>
          </a:xfrm>
          <a:prstGeom prst="roundRect">
            <a:avLst>
              <a:gd name="adj" fmla="val 2000"/>
            </a:avLst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2050000"/>
            <a:ext cx="6172200" cy="304800"/>
          </a:xfrm>
          <a:prstGeom prst="roundRect">
            <a:avLst>
              <a:gd name="adj" fmla="val 2000"/>
            </a:avLst>
          </a:prstGeom>
          <a:solidFill>
            <a:srgbClr val="141B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294800"/>
            <a:ext cx="6172200" cy="60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3920" y="2050000"/>
            <a:ext cx="5872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D7DEEA"/>
                </a:solidFill>
                <a:latin typeface="Georgia"/>
              </a:rPr>
              <a:t>Fields: Sites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354800"/>
            <a:ext cx="6172200" cy="3995200"/>
          </a:xfrm>
          <a:prstGeom prst="rect">
            <a:avLst/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484800"/>
            <a:ext cx="589788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 i="0">
                <a:solidFill>
                  <a:srgbClr val="8A94A8"/>
                </a:solidFill>
                <a:latin typeface="Georgia"/>
              </a:rPr>
              <a:t>Field Name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2724800"/>
            <a:ext cx="5897880" cy="280000"/>
          </a:xfrm>
          <a:prstGeom prst="rect">
            <a:avLst/>
          </a:prstGeom>
          <a:solidFill>
            <a:srgbClr val="0B0F1A"/>
          </a:solidFill>
          <a:ln w="9525">
            <a:solidFill>
              <a:srgbClr val="2A344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1520" y="2724800"/>
            <a:ext cx="57722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>Category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134800"/>
            <a:ext cx="589788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 i="0">
                <a:solidFill>
                  <a:srgbClr val="8A94A8"/>
                </a:solidFill>
                <a:latin typeface="Georgia"/>
              </a:rPr>
              <a:t>Domain — allowed values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" y="3374800"/>
            <a:ext cx="5897880" cy="1340000"/>
          </a:xfrm>
          <a:prstGeom prst="rect">
            <a:avLst/>
          </a:prstGeom>
          <a:solidFill>
            <a:srgbClr val="1B243D"/>
          </a:solidFill>
          <a:ln w="9525">
            <a:solidFill>
              <a:srgbClr val="2A344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88680" y="3404800"/>
            <a:ext cx="5857880" cy="320000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3404800"/>
            <a:ext cx="562356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50" b="1" i="0">
                <a:solidFill>
                  <a:srgbClr val="FFFFFF"/>
                </a:solidFill>
                <a:latin typeface="Georgia"/>
              </a:rPr>
              <a:t>Recreation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3724800"/>
            <a:ext cx="562356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50" b="0" i="0">
                <a:solidFill>
                  <a:srgbClr val="A8B4AC"/>
                </a:solidFill>
                <a:latin typeface="Georgia"/>
              </a:rPr>
              <a:t>Utility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044800"/>
            <a:ext cx="562356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50" b="0" i="0">
                <a:solidFill>
                  <a:srgbClr val="A8B4AC"/>
                </a:solidFill>
                <a:latin typeface="Georgia"/>
              </a:rPr>
              <a:t>Storage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364800"/>
            <a:ext cx="562356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50" b="0" i="0">
                <a:solidFill>
                  <a:srgbClr val="A8B4AC"/>
                </a:solidFill>
                <a:latin typeface="Georgia"/>
              </a:rPr>
              <a:t>Restricted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56120" y="2050000"/>
            <a:ext cx="4487672" cy="2127140"/>
          </a:xfrm>
          <a:prstGeom prst="rect">
            <a:avLst/>
          </a:prstGeom>
          <a:solidFill>
            <a:srgbClr val="EFF3F7"/>
          </a:solidFill>
          <a:ln w="12700">
            <a:solidFill>
              <a:srgbClr val="C7D3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056120" y="2050000"/>
            <a:ext cx="4487672" cy="38100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056120" y="2088100"/>
            <a:ext cx="137160" cy="9525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056120" y="2088100"/>
            <a:ext cx="9525" cy="75438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406632" y="2088100"/>
            <a:ext cx="137160" cy="9525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534267" y="2088100"/>
            <a:ext cx="9525" cy="75438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31380" y="2380565"/>
            <a:ext cx="41371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142F4C"/>
                </a:solidFill>
                <a:latin typeface="Georgia"/>
              </a:rPr>
              <a:t>Standalone tables need no geometry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31380" y="2760565"/>
            <a:ext cx="4137152" cy="13165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00" b="0" i="0">
                <a:solidFill>
                  <a:srgbClr val="4A5A6A"/>
                </a:solidFill>
                <a:latin typeface="Georgia"/>
              </a:rPr>
              <a:t>A CSV of site codes, a lookup list, an inspection log — import it as a standalone table in the Catalog pane and it still gets real field types.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056120" y="4222860"/>
            <a:ext cx="4487672" cy="2127140"/>
          </a:xfrm>
          <a:prstGeom prst="rect">
            <a:avLst/>
          </a:prstGeom>
          <a:solidFill>
            <a:srgbClr val="EFF3F7"/>
          </a:solidFill>
          <a:ln w="12700">
            <a:solidFill>
              <a:srgbClr val="C7D3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056120" y="4222860"/>
            <a:ext cx="4487672" cy="38100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056120" y="4260960"/>
            <a:ext cx="137160" cy="9525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056120" y="4260960"/>
            <a:ext cx="9525" cy="75438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1406632" y="4260960"/>
            <a:ext cx="137160" cy="9525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1534267" y="4260960"/>
            <a:ext cx="9525" cy="75438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231380" y="4553425"/>
            <a:ext cx="41371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142F4C"/>
                </a:solidFill>
                <a:latin typeface="Georgia"/>
              </a:rPr>
              <a:t>Domains constrain what a field accepts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31380" y="4933425"/>
            <a:ext cx="4137152" cy="13165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00" b="0" i="0">
                <a:solidFill>
                  <a:srgbClr val="4A5A6A"/>
                </a:solidFill>
                <a:latin typeface="Georgia"/>
              </a:rPr>
              <a:t>Attach a coded-value domain and the field only takes values from an approved list — no more “Recreaton” typos breaking your symbology.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6ED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092000" y="5758000"/>
            <a:ext cx="2800000" cy="28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92000" y="5058000"/>
            <a:ext cx="4200000" cy="42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92000" y="4358000"/>
            <a:ext cx="5600000" cy="56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92000" y="3658000"/>
            <a:ext cx="7000000" cy="70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00000"/>
            <a:ext cx="10820400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3D7A5C"/>
                </a:solidFill>
                <a:latin typeface="Consolas"/>
              </a:rPr>
              <a:t>CSV · DISPLAY XY · FEATURE CLASS · FIELDS · CALCULATOR · PRACTICE · FIELDS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0000"/>
            <a:ext cx="1082040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142F4C"/>
                </a:solidFill>
                <a:latin typeface="Georgia"/>
              </a:rPr>
              <a:t>Adding a field</a:t>
            </a:r>
          </a:p>
        </p:txBody>
      </p:sp>
      <p:sp>
        <p:nvSpPr>
          <p:cNvPr id="9" name="Rectangle 8"/>
          <p:cNvSpPr/>
          <p:nvPr/>
        </p:nvSpPr>
        <p:spPr>
          <a:xfrm>
            <a:off x="736600" y="1194800"/>
            <a:ext cx="609600" cy="38100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14800"/>
            <a:ext cx="108204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1">
                <a:solidFill>
                  <a:srgbClr val="4A5A6A"/>
                </a:solidFill>
                <a:latin typeface="Georgia"/>
              </a:rPr>
              <a:t>Attribute table › Add Field, or the Fields view for more 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64922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6E6E6E"/>
                </a:solidFill>
                <a:latin typeface="Georgia"/>
              </a:rPr>
              <a:t>ArcGIS | Tabular Data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600" y="6489700"/>
            <a:ext cx="355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 i="0">
                <a:solidFill>
                  <a:srgbClr val="6E6E6E"/>
                </a:solidFill>
                <a:latin typeface="Georgia"/>
              </a:rPr>
              <a:t>24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050000"/>
            <a:ext cx="6172200" cy="4300000"/>
          </a:xfrm>
          <a:prstGeom prst="roundRect">
            <a:avLst>
              <a:gd name="adj" fmla="val 2000"/>
            </a:avLst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2050000"/>
            <a:ext cx="6172200" cy="304800"/>
          </a:xfrm>
          <a:prstGeom prst="roundRect">
            <a:avLst>
              <a:gd name="adj" fmla="val 2000"/>
            </a:avLst>
          </a:prstGeom>
          <a:solidFill>
            <a:srgbClr val="141B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294800"/>
            <a:ext cx="6172200" cy="60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3920" y="2050000"/>
            <a:ext cx="5872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D7DEEA"/>
                </a:solidFill>
                <a:latin typeface="Georgia"/>
              </a:rPr>
              <a:t>Fields: Sites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354800"/>
            <a:ext cx="6172200" cy="3995200"/>
          </a:xfrm>
          <a:prstGeom prst="rect">
            <a:avLst/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2384800"/>
            <a:ext cx="6172200" cy="280000"/>
          </a:xfrm>
          <a:prstGeom prst="rect">
            <a:avLst/>
          </a:prstGeom>
          <a:solidFill>
            <a:srgbClr val="1B24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1520" y="2384800"/>
            <a:ext cx="22000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1" i="0">
                <a:solidFill>
                  <a:srgbClr val="FFFFFF"/>
                </a:solidFill>
                <a:latin typeface="Georgia"/>
              </a:rPr>
              <a:t>Field Name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31520" y="2384800"/>
            <a:ext cx="20000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1" i="0">
                <a:solidFill>
                  <a:srgbClr val="FFFFFF"/>
                </a:solidFill>
                <a:latin typeface="Georgia"/>
              </a:rPr>
              <a:t>Data Type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31520" y="2384800"/>
            <a:ext cx="19722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1" i="0">
                <a:solidFill>
                  <a:srgbClr val="FFFFFF"/>
                </a:solidFill>
                <a:latin typeface="Georgia"/>
              </a:rPr>
              <a:t>Alias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520" y="2664800"/>
            <a:ext cx="22000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>Site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31520" y="2664800"/>
            <a:ext cx="20000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>Text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31520" y="2664800"/>
            <a:ext cx="19722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>Site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520" y="2944800"/>
            <a:ext cx="22000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>Latitude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31520" y="2944800"/>
            <a:ext cx="20000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>Double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31520" y="2944800"/>
            <a:ext cx="19722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>Latitude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1520" y="3224800"/>
            <a:ext cx="22000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>Longitude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31520" y="3224800"/>
            <a:ext cx="20000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>Double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31520" y="3224800"/>
            <a:ext cx="19722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>Longitude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1520" y="3504800"/>
            <a:ext cx="22000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>Category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31520" y="3504800"/>
            <a:ext cx="20000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>Text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31520" y="3504800"/>
            <a:ext cx="19722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>Category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3784800"/>
            <a:ext cx="6172200" cy="280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1520" y="3784800"/>
            <a:ext cx="22000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>SiteCode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31520" y="3784800"/>
            <a:ext cx="20000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>Long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31520" y="3784800"/>
            <a:ext cx="19722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>Site Code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56120" y="2050000"/>
            <a:ext cx="4487672" cy="2127140"/>
          </a:xfrm>
          <a:prstGeom prst="rect">
            <a:avLst/>
          </a:prstGeom>
          <a:solidFill>
            <a:srgbClr val="EFF3F7"/>
          </a:solidFill>
          <a:ln w="12700">
            <a:solidFill>
              <a:srgbClr val="C7D3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056120" y="2050000"/>
            <a:ext cx="4487672" cy="38100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056120" y="2088100"/>
            <a:ext cx="137160" cy="9525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056120" y="2088100"/>
            <a:ext cx="9525" cy="75438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1406632" y="2088100"/>
            <a:ext cx="137160" cy="9525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534267" y="2088100"/>
            <a:ext cx="9525" cy="75438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31380" y="2380565"/>
            <a:ext cx="41371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142F4C"/>
                </a:solidFill>
                <a:latin typeface="Georgia"/>
              </a:rPr>
              <a:t>Two ways 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31380" y="2760565"/>
            <a:ext cx="4137152" cy="13165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00" b="0" i="0">
                <a:solidFill>
                  <a:srgbClr val="4A5A6A"/>
                </a:solidFill>
                <a:latin typeface="Georgia"/>
              </a:rPr>
              <a:t>The attribute table's ⋯ menu → Add Field, or open the Fields view for full control over name, type, and alias.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056120" y="4222860"/>
            <a:ext cx="4487672" cy="2127140"/>
          </a:xfrm>
          <a:prstGeom prst="rect">
            <a:avLst/>
          </a:prstGeom>
          <a:solidFill>
            <a:srgbClr val="EFF3F7"/>
          </a:solidFill>
          <a:ln w="12700">
            <a:solidFill>
              <a:srgbClr val="C7D3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056120" y="4222860"/>
            <a:ext cx="4487672" cy="38100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056120" y="4260960"/>
            <a:ext cx="137160" cy="9525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056120" y="4260960"/>
            <a:ext cx="9525" cy="75438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406632" y="4260960"/>
            <a:ext cx="137160" cy="9525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1534267" y="4260960"/>
            <a:ext cx="9525" cy="75438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231380" y="4553425"/>
            <a:ext cx="41371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142F4C"/>
                </a:solidFill>
                <a:latin typeface="Georgia"/>
              </a:rPr>
              <a:t>Set it before you calculate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31380" y="4933425"/>
            <a:ext cx="4137152" cy="13165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00" b="0" i="0">
                <a:solidFill>
                  <a:srgbClr val="4A5A6A"/>
                </a:solidFill>
                <a:latin typeface="Georgia"/>
              </a:rPr>
              <a:t>The Field Calculator writes into a field that already exists — create it, with the right type, first.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6ED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092000" y="5758000"/>
            <a:ext cx="2800000" cy="28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92000" y="5058000"/>
            <a:ext cx="4200000" cy="42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92000" y="4358000"/>
            <a:ext cx="5600000" cy="56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92000" y="3658000"/>
            <a:ext cx="7000000" cy="70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00000"/>
            <a:ext cx="10820400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3D7A5C"/>
                </a:solidFill>
                <a:latin typeface="Consolas"/>
              </a:rPr>
              <a:t>CSV · DISPLAY XY · FEATURE CLASS · FIELDS · CALCULATOR · PRACTICE · FIELDS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0000"/>
            <a:ext cx="1082040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142F4C"/>
                </a:solidFill>
                <a:latin typeface="Georgia"/>
              </a:rPr>
              <a:t>NULLs, defaults, and blanks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6600" y="1194800"/>
            <a:ext cx="609600" cy="38100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14800"/>
            <a:ext cx="108204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1">
                <a:solidFill>
                  <a:srgbClr val="4A5A6A"/>
                </a:solidFill>
                <a:latin typeface="Georgia"/>
              </a:rPr>
              <a:t>Missing data behaves differently depending on how it's missing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64922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6E6E6E"/>
                </a:solidFill>
                <a:latin typeface="Georgia"/>
              </a:rPr>
              <a:t>ArcGIS | Tabular Data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600" y="6489700"/>
            <a:ext cx="355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 i="0">
                <a:solidFill>
                  <a:srgbClr val="6E6E6E"/>
                </a:solidFill>
                <a:latin typeface="Georgia"/>
              </a:rPr>
              <a:t>25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1905000"/>
            <a:ext cx="10727360" cy="1040710"/>
          </a:xfrm>
          <a:prstGeom prst="rect">
            <a:avLst/>
          </a:prstGeom>
          <a:solidFill>
            <a:srgbClr val="EFF3F7"/>
          </a:solidFill>
          <a:ln w="12700">
            <a:solidFill>
              <a:srgbClr val="C7D3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1905000"/>
            <a:ext cx="10727360" cy="38100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1943100"/>
            <a:ext cx="137160" cy="9525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1943100"/>
            <a:ext cx="9525" cy="75438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321720" y="1943100"/>
            <a:ext cx="137160" cy="9525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449355" y="1943100"/>
            <a:ext cx="9525" cy="75438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6780" y="2057400"/>
            <a:ext cx="103997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 i="0">
                <a:solidFill>
                  <a:srgbClr val="142F4C"/>
                </a:solidFill>
                <a:latin typeface="Georgia"/>
              </a:rPr>
              <a:t>NULL means unknown, not zero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6780" y="2407400"/>
            <a:ext cx="10399700" cy="4383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00" b="0" i="0">
                <a:solidFill>
                  <a:srgbClr val="4A5A6A"/>
                </a:solidFill>
                <a:latin typeface="Georgia"/>
              </a:rPr>
              <a:t>A NULL population isn't the same as a population of 0 — averages, sums, and symbology should treat them differently, and mixing the two silently skews results.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2991430"/>
            <a:ext cx="10727360" cy="1040710"/>
          </a:xfrm>
          <a:prstGeom prst="rect">
            <a:avLst/>
          </a:prstGeom>
          <a:solidFill>
            <a:srgbClr val="EFF3F7"/>
          </a:solidFill>
          <a:ln w="12700">
            <a:solidFill>
              <a:srgbClr val="C7D3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2991430"/>
            <a:ext cx="10727360" cy="38100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3029530"/>
            <a:ext cx="137160" cy="9525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3029530"/>
            <a:ext cx="9525" cy="75438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321720" y="3029530"/>
            <a:ext cx="137160" cy="9525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449355" y="3029530"/>
            <a:ext cx="9525" cy="75438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6780" y="3143830"/>
            <a:ext cx="103997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 i="0">
                <a:solidFill>
                  <a:srgbClr val="142F4C"/>
                </a:solidFill>
                <a:latin typeface="Georgia"/>
              </a:rPr>
              <a:t>Text fields can default to an empty string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6780" y="3493830"/>
            <a:ext cx="10399700" cy="4383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00" b="0" i="0">
                <a:solidFill>
                  <a:srgbClr val="4A5A6A"/>
                </a:solidFill>
                <a:latin typeface="Georgia"/>
              </a:rPr>
              <a:t>An empty string ("") and a NULL text value can behave differently in queries and calculations — check which one a new record actually gets.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077860"/>
            <a:ext cx="10727360" cy="1040710"/>
          </a:xfrm>
          <a:prstGeom prst="rect">
            <a:avLst/>
          </a:prstGeom>
          <a:solidFill>
            <a:srgbClr val="EFF3F7"/>
          </a:solidFill>
          <a:ln w="12700">
            <a:solidFill>
              <a:srgbClr val="C7D3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" y="4077860"/>
            <a:ext cx="10727360" cy="38100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1520" y="4115960"/>
            <a:ext cx="137160" cy="9525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1520" y="4115960"/>
            <a:ext cx="9525" cy="75438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321720" y="4115960"/>
            <a:ext cx="137160" cy="9525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449355" y="4115960"/>
            <a:ext cx="9525" cy="75438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6780" y="4230260"/>
            <a:ext cx="103997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 i="0">
                <a:solidFill>
                  <a:srgbClr val="142F4C"/>
                </a:solidFill>
                <a:latin typeface="Georgia"/>
              </a:rPr>
              <a:t>Set a default value on the field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6780" y="4580260"/>
            <a:ext cx="10399700" cy="4383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00" b="0" i="0">
                <a:solidFill>
                  <a:srgbClr val="4A5A6A"/>
                </a:solidFill>
                <a:latin typeface="Georgia"/>
              </a:rPr>
              <a:t>Field properties let you set a default so new rows start with a sensible value instead of a wide-open blank.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6ED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092000" y="5758000"/>
            <a:ext cx="2800000" cy="28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92000" y="5058000"/>
            <a:ext cx="4200000" cy="42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92000" y="4358000"/>
            <a:ext cx="5600000" cy="56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92000" y="3658000"/>
            <a:ext cx="7000000" cy="70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B4C8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12800" y="1780000"/>
            <a:ext cx="603504" cy="402336"/>
          </a:xfrm>
          <a:prstGeom prst="rect">
            <a:avLst/>
          </a:prstGeom>
          <a:solidFill>
            <a:srgbClr val="6B4C8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2800" y="18000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Georgia"/>
              </a:rPr>
              <a:t>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60000" y="1810000"/>
            <a:ext cx="440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1" i="0">
                <a:solidFill>
                  <a:srgbClr val="6B4C8F"/>
                </a:solidFill>
                <a:latin typeface="Consolas"/>
              </a:rPr>
              <a:t>SECTION 05 OF 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800" y="2320000"/>
            <a:ext cx="102000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600" b="1" i="0">
                <a:solidFill>
                  <a:srgbClr val="142F4C"/>
                </a:solidFill>
                <a:latin typeface="Georgia"/>
              </a:rPr>
              <a:t>The Field Calculator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2800" y="3160000"/>
            <a:ext cx="900000" cy="38100"/>
          </a:xfrm>
          <a:prstGeom prst="rect">
            <a:avLst/>
          </a:prstGeom>
          <a:solidFill>
            <a:srgbClr val="6B4C8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2800" y="3350000"/>
            <a:ext cx="970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1">
                <a:solidFill>
                  <a:srgbClr val="4A5A6A"/>
                </a:solidFill>
                <a:latin typeface="Georgia"/>
              </a:rPr>
              <a:t>Populating a field for every row at once with an expression instead of typing by hand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600" y="6489700"/>
            <a:ext cx="355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 i="0">
                <a:solidFill>
                  <a:srgbClr val="6E6E6E"/>
                </a:solidFill>
                <a:latin typeface="Georgia"/>
              </a:rPr>
              <a:t>26</a:t>
            </a:r>
          </a:p>
        </p:txBody>
      </p:sp>
      <p:sp>
        <p:nvSpPr>
          <p:cNvPr id="15" name="TextBox 14">
            <a:hlinkClick action="ppaction://hlinksldjump" r:id="rId2"/>
          </p:cNvPr>
          <p:cNvSpPr txBox="1"/>
          <p:nvPr/>
        </p:nvSpPr>
        <p:spPr>
          <a:xfrm>
            <a:off x="1143000" y="6489700"/>
            <a:ext cx="24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1">
                <a:solidFill>
                  <a:srgbClr val="6B4C8F"/>
                </a:solidFill>
                <a:latin typeface="Georgia"/>
              </a:rPr>
              <a:t>◂  Table of Contents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6ED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092000" y="5758000"/>
            <a:ext cx="2800000" cy="28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92000" y="5058000"/>
            <a:ext cx="4200000" cy="42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92000" y="4358000"/>
            <a:ext cx="5600000" cy="56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92000" y="3658000"/>
            <a:ext cx="7000000" cy="70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00000"/>
            <a:ext cx="10820400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6B4C8F"/>
                </a:solidFill>
                <a:latin typeface="Consolas"/>
              </a:rPr>
              <a:t>CSV · DISPLAY XY · FEATURE CLASS · FIELDS · CALCULATOR · PRACTICE · CALCULATOR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0000"/>
            <a:ext cx="1082040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142F4C"/>
                </a:solidFill>
                <a:latin typeface="Georgia"/>
              </a:rPr>
              <a:t>The Field Calculator</a:t>
            </a:r>
          </a:p>
        </p:txBody>
      </p:sp>
      <p:sp>
        <p:nvSpPr>
          <p:cNvPr id="9" name="Rectangle 8"/>
          <p:cNvSpPr/>
          <p:nvPr/>
        </p:nvSpPr>
        <p:spPr>
          <a:xfrm>
            <a:off x="736600" y="1194800"/>
            <a:ext cx="609600" cy="38100"/>
          </a:xfrm>
          <a:prstGeom prst="rect">
            <a:avLst/>
          </a:prstGeom>
          <a:solidFill>
            <a:srgbClr val="6B4C8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14800"/>
            <a:ext cx="108204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1">
                <a:solidFill>
                  <a:srgbClr val="4A5A6A"/>
                </a:solidFill>
                <a:latin typeface="Georgia"/>
              </a:rPr>
              <a:t>One expression, applied to every row at once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64922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6E6E6E"/>
                </a:solidFill>
                <a:latin typeface="Georgia"/>
              </a:rPr>
              <a:t>ArcGIS | Tabular Data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600" y="6489700"/>
            <a:ext cx="355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 i="0">
                <a:solidFill>
                  <a:srgbClr val="6E6E6E"/>
                </a:solidFill>
                <a:latin typeface="Georgia"/>
              </a:rPr>
              <a:t>27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050000"/>
            <a:ext cx="6172200" cy="4300000"/>
          </a:xfrm>
          <a:prstGeom prst="roundRect">
            <a:avLst>
              <a:gd name="adj" fmla="val 2000"/>
            </a:avLst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2050000"/>
            <a:ext cx="6172200" cy="304800"/>
          </a:xfrm>
          <a:prstGeom prst="roundRect">
            <a:avLst>
              <a:gd name="adj" fmla="val 2000"/>
            </a:avLst>
          </a:prstGeom>
          <a:solidFill>
            <a:srgbClr val="141B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294800"/>
            <a:ext cx="6172200" cy="60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3920" y="2050000"/>
            <a:ext cx="5872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D7DEEA"/>
                </a:solidFill>
                <a:latin typeface="Georgia"/>
              </a:rPr>
              <a:t>Calculate Field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354800"/>
            <a:ext cx="6172200" cy="3995200"/>
          </a:xfrm>
          <a:prstGeom prst="rect">
            <a:avLst/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484800"/>
            <a:ext cx="589788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 i="0">
                <a:solidFill>
                  <a:srgbClr val="8A94A8"/>
                </a:solidFill>
                <a:latin typeface="Georgia"/>
              </a:rPr>
              <a:t>Field Name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2724800"/>
            <a:ext cx="5897880" cy="280000"/>
          </a:xfrm>
          <a:prstGeom prst="rect">
            <a:avLst/>
          </a:prstGeom>
          <a:solidFill>
            <a:srgbClr val="0B0F1A"/>
          </a:solidFill>
          <a:ln w="9525">
            <a:solidFill>
              <a:srgbClr val="2A344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1520" y="2724800"/>
            <a:ext cx="57722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>PopDensity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134800"/>
            <a:ext cx="589788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 i="0">
                <a:solidFill>
                  <a:srgbClr val="8A94A8"/>
                </a:solidFill>
                <a:latin typeface="Georgia"/>
              </a:rPr>
              <a:t>Expression Type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" y="3374800"/>
            <a:ext cx="5897880" cy="280000"/>
          </a:xfrm>
          <a:prstGeom prst="rect">
            <a:avLst/>
          </a:prstGeom>
          <a:solidFill>
            <a:srgbClr val="0B0F1A"/>
          </a:solidFill>
          <a:ln w="9525">
            <a:solidFill>
              <a:srgbClr val="2A344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1520" y="3374800"/>
            <a:ext cx="57722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>Python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3784800"/>
            <a:ext cx="589788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 i="0">
                <a:solidFill>
                  <a:srgbClr val="8A94A8"/>
                </a:solidFill>
                <a:latin typeface="Georgia"/>
              </a:rPr>
              <a:t>Expression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024800"/>
            <a:ext cx="589788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 i="0">
                <a:solidFill>
                  <a:srgbClr val="8A94A8"/>
                </a:solidFill>
                <a:latin typeface="Georgia"/>
              </a:rPr>
              <a:t/>
            </a:r>
          </a:p>
        </p:txBody>
      </p:sp>
      <p:sp>
        <p:nvSpPr>
          <p:cNvPr id="26" name="Rectangle 25"/>
          <p:cNvSpPr/>
          <p:nvPr/>
        </p:nvSpPr>
        <p:spPr>
          <a:xfrm>
            <a:off x="868680" y="4264800"/>
            <a:ext cx="5897880" cy="280000"/>
          </a:xfrm>
          <a:prstGeom prst="rect">
            <a:avLst/>
          </a:prstGeom>
          <a:solidFill>
            <a:srgbClr val="0B0F1A"/>
          </a:solidFill>
          <a:ln w="9525">
            <a:solidFill>
              <a:srgbClr val="2A344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1520" y="4264800"/>
            <a:ext cx="57722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>!Population! / !AreaSqMi!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53720" y="5850000"/>
            <a:ext cx="1300000" cy="350000"/>
          </a:xfrm>
          <a:prstGeom prst="roundRect">
            <a:avLst>
              <a:gd name="adj" fmla="val 10000"/>
            </a:avLst>
          </a:prstGeom>
          <a:solidFill>
            <a:srgbClr val="6B4C8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53720" y="5850000"/>
            <a:ext cx="1300000" cy="3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Georgia"/>
              </a:rPr>
              <a:t>OK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56120" y="2050000"/>
            <a:ext cx="4487672" cy="2127140"/>
          </a:xfrm>
          <a:prstGeom prst="rect">
            <a:avLst/>
          </a:prstGeom>
          <a:solidFill>
            <a:srgbClr val="EFF3F7"/>
          </a:solidFill>
          <a:ln w="12700">
            <a:solidFill>
              <a:srgbClr val="C7D3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056120" y="2050000"/>
            <a:ext cx="4487672" cy="38100"/>
          </a:xfrm>
          <a:prstGeom prst="rect">
            <a:avLst/>
          </a:prstGeom>
          <a:solidFill>
            <a:srgbClr val="6B4C8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056120" y="2088100"/>
            <a:ext cx="137160" cy="9525"/>
          </a:xfrm>
          <a:prstGeom prst="rect">
            <a:avLst/>
          </a:prstGeom>
          <a:solidFill>
            <a:srgbClr val="6B4C8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056120" y="2088100"/>
            <a:ext cx="9525" cy="75438"/>
          </a:xfrm>
          <a:prstGeom prst="rect">
            <a:avLst/>
          </a:prstGeom>
          <a:solidFill>
            <a:srgbClr val="6B4C8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406632" y="2088100"/>
            <a:ext cx="137160" cy="9525"/>
          </a:xfrm>
          <a:prstGeom prst="rect">
            <a:avLst/>
          </a:prstGeom>
          <a:solidFill>
            <a:srgbClr val="6B4C8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534267" y="2088100"/>
            <a:ext cx="9525" cy="75438"/>
          </a:xfrm>
          <a:prstGeom prst="rect">
            <a:avLst/>
          </a:prstGeom>
          <a:solidFill>
            <a:srgbClr val="6B4C8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31380" y="2380565"/>
            <a:ext cx="41371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142F4C"/>
                </a:solidFill>
                <a:latin typeface="Georgia"/>
              </a:rPr>
              <a:t>Opens from the attribute table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31380" y="2760565"/>
            <a:ext cx="4137152" cy="13165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00" b="0" i="0">
                <a:solidFill>
                  <a:srgbClr val="4A5A6A"/>
                </a:solidFill>
                <a:latin typeface="Georgia"/>
              </a:rPr>
              <a:t>Right-click a field's column header → Calculate Field — or use the geoprocessing tool of the same name.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56120" y="4222860"/>
            <a:ext cx="4487672" cy="2127140"/>
          </a:xfrm>
          <a:prstGeom prst="rect">
            <a:avLst/>
          </a:prstGeom>
          <a:solidFill>
            <a:srgbClr val="EFF3F7"/>
          </a:solidFill>
          <a:ln w="12700">
            <a:solidFill>
              <a:srgbClr val="C7D3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056120" y="4222860"/>
            <a:ext cx="4487672" cy="38100"/>
          </a:xfrm>
          <a:prstGeom prst="rect">
            <a:avLst/>
          </a:prstGeom>
          <a:solidFill>
            <a:srgbClr val="6B4C8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056120" y="4260960"/>
            <a:ext cx="137160" cy="9525"/>
          </a:xfrm>
          <a:prstGeom prst="rect">
            <a:avLst/>
          </a:prstGeom>
          <a:solidFill>
            <a:srgbClr val="6B4C8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056120" y="4260960"/>
            <a:ext cx="9525" cy="75438"/>
          </a:xfrm>
          <a:prstGeom prst="rect">
            <a:avLst/>
          </a:prstGeom>
          <a:solidFill>
            <a:srgbClr val="6B4C8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1406632" y="4260960"/>
            <a:ext cx="137160" cy="9525"/>
          </a:xfrm>
          <a:prstGeom prst="rect">
            <a:avLst/>
          </a:prstGeom>
          <a:solidFill>
            <a:srgbClr val="6B4C8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534267" y="4260960"/>
            <a:ext cx="9525" cy="75438"/>
          </a:xfrm>
          <a:prstGeom prst="rect">
            <a:avLst/>
          </a:prstGeom>
          <a:solidFill>
            <a:srgbClr val="6B4C8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31380" y="4553425"/>
            <a:ext cx="41371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142F4C"/>
                </a:solidFill>
                <a:latin typeface="Georgia"/>
              </a:rPr>
              <a:t>!FieldName! reads a value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31380" y="4933425"/>
            <a:ext cx="4137152" cy="13165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00" b="0" i="0">
                <a:solidFill>
                  <a:srgbClr val="4A5A6A"/>
                </a:solidFill>
                <a:latin typeface="Georgia"/>
              </a:rPr>
              <a:t>Wrap any existing field in exclamation points to reference its value for that row in the expression.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6ED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092000" y="5758000"/>
            <a:ext cx="2800000" cy="28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92000" y="5058000"/>
            <a:ext cx="4200000" cy="42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92000" y="4358000"/>
            <a:ext cx="5600000" cy="56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92000" y="3658000"/>
            <a:ext cx="7000000" cy="70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00000"/>
            <a:ext cx="10820400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6B4C8F"/>
                </a:solidFill>
                <a:latin typeface="Consolas"/>
              </a:rPr>
              <a:t>CSV · DISPLAY XY · FEATURE CLASS · FIELDS · CALCULATOR · PRACTICE · CALCULATOR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0000"/>
            <a:ext cx="1082040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142F4C"/>
                </a:solidFill>
                <a:latin typeface="Georgia"/>
              </a:rPr>
              <a:t>Building expressions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6600" y="1194800"/>
            <a:ext cx="609600" cy="38100"/>
          </a:xfrm>
          <a:prstGeom prst="rect">
            <a:avLst/>
          </a:prstGeom>
          <a:solidFill>
            <a:srgbClr val="6B4C8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14800"/>
            <a:ext cx="108204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1">
                <a:solidFill>
                  <a:srgbClr val="4A5A6A"/>
                </a:solidFill>
                <a:latin typeface="Georgia"/>
              </a:rPr>
              <a:t>Arithmetic, text, and conditional logic all 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64922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6E6E6E"/>
                </a:solidFill>
                <a:latin typeface="Georgia"/>
              </a:rPr>
              <a:t>ArcGIS | Tabular Data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600" y="6489700"/>
            <a:ext cx="355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 i="0">
                <a:solidFill>
                  <a:srgbClr val="6E6E6E"/>
                </a:solidFill>
                <a:latin typeface="Georgia"/>
              </a:rPr>
              <a:t>28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1905000"/>
            <a:ext cx="10727360" cy="1040710"/>
          </a:xfrm>
          <a:prstGeom prst="rect">
            <a:avLst/>
          </a:prstGeom>
          <a:solidFill>
            <a:srgbClr val="EFF3F7"/>
          </a:solidFill>
          <a:ln w="12700">
            <a:solidFill>
              <a:srgbClr val="C7D3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1905000"/>
            <a:ext cx="10727360" cy="38100"/>
          </a:xfrm>
          <a:prstGeom prst="rect">
            <a:avLst/>
          </a:prstGeom>
          <a:solidFill>
            <a:srgbClr val="6B4C8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1943100"/>
            <a:ext cx="137160" cy="9525"/>
          </a:xfrm>
          <a:prstGeom prst="rect">
            <a:avLst/>
          </a:prstGeom>
          <a:solidFill>
            <a:srgbClr val="6B4C8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1943100"/>
            <a:ext cx="9525" cy="75438"/>
          </a:xfrm>
          <a:prstGeom prst="rect">
            <a:avLst/>
          </a:prstGeom>
          <a:solidFill>
            <a:srgbClr val="6B4C8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321720" y="1943100"/>
            <a:ext cx="137160" cy="9525"/>
          </a:xfrm>
          <a:prstGeom prst="rect">
            <a:avLst/>
          </a:prstGeom>
          <a:solidFill>
            <a:srgbClr val="6B4C8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449355" y="1943100"/>
            <a:ext cx="9525" cy="75438"/>
          </a:xfrm>
          <a:prstGeom prst="rect">
            <a:avLst/>
          </a:prstGeom>
          <a:solidFill>
            <a:srgbClr val="6B4C8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6780" y="2057400"/>
            <a:ext cx="103997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 i="0">
                <a:solidFill>
                  <a:srgbClr val="142F4C"/>
                </a:solidFill>
                <a:latin typeface="Georgia"/>
              </a:rPr>
              <a:t>Arithmetic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6780" y="2407400"/>
            <a:ext cx="10399700" cy="4383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00" b="0" i="0">
                <a:solidFill>
                  <a:srgbClr val="4A5A6A"/>
                </a:solidFill>
                <a:latin typeface="Georgia"/>
              </a:rPr>
              <a:t>!Population! / !AreaSqMi! — computes a density value from two existing numeric fields, for every row.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2991430"/>
            <a:ext cx="10727360" cy="1040710"/>
          </a:xfrm>
          <a:prstGeom prst="rect">
            <a:avLst/>
          </a:prstGeom>
          <a:solidFill>
            <a:srgbClr val="EFF3F7"/>
          </a:solidFill>
          <a:ln w="12700">
            <a:solidFill>
              <a:srgbClr val="C7D3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2991430"/>
            <a:ext cx="10727360" cy="38100"/>
          </a:xfrm>
          <a:prstGeom prst="rect">
            <a:avLst/>
          </a:prstGeom>
          <a:solidFill>
            <a:srgbClr val="6B4C8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3029530"/>
            <a:ext cx="137160" cy="9525"/>
          </a:xfrm>
          <a:prstGeom prst="rect">
            <a:avLst/>
          </a:prstGeom>
          <a:solidFill>
            <a:srgbClr val="6B4C8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3029530"/>
            <a:ext cx="9525" cy="75438"/>
          </a:xfrm>
          <a:prstGeom prst="rect">
            <a:avLst/>
          </a:prstGeom>
          <a:solidFill>
            <a:srgbClr val="6B4C8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321720" y="3029530"/>
            <a:ext cx="137160" cy="9525"/>
          </a:xfrm>
          <a:prstGeom prst="rect">
            <a:avLst/>
          </a:prstGeom>
          <a:solidFill>
            <a:srgbClr val="6B4C8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449355" y="3029530"/>
            <a:ext cx="9525" cy="75438"/>
          </a:xfrm>
          <a:prstGeom prst="rect">
            <a:avLst/>
          </a:prstGeom>
          <a:solidFill>
            <a:srgbClr val="6B4C8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6780" y="3143830"/>
            <a:ext cx="103997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 i="0">
                <a:solidFill>
                  <a:srgbClr val="142F4C"/>
                </a:solidFill>
                <a:latin typeface="Georgia"/>
              </a:rPr>
              <a:t>String operations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6780" y="3493830"/>
            <a:ext cx="10399700" cy="4383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00" b="0" i="0">
                <a:solidFill>
                  <a:srgbClr val="4A5A6A"/>
                </a:solidFill>
                <a:latin typeface="Georgia"/>
              </a:rPr>
              <a:t>!FirstName! + " " + !LastName! — or !City!.upper() — combine or reformat text fields.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077860"/>
            <a:ext cx="10727360" cy="1040710"/>
          </a:xfrm>
          <a:prstGeom prst="rect">
            <a:avLst/>
          </a:prstGeom>
          <a:solidFill>
            <a:srgbClr val="EFF3F7"/>
          </a:solidFill>
          <a:ln w="12700">
            <a:solidFill>
              <a:srgbClr val="C7D3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" y="4077860"/>
            <a:ext cx="10727360" cy="38100"/>
          </a:xfrm>
          <a:prstGeom prst="rect">
            <a:avLst/>
          </a:prstGeom>
          <a:solidFill>
            <a:srgbClr val="6B4C8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1520" y="4115960"/>
            <a:ext cx="137160" cy="9525"/>
          </a:xfrm>
          <a:prstGeom prst="rect">
            <a:avLst/>
          </a:prstGeom>
          <a:solidFill>
            <a:srgbClr val="6B4C8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1520" y="4115960"/>
            <a:ext cx="9525" cy="75438"/>
          </a:xfrm>
          <a:prstGeom prst="rect">
            <a:avLst/>
          </a:prstGeom>
          <a:solidFill>
            <a:srgbClr val="6B4C8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321720" y="4115960"/>
            <a:ext cx="137160" cy="9525"/>
          </a:xfrm>
          <a:prstGeom prst="rect">
            <a:avLst/>
          </a:prstGeom>
          <a:solidFill>
            <a:srgbClr val="6B4C8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449355" y="4115960"/>
            <a:ext cx="9525" cy="75438"/>
          </a:xfrm>
          <a:prstGeom prst="rect">
            <a:avLst/>
          </a:prstGeom>
          <a:solidFill>
            <a:srgbClr val="6B4C8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6780" y="4230260"/>
            <a:ext cx="103997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 i="0">
                <a:solidFill>
                  <a:srgbClr val="142F4C"/>
                </a:solidFill>
                <a:latin typeface="Georgia"/>
              </a:rPr>
              <a:t>Conditional logic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6780" y="4580260"/>
            <a:ext cx="10399700" cy="4383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00" b="0" i="0">
                <a:solidFill>
                  <a:srgbClr val="4A5A6A"/>
                </a:solidFill>
                <a:latin typeface="Georgia"/>
              </a:rPr>
              <a:t>For anything more than one line, use the pre-logic script code block to define a function, then call it in the expression box.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6ED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092000" y="5758000"/>
            <a:ext cx="2800000" cy="28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92000" y="5058000"/>
            <a:ext cx="4200000" cy="42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92000" y="4358000"/>
            <a:ext cx="5600000" cy="56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92000" y="3658000"/>
            <a:ext cx="7000000" cy="70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00000"/>
            <a:ext cx="10820400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6B4C8F"/>
                </a:solidFill>
                <a:latin typeface="Consolas"/>
              </a:rPr>
              <a:t>CSV · DISPLAY XY · FEATURE CLASS · FIELDS · CALCULATOR · PRACTICE · CALCULATOR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0000"/>
            <a:ext cx="1082040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142F4C"/>
                </a:solidFill>
                <a:latin typeface="Georgia"/>
              </a:rPr>
              <a:t>Worked example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36600" y="1194800"/>
            <a:ext cx="609600" cy="38100"/>
          </a:xfrm>
          <a:prstGeom prst="rect">
            <a:avLst/>
          </a:prstGeom>
          <a:solidFill>
            <a:srgbClr val="6B4C8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14800"/>
            <a:ext cx="108204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1">
                <a:solidFill>
                  <a:srgbClr val="4A5A6A"/>
                </a:solidFill>
                <a:latin typeface="Georgia"/>
              </a:rPr>
              <a:t>Turning two columns into a category field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64922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6E6E6E"/>
                </a:solidFill>
                <a:latin typeface="Georgia"/>
              </a:rPr>
              <a:t>ArcGIS | Tabular Data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600" y="6489700"/>
            <a:ext cx="355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 i="0">
                <a:solidFill>
                  <a:srgbClr val="6E6E6E"/>
                </a:solidFill>
                <a:latin typeface="Georgia"/>
              </a:rPr>
              <a:t>29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050000"/>
            <a:ext cx="10727360" cy="2050000"/>
          </a:xfrm>
          <a:prstGeom prst="roundRect">
            <a:avLst>
              <a:gd name="adj" fmla="val 2000"/>
            </a:avLst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2050000"/>
            <a:ext cx="10727360" cy="304800"/>
          </a:xfrm>
          <a:prstGeom prst="roundRect">
            <a:avLst>
              <a:gd name="adj" fmla="val 2000"/>
            </a:avLst>
          </a:prstGeom>
          <a:solidFill>
            <a:srgbClr val="141B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294800"/>
            <a:ext cx="10727360" cy="60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3920" y="2050000"/>
            <a:ext cx="1042736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D7DEEA"/>
                </a:solidFill>
                <a:latin typeface="Georgia"/>
              </a:rPr>
              <a:t>Sites — attribute table (after)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354800"/>
            <a:ext cx="10727360" cy="1745200"/>
          </a:xfrm>
          <a:prstGeom prst="rect">
            <a:avLst/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2374800"/>
            <a:ext cx="10727360" cy="280000"/>
          </a:xfrm>
          <a:prstGeom prst="rect">
            <a:avLst/>
          </a:prstGeom>
          <a:solidFill>
            <a:srgbClr val="1B24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1520" y="2374800"/>
            <a:ext cx="268184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1" i="0">
                <a:solidFill>
                  <a:srgbClr val="FFFFFF"/>
                </a:solidFill>
                <a:latin typeface="Georgia"/>
              </a:rPr>
              <a:t>Site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13360" y="2374800"/>
            <a:ext cx="268184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1" i="0">
                <a:solidFill>
                  <a:srgbClr val="FFFFFF"/>
                </a:solidFill>
                <a:latin typeface="Georgia"/>
              </a:rPr>
              <a:t>Visits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5200" y="2374800"/>
            <a:ext cx="268184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1" i="0">
                <a:solidFill>
                  <a:srgbClr val="FFFFFF"/>
                </a:solidFill>
                <a:latin typeface="Georgia"/>
              </a:rPr>
              <a:t>Rating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77040" y="2374800"/>
            <a:ext cx="268184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1" i="0">
                <a:solidFill>
                  <a:srgbClr val="FFFFFF"/>
                </a:solidFill>
                <a:latin typeface="Georgia"/>
              </a:rPr>
              <a:t>Popularity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520" y="2654800"/>
            <a:ext cx="268184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>Trailhead 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13360" y="2654800"/>
            <a:ext cx="268184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>812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95200" y="2654800"/>
            <a:ext cx="268184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>4.6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77040" y="2654800"/>
            <a:ext cx="268184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>High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2934800"/>
            <a:ext cx="10727360" cy="280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1520" y="2934800"/>
            <a:ext cx="268184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>Well Site 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13360" y="2934800"/>
            <a:ext cx="268184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>34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95200" y="2934800"/>
            <a:ext cx="268184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>3.1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77040" y="2934800"/>
            <a:ext cx="268184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>Low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1520" y="3214800"/>
            <a:ext cx="268184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>Depot North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13360" y="3214800"/>
            <a:ext cx="268184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>265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95200" y="3214800"/>
            <a:ext cx="268184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>4.0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77040" y="3214800"/>
            <a:ext cx="268184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>Medium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4300000"/>
            <a:ext cx="10727360" cy="1600000"/>
          </a:xfrm>
          <a:prstGeom prst="rect">
            <a:avLst/>
          </a:prstGeom>
          <a:solidFill>
            <a:srgbClr val="EFF3F7"/>
          </a:solidFill>
          <a:ln w="12700">
            <a:solidFill>
              <a:srgbClr val="C7D3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4300000"/>
            <a:ext cx="10727360" cy="38100"/>
          </a:xfrm>
          <a:prstGeom prst="rect">
            <a:avLst/>
          </a:prstGeom>
          <a:solidFill>
            <a:srgbClr val="6B4C8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6780" y="4475000"/>
            <a:ext cx="1037684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142F4C"/>
                </a:solidFill>
                <a:latin typeface="Georgia"/>
              </a:rPr>
              <a:t>Pre-logic script code block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6780" y="4850000"/>
            <a:ext cx="10376840" cy="9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0" i="0">
                <a:solidFill>
                  <a:srgbClr val="0F2E4D"/>
                </a:solidFill>
                <a:latin typeface="Consolas"/>
              </a:rPr>
              <a:t>def popularity(visits):</a:t>
            </a:r>
          </a:p>
          <a:p>
            <a:pPr>
              <a:lnSpc>
                <a:spcPct val="115000"/>
              </a:lnSpc>
            </a:pPr>
            <a:r>
              <a:rPr sz="1150" b="0" i="0">
                <a:solidFill>
                  <a:srgbClr val="0F2E4D"/>
                </a:solidFill>
                <a:latin typeface="Consolas"/>
              </a:rPr>
              <a:t>    if visits &gt; 500: return "High"</a:t>
            </a:r>
          </a:p>
          <a:p>
            <a:pPr>
              <a:lnSpc>
                <a:spcPct val="115000"/>
              </a:lnSpc>
            </a:pPr>
            <a:r>
              <a:rPr sz="1150" b="0" i="0">
                <a:solidFill>
                  <a:srgbClr val="0F2E4D"/>
                </a:solidFill>
                <a:latin typeface="Consolas"/>
              </a:rPr>
              <a:t>    elif visits &gt; 100: return "Medium"</a:t>
            </a:r>
          </a:p>
          <a:p>
            <a:pPr>
              <a:lnSpc>
                <a:spcPct val="115000"/>
              </a:lnSpc>
            </a:pPr>
            <a:r>
              <a:rPr sz="1150" b="0" i="0">
                <a:solidFill>
                  <a:srgbClr val="0F2E4D"/>
                </a:solidFill>
                <a:latin typeface="Consolas"/>
              </a:rPr>
              <a:t>    else: return "Low"</a:t>
            </a:r>
          </a:p>
          <a:p>
            <a:pPr>
              <a:lnSpc>
                <a:spcPct val="115000"/>
              </a:lnSpc>
            </a:pPr>
            <a:r>
              <a:rPr sz="1150" b="0" i="0">
                <a:solidFill>
                  <a:srgbClr val="0F2E4D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150" b="0" i="0">
                <a:solidFill>
                  <a:srgbClr val="0F2E4D"/>
                </a:solidFill>
                <a:latin typeface="Consolas"/>
              </a:rPr>
              <a:t>Expression:  popularity(!Visits!)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6ED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092000" y="5758000"/>
            <a:ext cx="2800000" cy="28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92000" y="5058000"/>
            <a:ext cx="4200000" cy="42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92000" y="4358000"/>
            <a:ext cx="5600000" cy="56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92000" y="3658000"/>
            <a:ext cx="7000000" cy="70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00000"/>
            <a:ext cx="10820400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6B4C8F"/>
                </a:solidFill>
                <a:latin typeface="Consolas"/>
              </a:rPr>
              <a:t>CSV · DISPLAY XY · FEATURE CLASS · FIELDS · CALCULATOR · PRACTICE · CALCULATOR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0000"/>
            <a:ext cx="1082040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142F4C"/>
                </a:solidFill>
                <a:latin typeface="Georgia"/>
              </a:rPr>
              <a:t>Expression quick reference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736600" y="1194800"/>
            <a:ext cx="609600" cy="38100"/>
          </a:xfrm>
          <a:prstGeom prst="rect">
            <a:avLst/>
          </a:prstGeom>
          <a:solidFill>
            <a:srgbClr val="6B4C8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14800"/>
            <a:ext cx="108204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1">
                <a:solidFill>
                  <a:srgbClr val="4A5A6A"/>
                </a:solidFill>
                <a:latin typeface="Georgia"/>
              </a:rPr>
              <a:t>Common Field Calculator patterns, at a glance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64922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6E6E6E"/>
                </a:solidFill>
                <a:latin typeface="Georgia"/>
              </a:rPr>
              <a:t>ArcGIS | Tabular Data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600" y="6489700"/>
            <a:ext cx="355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 i="0">
                <a:solidFill>
                  <a:srgbClr val="6E6E6E"/>
                </a:solidFill>
                <a:latin typeface="Georgia"/>
              </a:rPr>
              <a:t>30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050000"/>
            <a:ext cx="10727360" cy="640000"/>
          </a:xfrm>
          <a:prstGeom prst="rect">
            <a:avLst/>
          </a:prstGeom>
          <a:solidFill>
            <a:srgbClr val="EFF3F7"/>
          </a:solidFill>
          <a:ln w="12700">
            <a:solidFill>
              <a:srgbClr val="C7D3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2050000"/>
            <a:ext cx="38100" cy="640000"/>
          </a:xfrm>
          <a:prstGeom prst="rect">
            <a:avLst/>
          </a:prstGeom>
          <a:solidFill>
            <a:srgbClr val="6B4C8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8220" y="2050000"/>
            <a:ext cx="3861849" cy="6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 b="0" i="1">
                <a:solidFill>
                  <a:srgbClr val="4A5A6A"/>
                </a:solidFill>
                <a:latin typeface="Georgia"/>
              </a:rPr>
              <a:t>Combine two numbers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15190" y="2178000"/>
            <a:ext cx="0" cy="384000"/>
          </a:xfrm>
          <a:prstGeom prst="rect">
            <a:avLst/>
          </a:prstGeom>
          <a:noFill/>
          <a:ln w="6350">
            <a:solidFill>
              <a:srgbClr val="C7D3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37011" y="2050000"/>
            <a:ext cx="6007321" cy="6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142F4C"/>
                </a:solidFill>
                <a:latin typeface="Consolas"/>
              </a:rPr>
              <a:t>!Population! / !AreaSqMi!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2730000"/>
            <a:ext cx="10727360" cy="640000"/>
          </a:xfrm>
          <a:prstGeom prst="rect">
            <a:avLst/>
          </a:prstGeom>
          <a:solidFill>
            <a:srgbClr val="E6EDF3"/>
          </a:solidFill>
          <a:ln w="12700">
            <a:solidFill>
              <a:srgbClr val="C7D3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2730000"/>
            <a:ext cx="38100" cy="640000"/>
          </a:xfrm>
          <a:prstGeom prst="rect">
            <a:avLst/>
          </a:prstGeom>
          <a:solidFill>
            <a:srgbClr val="6B4C8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8220" y="2730000"/>
            <a:ext cx="3861849" cy="6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 b="0" i="1">
                <a:solidFill>
                  <a:srgbClr val="4A5A6A"/>
                </a:solidFill>
                <a:latin typeface="Georgia"/>
              </a:rPr>
              <a:t>Combine two text fields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15190" y="2858000"/>
            <a:ext cx="0" cy="384000"/>
          </a:xfrm>
          <a:prstGeom prst="rect">
            <a:avLst/>
          </a:prstGeom>
          <a:noFill/>
          <a:ln w="6350">
            <a:solidFill>
              <a:srgbClr val="C7D3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37011" y="2730000"/>
            <a:ext cx="6007321" cy="6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142F4C"/>
                </a:solidFill>
                <a:latin typeface="Consolas"/>
              </a:rPr>
              <a:t>!First! + " " + !Last!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410000"/>
            <a:ext cx="10727360" cy="640000"/>
          </a:xfrm>
          <a:prstGeom prst="rect">
            <a:avLst/>
          </a:prstGeom>
          <a:solidFill>
            <a:srgbClr val="EFF3F7"/>
          </a:solidFill>
          <a:ln w="12700">
            <a:solidFill>
              <a:srgbClr val="C7D3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3410000"/>
            <a:ext cx="38100" cy="640000"/>
          </a:xfrm>
          <a:prstGeom prst="rect">
            <a:avLst/>
          </a:prstGeom>
          <a:solidFill>
            <a:srgbClr val="6B4C8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8220" y="3410000"/>
            <a:ext cx="3861849" cy="6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 b="0" i="1">
                <a:solidFill>
                  <a:srgbClr val="4A5A6A"/>
                </a:solidFill>
                <a:latin typeface="Georgia"/>
              </a:rPr>
              <a:t>Reformat text case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15190" y="3538000"/>
            <a:ext cx="0" cy="384000"/>
          </a:xfrm>
          <a:prstGeom prst="rect">
            <a:avLst/>
          </a:prstGeom>
          <a:noFill/>
          <a:ln w="6350">
            <a:solidFill>
              <a:srgbClr val="C7D3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37011" y="3410000"/>
            <a:ext cx="6007321" cy="6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142F4C"/>
                </a:solidFill>
                <a:latin typeface="Consolas"/>
              </a:rPr>
              <a:t>!City!.upper()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4090000"/>
            <a:ext cx="10727360" cy="640000"/>
          </a:xfrm>
          <a:prstGeom prst="rect">
            <a:avLst/>
          </a:prstGeom>
          <a:solidFill>
            <a:srgbClr val="E6EDF3"/>
          </a:solidFill>
          <a:ln w="12700">
            <a:solidFill>
              <a:srgbClr val="C7D3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" y="4090000"/>
            <a:ext cx="38100" cy="640000"/>
          </a:xfrm>
          <a:prstGeom prst="rect">
            <a:avLst/>
          </a:prstGeom>
          <a:solidFill>
            <a:srgbClr val="6B4C8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8220" y="4090000"/>
            <a:ext cx="3861849" cy="6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 b="0" i="1">
                <a:solidFill>
                  <a:srgbClr val="4A5A6A"/>
                </a:solidFill>
                <a:latin typeface="Georgia"/>
              </a:rPr>
              <a:t>Round a number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15190" y="4218000"/>
            <a:ext cx="0" cy="384000"/>
          </a:xfrm>
          <a:prstGeom prst="rect">
            <a:avLst/>
          </a:prstGeom>
          <a:noFill/>
          <a:ln w="6350">
            <a:solidFill>
              <a:srgbClr val="C7D3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37011" y="4090000"/>
            <a:ext cx="6007321" cy="6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142F4C"/>
                </a:solidFill>
                <a:latin typeface="Consolas"/>
              </a:rPr>
              <a:t>round(!Elevation_m!, 1)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4770000"/>
            <a:ext cx="10727360" cy="640000"/>
          </a:xfrm>
          <a:prstGeom prst="rect">
            <a:avLst/>
          </a:prstGeom>
          <a:solidFill>
            <a:srgbClr val="EFF3F7"/>
          </a:solidFill>
          <a:ln w="12700">
            <a:solidFill>
              <a:srgbClr val="C7D3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31520" y="4770000"/>
            <a:ext cx="38100" cy="640000"/>
          </a:xfrm>
          <a:prstGeom prst="rect">
            <a:avLst/>
          </a:prstGeom>
          <a:solidFill>
            <a:srgbClr val="6B4C8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8220" y="4770000"/>
            <a:ext cx="3861849" cy="6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 b="0" i="1">
                <a:solidFill>
                  <a:srgbClr val="4A5A6A"/>
                </a:solidFill>
                <a:latin typeface="Georgia"/>
              </a:rPr>
              <a:t>Multi-line logic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15190" y="4898000"/>
            <a:ext cx="0" cy="384000"/>
          </a:xfrm>
          <a:prstGeom prst="rect">
            <a:avLst/>
          </a:prstGeom>
          <a:noFill/>
          <a:ln w="6350">
            <a:solidFill>
              <a:srgbClr val="C7D3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37011" y="4770000"/>
            <a:ext cx="6007321" cy="6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142F4C"/>
                </a:solidFill>
                <a:latin typeface="Consolas"/>
              </a:rPr>
              <a:t>Pre-logic script block, then call the function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6ED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092000" y="5758000"/>
            <a:ext cx="2800000" cy="28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92000" y="5058000"/>
            <a:ext cx="4200000" cy="42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92000" y="4358000"/>
            <a:ext cx="5600000" cy="56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92000" y="3658000"/>
            <a:ext cx="7000000" cy="70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12800" y="1780000"/>
            <a:ext cx="603504" cy="402336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2800" y="18000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Georgia"/>
              </a:rPr>
              <a:t>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60000" y="1810000"/>
            <a:ext cx="440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1" i="0">
                <a:solidFill>
                  <a:srgbClr val="1C7C8C"/>
                </a:solidFill>
                <a:latin typeface="Consolas"/>
              </a:rPr>
              <a:t>SECTION 06 OF 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800" y="2320000"/>
            <a:ext cx="102000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600" b="1" i="0">
                <a:solidFill>
                  <a:srgbClr val="142F4C"/>
                </a:solidFill>
                <a:latin typeface="Georgia"/>
              </a:rPr>
              <a:t>Practice &amp; Recap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2800" y="3160000"/>
            <a:ext cx="900000" cy="3810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2800" y="3350000"/>
            <a:ext cx="970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1">
                <a:solidFill>
                  <a:srgbClr val="4A5A6A"/>
                </a:solidFill>
                <a:latin typeface="Georgia"/>
              </a:rPr>
              <a:t>Putting the whole workflow together, troubleshooting when it breaks, and checking your understanding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600" y="6489700"/>
            <a:ext cx="355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 i="0">
                <a:solidFill>
                  <a:srgbClr val="6E6E6E"/>
                </a:solidFill>
                <a:latin typeface="Georgia"/>
              </a:rPr>
              <a:t>31</a:t>
            </a:r>
          </a:p>
        </p:txBody>
      </p:sp>
      <p:sp>
        <p:nvSpPr>
          <p:cNvPr id="15" name="TextBox 14">
            <a:hlinkClick action="ppaction://hlinksldjump" r:id="rId2"/>
          </p:cNvPr>
          <p:cNvSpPr txBox="1"/>
          <p:nvPr/>
        </p:nvSpPr>
        <p:spPr>
          <a:xfrm>
            <a:off x="1143000" y="6489700"/>
            <a:ext cx="24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1">
                <a:solidFill>
                  <a:srgbClr val="1C7C8C"/>
                </a:solidFill>
                <a:latin typeface="Georgia"/>
              </a:rPr>
              <a:t>◂  Table of Contents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6ED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092000" y="5758000"/>
            <a:ext cx="2800000" cy="28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92000" y="5058000"/>
            <a:ext cx="4200000" cy="42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92000" y="4358000"/>
            <a:ext cx="5600000" cy="56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92000" y="3658000"/>
            <a:ext cx="7000000" cy="70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00000"/>
            <a:ext cx="10820400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1C7C8C"/>
                </a:solidFill>
                <a:latin typeface="Consolas"/>
              </a:rPr>
              <a:t>CSV · DISPLAY XY · FEATURE CLASS · FIELDS · CALCULATOR · PRACTICE · PRACTICE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0000"/>
            <a:ext cx="1082040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142F4C"/>
                </a:solidFill>
                <a:latin typeface="Georgia"/>
              </a:rPr>
              <a:t>When it doesn't work</a:t>
            </a:r>
          </a:p>
        </p:txBody>
      </p:sp>
      <p:sp>
        <p:nvSpPr>
          <p:cNvPr id="9" name="Rectangle 8"/>
          <p:cNvSpPr/>
          <p:nvPr/>
        </p:nvSpPr>
        <p:spPr>
          <a:xfrm>
            <a:off x="736600" y="1194800"/>
            <a:ext cx="609600" cy="3810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14800"/>
            <a:ext cx="108204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1">
                <a:solidFill>
                  <a:srgbClr val="4A5A6A"/>
                </a:solidFill>
                <a:latin typeface="Georgia"/>
              </a:rPr>
              <a:t>A field type mismatch is the most common silent failure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64922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6E6E6E"/>
                </a:solidFill>
                <a:latin typeface="Georgia"/>
              </a:rPr>
              <a:t>ArcGIS | Tabular Data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600" y="6489700"/>
            <a:ext cx="355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 i="0">
                <a:solidFill>
                  <a:srgbClr val="6E6E6E"/>
                </a:solidFill>
                <a:latin typeface="Georgia"/>
              </a:rPr>
              <a:t>32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1950000"/>
            <a:ext cx="10727360" cy="430000"/>
          </a:xfrm>
          <a:prstGeom prst="rect">
            <a:avLst/>
          </a:prstGeom>
          <a:solidFill>
            <a:srgbClr val="EFF3F7"/>
          </a:solidFill>
          <a:ln w="12700">
            <a:solidFill>
              <a:srgbClr val="1C7C8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1950000"/>
            <a:ext cx="38100" cy="43000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6780" y="1950000"/>
            <a:ext cx="10376840" cy="4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142F4C"/>
                </a:solidFill>
                <a:latin typeface="Georgia"/>
              </a:rPr>
              <a:t>Tip: whenever a tool “doesn't work,” check the field's type in the Fields view first.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500000"/>
            <a:ext cx="10727360" cy="850000"/>
          </a:xfrm>
          <a:prstGeom prst="rect">
            <a:avLst/>
          </a:prstGeom>
          <a:solidFill>
            <a:srgbClr val="EFF3F7"/>
          </a:solidFill>
          <a:ln w="12700">
            <a:solidFill>
              <a:srgbClr val="C7D3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2500000"/>
            <a:ext cx="10727360" cy="3810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2538100"/>
            <a:ext cx="137160" cy="9525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2538100"/>
            <a:ext cx="9525" cy="75438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321720" y="2538100"/>
            <a:ext cx="137160" cy="9525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449355" y="2538100"/>
            <a:ext cx="9525" cy="75438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6780" y="2652400"/>
            <a:ext cx="103997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 i="0">
                <a:solidFill>
                  <a:srgbClr val="142F4C"/>
                </a:solidFill>
                <a:latin typeface="Georgia"/>
              </a:rPr>
              <a:t>1 — Add a new field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6780" y="3002400"/>
            <a:ext cx="10399700" cy="24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00" b="0" i="0">
                <a:solidFill>
                  <a:srgbClr val="4A5A6A"/>
                </a:solidFill>
                <a:latin typeface="Georgia"/>
              </a:rPr>
              <a:t>Create a field with the correct type (Text / Integer / Double / Date) alongside the broken one.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395720"/>
            <a:ext cx="10727360" cy="850000"/>
          </a:xfrm>
          <a:prstGeom prst="rect">
            <a:avLst/>
          </a:prstGeom>
          <a:solidFill>
            <a:srgbClr val="EFF3F7"/>
          </a:solidFill>
          <a:ln w="12700">
            <a:solidFill>
              <a:srgbClr val="C7D3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3395720"/>
            <a:ext cx="10727360" cy="3810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3433820"/>
            <a:ext cx="137160" cy="9525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3433820"/>
            <a:ext cx="9525" cy="75438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321720" y="3433820"/>
            <a:ext cx="137160" cy="9525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49355" y="3433820"/>
            <a:ext cx="9525" cy="75438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6780" y="3548120"/>
            <a:ext cx="103997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 i="0">
                <a:solidFill>
                  <a:srgbClr val="142F4C"/>
                </a:solidFill>
                <a:latin typeface="Georgia"/>
              </a:rPr>
              <a:t>2 — Calculate Field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6780" y="3898120"/>
            <a:ext cx="10399700" cy="24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00" b="0" i="0">
                <a:solidFill>
                  <a:srgbClr val="4A5A6A"/>
                </a:solidFill>
                <a:latin typeface="Georgia"/>
              </a:rPr>
              <a:t>Copy the values across, converting format if needed — e.g., str(!OldField!) or float(!OldField!).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4291440"/>
            <a:ext cx="10727360" cy="850000"/>
          </a:xfrm>
          <a:prstGeom prst="rect">
            <a:avLst/>
          </a:prstGeom>
          <a:solidFill>
            <a:srgbClr val="EFF3F7"/>
          </a:solidFill>
          <a:ln w="12700">
            <a:solidFill>
              <a:srgbClr val="C7D3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1520" y="4291440"/>
            <a:ext cx="10727360" cy="3810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31520" y="4329540"/>
            <a:ext cx="137160" cy="9525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31520" y="4329540"/>
            <a:ext cx="9525" cy="75438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1321720" y="4329540"/>
            <a:ext cx="137160" cy="9525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1449355" y="4329540"/>
            <a:ext cx="9525" cy="75438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6780" y="4443840"/>
            <a:ext cx="103997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 i="0">
                <a:solidFill>
                  <a:srgbClr val="142F4C"/>
                </a:solidFill>
                <a:latin typeface="Georgia"/>
              </a:rPr>
              <a:t>3 — Verify, then clean up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6780" y="4793840"/>
            <a:ext cx="10399700" cy="24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00" b="0" i="0">
                <a:solidFill>
                  <a:srgbClr val="4A5A6A"/>
                </a:solidFill>
                <a:latin typeface="Georgia"/>
              </a:rPr>
              <a:t>Confirm sorting, symbology, and statistics work on the new field, then hide or delete the old one.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20" y="5227160"/>
            <a:ext cx="10727360" cy="500000"/>
          </a:xfrm>
          <a:prstGeom prst="rect">
            <a:avLst/>
          </a:prstGeom>
          <a:solidFill>
            <a:srgbClr val="EFF3F7"/>
          </a:solidFill>
          <a:ln w="12700">
            <a:solidFill>
              <a:srgbClr val="C7D3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5227160"/>
            <a:ext cx="38100" cy="50000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6780" y="5227160"/>
            <a:ext cx="10376840" cy="5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0" i="1">
                <a:solidFill>
                  <a:srgbClr val="4A5A6A"/>
                </a:solidFill>
                <a:latin typeface="Georgia"/>
              </a:rPr>
              <a:t>Debug checklist:  Can you sort correctly?   Can you symbolize correctly?   Can you run Summary Statistics?   Can you filter and query correctly?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6ED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092000" y="5758000"/>
            <a:ext cx="2800000" cy="28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92000" y="5058000"/>
            <a:ext cx="4200000" cy="42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92000" y="4358000"/>
            <a:ext cx="5600000" cy="56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92000" y="3658000"/>
            <a:ext cx="7000000" cy="70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00000"/>
            <a:ext cx="10820400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1C7C8C"/>
                </a:solidFill>
                <a:latin typeface="Consolas"/>
              </a:rPr>
              <a:t>CSV · DISPLAY XY · FEATURE CLASS · FIELDS · CALCULATOR · PRACTICE · PRACTICE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0000"/>
            <a:ext cx="1082040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142F4C"/>
                </a:solidFill>
                <a:latin typeface="Georgia"/>
              </a:rPr>
              <a:t>Practice task</a:t>
            </a:r>
          </a:p>
        </p:txBody>
      </p:sp>
      <p:sp>
        <p:nvSpPr>
          <p:cNvPr id="9" name="Rectangle 8"/>
          <p:cNvSpPr/>
          <p:nvPr/>
        </p:nvSpPr>
        <p:spPr>
          <a:xfrm>
            <a:off x="736600" y="1194800"/>
            <a:ext cx="609600" cy="3810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14800"/>
            <a:ext cx="108204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1">
                <a:solidFill>
                  <a:srgbClr val="4A5A6A"/>
                </a:solidFill>
                <a:latin typeface="Georgia"/>
              </a:rPr>
              <a:t>Put the whole workflow together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64922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6E6E6E"/>
                </a:solidFill>
                <a:latin typeface="Georgia"/>
              </a:rPr>
              <a:t>ArcGIS | Tabular Data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600" y="6489700"/>
            <a:ext cx="355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 i="0">
                <a:solidFill>
                  <a:srgbClr val="6E6E6E"/>
                </a:solidFill>
                <a:latin typeface="Georgia"/>
              </a:rPr>
              <a:t>33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050000"/>
            <a:ext cx="10727360" cy="990710"/>
          </a:xfrm>
          <a:prstGeom prst="rect">
            <a:avLst/>
          </a:prstGeom>
          <a:solidFill>
            <a:srgbClr val="EFF3F7"/>
          </a:solidFill>
          <a:ln w="12700">
            <a:solidFill>
              <a:srgbClr val="C7D3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2050000"/>
            <a:ext cx="10727360" cy="3810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088100"/>
            <a:ext cx="137160" cy="9525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2088100"/>
            <a:ext cx="9525" cy="75438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321720" y="2088100"/>
            <a:ext cx="137160" cy="9525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449355" y="2088100"/>
            <a:ext cx="9525" cy="75438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6780" y="2380565"/>
            <a:ext cx="1037684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142F4C"/>
                </a:solidFill>
                <a:latin typeface="Georgia"/>
              </a:rPr>
              <a:t>Build the point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6780" y="2760565"/>
            <a:ext cx="10376840" cy="1801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00" b="0" i="0">
                <a:solidFill>
                  <a:srgbClr val="4A5A6A"/>
                </a:solidFill>
                <a:latin typeface="Georgia"/>
              </a:rPr>
              <a:t>Start from a CSV with X/Y coordinates — or an address field and Geocode Addresses — then run Display XY Data.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086430"/>
            <a:ext cx="10727360" cy="990710"/>
          </a:xfrm>
          <a:prstGeom prst="rect">
            <a:avLst/>
          </a:prstGeom>
          <a:solidFill>
            <a:srgbClr val="EFF3F7"/>
          </a:solidFill>
          <a:ln w="12700">
            <a:solidFill>
              <a:srgbClr val="C7D3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3086430"/>
            <a:ext cx="10727360" cy="3810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3124530"/>
            <a:ext cx="137160" cy="9525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3124530"/>
            <a:ext cx="9525" cy="75438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321720" y="3124530"/>
            <a:ext cx="137160" cy="9525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449355" y="3124530"/>
            <a:ext cx="9525" cy="75438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6780" y="3416995"/>
            <a:ext cx="1037684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142F4C"/>
                </a:solidFill>
                <a:latin typeface="Georgia"/>
              </a:rPr>
              <a:t>Make it permanent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6780" y="3796995"/>
            <a:ext cx="10376840" cy="1801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00" b="0" i="0">
                <a:solidFill>
                  <a:srgbClr val="4A5A6A"/>
                </a:solidFill>
                <a:latin typeface="Georgia"/>
              </a:rPr>
              <a:t>Export the event layer (or geocoded result) to a permanent feature class in a geodatabase using Export Features.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122860"/>
            <a:ext cx="10727360" cy="990710"/>
          </a:xfrm>
          <a:prstGeom prst="rect">
            <a:avLst/>
          </a:prstGeom>
          <a:solidFill>
            <a:srgbClr val="EFF3F7"/>
          </a:solidFill>
          <a:ln w="12700">
            <a:solidFill>
              <a:srgbClr val="C7D3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" y="4122860"/>
            <a:ext cx="10727360" cy="3810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1520" y="4160960"/>
            <a:ext cx="137160" cy="9525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1520" y="4160960"/>
            <a:ext cx="9525" cy="75438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321720" y="4160960"/>
            <a:ext cx="137160" cy="9525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449355" y="4160960"/>
            <a:ext cx="9525" cy="75438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6780" y="4453425"/>
            <a:ext cx="1037684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142F4C"/>
                </a:solidFill>
                <a:latin typeface="Georgia"/>
              </a:rPr>
              <a:t>Add a calculated field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6780" y="4833425"/>
            <a:ext cx="10376840" cy="1801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00" b="0" i="0">
                <a:solidFill>
                  <a:srgbClr val="4A5A6A"/>
                </a:solidFill>
                <a:latin typeface="Georgia"/>
              </a:rPr>
              <a:t>Add a new field to the feature class's attribute table with the right type, then use the Field Calculator to populate it for every row at once.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5159290"/>
            <a:ext cx="10727360" cy="990710"/>
          </a:xfrm>
          <a:prstGeom prst="rect">
            <a:avLst/>
          </a:prstGeom>
          <a:solidFill>
            <a:srgbClr val="EFF3F7"/>
          </a:solidFill>
          <a:ln w="12700">
            <a:solidFill>
              <a:srgbClr val="C7D3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5159290"/>
            <a:ext cx="10727360" cy="3810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31520" y="5197390"/>
            <a:ext cx="137160" cy="9525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31520" y="5197390"/>
            <a:ext cx="9525" cy="75438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1321720" y="5197390"/>
            <a:ext cx="137160" cy="9525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1449355" y="5197390"/>
            <a:ext cx="9525" cy="75438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6780" y="5489855"/>
            <a:ext cx="1037684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142F4C"/>
                </a:solidFill>
                <a:latin typeface="Georgia"/>
              </a:rPr>
              <a:t>Deliverable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6780" y="5869855"/>
            <a:ext cx="10376840" cy="1801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00" b="0" i="0">
                <a:solidFill>
                  <a:srgbClr val="4A5A6A"/>
                </a:solidFill>
                <a:latin typeface="Georgia"/>
              </a:rPr>
              <a:t>Submit a screenshot of the attribute table showing the new field with all of its calculated values visible.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6ED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092000" y="5758000"/>
            <a:ext cx="2800000" cy="28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92000" y="5058000"/>
            <a:ext cx="4200000" cy="42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92000" y="4358000"/>
            <a:ext cx="5600000" cy="56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92000" y="3658000"/>
            <a:ext cx="7000000" cy="70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00000"/>
            <a:ext cx="10820400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1C7C8C"/>
                </a:solidFill>
                <a:latin typeface="Consolas"/>
              </a:rPr>
              <a:t>CSV · DISPLAY XY · FEATURE CLASS · FIELDS · CALCULATOR · PRACTICE · PRACTICE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0000"/>
            <a:ext cx="1082040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142F4C"/>
                </a:solidFill>
                <a:latin typeface="Georgia"/>
              </a:rPr>
              <a:t>Stretch goals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6600" y="1194800"/>
            <a:ext cx="609600" cy="3810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14800"/>
            <a:ext cx="108204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1">
                <a:solidFill>
                  <a:srgbClr val="4A5A6A"/>
                </a:solidFill>
                <a:latin typeface="Georgia"/>
              </a:rPr>
              <a:t>Optional — for extra practice with what's new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64922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6E6E6E"/>
                </a:solidFill>
                <a:latin typeface="Georgia"/>
              </a:rPr>
              <a:t>ArcGIS | Tabular Data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600" y="6489700"/>
            <a:ext cx="355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 i="0">
                <a:solidFill>
                  <a:srgbClr val="6E6E6E"/>
                </a:solidFill>
                <a:latin typeface="Georgia"/>
              </a:rPr>
              <a:t>34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1905000"/>
            <a:ext cx="10727360" cy="1040710"/>
          </a:xfrm>
          <a:prstGeom prst="rect">
            <a:avLst/>
          </a:prstGeom>
          <a:solidFill>
            <a:srgbClr val="EFF3F7"/>
          </a:solidFill>
          <a:ln w="12700">
            <a:solidFill>
              <a:srgbClr val="C7D3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1905000"/>
            <a:ext cx="10727360" cy="3810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1943100"/>
            <a:ext cx="137160" cy="9525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1943100"/>
            <a:ext cx="9525" cy="75438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321720" y="1943100"/>
            <a:ext cx="137160" cy="9525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449355" y="1943100"/>
            <a:ext cx="9525" cy="75438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6780" y="2057400"/>
            <a:ext cx="103997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 i="0">
                <a:solidFill>
                  <a:srgbClr val="142F4C"/>
                </a:solidFill>
                <a:latin typeface="Georgia"/>
              </a:rPr>
              <a:t>Geocode a real address list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6780" y="2407400"/>
            <a:ext cx="10399700" cy="4383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00" b="0" i="0">
                <a:solidFill>
                  <a:srgbClr val="4A5A6A"/>
                </a:solidFill>
                <a:latin typeface="Georgia"/>
              </a:rPr>
              <a:t>Find a small CSV of addresses without coordinates and run Geocode Addresses — review any Unmatched or Tied results manually.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2991430"/>
            <a:ext cx="10727360" cy="1040710"/>
          </a:xfrm>
          <a:prstGeom prst="rect">
            <a:avLst/>
          </a:prstGeom>
          <a:solidFill>
            <a:srgbClr val="EFF3F7"/>
          </a:solidFill>
          <a:ln w="12700">
            <a:solidFill>
              <a:srgbClr val="C7D3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2991430"/>
            <a:ext cx="10727360" cy="3810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3029530"/>
            <a:ext cx="137160" cy="9525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3029530"/>
            <a:ext cx="9525" cy="75438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321720" y="3029530"/>
            <a:ext cx="137160" cy="9525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449355" y="3029530"/>
            <a:ext cx="9525" cy="75438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6780" y="3143830"/>
            <a:ext cx="103997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 i="0">
                <a:solidFill>
                  <a:srgbClr val="142F4C"/>
                </a:solidFill>
                <a:latin typeface="Georgia"/>
              </a:rPr>
              <a:t>Attach a domain to a field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6780" y="3493830"/>
            <a:ext cx="10399700" cy="4383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00" b="0" i="0">
                <a:solidFill>
                  <a:srgbClr val="4A5A6A"/>
                </a:solidFill>
                <a:latin typeface="Georgia"/>
              </a:rPr>
              <a:t>Pick a Text field with a small set of valid values and constrain it with a coded-value domain.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077860"/>
            <a:ext cx="10727360" cy="1040710"/>
          </a:xfrm>
          <a:prstGeom prst="rect">
            <a:avLst/>
          </a:prstGeom>
          <a:solidFill>
            <a:srgbClr val="EFF3F7"/>
          </a:solidFill>
          <a:ln w="12700">
            <a:solidFill>
              <a:srgbClr val="C7D3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" y="4077860"/>
            <a:ext cx="10727360" cy="3810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1520" y="4115960"/>
            <a:ext cx="137160" cy="9525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1520" y="4115960"/>
            <a:ext cx="9525" cy="75438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321720" y="4115960"/>
            <a:ext cx="137160" cy="9525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449355" y="4115960"/>
            <a:ext cx="9525" cy="75438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6780" y="4230260"/>
            <a:ext cx="103997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 i="0">
                <a:solidFill>
                  <a:srgbClr val="142F4C"/>
                </a:solidFill>
                <a:latin typeface="Georgia"/>
              </a:rPr>
              <a:t>Summarize your results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6780" y="4580260"/>
            <a:ext cx="10399700" cy="4383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00" b="0" i="0">
                <a:solidFill>
                  <a:srgbClr val="4A5A6A"/>
                </a:solidFill>
                <a:latin typeface="Georgia"/>
              </a:rPr>
              <a:t>Run Summary Statistics on your finished feature class, grouped by a category field, and see what it tells you.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6ED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092000" y="5758000"/>
            <a:ext cx="2800000" cy="28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92000" y="5058000"/>
            <a:ext cx="4200000" cy="42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92000" y="4358000"/>
            <a:ext cx="5600000" cy="56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92000" y="3658000"/>
            <a:ext cx="7000000" cy="70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00000"/>
            <a:ext cx="10820400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1C7C8C"/>
                </a:solidFill>
                <a:latin typeface="Consolas"/>
              </a:rPr>
              <a:t>KNOWLEDGE CHECK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0000"/>
            <a:ext cx="1082040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142F4C"/>
                </a:solidFill>
                <a:latin typeface="Georgia"/>
              </a:rPr>
              <a:t>Quick check</a:t>
            </a:r>
          </a:p>
        </p:txBody>
      </p:sp>
      <p:sp>
        <p:nvSpPr>
          <p:cNvPr id="9" name="Rectangle 8"/>
          <p:cNvSpPr/>
          <p:nvPr/>
        </p:nvSpPr>
        <p:spPr>
          <a:xfrm>
            <a:off x="736600" y="1194800"/>
            <a:ext cx="609600" cy="3810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14800"/>
            <a:ext cx="108204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1">
                <a:solidFill>
                  <a:srgbClr val="4A5A6A"/>
                </a:solidFill>
                <a:latin typeface="Georgia"/>
              </a:rPr>
              <a:t>Click each card to reveal the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64922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6E6E6E"/>
                </a:solidFill>
                <a:latin typeface="Georgia"/>
              </a:rPr>
              <a:t>ArcGIS | Tabular Data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600" y="6489700"/>
            <a:ext cx="355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 i="0">
                <a:solidFill>
                  <a:srgbClr val="6E6E6E"/>
                </a:solidFill>
                <a:latin typeface="Georgia"/>
              </a:rPr>
              <a:t>35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050000"/>
            <a:ext cx="3442453" cy="2020000"/>
          </a:xfrm>
          <a:prstGeom prst="rect">
            <a:avLst/>
          </a:prstGeom>
          <a:solidFill>
            <a:srgbClr val="EFF3F7"/>
          </a:solidFill>
          <a:ln w="12700">
            <a:solidFill>
              <a:srgbClr val="C7D3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2050000"/>
            <a:ext cx="3442453" cy="3810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6780" y="2211600"/>
            <a:ext cx="3091933" cy="686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000" b="1" i="0">
                <a:solidFill>
                  <a:srgbClr val="142F4C"/>
                </a:solidFill>
                <a:latin typeface="Georgia"/>
              </a:rPr>
              <a:t>What two things does a CSV need before Display XY Data can turn it into points?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6780" y="2979200"/>
            <a:ext cx="3091933" cy="96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950" b="0" i="0">
                <a:solidFill>
                  <a:srgbClr val="0F2E4D"/>
                </a:solidFill>
                <a:latin typeface="Georgia"/>
              </a:rPr>
              <a:t>Numeric X (longitude) and Y (latitude) columns — or a single complete address field to geocode.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6780" y="2979200"/>
            <a:ext cx="3091933" cy="969600"/>
          </a:xfrm>
          <a:prstGeom prst="rect">
            <a:avLst/>
          </a:prstGeom>
          <a:solidFill>
            <a:srgbClr val="E6EDF3"/>
          </a:solidFill>
          <a:ln w="12700">
            <a:solidFill>
              <a:srgbClr val="1C7C8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6780" y="2979200"/>
            <a:ext cx="3091933" cy="96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1C7C8C"/>
                </a:solidFill>
                <a:latin typeface="Georgia"/>
              </a:rPr>
              <a:t>Click to reveal answer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73973" y="2050000"/>
            <a:ext cx="3442453" cy="2020000"/>
          </a:xfrm>
          <a:prstGeom prst="rect">
            <a:avLst/>
          </a:prstGeom>
          <a:solidFill>
            <a:srgbClr val="EFF3F7"/>
          </a:solidFill>
          <a:ln w="12700">
            <a:solidFill>
              <a:srgbClr val="C7D3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73973" y="2050000"/>
            <a:ext cx="3442453" cy="3810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49233" y="2211600"/>
            <a:ext cx="3091933" cy="686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000" b="1" i="0">
                <a:solidFill>
                  <a:srgbClr val="142F4C"/>
                </a:solidFill>
                <a:latin typeface="Georgia"/>
              </a:rPr>
              <a:t>Why can't you edit the geometry of an XY event layer directly?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49233" y="2979200"/>
            <a:ext cx="3091933" cy="96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950" b="0" i="0">
                <a:solidFill>
                  <a:srgbClr val="0F2E4D"/>
                </a:solidFill>
                <a:latin typeface="Georgia"/>
              </a:rPr>
              <a:t>It's a live view over the table's coordinate values, not real stored geometry — there's nothing to digitize yet.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49233" y="2979200"/>
            <a:ext cx="3091933" cy="969600"/>
          </a:xfrm>
          <a:prstGeom prst="rect">
            <a:avLst/>
          </a:prstGeom>
          <a:solidFill>
            <a:srgbClr val="E6EDF3"/>
          </a:solidFill>
          <a:ln w="12700">
            <a:solidFill>
              <a:srgbClr val="1C7C8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49233" y="2979200"/>
            <a:ext cx="3091933" cy="96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1C7C8C"/>
                </a:solidFill>
                <a:latin typeface="Georgia"/>
              </a:rPr>
              <a:t>Click to reveal answer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16426" y="2050000"/>
            <a:ext cx="3442453" cy="2020000"/>
          </a:xfrm>
          <a:prstGeom prst="rect">
            <a:avLst/>
          </a:prstGeom>
          <a:solidFill>
            <a:srgbClr val="EFF3F7"/>
          </a:solidFill>
          <a:ln w="12700">
            <a:solidFill>
              <a:srgbClr val="C7D3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16426" y="2050000"/>
            <a:ext cx="3442453" cy="3810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91686" y="2211600"/>
            <a:ext cx="3091933" cy="686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000" b="1" i="0">
                <a:solidFill>
                  <a:srgbClr val="142F4C"/>
                </a:solidFill>
                <a:latin typeface="Georgia"/>
              </a:rPr>
              <a:t>Your table has addresses but no coordinates at all. What tool gets you to points?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91686" y="2979200"/>
            <a:ext cx="3091933" cy="96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950" b="0" i="0">
                <a:solidFill>
                  <a:srgbClr val="0F2E4D"/>
                </a:solidFill>
                <a:latin typeface="Georgia"/>
              </a:rPr>
              <a:t>Geocode Addresses — it matches each address against a locator and returns a match score, not a guaranteed hit.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91686" y="2979200"/>
            <a:ext cx="3091933" cy="969600"/>
          </a:xfrm>
          <a:prstGeom prst="rect">
            <a:avLst/>
          </a:prstGeom>
          <a:solidFill>
            <a:srgbClr val="E6EDF3"/>
          </a:solidFill>
          <a:ln w="12700">
            <a:solidFill>
              <a:srgbClr val="1C7C8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91686" y="2979200"/>
            <a:ext cx="3091933" cy="96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1C7C8C"/>
                </a:solidFill>
                <a:latin typeface="Georgia"/>
              </a:rPr>
              <a:t>Click to reveal answer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4200000"/>
            <a:ext cx="3442453" cy="2020000"/>
          </a:xfrm>
          <a:prstGeom prst="rect">
            <a:avLst/>
          </a:prstGeom>
          <a:solidFill>
            <a:srgbClr val="EFF3F7"/>
          </a:solidFill>
          <a:ln w="12700">
            <a:solidFill>
              <a:srgbClr val="C7D3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1520" y="4200000"/>
            <a:ext cx="3442453" cy="3810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6780" y="4361600"/>
            <a:ext cx="3091933" cy="686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000" b="1" i="0">
                <a:solidFill>
                  <a:srgbClr val="142F4C"/>
                </a:solidFill>
                <a:latin typeface="Georgia"/>
              </a:rPr>
              <a:t>You need a field to hold a value like “Downtown” or “Suburban.” Which field type fits?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6780" y="5129200"/>
            <a:ext cx="3091933" cy="96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950" b="0" i="0">
                <a:solidFill>
                  <a:srgbClr val="0F2E4D"/>
                </a:solidFill>
                <a:latin typeface="Georgia"/>
              </a:rPr>
              <a:t>Text (String) — it's a category, not a number you'd calculate with.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6780" y="5129200"/>
            <a:ext cx="3091933" cy="969600"/>
          </a:xfrm>
          <a:prstGeom prst="rect">
            <a:avLst/>
          </a:prstGeom>
          <a:solidFill>
            <a:srgbClr val="E6EDF3"/>
          </a:solidFill>
          <a:ln w="12700">
            <a:solidFill>
              <a:srgbClr val="1C7C8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6780" y="5129200"/>
            <a:ext cx="3091933" cy="96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1C7C8C"/>
                </a:solidFill>
                <a:latin typeface="Georgia"/>
              </a:rPr>
              <a:t>Click to reveal answer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73973" y="4200000"/>
            <a:ext cx="3442453" cy="2020000"/>
          </a:xfrm>
          <a:prstGeom prst="rect">
            <a:avLst/>
          </a:prstGeom>
          <a:solidFill>
            <a:srgbClr val="EFF3F7"/>
          </a:solidFill>
          <a:ln w="12700">
            <a:solidFill>
              <a:srgbClr val="C7D3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373973" y="4200000"/>
            <a:ext cx="3442453" cy="3810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49233" y="4361600"/>
            <a:ext cx="3091933" cy="686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000" b="1" i="0">
                <a:solidFill>
                  <a:srgbClr val="142F4C"/>
                </a:solidFill>
                <a:latin typeface="Georgia"/>
              </a:rPr>
              <a:t>How do you stop someone from typing “Recreaton” instead of “Recreation” into a field?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49233" y="5129200"/>
            <a:ext cx="3091933" cy="96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950" b="0" i="0">
                <a:solidFill>
                  <a:srgbClr val="0F2E4D"/>
                </a:solidFill>
                <a:latin typeface="Georgia"/>
              </a:rPr>
              <a:t>Attach a coded-value domain to the field so only an approved list of values can be entered.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49233" y="5129200"/>
            <a:ext cx="3091933" cy="969600"/>
          </a:xfrm>
          <a:prstGeom prst="rect">
            <a:avLst/>
          </a:prstGeom>
          <a:solidFill>
            <a:srgbClr val="E6EDF3"/>
          </a:solidFill>
          <a:ln w="12700">
            <a:solidFill>
              <a:srgbClr val="1C7C8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49233" y="5129200"/>
            <a:ext cx="3091933" cy="96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1C7C8C"/>
                </a:solidFill>
                <a:latin typeface="Georgia"/>
              </a:rPr>
              <a:t>Click to reveal answer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16426" y="4200000"/>
            <a:ext cx="3442453" cy="2020000"/>
          </a:xfrm>
          <a:prstGeom prst="rect">
            <a:avLst/>
          </a:prstGeom>
          <a:solidFill>
            <a:srgbClr val="EFF3F7"/>
          </a:solidFill>
          <a:ln w="12700">
            <a:solidFill>
              <a:srgbClr val="C7D3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16426" y="4200000"/>
            <a:ext cx="3442453" cy="3810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91686" y="4361600"/>
            <a:ext cx="3091933" cy="686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000" b="1" i="0">
                <a:solidFill>
                  <a:srgbClr val="142F4C"/>
                </a:solidFill>
                <a:latin typeface="Georgia"/>
              </a:rPr>
              <a:t>How do you populate a new field for every row at once instead of typing values by hand?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91686" y="5129200"/>
            <a:ext cx="3091933" cy="96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950" b="0" i="0">
                <a:solidFill>
                  <a:srgbClr val="0F2E4D"/>
                </a:solidFill>
                <a:latin typeface="Georgia"/>
              </a:rPr>
              <a:t>Open the Field Calculator on the field and write an expression — it runs once and fills every row.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191686" y="5129200"/>
            <a:ext cx="3091933" cy="969600"/>
          </a:xfrm>
          <a:prstGeom prst="rect">
            <a:avLst/>
          </a:prstGeom>
          <a:solidFill>
            <a:srgbClr val="E6EDF3"/>
          </a:solidFill>
          <a:ln w="12700">
            <a:solidFill>
              <a:srgbClr val="1C7C8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191686" y="5129200"/>
            <a:ext cx="3091933" cy="96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1C7C8C"/>
                </a:solidFill>
                <a:latin typeface="Georgia"/>
              </a:rPr>
              <a:t>Click to reveal answer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6" restart="whenNotActive" fill="hold" nodeType="interactiveSeq">
                <p:stCondLst>
                  <p:cond evt="onClick" delay="0">
                    <p:tgtEl>
                      <p:spTgt spid="13"/>
                    </p:tgtEl>
                  </p:cond>
                  <p:cond evt="onClick" delay="0">
                    <p:tgtEl>
                      <p:spTgt spid="17"/>
                    </p:tgtEl>
                  </p:cond>
                  <p:cond evt="onClick" delay="0">
                    <p:tgtEl>
                      <p:spTgt spid="18"/>
                    </p:tgtEl>
                  </p:cond>
                </p:stCondLst>
                <p:childTnLst>
                  <p:par>
                    <p:cTn id="107" fill="hold">
                      <p:stCondLst>
                        <p:cond delay="0"/>
                      </p:stCondLst>
                      <p:childTnLst>
                        <p:par>
                          <p:cTn id="100" presetID="1" presetClass="exit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102" presetID="1" presetClass="exit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104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14" restart="whenNotActive" fill="hold" nodeType="interactiveSeq">
                <p:stCondLst>
                  <p:cond evt="onClick" delay="0">
                    <p:tgtEl>
                      <p:spTgt spid="19"/>
                    </p:tgtEl>
                  </p:cond>
                  <p:cond evt="onClick" delay="0">
                    <p:tgtEl>
                      <p:spTgt spid="23"/>
                    </p:tgtEl>
                  </p:cond>
                  <p:cond evt="onClick" delay="0">
                    <p:tgtEl>
                      <p:spTgt spid="24"/>
                    </p:tgtEl>
                  </p:cond>
                </p:stCondLst>
                <p:childTnLst>
                  <p:par>
                    <p:cTn id="115" fill="hold">
                      <p:stCondLst>
                        <p:cond delay="0"/>
                      </p:stCondLst>
                      <p:childTnLst>
                        <p:par>
                          <p:cTn id="108" presetID="1" presetClass="exit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110" presetID="1" presetClass="exit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112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22" restart="whenNotActive" fill="hold" nodeType="interactiveSeq">
                <p:stCondLst>
                  <p:cond evt="onClick" delay="0">
                    <p:tgtEl>
                      <p:spTgt spid="25"/>
                    </p:tgtEl>
                  </p:cond>
                  <p:cond evt="onClick" delay="0">
                    <p:tgtEl>
                      <p:spTgt spid="29"/>
                    </p:tgtEl>
                  </p:cond>
                  <p:cond evt="onClick" delay="0">
                    <p:tgtEl>
                      <p:spTgt spid="30"/>
                    </p:tgtEl>
                  </p:cond>
                </p:stCondLst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16" presetID="1" presetClass="exit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118" presetID="1" presetClass="exit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120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0" restart="whenNotActive" fill="hold" nodeType="interactiveSeq">
                <p:stCondLst>
                  <p:cond evt="onClick" delay="0">
                    <p:tgtEl>
                      <p:spTgt spid="31"/>
                    </p:tgtEl>
                  </p:cond>
                  <p:cond evt="onClick" delay="0">
                    <p:tgtEl>
                      <p:spTgt spid="35"/>
                    </p:tgtEl>
                  </p:cond>
                  <p:cond evt="onClick" delay="0">
                    <p:tgtEl>
                      <p:spTgt spid="36"/>
                    </p:tgtEl>
                  </p:cond>
                </p:stCondLst>
                <p:childTnLst>
                  <p:par>
                    <p:cTn id="131" fill="hold">
                      <p:stCondLst>
                        <p:cond delay="0"/>
                      </p:stCondLst>
                      <p:childTnLst>
                        <p:par>
                          <p:cTn id="124" presetID="1" presetClass="exit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126" presetID="1" presetClass="exit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128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8" restart="whenNotActive" fill="hold" nodeType="interactiveSeq">
                <p:stCondLst>
                  <p:cond evt="onClick" delay="0">
                    <p:tgtEl>
                      <p:spTgt spid="37"/>
                    </p:tgtEl>
                  </p:cond>
                  <p:cond evt="onClick" delay="0">
                    <p:tgtEl>
                      <p:spTgt spid="41"/>
                    </p:tgtEl>
                  </p:cond>
                  <p:cond evt="onClick" delay="0">
                    <p:tgtEl>
                      <p:spTgt spid="42"/>
                    </p:tgtEl>
                  </p:cond>
                </p:stCondLst>
                <p:childTnLst>
                  <p:par>
                    <p:cTn id="139" fill="hold">
                      <p:stCondLst>
                        <p:cond delay="0"/>
                      </p:stCondLst>
                      <p:childTnLst>
                        <p:par>
                          <p:cTn id="132" presetID="1" presetClass="exit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134" presetID="1" presetClass="exit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136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46" restart="whenNotActive" fill="hold" nodeType="interactiveSeq">
                <p:stCondLst>
                  <p:cond evt="onClick" delay="0">
                    <p:tgtEl>
                      <p:spTgt spid="43"/>
                    </p:tgtEl>
                  </p:cond>
                  <p:cond evt="onClick" delay="0">
                    <p:tgtEl>
                      <p:spTgt spid="47"/>
                    </p:tgtEl>
                  </p:cond>
                  <p:cond evt="onClick" delay="0">
                    <p:tgtEl>
                      <p:spTgt spid="48"/>
                    </p:tgtEl>
                  </p:cond>
                </p:stCondLst>
                <p:childTnLst>
                  <p:par>
                    <p:cTn id="147" fill="hold">
                      <p:stCondLst>
                        <p:cond delay="0"/>
                      </p:stCondLst>
                      <p:childTnLst>
                        <p:par>
                          <p:cTn id="140" presetID="1" presetClass="exit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142" presetID="1" presetClass="exit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144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6ED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092000" y="5758000"/>
            <a:ext cx="2800000" cy="28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92000" y="5058000"/>
            <a:ext cx="4200000" cy="42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92000" y="4358000"/>
            <a:ext cx="5600000" cy="56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92000" y="3658000"/>
            <a:ext cx="7000000" cy="7000000"/>
          </a:xfrm>
          <a:prstGeom prst="ellipse">
            <a:avLst/>
          </a:prstGeom>
          <a:noFill/>
          <a:ln w="9525">
            <a:solidFill>
              <a:srgbClr val="D3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00000"/>
            <a:ext cx="10820400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1C7C8C"/>
                </a:solidFill>
                <a:latin typeface="Consolas"/>
              </a:rPr>
              <a:t>RECAP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0000"/>
            <a:ext cx="1082040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142F4C"/>
                </a:solidFill>
                <a:latin typeface="Georgia"/>
              </a:rPr>
              <a:t>Recap — and what's next</a:t>
            </a:r>
          </a:p>
        </p:txBody>
      </p:sp>
      <p:sp>
        <p:nvSpPr>
          <p:cNvPr id="9" name="Rectangle 8"/>
          <p:cNvSpPr/>
          <p:nvPr/>
        </p:nvSpPr>
        <p:spPr>
          <a:xfrm>
            <a:off x="736600" y="1194800"/>
            <a:ext cx="609600" cy="3810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14800"/>
            <a:ext cx="108204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1">
                <a:solidFill>
                  <a:srgbClr val="4A5A6A"/>
                </a:solidFill>
                <a:latin typeface="Georgia"/>
              </a:rPr>
              <a:t>You can now bring tabular data into ArcGIS Pro and make it fully usable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64922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6E6E6E"/>
                </a:solidFill>
                <a:latin typeface="Georgia"/>
              </a:rPr>
              <a:t>ArcGIS | Tabular Data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600" y="6489700"/>
            <a:ext cx="355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 i="0">
                <a:solidFill>
                  <a:srgbClr val="6E6E6E"/>
                </a:solidFill>
                <a:latin typeface="Georgia"/>
              </a:rPr>
              <a:t>36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1980000"/>
            <a:ext cx="6900000" cy="830000"/>
          </a:xfrm>
          <a:prstGeom prst="rect">
            <a:avLst/>
          </a:prstGeom>
          <a:solidFill>
            <a:srgbClr val="EFF3F7"/>
          </a:solidFill>
          <a:ln w="12700">
            <a:solidFill>
              <a:srgbClr val="C7D3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1980000"/>
            <a:ext cx="38100" cy="83000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8220" y="2079600"/>
            <a:ext cx="6366600" cy="3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 i="0">
                <a:solidFill>
                  <a:srgbClr val="142F4C"/>
                </a:solidFill>
                <a:latin typeface="Georgia"/>
              </a:rPr>
              <a:t>Coordinates need X/Y or an address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8220" y="2395000"/>
            <a:ext cx="6366600" cy="381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50" b="0" i="0">
                <a:solidFill>
                  <a:srgbClr val="4A5A6A"/>
                </a:solidFill>
                <a:latin typeface="Georgia"/>
              </a:rPr>
              <a:t>A CSV becomes mappable with numeric longitude/latitude columns, or a complete address ArcGIS Pro can geocode.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865000"/>
            <a:ext cx="6900000" cy="830000"/>
          </a:xfrm>
          <a:prstGeom prst="rect">
            <a:avLst/>
          </a:prstGeom>
          <a:solidFill>
            <a:srgbClr val="EFF3F7"/>
          </a:solidFill>
          <a:ln w="12700">
            <a:solidFill>
              <a:srgbClr val="C7D3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2865000"/>
            <a:ext cx="38100" cy="83000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8220" y="2964600"/>
            <a:ext cx="6366600" cy="3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 i="0">
                <a:solidFill>
                  <a:srgbClr val="142F4C"/>
                </a:solidFill>
                <a:latin typeface="Georgia"/>
              </a:rPr>
              <a:t>Event layers are a temporary bridge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8220" y="3280000"/>
            <a:ext cx="6366600" cy="381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50" b="0" i="0">
                <a:solidFill>
                  <a:srgbClr val="4A5A6A"/>
                </a:solidFill>
                <a:latin typeface="Georgia"/>
              </a:rPr>
              <a:t>Display XY Data gets you looking at points fast, but it's a live view over the table — not permanent geometry.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750000"/>
            <a:ext cx="6900000" cy="830000"/>
          </a:xfrm>
          <a:prstGeom prst="rect">
            <a:avLst/>
          </a:prstGeom>
          <a:solidFill>
            <a:srgbClr val="EFF3F7"/>
          </a:solidFill>
          <a:ln w="12700">
            <a:solidFill>
              <a:srgbClr val="C7D3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3750000"/>
            <a:ext cx="38100" cy="83000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8220" y="3849600"/>
            <a:ext cx="6366600" cy="3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 i="0">
                <a:solidFill>
                  <a:srgbClr val="142F4C"/>
                </a:solidFill>
                <a:latin typeface="Georgia"/>
              </a:rPr>
              <a:t>Export Features makes it permanent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8220" y="4165000"/>
            <a:ext cx="6366600" cy="381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50" b="0" i="0">
                <a:solidFill>
                  <a:srgbClr val="4A5A6A"/>
                </a:solidFill>
                <a:latin typeface="Georgia"/>
              </a:rPr>
              <a:t>Exporting to a geodatabase feature class gives you real, editable geometry with a spatial index.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635000"/>
            <a:ext cx="6900000" cy="830000"/>
          </a:xfrm>
          <a:prstGeom prst="rect">
            <a:avLst/>
          </a:prstGeom>
          <a:solidFill>
            <a:srgbClr val="EFF3F7"/>
          </a:solidFill>
          <a:ln w="12700">
            <a:solidFill>
              <a:srgbClr val="C7D3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4635000"/>
            <a:ext cx="38100" cy="83000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8220" y="4734600"/>
            <a:ext cx="6366600" cy="3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 i="0">
                <a:solidFill>
                  <a:srgbClr val="142F4C"/>
                </a:solidFill>
                <a:latin typeface="Georgia"/>
              </a:rPr>
              <a:t>Field types shape the 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8220" y="5050000"/>
            <a:ext cx="6366600" cy="381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50" b="0" i="0">
                <a:solidFill>
                  <a:srgbClr val="4A5A6A"/>
                </a:solidFill>
                <a:latin typeface="Georgia"/>
              </a:rPr>
              <a:t>Text, Short/Long Integer, Float/Double, and Date each sort, display, and calculate differently — choose deliberately.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5520000"/>
            <a:ext cx="6900000" cy="830000"/>
          </a:xfrm>
          <a:prstGeom prst="rect">
            <a:avLst/>
          </a:prstGeom>
          <a:solidFill>
            <a:srgbClr val="EFF3F7"/>
          </a:solidFill>
          <a:ln w="12700">
            <a:solidFill>
              <a:srgbClr val="C7D3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" y="5520000"/>
            <a:ext cx="38100" cy="83000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8220" y="5619600"/>
            <a:ext cx="6366600" cy="3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 i="0">
                <a:solidFill>
                  <a:srgbClr val="142F4C"/>
                </a:solidFill>
                <a:latin typeface="Georgia"/>
              </a:rPr>
              <a:t>The Field Calculator scales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8220" y="5935000"/>
            <a:ext cx="6366600" cy="381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50" b="0" i="0">
                <a:solidFill>
                  <a:srgbClr val="4A5A6A"/>
                </a:solidFill>
                <a:latin typeface="Georgia"/>
              </a:rPr>
              <a:t>One expression, written once, can populate a field for every row — arithmetic, text, or full conditional logic.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31520" y="1980000"/>
            <a:ext cx="3627360" cy="4370000"/>
          </a:xfrm>
          <a:prstGeom prst="rect">
            <a:avLst/>
          </a:prstGeom>
          <a:solidFill>
            <a:srgbClr val="EFF3F7"/>
          </a:solidFill>
          <a:ln w="12700">
            <a:solidFill>
              <a:srgbClr val="C7D3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831520" y="1980000"/>
            <a:ext cx="3627360" cy="38100"/>
          </a:xfrm>
          <a:prstGeom prst="rect">
            <a:avLst/>
          </a:prstGeom>
          <a:solidFill>
            <a:srgbClr val="E08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06780" y="2190000"/>
            <a:ext cx="327736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42F4C"/>
                </a:solidFill>
                <a:latin typeface="Georgia"/>
              </a:rPr>
              <a:t>Up next: Cartographic Principles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06780" y="2750000"/>
            <a:ext cx="3277360" cy="1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0" i="0">
                <a:solidFill>
                  <a:srgbClr val="4A5A6A"/>
                </a:solidFill>
                <a:latin typeface="Georgia"/>
              </a:rPr>
              <a:t>Now that your data is properly stored and attributed, the next lesson turns it into a map that communicates clearly — the principles of cartographic design, from visual hierarchy to color and typography choices.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