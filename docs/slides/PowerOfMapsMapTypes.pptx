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94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93" r:id="rId16"/>
    <p:sldId id="269" r:id="rId17"/>
    <p:sldId id="270" r:id="rId18"/>
    <p:sldId id="271" r:id="rId19"/>
    <p:sldId id="298" r:id="rId20"/>
    <p:sldId id="299" r:id="rId21"/>
    <p:sldId id="300" r:id="rId22"/>
    <p:sldId id="272" r:id="rId23"/>
    <p:sldId id="309" r:id="rId24"/>
    <p:sldId id="310" r:id="rId25"/>
    <p:sldId id="311" r:id="rId26"/>
    <p:sldId id="312" r:id="rId27"/>
    <p:sldId id="313" r:id="rId28"/>
    <p:sldId id="314" r:id="rId29"/>
    <p:sldId id="273" r:id="rId30"/>
    <p:sldId id="315" r:id="rId31"/>
    <p:sldId id="302" r:id="rId32"/>
    <p:sldId id="303" r:id="rId33"/>
    <p:sldId id="274" r:id="rId34"/>
    <p:sldId id="304" r:id="rId35"/>
    <p:sldId id="305" r:id="rId36"/>
    <p:sldId id="306" r:id="rId37"/>
    <p:sldId id="307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308" r:id="rId51"/>
    <p:sldId id="287" r:id="rId52"/>
    <p:sldId id="288" r:id="rId53"/>
    <p:sldId id="289" r:id="rId54"/>
    <p:sldId id="301" r:id="rId55"/>
    <p:sldId id="290" r:id="rId56"/>
    <p:sldId id="295" r:id="rId57"/>
    <p:sldId id="296" r:id="rId58"/>
    <p:sldId id="297" r:id="rId59"/>
    <p:sldId id="291" r:id="rId6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62"/>
      <p:bold r:id="rId63"/>
      <p:italic r:id="rId64"/>
      <p:boldItalic r:id="rId65"/>
    </p:embeddedFont>
    <p:embeddedFont>
      <p:font typeface="Georgia" panose="02040502050405020303" pitchFamily="18" charset="0"/>
      <p:regular r:id="rId66"/>
      <p:bold r:id="rId67"/>
      <p:italic r:id="rId68"/>
      <p:bold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jRJrNYfYdByJW7wToU9Kg0a4SA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" name="Google Shape;46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6" name="Google Shape;57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5" name="Google Shape;73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1" name="Google Shape;79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1" name="Google Shape;82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" name="Google Shape;85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0" name="Google Shape;88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0" name="Google Shape;900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" name="Google Shape;92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0" name="Google Shape;95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slide" Target="slide29.xml"/><Relationship Id="rId3" Type="http://schemas.openxmlformats.org/officeDocument/2006/relationships/slide" Target="slide4.xml"/><Relationship Id="rId7" Type="http://schemas.openxmlformats.org/officeDocument/2006/relationships/slide" Target="slide11.xml"/><Relationship Id="rId12" Type="http://schemas.openxmlformats.org/officeDocument/2006/relationships/slide" Target="slide22.xml"/><Relationship Id="rId17" Type="http://schemas.openxmlformats.org/officeDocument/2006/relationships/slide" Target="slide59.xml"/><Relationship Id="rId2" Type="http://schemas.openxmlformats.org/officeDocument/2006/relationships/slide" Target="slide3.xml"/><Relationship Id="rId16" Type="http://schemas.openxmlformats.org/officeDocument/2006/relationships/slide" Target="slide5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11" Type="http://schemas.openxmlformats.org/officeDocument/2006/relationships/slide" Target="slide17.xml"/><Relationship Id="rId5" Type="http://schemas.openxmlformats.org/officeDocument/2006/relationships/slide" Target="slide6.xml"/><Relationship Id="rId15" Type="http://schemas.openxmlformats.org/officeDocument/2006/relationships/slide" Target="slide38.xml"/><Relationship Id="rId10" Type="http://schemas.openxmlformats.org/officeDocument/2006/relationships/slide" Target="slide16.xml"/><Relationship Id="rId4" Type="http://schemas.openxmlformats.org/officeDocument/2006/relationships/slide" Target="slide5.xml"/><Relationship Id="rId9" Type="http://schemas.openxmlformats.org/officeDocument/2006/relationships/slide" Target="slide15.xml"/><Relationship Id="rId14" Type="http://schemas.openxmlformats.org/officeDocument/2006/relationships/slide" Target="slide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arshaw_Area_USGS_Topographical_Map.JPG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streetmap.org/copyright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google/brand-resource-center/products-and-services/geo-guidelines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untries_by_GDP_(PPP)_per_capita_in_2017.png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hange_in_Average_Temperature.png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-incidence-of-malaria-per-1000-population.jpg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Wheat_production,_2022.png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Voter_turnout_2020_Map_.jpg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untries_by_Human_Development_Index_(2021)_2.png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new.mta.info/map/5256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heck-in-_und_Gate-Bereiche_VIE.png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MSU_campus_map_rev3.png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Serio-Comic_War_Map_For_The_Year_1877.jpg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Stanford%E2%80%99s_Geographical_Establishment,_What_Germany_Wants_1917_Cornell_CUL_PJM_1199_01.jpg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Global_pattern_of_the_Red_Offensive,_1962.jpg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lonial_problem,_1947.jpg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mmons.wikimedia.org/wiki/File:Hdi2023map.png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mmons.wikimedia.org/wiki/File:Average_precipitation_in_the_lower_48_states_of_the_USA.png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mmons.wikimedia.org/wiki/File:Map_of_earthquakes_1900-.svg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mmons.wikimedia.org/wiki/File:Dot_map_black_hispanic.png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ravel_Time_Tube_Map_-_High_Barnet.png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mmons.wikimedia.org/wiki/File:Lightning_Flash_Density_24.gif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arthobservatory.nasa.gov/images/7205/urban-heat-island-atlanta-georgia" TargetMode="Externa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Sample_of_time_geographical_description.png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AWT_map_Stevage.png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371/journal.pone.0102001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Connector 62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6;p1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noFill/>
          <a:ln w="15875" cap="flat" cmpd="sng">
            <a:solidFill>
              <a:srgbClr val="39FF88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06640" y="-365760"/>
            <a:ext cx="2286000" cy="2286000"/>
          </a:xfrm>
          <a:prstGeom prst="ellipse">
            <a:avLst/>
          </a:prstGeom>
          <a:noFill/>
          <a:ln w="15875" cap="flat" cmpd="sng">
            <a:solidFill>
              <a:srgbClr val="4FD6E8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noFill/>
          <a:ln w="15875" cap="flat" cmpd="sng">
            <a:solidFill>
              <a:srgbClr val="4FD6E8">
                <a:alpha val="219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850000"/>
            <a:ext cx="65836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4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Power of Maps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4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&amp; Map Types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624340"/>
            <a:ext cx="68580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Power of Maps  •  Map Types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264872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04672" y="3264872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152144" y="3264872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499616" y="3264872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847088" y="3264872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97752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39FF88"/>
                </a:solidFill>
                <a:latin typeface="Georgia"/>
              </a:rPr>
              <a:t>JUMP TO A SECTION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87772"/>
            <a:ext cx="8229600" cy="32004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hlinkClick r:id="rId3" action="ppaction://hlinksldjump"/>
          </p:cNvPr>
          <p:cNvSpPr txBox="1"/>
          <p:nvPr/>
        </p:nvSpPr>
        <p:spPr>
          <a:xfrm>
            <a:off x="640080" y="4027792"/>
            <a:ext cx="38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u="sng">
                <a:solidFill>
                  <a:srgbClr val="EAF6EF"/>
                </a:solidFill>
                <a:latin typeface="Georgia"/>
              </a:rPr>
              <a:t>01   Power of Maps</a:t>
            </a:r>
          </a:p>
        </p:txBody>
      </p:sp>
      <p:sp>
        <p:nvSpPr>
          <p:cNvPr id="33" name="TextBox 32">
            <a:hlinkClick r:id="rId4" action="ppaction://hlinksldjump"/>
          </p:cNvPr>
          <p:cNvSpPr txBox="1"/>
          <p:nvPr/>
        </p:nvSpPr>
        <p:spPr>
          <a:xfrm>
            <a:off x="4600000" y="4027792"/>
            <a:ext cx="38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 u="sng">
                <a:solidFill>
                  <a:srgbClr val="EAF6EF"/>
                </a:solidFill>
                <a:latin typeface="Georgia"/>
              </a:rPr>
              <a:t>02   Map Types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3484" y="3356312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8640" y="3251156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0956" y="3356312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96112" y="3251156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38428" y="3356312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43584" y="3251156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85900" y="3356312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91056" y="3251156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833372" y="3356312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938528" y="3251156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01/59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Connector 38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EAF6EF"/>
                </a:solidFill>
                <a:latin typeface="Georgia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813816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B9C9C2"/>
                </a:solidFill>
                <a:latin typeface="Georgia"/>
              </a:rPr>
              <a:t>Two sections, each broken into its own sub-topics — click any of them to jump straight there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30000"/>
            <a:ext cx="8449056" cy="9525"/>
          </a:xfrm>
          <a:prstGeom prst="rect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02/59</a:t>
            </a:r>
          </a:p>
        </p:txBody>
      </p:sp>
      <p:sp>
        <p:nvSpPr>
          <p:cNvPr id="49" name="TextBox 48">
            <a:hlinkClick r:id="rId2" action="ppaction://hlinksldjump"/>
          </p:cNvPr>
          <p:cNvSpPr txBox="1"/>
          <p:nvPr/>
        </p:nvSpPr>
        <p:spPr>
          <a:xfrm>
            <a:off x="347472" y="1210000"/>
            <a:ext cx="395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39FF88"/>
                </a:solidFill>
                <a:latin typeface="Georgia"/>
              </a:rPr>
              <a:t>SECTION 01 · POWER OF MAPS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" y="1575000"/>
            <a:ext cx="3950000" cy="0"/>
          </a:xfrm>
          <a:prstGeom prst="line">
            <a:avLst/>
          </a:prstGeom>
          <a:ln w="6350">
            <a:solidFill>
              <a:srgbClr val="1E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47472" y="161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52" name="TextBox 51">
            <a:hlinkClick r:id="rId3" action="ppaction://hlinksldjump"/>
          </p:cNvPr>
          <p:cNvSpPr txBox="1"/>
          <p:nvPr/>
        </p:nvSpPr>
        <p:spPr>
          <a:xfrm>
            <a:off x="607472" y="161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Course Materials &amp; Resources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" y="194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54" name="TextBox 53">
            <a:hlinkClick r:id="rId4" action="ppaction://hlinksldjump"/>
          </p:cNvPr>
          <p:cNvSpPr txBox="1"/>
          <p:nvPr/>
        </p:nvSpPr>
        <p:spPr>
          <a:xfrm>
            <a:off x="607472" y="194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Learning Objectives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" y="227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56" name="TextBox 55">
            <a:hlinkClick r:id="rId5" action="ppaction://hlinksldjump"/>
          </p:cNvPr>
          <p:cNvSpPr txBox="1"/>
          <p:nvPr/>
        </p:nvSpPr>
        <p:spPr>
          <a:xfrm>
            <a:off x="607472" y="227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What Is Cartography?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" y="260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58" name="TextBox 57">
            <a:hlinkClick r:id="rId6" action="ppaction://hlinksldjump"/>
          </p:cNvPr>
          <p:cNvSpPr txBox="1"/>
          <p:nvPr/>
        </p:nvSpPr>
        <p:spPr>
          <a:xfrm>
            <a:off x="607472" y="260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The Power of Maps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" y="293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60" name="TextBox 59">
            <a:hlinkClick r:id="rId7" action="ppaction://hlinksldjump"/>
          </p:cNvPr>
          <p:cNvSpPr txBox="1"/>
          <p:nvPr/>
        </p:nvSpPr>
        <p:spPr>
          <a:xfrm>
            <a:off x="607472" y="293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Visualization vs. Communication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7472" y="326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62" name="TextBox 61">
            <a:hlinkClick r:id="rId8" action="ppaction://hlinksldjump"/>
          </p:cNvPr>
          <p:cNvSpPr txBox="1"/>
          <p:nvPr/>
        </p:nvSpPr>
        <p:spPr>
          <a:xfrm>
            <a:off x="607472" y="326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Communicating with Maps</a:t>
            </a:r>
          </a:p>
        </p:txBody>
      </p:sp>
      <p:sp>
        <p:nvSpPr>
          <p:cNvPr id="63" name="TextBox 62">
            <a:hlinkClick r:id="rId9" action="ppaction://hlinksldjump"/>
          </p:cNvPr>
          <p:cNvSpPr txBox="1"/>
          <p:nvPr/>
        </p:nvSpPr>
        <p:spPr>
          <a:xfrm>
            <a:off x="4846528" y="1210000"/>
            <a:ext cx="395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39FF88"/>
                </a:solidFill>
                <a:latin typeface="Georgia"/>
              </a:rPr>
              <a:t>SECTION 02 · MAP TYPES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846528" y="1575000"/>
            <a:ext cx="3950000" cy="0"/>
          </a:xfrm>
          <a:prstGeom prst="line">
            <a:avLst/>
          </a:prstGeom>
          <a:ln w="6350">
            <a:solidFill>
              <a:srgbClr val="1E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846528" y="161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66" name="TextBox 65">
            <a:hlinkClick r:id="rId10" action="ppaction://hlinksldjump"/>
          </p:cNvPr>
          <p:cNvSpPr txBox="1"/>
          <p:nvPr/>
        </p:nvSpPr>
        <p:spPr>
          <a:xfrm>
            <a:off x="5106528" y="161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Types of Maps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6528" y="194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68" name="TextBox 67">
            <a:hlinkClick r:id="rId11" action="ppaction://hlinksldjump"/>
          </p:cNvPr>
          <p:cNvSpPr txBox="1"/>
          <p:nvPr/>
        </p:nvSpPr>
        <p:spPr>
          <a:xfrm>
            <a:off x="5106528" y="194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Reference Maps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6528" y="227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70" name="TextBox 69">
            <a:hlinkClick r:id="rId12" action="ppaction://hlinksldjump"/>
          </p:cNvPr>
          <p:cNvSpPr txBox="1"/>
          <p:nvPr/>
        </p:nvSpPr>
        <p:spPr>
          <a:xfrm>
            <a:off x="5106528" y="227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Thematic Maps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46528" y="260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72" name="TextBox 71">
            <a:hlinkClick r:id="rId13" action="ppaction://hlinksldjump"/>
          </p:cNvPr>
          <p:cNvSpPr txBox="1"/>
          <p:nvPr/>
        </p:nvSpPr>
        <p:spPr>
          <a:xfrm>
            <a:off x="5106528" y="260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Pragmatic Maps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46528" y="293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74" name="TextBox 73">
            <a:hlinkClick r:id="rId14" action="ppaction://hlinksldjump"/>
          </p:cNvPr>
          <p:cNvSpPr txBox="1"/>
          <p:nvPr/>
        </p:nvSpPr>
        <p:spPr>
          <a:xfrm>
            <a:off x="5106528" y="293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Persuasive Maps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46528" y="326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76" name="TextBox 75">
            <a:hlinkClick r:id="rId15" action="ppaction://hlinksldjump"/>
          </p:cNvPr>
          <p:cNvSpPr txBox="1"/>
          <p:nvPr/>
        </p:nvSpPr>
        <p:spPr>
          <a:xfrm>
            <a:off x="5106528" y="326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Mapping Techniques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6528" y="359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78" name="TextBox 77">
            <a:hlinkClick r:id="rId16" action="ppaction://hlinksldjump"/>
          </p:cNvPr>
          <p:cNvSpPr txBox="1"/>
          <p:nvPr/>
        </p:nvSpPr>
        <p:spPr>
          <a:xfrm>
            <a:off x="5106528" y="359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Interactive Maps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46528" y="3920000"/>
            <a:ext cx="26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›</a:t>
            </a:r>
          </a:p>
        </p:txBody>
      </p:sp>
      <p:sp>
        <p:nvSpPr>
          <p:cNvPr id="80" name="TextBox 79">
            <a:hlinkClick r:id="rId17" action="ppaction://hlinksldjump"/>
          </p:cNvPr>
          <p:cNvSpPr txBox="1"/>
          <p:nvPr/>
        </p:nvSpPr>
        <p:spPr>
          <a:xfrm>
            <a:off x="5106528" y="3920000"/>
            <a:ext cx="369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Recap &amp; What's Next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572000" y="1170000"/>
            <a:ext cx="0" cy="3580000"/>
          </a:xfrm>
          <a:prstGeom prst="line">
            <a:avLst/>
          </a:prstGeom>
          <a:ln w="6350">
            <a:solidFill>
              <a:srgbClr val="1E36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Connector 37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06640" y="-365760"/>
            <a:ext cx="2286000" cy="2286000"/>
          </a:xfrm>
          <a:prstGeom prst="ellipse">
            <a:avLst/>
          </a:prstGeom>
          <a:noFill/>
          <a:ln w="15875">
            <a:solidFill>
              <a:srgbClr val="4F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noFill/>
          <a:ln w="15875">
            <a:solidFill>
              <a:srgbClr val="4F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0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SECTION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0000"/>
            <a:ext cx="78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>
                <a:solidFill>
                  <a:srgbClr val="EAF6EF"/>
                </a:solidFill>
                <a:latin typeface="Georgia"/>
              </a:rPr>
              <a:t>Power of Maps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0000"/>
            <a:ext cx="78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i="1">
                <a:solidFill>
                  <a:srgbClr val="B9C9C2"/>
                </a:solidFill>
                <a:latin typeface="Georgia"/>
              </a:rPr>
              <a:t>The same data can tell very different stories, depending on how it's mapped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80000"/>
            <a:ext cx="7863840" cy="9525"/>
          </a:xfrm>
          <a:prstGeom prst="rect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950000"/>
            <a:ext cx="2478000" cy="1400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080" y="3100000"/>
            <a:ext cx="211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80" y="3410000"/>
            <a:ext cx="2118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Every flattening of the globe distorts something.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8080" y="2950000"/>
            <a:ext cx="2478000" cy="1400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8080" y="3100000"/>
            <a:ext cx="211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4FD6E8"/>
                </a:solidFill>
                <a:latin typeface="Georgia"/>
              </a:rPr>
              <a:t>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8080" y="3410000"/>
            <a:ext cx="2118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Palette choice shapes the emotional read of the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80" y="2950000"/>
            <a:ext cx="2478000" cy="1400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6080" y="3100000"/>
            <a:ext cx="211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080" y="3410000"/>
            <a:ext cx="2118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What's included — and excluded — sets the narrative.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03/59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Connector 111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Google Shape;69;p3"/>
          <p:cNvSpPr/>
          <p:nvPr/>
        </p:nvSpPr>
        <p:spPr>
          <a:xfrm>
            <a:off x="347472" y="36687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Course Materials &amp; Resources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Recommended reading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3"/>
          <p:cNvSpPr/>
          <p:nvPr/>
        </p:nvSpPr>
        <p:spPr>
          <a:xfrm>
            <a:off x="365760" y="1115568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02920" y="1453896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02920" y="145389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051560" y="120700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Thematic Cartography and Geovisualization (4th ed.)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51560" y="15910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Slocum, McMaster, Kessler &amp; Howard (2023)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51560" y="1883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Core text — 3rd edition available at the campus library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65760" y="2395728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02920" y="2734056"/>
            <a:ext cx="411480" cy="411480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02920" y="27340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51560" y="248716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Making Effective Maps: Cartographic Visualization for GIS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051560" y="287121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Sarah Schlosser — Open Access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051560" y="316382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https://colorado.pressbooks.pub/makingmaps/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5760" y="3675888"/>
            <a:ext cx="8412480" cy="1115568"/>
          </a:xfrm>
          <a:prstGeom prst="roundRect">
            <a:avLst>
              <a:gd name="adj" fmla="val 8197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02920" y="4014216"/>
            <a:ext cx="411480" cy="411480"/>
          </a:xfrm>
          <a:prstGeom prst="ellipse">
            <a:avLst/>
          </a:prstGeom>
          <a:solidFill>
            <a:srgbClr val="FFB000"/>
          </a:solidFill>
          <a:ln w="12700" cap="flat" cmpd="sng">
            <a:solidFill>
              <a:srgbClr val="FFB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02920" y="401421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051560" y="37673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How Charts Lie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051560" y="41513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Alberto Cairo (2019)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051560" y="444398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Readable exploration of how visualizations mislead — highly recommended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333756" y="45831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8912" y="35316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04/59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Connector 140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Google Shape;96;p4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Learning Objectives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By the end of this lecture, you will be able to…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4"/>
          <p:cNvSpPr/>
          <p:nvPr/>
        </p:nvSpPr>
        <p:spPr>
          <a:xfrm>
            <a:off x="365760" y="1161288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65760" y="116128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14400" y="105156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051560" y="105156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Define cartography and distinguish cartographic visualization from communication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1956816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65760" y="195681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914400" y="1847088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051560" y="1847088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Identify and compare the major types of maps and their intended purposes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2752344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65760" y="275234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14400" y="2642616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051560" y="2642616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Apply the five-step framework for designing a map that communicates effectively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65760" y="3547872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65760" y="35478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914400" y="3438144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51560" y="3438144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Select an appropriate mapping technique for a given dataset and analytical purpose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60" y="4343400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65760" y="4343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14400" y="4233672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051560" y="4233672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Critically evaluate how design choices in maps can reinforce or distort spatial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05/59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Connector 16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Google Shape;125;p5"/>
          <p:cNvSpPr/>
          <p:nvPr/>
        </p:nvSpPr>
        <p:spPr>
          <a:xfrm>
            <a:off x="347472" y="36065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What Is Cartography?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Art + Science + Communication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5"/>
          <p:cNvSpPr/>
          <p:nvPr/>
        </p:nvSpPr>
        <p:spPr>
          <a:xfrm>
            <a:off x="365760" y="1115568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Cartography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is the discipline of </a:t>
            </a: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designing, producing, and studying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as tools for recording, visualizing, and communicating spatial information.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2148840"/>
            <a:ext cx="4754880" cy="713232"/>
          </a:xfrm>
          <a:prstGeom prst="roundRect">
            <a:avLst>
              <a:gd name="adj" fmla="val 1282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02920" y="2304288"/>
            <a:ext cx="384048" cy="384048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005840" y="2185416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Science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005840" y="251460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Accurate spatial data, coordinate systems, projections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" y="2990088"/>
            <a:ext cx="4754880" cy="713232"/>
          </a:xfrm>
          <a:prstGeom prst="roundRect">
            <a:avLst>
              <a:gd name="adj" fmla="val 1282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02920" y="3145536"/>
            <a:ext cx="384048" cy="384048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1005840" y="302666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Art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05840" y="3355848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Visual design, color theory, cognitive clarity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65760" y="3831336"/>
            <a:ext cx="4754880" cy="713232"/>
          </a:xfrm>
          <a:prstGeom prst="roundRect">
            <a:avLst>
              <a:gd name="adj" fmla="val 1282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02920" y="3986784"/>
            <a:ext cx="384048" cy="384048"/>
          </a:xfrm>
          <a:prstGeom prst="ellipse">
            <a:avLst/>
          </a:prstGeom>
          <a:solidFill>
            <a:srgbClr val="FFB000"/>
          </a:solidFill>
          <a:ln w="12700" cap="flat" cmpd="sng">
            <a:solidFill>
              <a:srgbClr val="FFB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005840" y="3867912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Communication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05840" y="4197096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Audience, purpose, and message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349240" y="1115568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0A0E14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486400" y="2743200"/>
            <a:ext cx="315468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“A map is not a mirror of reality — it is an argument about what matters.”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486400" y="4005072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Mark Monmonier, How to Lie with Maps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Connector 145"/>
          <p:cNvCxnSpPr/>
          <p:nvPr/>
        </p:nvCxnSpPr>
        <p:spPr>
          <a:xfrm>
            <a:off x="333756" y="45209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38912" y="34694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06/59</a:t>
            </a:r>
          </a:p>
        </p:txBody>
      </p:sp>
      <p:pic>
        <p:nvPicPr>
          <p:cNvPr id="177" name="Picture 176" descr="world_green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277" y="1375568"/>
            <a:ext cx="2458925" cy="1247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Connector 192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Google Shape;151;p6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The Power of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The same data — very different stories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6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How a map is designed shapes how we understand — and feel about — the world it depicts.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1719072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75488" y="188366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📊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188720" y="1847088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Scale &amp; Projection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88720" y="2231136"/>
            <a:ext cx="318211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Mercator vs. equal-area projections change perceived country sizes dramatically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681728" y="1719072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791456" y="1883664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🎨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504688" y="1847088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Color Choice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504688" y="2231136"/>
            <a:ext cx="318211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 diverging red-blue palette implies conflict; green-yellow suggests an environmental gradient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3383280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75488" y="35478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📍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188720" y="3511296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What's Included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188720" y="3895344"/>
            <a:ext cx="318211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Labeling only some cities or omitting borders frames political narratives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681728" y="3383280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791456" y="35478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🔢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504688" y="3511296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Data Classification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504688" y="3895344"/>
            <a:ext cx="3182112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Choosing 3 vs. 7 class breaks can make inequality look trivial or extreme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Connector 171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07/59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Connector 217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Google Shape;178;p7"/>
          <p:cNvSpPr/>
          <p:nvPr/>
        </p:nvSpPr>
        <p:spPr>
          <a:xfrm>
            <a:off x="347472" y="36065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2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The Power of Maps — Same Data, Different Picture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COVID-19 Case Mapping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7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2" name="Google Shape;182;p7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Mapping COVID-19 cases by raw count vs. per-capita rate tells completely different stories about where the outbreak hit hardest.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65760" y="1737360"/>
            <a:ext cx="4096512" cy="3108960"/>
          </a:xfrm>
          <a:prstGeom prst="roundRect">
            <a:avLst>
              <a:gd name="adj" fmla="val 294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628" y="2560320"/>
            <a:ext cx="2064774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/>
          <p:nvPr/>
        </p:nvSpPr>
        <p:spPr>
          <a:xfrm>
            <a:off x="502920" y="1828800"/>
            <a:ext cx="3822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Raw Count by State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" y="2240280"/>
            <a:ext cx="38221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7-class rainbow color scheme, equal intervals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" y="2560320"/>
            <a:ext cx="373075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02920" y="388620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Populous states (CA, TX, NY) dominate the map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02920" y="425196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CDC COVID Data Tracker — https://covid.cdc.gov/covid-data-tracker/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736592" y="1737360"/>
            <a:ext cx="4096512" cy="3108960"/>
          </a:xfrm>
          <a:prstGeom prst="roundRect">
            <a:avLst>
              <a:gd name="adj" fmla="val 2941"/>
            </a:avLst>
          </a:prstGeom>
          <a:solidFill>
            <a:srgbClr val="0A0E14"/>
          </a:solidFill>
          <a:ln w="952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873752" y="1828800"/>
            <a:ext cx="3822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Cases per 100,000 People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873752" y="2240280"/>
            <a:ext cx="38221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5-class sequential scheme, quantile breaks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919472" y="2560320"/>
            <a:ext cx="3730752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873752" y="388620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Smaller rural states show the highest per-capita rates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873752" y="4251960"/>
            <a:ext cx="38221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Our World in Data — https://ourworldindata.org/coronavirus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460" y="2560320"/>
            <a:ext cx="2064774" cy="1280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Connector 196"/>
          <p:cNvCxnSpPr/>
          <p:nvPr/>
        </p:nvCxnSpPr>
        <p:spPr>
          <a:xfrm>
            <a:off x="333756" y="45209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438912" y="34694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08/59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" name="Connector 230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Google Shape;202;p8"/>
          <p:cNvSpPr/>
          <p:nvPr/>
        </p:nvSpPr>
        <p:spPr>
          <a:xfrm>
            <a:off x="347472" y="36065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The Power of Maps — Framing Time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Climate Anomaly Maps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8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8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 temperature anomaly map doesn’t just show where it’s warm — it forces the viewer to confront change over time.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47470" y="4284042"/>
            <a:ext cx="813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Source: NASA Earth Observatory — https://earthobservatory.nasa.gov/global-maps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Key insight: the diverging blue→red palette is a rhetorical choice — it emphasizes warming. A monochromatic scheme would feel far less alarming.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2838" y="1472655"/>
            <a:ext cx="4087367" cy="27889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Connector 209"/>
          <p:cNvCxnSpPr/>
          <p:nvPr/>
        </p:nvCxnSpPr>
        <p:spPr>
          <a:xfrm>
            <a:off x="333756" y="45209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438912" y="34694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09/59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Connector 260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Google Shape;215;p9"/>
          <p:cNvSpPr/>
          <p:nvPr/>
        </p:nvSpPr>
        <p:spPr>
          <a:xfrm>
            <a:off x="347472" y="36065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The Power of Maps — Projection Choices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Flattening the world always involves a trade-off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9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p9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Every flat map distorts reality. Choosing a projection means choosing which distortion to prioritize.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65760" y="1600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75488" y="1682496"/>
            <a:ext cx="24871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Mercator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75488" y="223113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[PROJECTION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ILLUSTRATION]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75488" y="334670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Conformal (shape preserved)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75488" y="3730752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Enormously exaggerates polar regions — Greenland appears the size of Africa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218688" y="1600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328416" y="1682496"/>
            <a:ext cx="24871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Mollweide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(Equal-Area)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328416" y="223113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[PROJECTION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ILLUSTRATION]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328416" y="334670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Area preserved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328416" y="3730752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Distorts shape, especially near the edges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071616" y="1600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181344" y="1682496"/>
            <a:ext cx="248716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Robinson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(Compromise)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181344" y="2231136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[PROJECTION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ILLUSTRATION]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81344" y="3346704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No property exactly right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181344" y="3730752"/>
            <a:ext cx="2487168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Overall distortion minimized — used by National Geographic for decades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Compare projections interactively: https://www.thetruesize.com/  |  https://projectionwizard.org/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9" descr="map_s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600200"/>
            <a:ext cx="8412480" cy="329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0" y="1828800"/>
            <a:ext cx="2478024" cy="210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4136" y="2011680"/>
            <a:ext cx="2414016" cy="120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3640" y="2011680"/>
            <a:ext cx="2450593" cy="1280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Connector 239"/>
          <p:cNvCxnSpPr/>
          <p:nvPr/>
        </p:nvCxnSpPr>
        <p:spPr>
          <a:xfrm>
            <a:off x="333756" y="45209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438912" y="34694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10/59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7" name="Connector 28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Google Shape;245;p10"/>
          <p:cNvSpPr/>
          <p:nvPr/>
        </p:nvSpPr>
        <p:spPr>
          <a:xfrm>
            <a:off x="347472" y="36687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Visualization vs. Communication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Two distinct — but related — purposes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0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p10"/>
          <p:cNvSpPr/>
          <p:nvPr/>
        </p:nvSpPr>
        <p:spPr>
          <a:xfrm>
            <a:off x="365760" y="1051560"/>
            <a:ext cx="4096512" cy="3794760"/>
          </a:xfrm>
          <a:prstGeom prst="roundRect">
            <a:avLst>
              <a:gd name="adj" fmla="val 241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548640" y="114300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🔍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371600" y="1115568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Cartographic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Visualization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10"/>
          <p:cNvCxnSpPr/>
          <p:nvPr/>
        </p:nvCxnSpPr>
        <p:spPr>
          <a:xfrm>
            <a:off x="548640" y="1828800"/>
            <a:ext cx="3730752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p10"/>
          <p:cNvSpPr/>
          <p:nvPr/>
        </p:nvSpPr>
        <p:spPr>
          <a:xfrm>
            <a:off x="548640" y="1938528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Purpose is exploration — the message is not yet known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548640" y="2606040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Used by analysts to detect spatial patterns and anomalies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" y="3273552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May be rough, interactive, or iterative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" y="3941064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Example: exploring disease clusters in a GIS 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709160" y="1051560"/>
            <a:ext cx="4096512" cy="3794760"/>
          </a:xfrm>
          <a:prstGeom prst="roundRect">
            <a:avLst>
              <a:gd name="adj" fmla="val 241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892040" y="114300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📢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715000" y="1115568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Cartographic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Communication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0"/>
          <p:cNvCxnSpPr/>
          <p:nvPr/>
        </p:nvCxnSpPr>
        <p:spPr>
          <a:xfrm>
            <a:off x="4892040" y="1828800"/>
            <a:ext cx="3730752" cy="0"/>
          </a:xfrm>
          <a:prstGeom prst="straightConnector1">
            <a:avLst/>
          </a:prstGeom>
          <a:noFill/>
          <a:ln w="9525" cap="flat" cmpd="sng">
            <a:solidFill>
              <a:srgbClr val="39FF88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10"/>
          <p:cNvSpPr/>
          <p:nvPr/>
        </p:nvSpPr>
        <p:spPr>
          <a:xfrm>
            <a:off x="4892040" y="1938528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Purpose is presentation — a clear message is defined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892040" y="2606040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Designed for a specific audience and context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892040" y="3273552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Requires deliberate, polished design choices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892040" y="3941064"/>
            <a:ext cx="37307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Example: a public health poster showing vaccination rates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Context shapes perception: the Ebbinghaus illusion shows how surrounding elements change how we read the same central object — maps work the same way.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Connector 265"/>
          <p:cNvCxnSpPr/>
          <p:nvPr/>
        </p:nvCxnSpPr>
        <p:spPr>
          <a:xfrm>
            <a:off x="333756" y="45831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438912" y="35316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11/59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8" name="Connector 307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Google Shape;271;p11"/>
          <p:cNvSpPr/>
          <p:nvPr/>
        </p:nvSpPr>
        <p:spPr>
          <a:xfrm>
            <a:off x="347472" y="38553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Communicating with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Which map tells the story more clearly?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1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p11"/>
          <p:cNvSpPr/>
          <p:nvPr/>
        </p:nvSpPr>
        <p:spPr>
          <a:xfrm>
            <a:off x="365760" y="109728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The same global income inequality data — visualized two ways. Which design choices help, and which obscure?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65760" y="1645920"/>
            <a:ext cx="4096512" cy="3218688"/>
          </a:xfrm>
          <a:prstGeom prst="roundRect">
            <a:avLst>
              <a:gd name="adj" fmla="val 284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502920" y="1674297"/>
            <a:ext cx="3822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7-class rainbow scheme, equal-interval breaks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48640" y="2496312"/>
            <a:ext cx="3730752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[MAP PLACEHOLDER]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736592" y="1645920"/>
            <a:ext cx="4096512" cy="3218688"/>
          </a:xfrm>
          <a:prstGeom prst="roundRect">
            <a:avLst>
              <a:gd name="adj" fmla="val 2841"/>
            </a:avLst>
          </a:prstGeom>
          <a:solidFill>
            <a:srgbClr val="0A0E14"/>
          </a:solidFill>
          <a:ln w="952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873752" y="1775709"/>
            <a:ext cx="3822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5-class sequential scheme, quantile breaks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919472" y="2496312"/>
            <a:ext cx="3730752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[MAP PLACEHOLDER]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873752" y="3886200"/>
            <a:ext cx="382219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✓  Effective — directionality and pattern are clear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Source: OECD Income Distribution &amp; Poverty — https://stats.oecd.org/Index.aspx?DataSetCode=IDD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898" y="2068318"/>
            <a:ext cx="4014216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/>
          <p:nvPr/>
        </p:nvSpPr>
        <p:spPr>
          <a:xfrm>
            <a:off x="4736610" y="1636770"/>
            <a:ext cx="4096500" cy="3218700"/>
          </a:xfrm>
          <a:prstGeom prst="roundRect">
            <a:avLst>
              <a:gd name="adj" fmla="val 284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" name="Google Shape;28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341" y="2231143"/>
            <a:ext cx="3941064" cy="2029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Connector 286"/>
          <p:cNvCxnSpPr/>
          <p:nvPr/>
        </p:nvCxnSpPr>
        <p:spPr>
          <a:xfrm>
            <a:off x="333756" y="47697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438912" y="37182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12/59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" name="Connector 341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Google Shape;292;p12"/>
          <p:cNvSpPr/>
          <p:nvPr/>
        </p:nvSpPr>
        <p:spPr>
          <a:xfrm>
            <a:off x="347472" y="37931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5 Steps for Communicating with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A decision framework for effective map design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2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6" name="Google Shape;296;p12"/>
          <p:cNvSpPr/>
          <p:nvPr/>
        </p:nvSpPr>
        <p:spPr>
          <a:xfrm>
            <a:off x="365760" y="1170432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65760" y="11704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932688" y="1051560"/>
            <a:ext cx="7845552" cy="658368"/>
          </a:xfrm>
          <a:prstGeom prst="roundRect">
            <a:avLst>
              <a:gd name="adj" fmla="val 1388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1078992" y="11064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Understand the Phenomenon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279392" y="1106424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What does this spatial pattern represent in the real world?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365760" y="1975104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365760" y="197510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932688" y="1856232"/>
            <a:ext cx="7845552" cy="658368"/>
          </a:xfrm>
          <a:prstGeom prst="roundRect">
            <a:avLst>
              <a:gd name="adj" fmla="val 1388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1078992" y="1911096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Define Purpose &amp; Audience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279392" y="1911096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Who will use this map, and what decision should it support?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365760" y="2779776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365760" y="277977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932688" y="2660904"/>
            <a:ext cx="7845552" cy="658368"/>
          </a:xfrm>
          <a:prstGeom prst="roundRect">
            <a:avLst>
              <a:gd name="adj" fmla="val 1388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078992" y="271576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Collect Appropriate Data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279392" y="2715768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Match data type, resolution, and source to the map’s purpose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365760" y="3584448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365760" y="358444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932688" y="3465576"/>
            <a:ext cx="7845552" cy="658368"/>
          </a:xfrm>
          <a:prstGeom prst="roundRect">
            <a:avLst>
              <a:gd name="adj" fmla="val 1388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1078992" y="35204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Design &amp; Construct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279392" y="3520440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Choose symbols, colors, projection, and layout deliberately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365760" y="4389120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365760" y="4389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932688" y="4270248"/>
            <a:ext cx="7845552" cy="658368"/>
          </a:xfrm>
          <a:prstGeom prst="roundRect">
            <a:avLst>
              <a:gd name="adj" fmla="val 1388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1078992" y="432511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Evaluate Effectiveness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279392" y="4325112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Test with real users — does the map communicate what you intended?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Connector 320"/>
          <p:cNvCxnSpPr/>
          <p:nvPr/>
        </p:nvCxnSpPr>
        <p:spPr>
          <a:xfrm>
            <a:off x="333756" y="47075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438912" y="36560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13/59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2" name="Connector 371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Google Shape;326;p13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Communicating with Maps — Case Study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Air Quality in Los Angeles: applying the 5 steps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3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0" name="Google Shape;330;p13"/>
          <p:cNvSpPr/>
          <p:nvPr/>
        </p:nvSpPr>
        <p:spPr>
          <a:xfrm>
            <a:off x="365760" y="10515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39FF88"/>
          </a:solidFill>
          <a:ln w="952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365760" y="10515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Phenomenon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246120" y="1051560"/>
            <a:ext cx="55321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383280" y="10515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Daily Air Quality Index (AQI) readings at monitoring stations across LA County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65760" y="1847088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39FF88"/>
          </a:solidFill>
          <a:ln w="952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365760" y="1847088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Purpose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3246120" y="1847088"/>
            <a:ext cx="55321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3383280" y="1847088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Alert residents to unhealthy zones — public health communication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365760" y="2642616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39FF88"/>
          </a:solidFill>
          <a:ln w="952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365760" y="2642616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3246120" y="2642616"/>
            <a:ext cx="55321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3383280" y="2642616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EPA AirNow hourly AQI, interpolated across the county using kriging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365760" y="3438144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39FF88"/>
          </a:solidFill>
          <a:ln w="952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365760" y="3438144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3246120" y="3438144"/>
            <a:ext cx="55321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383280" y="3438144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Sequential yellow→red palette with clear health-risk labels and a legend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65760" y="4233672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39FF88"/>
          </a:solidFill>
          <a:ln w="952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65760" y="4233672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Evaluation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3246120" y="4233672"/>
            <a:ext cx="55321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383280" y="4233672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User testing: residents correctly identified risk zones within 5 seconds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Source: EPA AirNow — https://www.airnow.gov/  |  AQMD — https://www.aqmd.gov/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Connector 350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TextBox 380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14/59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Connector 37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06640" y="-365760"/>
            <a:ext cx="2286000" cy="2286000"/>
          </a:xfrm>
          <a:prstGeom prst="ellipse">
            <a:avLst/>
          </a:prstGeom>
          <a:noFill/>
          <a:ln w="15875">
            <a:solidFill>
              <a:srgbClr val="4F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noFill/>
          <a:ln w="15875">
            <a:solidFill>
              <a:srgbClr val="4F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00000"/>
            <a:ext cx="40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i="0">
                <a:solidFill>
                  <a:srgbClr val="39FF88"/>
                </a:solidFill>
                <a:latin typeface="Georgia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0000"/>
            <a:ext cx="7800000" cy="1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 i="0">
                <a:solidFill>
                  <a:srgbClr val="EAF6EF"/>
                </a:solidFill>
                <a:latin typeface="Georgia"/>
              </a:rPr>
              <a:t>Map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0000"/>
            <a:ext cx="78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 i="1">
                <a:solidFill>
                  <a:srgbClr val="B9C9C2"/>
                </a:solidFill>
                <a:latin typeface="Georgia"/>
              </a:rPr>
              <a:t>A working taxonomy for choosing the right map for the job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80000"/>
            <a:ext cx="7863840" cy="9525"/>
          </a:xfrm>
          <a:prstGeom prst="rect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950000"/>
            <a:ext cx="2478000" cy="1400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080" y="3100000"/>
            <a:ext cx="211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80" y="3410000"/>
            <a:ext cx="2118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Where things are — roads, borders, terrain.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8080" y="2950000"/>
            <a:ext cx="2478000" cy="1400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8080" y="3100000"/>
            <a:ext cx="211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4FD6E8"/>
                </a:solidFill>
                <a:latin typeface="Georgia"/>
              </a:rPr>
              <a:t>THEMATIC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8080" y="3410000"/>
            <a:ext cx="2118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A pattern or variable expressed across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80" y="2950000"/>
            <a:ext cx="2478000" cy="1400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56080" y="3100000"/>
            <a:ext cx="211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TECHNIQUE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080" y="3410000"/>
            <a:ext cx="2118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Choropleth, isarithmic, proportional &amp; more.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15/59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" name="Connector 397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Google Shape;356;p14"/>
          <p:cNvSpPr/>
          <p:nvPr/>
        </p:nvSpPr>
        <p:spPr>
          <a:xfrm>
            <a:off x="347472" y="37931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Types of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A taxonomy — but not a rigid one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14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0" name="Google Shape;360;p14"/>
          <p:cNvSpPr/>
          <p:nvPr/>
        </p:nvSpPr>
        <p:spPr>
          <a:xfrm>
            <a:off x="365760" y="1115568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475488" y="1179576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📍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234440" y="118872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Reference Maps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1234440" y="1572768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Show where things are — roads, rivers, buildings, political borders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65760" y="205740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475488" y="212140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📊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234440" y="213055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Thematic Maps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234440" y="2514600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Show a particular topic or spatial pattern across geographic space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365760" y="2999232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475488" y="30632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🚇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234440" y="3072384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Pragmatic Maps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234440" y="3456432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Optimize for navigation or practical use over geographic accuracy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65760" y="3941064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475488" y="40050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📣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234440" y="401421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Persuasive Maps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234440" y="4398264"/>
            <a:ext cx="74066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Designed to influence beliefs or emotions, often through distortion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365760" y="4873752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Note: in practice, most real-world maps combine elements from multiple categories.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Connector 376"/>
          <p:cNvCxnSpPr/>
          <p:nvPr/>
        </p:nvCxnSpPr>
        <p:spPr>
          <a:xfrm>
            <a:off x="333756" y="47075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438912" y="36560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16/59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1" name="Connector 420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Google Shape;382;p15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Reference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What’s there, and where?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15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6" name="Google Shape;386;p15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Reference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record the locations of natural and human-made features without imposing an analytical argument. Emphasis is on </a:t>
            </a: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completeness, accuracy, and currency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65760" y="1874520"/>
            <a:ext cx="4096512" cy="1207008"/>
          </a:xfrm>
          <a:prstGeom prst="roundRect">
            <a:avLst>
              <a:gd name="adj" fmla="val 757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502920" y="196596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Physical features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502920" y="2350008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Mountains, rivers, coastlines, lakes, forests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709160" y="1874520"/>
            <a:ext cx="4096512" cy="1207008"/>
          </a:xfrm>
          <a:prstGeom prst="roundRect">
            <a:avLst>
              <a:gd name="adj" fmla="val 757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4846320" y="196596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Human-made features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846320" y="2350008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Roads, railways, buildings, political boundaries, cities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365760" y="3246120"/>
            <a:ext cx="4096512" cy="1207008"/>
          </a:xfrm>
          <a:prstGeom prst="roundRect">
            <a:avLst>
              <a:gd name="adj" fmla="val 757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502920" y="333756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Reference elements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502920" y="3721608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Latitude/longitude graticule, scale bar, north arrow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4709160" y="3246120"/>
            <a:ext cx="4096512" cy="1207008"/>
          </a:xfrm>
          <a:prstGeom prst="roundRect">
            <a:avLst>
              <a:gd name="adj" fmla="val 757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4846320" y="333756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Critical for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846320" y="3721608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Military operations, emergency response, urban planning, navigation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Example: USGS National Map Viewer — https://apps.nationalmap.gov/viewer/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Connector 399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17/59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8" name="Connector 447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Google Shape;405;p16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Reference Maps — Examples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Topographic and base maps in practice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16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9" name="Google Shape;409;p16"/>
          <p:cNvSpPr/>
          <p:nvPr/>
        </p:nvSpPr>
        <p:spPr>
          <a:xfrm>
            <a:off x="365760" y="1115568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502920" y="1463040"/>
            <a:ext cx="411480" cy="411480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502920" y="1463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1051560" y="12070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USGS 7.5-Minute Topographic Quadrangles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1051560" y="1600200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Show elevation contours, rivers, trails, and place names. Used by hikers, surveyors, and engineers.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051560" y="199339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https://apps.nationalmap.gov/viewer/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365760" y="2414016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502920" y="2761488"/>
            <a:ext cx="411480" cy="411480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502920" y="276148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1051560" y="25054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OpenStreetMap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1051560" y="2898648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Community-built reference map covering roads, buildings, land use, and more — free and global.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051560" y="329184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https://www.openstreetmap.org/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365760" y="3712464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502920" y="4059936"/>
            <a:ext cx="411480" cy="411480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502920" y="4059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1051560" y="3803904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Google Maps (Base Layer)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1051560" y="419709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Combines satellite imagery with roads, transit, labels, and landmarks — the world’s most-used reference map.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1051560" y="4590288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https://maps.google.com/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Connector 426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TextBox 456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18/59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USGS Topographic Quadrangle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Elevation, contours, and trails at 1:24,000 scale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USGS 7.5-minute quadrangles are the classic American topographic reference map — contour lines trace elevation, blue lines trace water, and black lines trace trails and roads.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Harshaw Quadrangle, Santa Cruz County, Arizona (1958 edition)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CONTOUR INTERVAL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7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25 feet — each line is a step in elevation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STILL LIVE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8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apps.nationalmap.gov/viewer/ serves the modern digital US Topo series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771859"/>
            <a:ext cx="3401568" cy="2354161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usgs_topo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861859"/>
            <a:ext cx="3221568" cy="21741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166020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USGS, public domain,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19/59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OpenStreetMap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A reference map built by its own users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OpenStreetMap is edited by a global community of volunteers — every road, building, and footpath is contributed and verified by people, then released back to everyone.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Midtown Manhattan — the standard OSM “Carto” tile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7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Open Database License (ODbL) — free to reuse and adapt, with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POWERS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8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Countless apps and sites, from Wikipedia infoboxes to transit trackers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664738"/>
            <a:ext cx="3401568" cy="2568403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osm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754738"/>
            <a:ext cx="3221568" cy="23884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273141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© OpenStreetMap contributors, ODbL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20/59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Google Maps (Base Layer)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The world's most-used reference 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Google Maps layers road networks, transit lines, business listings, and satellite imagery into one continuously-updated base map used by billions of people every month.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Midtown Manhattan — standard roadmap view with live business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BUILT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7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Licensed imagery/data plus Google's own mapping and user contributions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USE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8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Reuse is permitted for educational purposes with Google's attribution kept intact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578776"/>
            <a:ext cx="3401568" cy="2740326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maps_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668776"/>
            <a:ext cx="3221568" cy="256032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359103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Map data ©2026 Google — used per Google's Geo Guidelines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21/59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2" name="Connector 481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Google Shape;432;p17"/>
          <p:cNvSpPr/>
          <p:nvPr/>
        </p:nvSpPr>
        <p:spPr>
          <a:xfrm>
            <a:off x="347472" y="37931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Thematic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Showing the pattern, not just the place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17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6" name="Google Shape;436;p17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Thematic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depict a specific topic to reveal </a:t>
            </a: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spatial patterns, distributions, and relationships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365760" y="1719072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💰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1024128" y="179222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GDP per capita by country (World Bank 2023)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1024128" y="21945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https://data.worldbank.org/indicator/NY.GDP.PCAP.CD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4709160" y="1719072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480060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🌡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5367528" y="1792224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Global average temperature anomalies (NOAA)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367528" y="219456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https://www.climate.gov/maps-data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365760" y="2606040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7"/>
          <p:cNvSpPr/>
          <p:nvPr/>
        </p:nvSpPr>
        <p:spPr>
          <a:xfrm>
            <a:off x="457200" y="2715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🦥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/>
          <p:nvPr/>
        </p:nvSpPr>
        <p:spPr>
          <a:xfrm>
            <a:off x="1024128" y="267919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Malaria incidence rate by district (WHO 2023)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1024128" y="30815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https://www.who.int/teams/global-malaria-programme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4709160" y="2606040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4800600" y="27157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🌾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5367528" y="267919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Global wheat production by country (FAO STAT)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5367528" y="30815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https://www.fao.org/faostat/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365760" y="3493008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🗳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1024128" y="35661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Voter turnout by county — US 2020 election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/>
          <p:nvPr/>
        </p:nvSpPr>
        <p:spPr>
          <a:xfrm>
            <a:off x="1024128" y="39684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https://electionlab.mit.edu/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4709160" y="3493008"/>
            <a:ext cx="4096512" cy="749808"/>
          </a:xfrm>
          <a:prstGeom prst="roundRect">
            <a:avLst>
              <a:gd name="adj" fmla="val 12195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4800600" y="36027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🌍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5367528" y="356616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Human Development Index by country (UNDP 2023)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5367528" y="39684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https://hdr.undp.org/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Connector 460"/>
          <p:cNvCxnSpPr/>
          <p:nvPr/>
        </p:nvCxnSpPr>
        <p:spPr>
          <a:xfrm>
            <a:off x="333756" y="47075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438912" y="36560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TextBox 490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22/59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GDP per Capita by Country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A Choropleth of Global Wealth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Shading every country by its economic output per person turns a table of GDP figures into an instantly readable pattern of relative wealth.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Countries by GDP (PPP) per capita, 2017 — IMF World Economic Outlook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PATTERN REVEALED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A sharp gradient: North America, Europe, the Gulf states, and East Asia sit far above most of Africa, South Asia, and Central America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METRIC 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World Bank GDP-per-capita indicator this slide links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072062"/>
            <a:ext cx="3401568" cy="1753754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dp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2162062"/>
            <a:ext cx="3221568" cy="15737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3865817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JackintheBox, CC BY-SA 4.0,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23/59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Global Temperature Anomalies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Warming Mapped Against a Fixed Baseline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Comparing recent average temperatures to a 20th-century baseline turns a single global-average number into a map of where warming is actually concentrated.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Temperature change over the last 50 years — 2014-2018 average vs. the 1951-1980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PATTERN REVEALED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Warming concentrates at high northern latitudes (Arctic, Siberia); a few ocean pockets barely changed or cooled slightly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IDEA 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NOAA climate.gov maps and data this slide links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578776"/>
            <a:ext cx="3401568" cy="2740326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empanomaly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668776"/>
            <a:ext cx="3221568" cy="256032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359103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NASA's Scientific Visualization Studio, public domain,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24/59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Malaria Incidence by Country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A Public-Health Burden, Mapped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Shading each country by incidence rate turns WHO surveillance data into an immediate picture of where malaria's burden actually falls.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Incidence of malaria per 1,000 population at risk, 2019 — Our World in Data, sourced from the WHO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PATTERN REVEALED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overwhelming share of cases cluster across Sub-Saharan Africa, with only scattered pockets elsewhere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SOURCE 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WHO Global Malaria Programme this slide links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716314"/>
            <a:ext cx="3401568" cy="2465250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alaria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806314"/>
            <a:ext cx="3221568" cy="2285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221565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Our World in Data, CC BY 4.0,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25/59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Global Wheat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Where the World's Grain Comes From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A production choropleth compresses a year of harvest tonnage, country by country, into one map of the world's breadbaskets.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Wheat production by country, 2022 — UN Food and Agriculture Organization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PATTERN REVEALED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China, India, Russia, the US, and the EU dominate output; production falls off sharply outside temperate grain-belt 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DATASET 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FAOSTAT database this slide links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724249"/>
            <a:ext cx="3401568" cy="2449380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whea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814249"/>
            <a:ext cx="3221568" cy="22693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213630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Our World in Data, CC BY 4.0,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26/59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Voter Turnout — 2020 US 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State-Level Participation, Mapped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Turnout choropleths reveal which states voted at the highest rates — a pattern a raw table of percentages doesn't show at a glance.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Share of eligible voters who cast a ballot in the 2020 US presidential election, by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A NOTE ON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No open-licensed county map exists; this state-level view uses the same kind of turnout data as the MIT Election Lab link above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PATTERN REVEALED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Turnout topped 75% in Minnesota, Colorado, and several New England states, while parts of the South stayed closer to 55-60%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748054"/>
            <a:ext cx="3401568" cy="2401771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urnou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838054"/>
            <a:ext cx="3221568" cy="22217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189825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Mr. Banana Fana Fo Filly, CC BY-SA 4.0,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27/59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Human Development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Well-Being as a Single Composite 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HDI blends life expectancy, education, and income into one score per country, then shades the map from deep red (lowest) to dark green (highest).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Countries by Human Development Index, 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PATTERN REVEALED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Highest band: North America, Europe, East Asia, Oceania. Lowest band: the Sahel and parts of Central 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SOURCE 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UNDP Human Development Reports this slide links 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142154"/>
            <a:ext cx="3401568" cy="1613571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di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2232154"/>
            <a:ext cx="3221568" cy="14335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3795725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Allice Hunter and JackintheBox, CC BY-SA 4.0,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28/59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8" name="Connector 507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Google Shape;466;p18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Pragmatic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Designed for utility, not geographic accuracy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18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0" name="Google Shape;470;p18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Pragmatic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prioritize </a:t>
            </a: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usability and navigability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over geographic fidelity. They deliberately warp space to make complex systems legible.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365760" y="1783080"/>
            <a:ext cx="8412480" cy="932688"/>
          </a:xfrm>
          <a:prstGeom prst="roundRect">
            <a:avLst>
              <a:gd name="adj" fmla="val 9804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530352" y="185623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Transit / Subway Map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530352" y="224028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NYC MTA Subway Map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8"/>
          <p:cNvCxnSpPr/>
          <p:nvPr/>
        </p:nvCxnSpPr>
        <p:spPr>
          <a:xfrm>
            <a:off x="2907792" y="1892808"/>
            <a:ext cx="0" cy="713232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5" name="Google Shape;475;p18"/>
          <p:cNvSpPr/>
          <p:nvPr/>
        </p:nvSpPr>
        <p:spPr>
          <a:xfrm>
            <a:off x="3090672" y="1874520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Straightens curves, adjusts station spacing — optimized for understanding connections, not distance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3090672" y="2423160"/>
            <a:ext cx="50749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https://new.mta.info/map/5256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365760" y="2862072"/>
            <a:ext cx="8412480" cy="932688"/>
          </a:xfrm>
          <a:prstGeom prst="roundRect">
            <a:avLst>
              <a:gd name="adj" fmla="val 9804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8"/>
          <p:cNvSpPr/>
          <p:nvPr/>
        </p:nvSpPr>
        <p:spPr>
          <a:xfrm>
            <a:off x="530352" y="293522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Indoor / Wayfinding Map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530352" y="33192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Airport Terminal Layout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18"/>
          <p:cNvCxnSpPr/>
          <p:nvPr/>
        </p:nvCxnSpPr>
        <p:spPr>
          <a:xfrm>
            <a:off x="2907792" y="2971800"/>
            <a:ext cx="0" cy="713232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1" name="Google Shape;481;p18"/>
          <p:cNvSpPr/>
          <p:nvPr/>
        </p:nvSpPr>
        <p:spPr>
          <a:xfrm>
            <a:off x="3090672" y="2953512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Schematic layout of gates, services, and paths — not to scale, but instantly navigable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365760" y="3941064"/>
            <a:ext cx="8412480" cy="932688"/>
          </a:xfrm>
          <a:prstGeom prst="roundRect">
            <a:avLst>
              <a:gd name="adj" fmla="val 9804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8"/>
          <p:cNvSpPr/>
          <p:nvPr/>
        </p:nvSpPr>
        <p:spPr>
          <a:xfrm>
            <a:off x="530352" y="401421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Campus Map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530352" y="439826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University Campus Brochure Map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18"/>
          <p:cNvCxnSpPr/>
          <p:nvPr/>
        </p:nvCxnSpPr>
        <p:spPr>
          <a:xfrm>
            <a:off x="2907792" y="4050792"/>
            <a:ext cx="0" cy="713232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6" name="Google Shape;486;p18"/>
          <p:cNvSpPr/>
          <p:nvPr/>
        </p:nvSpPr>
        <p:spPr>
          <a:xfrm>
            <a:off x="3090672" y="4032504"/>
            <a:ext cx="5074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Highlights buildings, services, parking — adjusted to fit print without precise distances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Connector 486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" name="Connector 513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29/59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Transit / Subway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NYC MTA Subway 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Subway diagrams abandon true geography almost entirely — lines are straightened and stations evenly spaced so riders can read connections at a glance.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official MTA system map — every subway line, transfer point, and accessibility icon across the five boroughs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WHAT'S WARPED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Real curves and true distances are dropped; lines run as straight or gently-angled paths regardless of the track's actual shape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USE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Reproduced here for educational, non-commercial commentary; map © Metropolitan Transportation Authority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7474" y="1097280"/>
            <a:ext cx="3259962" cy="3703320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ta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474" y="1187280"/>
            <a:ext cx="3079962" cy="3523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47474" y="4840600"/>
            <a:ext cx="3259962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Source: Metropolitan Transportation Authority (MTA)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30/59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Indoor / Wayfinding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Airport Terminal Layout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Airport terminal maps abandon geographic accuracy almost entirely — concourses are drawn as straight or gently curved ribbons so travelers can instantly see which gate cluster to walk toward.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Vienna International Airport — check-in and gate areas by terminal and pier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WHAT'S WARPED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Physical distances and building shapes are simplified into schematic ribbons — real terminals are rarely this tidy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LOGIC 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Hospital wayfinding maps, mall directories, and theme-park guide maps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046935"/>
            <a:ext cx="3401568" cy="1804008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vie_airport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2136935"/>
            <a:ext cx="3221568" cy="16240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3890944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Domser, CC BY-SA 3.0,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31/59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Campus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University Campus Brochure 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A campus map trades surveying precision for legibility — buildings and paths are simplified and only the features a visitor needs — buildings, parking, roads — are kept.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Michigan State University — campus roads, the Red Cedar River, and grounds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DESIGNED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First-time visitors and new students getting from a parking lot to a specific building,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COMMON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Building-name labels, a simplified street grid, and a scale bar sized for a printed handout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505434"/>
            <a:ext cx="3401568" cy="2887012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su_campu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595434"/>
            <a:ext cx="3221568" cy="27070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432446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Shadowlink1014, CC BY-SA 3.0,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32/59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5" name="Connector 534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Google Shape;492;p19"/>
          <p:cNvSpPr/>
          <p:nvPr/>
        </p:nvSpPr>
        <p:spPr>
          <a:xfrm>
            <a:off x="347472" y="36687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Persuasive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When maps are arguments, not records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5" name="Google Shape;495;p19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6" name="Google Shape;496;p19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Persuasive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are crafted to influence beliefs, fears, or political views — often through selective inclusion, exaggeration, or misleading symbology.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365760" y="1755648"/>
            <a:ext cx="4096512" cy="1298448"/>
          </a:xfrm>
          <a:prstGeom prst="roundRect">
            <a:avLst>
              <a:gd name="adj" fmla="val 704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502920" y="1865376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1005840" y="188366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Distorted Size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502920" y="2322576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Showing one country looming over neighbors to imply territorial threat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4709160" y="1755648"/>
            <a:ext cx="4096512" cy="1298448"/>
          </a:xfrm>
          <a:prstGeom prst="roundRect">
            <a:avLst>
              <a:gd name="adj" fmla="val 704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4846320" y="1865376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5349240" y="188366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Selective Labeling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4846320" y="2322576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Naming disputed territories with one side’s preferred place names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365760" y="3264408"/>
            <a:ext cx="4096512" cy="1298448"/>
          </a:xfrm>
          <a:prstGeom prst="roundRect">
            <a:avLst>
              <a:gd name="adj" fmla="val 704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502920" y="3374136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1005840" y="339242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Color Psychology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502920" y="3831336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Enemy territory in red, friendly territory in green — instantly biasing the viewer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4709160" y="3264408"/>
            <a:ext cx="4096512" cy="1298448"/>
          </a:xfrm>
          <a:prstGeom prst="roundRect">
            <a:avLst>
              <a:gd name="adj" fmla="val 704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4846320" y="3374136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5349240" y="339242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Omission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4846320" y="3831336"/>
            <a:ext cx="382219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Leaving out civilian infrastructure to make air campaigns appear more ‘surgical’ than they were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Cornell Persuasive Cartography Collection: https://persuasivemaps.library.cornell.edu/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4" name="Connector 513"/>
          <p:cNvCxnSpPr/>
          <p:nvPr/>
        </p:nvCxnSpPr>
        <p:spPr>
          <a:xfrm>
            <a:off x="333756" y="45831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38912" y="35316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7" name="Connector 536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33/59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Distorted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Showing one country looming over its neighbors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Fred W. Rose's 1877 “Serio-Comic War Map” redraws the Russian Empire as a monstrous octopus, its tentacles physically reaching into Poland, Turkey, Persia, and beyond — exaggerated scale standing in for exaggerated threat.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THE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octopus's body is drawn far larger than Russia's landmass, and its limbs extend well past its real borders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WHY IT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It turned an abstract geopolitical anxiety — Anglo-Russian rivalry — into an instantly readable monster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THE LINEAGE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same “octopus map” device was reused against nearly every 20th-century adversary in turn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646223"/>
            <a:ext cx="3401568" cy="2605433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erio_comic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736223"/>
            <a:ext cx="3221568" cy="24254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291656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Fred W. Rose (1877), public domain, via Cornell University — PJ Mode Collection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34/59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Selective Labeling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Whose claim gets to be the map's label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This 1917 British map takes wartime German commentary at face value and stamps foreign, sovereign territory with numbered claims under the banner “What Germany Wants” — turning one side's stated ambitions into the map's own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THE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Numbered call-outs and red overlays relabel other countries' territory as pre-claimed, regardless of who actually controlled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WHY IT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Printed and distributed in wartime Britain, it made diplomatic rhetoric look like an already-decided land grab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STILL RELEVANT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Labeling contested territory with only one side's name or claim still appears in border and naming disputes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769214"/>
            <a:ext cx="3401568" cy="2359451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germany_wants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859214"/>
            <a:ext cx="3221568" cy="21794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168665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Edward Stanford (1917), public domain, via Cornell University — PJ Mode Collection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35/59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Color Psychology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Green for “us,” red for the threat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This 1962 Cold War map, reprinted from Life magazine, codes the world in two colors that carry pre-loaded emotional weight: green for “Allied Free Nations,” red and orange for the “Communist Alliance” and areas under 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THE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Color alone does the persuading — no viewer needs to read a label to feel which side is “good” and which is expanding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THE ARROWS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Red arrows sweep outward from Soviet and Chinese territory toward the free world, visually staging an offensive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WHY IT WORKED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It reduced a complicated map of alliances and neutral states into a single, gut-level color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093222"/>
            <a:ext cx="3401568" cy="1711435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red_offensiv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2183222"/>
            <a:ext cx="3221568" cy="15314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3844657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John Jessup (1962), public domain, via Cornell University — PJ Mode Collection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36/59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Omission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What the map leaves out shapes the argument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This 1947 newspaper map singles out the USSR's “colonial problem” in bold red — but the Americas and the Pacific, despite the United States and European powers holding colonies there at the same moment, simply don't appear on the map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THE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Cropping the map's extent quietly removes every Western colonial holding from the conversation, leaving only one empire to 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WHY IT WORKED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Readers can only weigh what's shown — counter-evidence never gets a chance to register once it's cropped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THE MODERN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same logic shows up whenever a briefing map or news graphic frames one actor's actions while cropping out everyone else's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716314"/>
            <a:ext cx="3401568" cy="2465250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olonial_problem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806314"/>
            <a:ext cx="3221568" cy="2285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221565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Edwin Sundberg (1947), public domain, via Cornell University — PJ Mode Collection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37/59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9" name="Connector 568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4" name="Connector 553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9" name="Google Shape;519;p20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Mapping Techniques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Matching your data to the right visualization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20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3" name="Google Shape;523;p20"/>
          <p:cNvSpPr/>
          <p:nvPr/>
        </p:nvSpPr>
        <p:spPr>
          <a:xfrm>
            <a:off x="365760" y="105156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39FF88">
              <a:alpha val="78039"/>
            </a:srgbClr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0"/>
          <p:cNvSpPr/>
          <p:nvPr/>
        </p:nvSpPr>
        <p:spPr>
          <a:xfrm>
            <a:off x="365760" y="1051560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39FF88"/>
                </a:solidFill>
                <a:latin typeface="Consolas"/>
                <a:ea typeface="Calibri"/>
                <a:cs typeface="Calibri"/>
                <a:sym typeface="Calibri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1508760" y="1051560"/>
            <a:ext cx="7296912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1645920" y="110642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Choropleth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4023360" y="1106424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Best for: Aggregated data per area unit (rates, percentages)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365760" y="1837944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4FD6E8">
              <a:alpha val="78039"/>
            </a:srgbClr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365760" y="1837944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4FD6E8"/>
                </a:solidFill>
                <a:latin typeface="Consolas"/>
                <a:ea typeface="Calibri"/>
                <a:cs typeface="Calibri"/>
                <a:sym typeface="Calibri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1508760" y="1837944"/>
            <a:ext cx="7296912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1645920" y="189280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Isarithmic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023360" y="1892808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Best for: Continuous surfaces (temperature, elevation, rainfall)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365760" y="2624328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B000">
              <a:alpha val="78039"/>
            </a:srgbClr>
          </a:solidFill>
          <a:ln w="12700" cap="flat" cmpd="sng">
            <a:solidFill>
              <a:srgbClr val="FFB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365760" y="2624328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B000"/>
                </a:solidFill>
                <a:latin typeface="Consolas"/>
                <a:ea typeface="Calibri"/>
                <a:cs typeface="Calibri"/>
                <a:sym typeface="Calibri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1508760" y="2624328"/>
            <a:ext cx="7296912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0"/>
          <p:cNvSpPr/>
          <p:nvPr/>
        </p:nvSpPr>
        <p:spPr>
          <a:xfrm>
            <a:off x="1645920" y="267919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Proportional Symbol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4023360" y="2679192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Best for: Point magnitudes (total counts or totals by location)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365760" y="3410712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9CFF6B">
              <a:alpha val="78039"/>
            </a:srgbClr>
          </a:solidFill>
          <a:ln w="12700" cap="flat" cmpd="sng">
            <a:solidFill>
              <a:srgbClr val="9CFF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0"/>
          <p:cNvSpPr/>
          <p:nvPr/>
        </p:nvSpPr>
        <p:spPr>
          <a:xfrm>
            <a:off x="365760" y="3410712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9CFF6B"/>
                </a:solidFill>
                <a:latin typeface="Consolas"/>
                <a:ea typeface="Calibri"/>
                <a:cs typeface="Calibri"/>
                <a:sym typeface="Calibri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1508760" y="3410712"/>
            <a:ext cx="7296912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0"/>
          <p:cNvSpPr/>
          <p:nvPr/>
        </p:nvSpPr>
        <p:spPr>
          <a:xfrm>
            <a:off x="1645920" y="346557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9CFF6B"/>
                </a:solidFill>
                <a:latin typeface="Georgia"/>
                <a:ea typeface="Calibri"/>
                <a:cs typeface="Calibri"/>
                <a:sym typeface="Calibri"/>
              </a:rPr>
              <a:t>Graduated Symbol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4023360" y="3465576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Best for: Classed point data (ranked categories at locations)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365760" y="4197096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5C5C">
              <a:alpha val="78039"/>
            </a:srgbClr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365760" y="4197096"/>
            <a:ext cx="1005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5C5C"/>
                </a:solidFill>
                <a:latin typeface="Consolas"/>
                <a:ea typeface="Calibri"/>
                <a:cs typeface="Calibri"/>
                <a:sym typeface="Calibri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1508760" y="4197096"/>
            <a:ext cx="7296912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0"/>
          <p:cNvSpPr/>
          <p:nvPr/>
        </p:nvSpPr>
        <p:spPr>
          <a:xfrm>
            <a:off x="1645920" y="42519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Dot Map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4023360" y="4251960"/>
            <a:ext cx="46634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Best for: Non-uniform, unequally distributed point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" name="Connector 547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38/59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5" name="Connector 594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Google Shape;553;p21"/>
          <p:cNvSpPr/>
          <p:nvPr/>
        </p:nvSpPr>
        <p:spPr>
          <a:xfrm>
            <a:off x="347472" y="36687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1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Choropleth Mapping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The most widely used thematic technique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21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7" name="Google Shape;557;p21"/>
          <p:cNvSpPr/>
          <p:nvPr/>
        </p:nvSpPr>
        <p:spPr>
          <a:xfrm>
            <a:off x="365760" y="1097280"/>
            <a:ext cx="48463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Choropleth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assign a fill color to each geographic unit (country, state, county) to represent a data value or value range.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365760" y="1828800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502920" y="1883664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Key requirement: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2212848" y="1883664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Data must be rates or ratios, not raw counts — to avoid area-size bias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365760" y="2596896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502920" y="265176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Color scheme: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2212848" y="2651760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Sequential for one-direction data; Diverging for data spanning a meaningful midpoint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365760" y="3364992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502920" y="341985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Classification: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2212848" y="3419856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Equal interval, quantile, natural breaks (Jenks), or standard deviation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365760" y="4133088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502920" y="418795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Example dataset: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2212848" y="4187952"/>
            <a:ext cx="28346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Global Human Development Index by country — UNDP 2023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5376672" y="1097280"/>
            <a:ext cx="3401568" cy="3749040"/>
          </a:xfrm>
          <a:prstGeom prst="roundRect">
            <a:avLst>
              <a:gd name="adj" fmla="val 2688"/>
            </a:avLst>
          </a:prstGeom>
          <a:solidFill>
            <a:srgbClr val="0A0E14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"/>
          <p:cNvSpPr/>
          <p:nvPr/>
        </p:nvSpPr>
        <p:spPr>
          <a:xfrm>
            <a:off x="5376672" y="1097280"/>
            <a:ext cx="3401568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[CHOROPLETH		 MAP IMAGE]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Example: UNDP Human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Development Index 2022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https://hdr.undp.org/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2" name="Google Shape;5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671" y="1950721"/>
            <a:ext cx="3401575" cy="1818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1"/>
          <p:cNvSpPr txBox="1"/>
          <p:nvPr/>
        </p:nvSpPr>
        <p:spPr>
          <a:xfrm>
            <a:off x="5425525" y="4902625"/>
            <a:ext cx="3401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latin typeface="Consolas"/>
                <a:hlinkClick r:id="rId4"/>
              </a:rPr>
              <a:t>Image: Wikimedia Commons (Hdi2023map.png)</a:t>
            </a:r>
            <a:endParaRPr sz="800"/>
          </a:p>
        </p:txBody>
      </p:sp>
      <p:cxnSp>
        <p:nvCxnSpPr>
          <p:cNvPr id="574" name="Connector 573"/>
          <p:cNvCxnSpPr/>
          <p:nvPr/>
        </p:nvCxnSpPr>
        <p:spPr>
          <a:xfrm>
            <a:off x="333756" y="45831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438912" y="35316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TextBox 603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39/59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4" name="Connector 623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Google Shape;579;p22"/>
          <p:cNvSpPr/>
          <p:nvPr/>
        </p:nvSpPr>
        <p:spPr>
          <a:xfrm>
            <a:off x="347472" y="36687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Choropleth — Limitations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What this technique cannot show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22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3" name="Google Shape;583;p22"/>
          <p:cNvSpPr/>
          <p:nvPr/>
        </p:nvSpPr>
        <p:spPr>
          <a:xfrm>
            <a:off x="365760" y="102412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2"/>
          <p:cNvSpPr/>
          <p:nvPr/>
        </p:nvSpPr>
        <p:spPr>
          <a:xfrm>
            <a:off x="502920" y="116128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2"/>
          <p:cNvSpPr/>
          <p:nvPr/>
        </p:nvSpPr>
        <p:spPr>
          <a:xfrm>
            <a:off x="502920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1005840" y="1188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The MAUP Problem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502920" y="166420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The Modifiable Areal Unit Problem: results change depending on how boundaries are drawn. County-level data may look very different from state-level data for the same variable.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4709160" y="102412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2"/>
          <p:cNvSpPr/>
          <p:nvPr/>
        </p:nvSpPr>
        <p:spPr>
          <a:xfrm>
            <a:off x="4846320" y="116128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2"/>
          <p:cNvSpPr/>
          <p:nvPr/>
        </p:nvSpPr>
        <p:spPr>
          <a:xfrm>
            <a:off x="4846320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5349240" y="1188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Within-Unit Variation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4846320" y="166420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 single color fills an entire region, implying uniformity — but a state with 30% poverty still has wealthy urban cores and very poor rural zones.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365760" y="299008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2"/>
          <p:cNvSpPr/>
          <p:nvPr/>
        </p:nvSpPr>
        <p:spPr>
          <a:xfrm>
            <a:off x="502920" y="312724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2"/>
          <p:cNvSpPr/>
          <p:nvPr/>
        </p:nvSpPr>
        <p:spPr>
          <a:xfrm>
            <a:off x="502920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2"/>
          <p:cNvSpPr/>
          <p:nvPr/>
        </p:nvSpPr>
        <p:spPr>
          <a:xfrm>
            <a:off x="1005840" y="31546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Area Bias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502920" y="363016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Large geographic units dominate visual weight. A sparsely populated but physically huge region draws more attention than a small, dense one.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4709160" y="299008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22"/>
          <p:cNvSpPr/>
          <p:nvPr/>
        </p:nvSpPr>
        <p:spPr>
          <a:xfrm>
            <a:off x="4846320" y="312724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2"/>
          <p:cNvSpPr/>
          <p:nvPr/>
        </p:nvSpPr>
        <p:spPr>
          <a:xfrm>
            <a:off x="4846320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5349240" y="31546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Normalization Required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4846320" y="363016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Mapping raw totals (e.g., total COVID cases) is almost always misleading. You must normalize by population to show rates.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Connector 602"/>
          <p:cNvCxnSpPr/>
          <p:nvPr/>
        </p:nvCxnSpPr>
        <p:spPr>
          <a:xfrm>
            <a:off x="333756" y="45831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38912" y="35316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3" name="TextBox 632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40/59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0" name="Connector 649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Google Shape;608;p23"/>
          <p:cNvSpPr/>
          <p:nvPr/>
        </p:nvSpPr>
        <p:spPr>
          <a:xfrm>
            <a:off x="347472" y="35443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3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Isarithmic Mapping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3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Smooth surfaces for continuous phenomena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1" name="Google Shape;611;p23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2" name="Google Shape;612;p23"/>
          <p:cNvSpPr/>
          <p:nvPr/>
        </p:nvSpPr>
        <p:spPr>
          <a:xfrm>
            <a:off x="365760" y="1097280"/>
            <a:ext cx="484632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Isarithmic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connect points of equal value with isolines, creating a smooth surface that shows gradual change across space. Best for phenomena that are continuous by nature.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3"/>
          <p:cNvSpPr/>
          <p:nvPr/>
        </p:nvSpPr>
        <p:spPr>
          <a:xfrm>
            <a:off x="365760" y="1965960"/>
            <a:ext cx="4846320" cy="566928"/>
          </a:xfrm>
          <a:prstGeom prst="roundRect">
            <a:avLst>
              <a:gd name="adj" fmla="val 161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502920" y="2011680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Isohyet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1920240" y="2011680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Equal rainfall — NOAA US Precipitation Normals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3"/>
          <p:cNvSpPr/>
          <p:nvPr/>
        </p:nvSpPr>
        <p:spPr>
          <a:xfrm>
            <a:off x="365760" y="2660904"/>
            <a:ext cx="4846320" cy="566928"/>
          </a:xfrm>
          <a:prstGeom prst="roundRect">
            <a:avLst>
              <a:gd name="adj" fmla="val 161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3"/>
          <p:cNvSpPr/>
          <p:nvPr/>
        </p:nvSpPr>
        <p:spPr>
          <a:xfrm>
            <a:off x="502920" y="2706624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Isotherm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3"/>
          <p:cNvSpPr/>
          <p:nvPr/>
        </p:nvSpPr>
        <p:spPr>
          <a:xfrm>
            <a:off x="1920240" y="2706624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Equal temperature — NOAA Climate Normals maps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3"/>
          <p:cNvSpPr/>
          <p:nvPr/>
        </p:nvSpPr>
        <p:spPr>
          <a:xfrm>
            <a:off x="365760" y="3355848"/>
            <a:ext cx="4846320" cy="566928"/>
          </a:xfrm>
          <a:prstGeom prst="roundRect">
            <a:avLst>
              <a:gd name="adj" fmla="val 161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3"/>
          <p:cNvSpPr/>
          <p:nvPr/>
        </p:nvSpPr>
        <p:spPr>
          <a:xfrm>
            <a:off x="502920" y="3401568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Contour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1920240" y="3401568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Equal elevation — USGS topographic quadrangles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365760" y="4050792"/>
            <a:ext cx="4846320" cy="566928"/>
          </a:xfrm>
          <a:prstGeom prst="roundRect">
            <a:avLst>
              <a:gd name="adj" fmla="val 161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3"/>
          <p:cNvSpPr/>
          <p:nvPr/>
        </p:nvSpPr>
        <p:spPr>
          <a:xfrm>
            <a:off x="502920" y="4096512"/>
            <a:ext cx="1325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Isobar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1920240" y="4096512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Equal atmospheric pressure — NWS weather forecast maps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5376672" y="1097280"/>
            <a:ext cx="3401568" cy="3703320"/>
          </a:xfrm>
          <a:prstGeom prst="roundRect">
            <a:avLst>
              <a:gd name="adj" fmla="val 2688"/>
            </a:avLst>
          </a:prstGeom>
          <a:solidFill>
            <a:srgbClr val="0A0E14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0" name="Picture 659" descr="noaa_precip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672" y="1828141"/>
            <a:ext cx="3281568" cy="2241596"/>
          </a:xfrm>
          <a:prstGeom prst="rect">
            <a:avLst/>
          </a:prstGeom>
        </p:spPr>
      </p:pic>
      <p:sp>
        <p:nvSpPr>
          <p:cNvPr id="628" name="Google Shape;628;p23"/>
          <p:cNvSpPr txBox="1"/>
          <p:nvPr/>
        </p:nvSpPr>
        <p:spPr>
          <a:xfrm>
            <a:off x="5425525" y="4902625"/>
            <a:ext cx="3401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latin typeface="Consolas"/>
                <a:hlinkClick r:id="rId4"/>
              </a:rPr>
              <a:t>Image: National Atlas of the United States, public domain, via Wikimedia Commons</a:t>
            </a:r>
            <a:endParaRPr sz="800"/>
          </a:p>
        </p:txBody>
      </p:sp>
      <p:cxnSp>
        <p:nvCxnSpPr>
          <p:cNvPr id="629" name="Connector 628"/>
          <p:cNvCxnSpPr/>
          <p:nvPr/>
        </p:nvCxnSpPr>
        <p:spPr>
          <a:xfrm>
            <a:off x="333756" y="44587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>
            <a:off x="438912" y="34072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41/59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0" name="Connector 679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Google Shape;634;p24"/>
          <p:cNvSpPr/>
          <p:nvPr/>
        </p:nvSpPr>
        <p:spPr>
          <a:xfrm>
            <a:off x="347472" y="36687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Isarithmic Mapping — Limitations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4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When smooth surfaces mislead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7" name="Google Shape;637;p24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8" name="Google Shape;638;p24"/>
          <p:cNvSpPr/>
          <p:nvPr/>
        </p:nvSpPr>
        <p:spPr>
          <a:xfrm>
            <a:off x="365760" y="109728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Isarithmic maps carry implicit assumptions that can mislead if the underlying phenomenon is not genuinely continuous.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365760" y="162763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4"/>
          <p:cNvSpPr/>
          <p:nvPr/>
        </p:nvSpPr>
        <p:spPr>
          <a:xfrm>
            <a:off x="475488" y="1792224"/>
            <a:ext cx="384048" cy="384048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4"/>
          <p:cNvSpPr/>
          <p:nvPr/>
        </p:nvSpPr>
        <p:spPr>
          <a:xfrm>
            <a:off x="475488" y="17922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1005840" y="170078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Assumes Continuity: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4"/>
          <p:cNvSpPr/>
          <p:nvPr/>
        </p:nvSpPr>
        <p:spPr>
          <a:xfrm>
            <a:off x="3246120" y="1700784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The technique assumes the phenomenon exists everywhere between sample points. Valid for temperature — but not for, say, language spoken at home.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365760" y="246888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4"/>
          <p:cNvSpPr/>
          <p:nvPr/>
        </p:nvSpPr>
        <p:spPr>
          <a:xfrm>
            <a:off x="475488" y="2633472"/>
            <a:ext cx="384048" cy="384048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4"/>
          <p:cNvSpPr/>
          <p:nvPr/>
        </p:nvSpPr>
        <p:spPr>
          <a:xfrm>
            <a:off x="475488" y="26334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/>
          <p:nvPr/>
        </p:nvSpPr>
        <p:spPr>
          <a:xfrm>
            <a:off x="1005840" y="254203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Interpolation Artifacts: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3246120" y="2542032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Values between known points are estimated, not measured. In data-sparse regions, interpolated surfaces can be highly uncertain.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4"/>
          <p:cNvSpPr/>
          <p:nvPr/>
        </p:nvSpPr>
        <p:spPr>
          <a:xfrm>
            <a:off x="365760" y="331012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4"/>
          <p:cNvSpPr/>
          <p:nvPr/>
        </p:nvSpPr>
        <p:spPr>
          <a:xfrm>
            <a:off x="475488" y="3474720"/>
            <a:ext cx="384048" cy="384048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4"/>
          <p:cNvSpPr/>
          <p:nvPr/>
        </p:nvSpPr>
        <p:spPr>
          <a:xfrm>
            <a:off x="475488" y="34747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1005840" y="338328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Monitoring Station Bias: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3246120" y="3383280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Stations are often clustered in populated areas. Sparse rural coverage can significantly distort the interpolated surface.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4"/>
          <p:cNvSpPr/>
          <p:nvPr/>
        </p:nvSpPr>
        <p:spPr>
          <a:xfrm>
            <a:off x="365760" y="4151376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4"/>
          <p:cNvSpPr/>
          <p:nvPr/>
        </p:nvSpPr>
        <p:spPr>
          <a:xfrm>
            <a:off x="475488" y="4315968"/>
            <a:ext cx="384048" cy="384048"/>
          </a:xfrm>
          <a:prstGeom prst="ellipse">
            <a:avLst/>
          </a:prstGeom>
          <a:solidFill>
            <a:srgbClr val="4FD6E8"/>
          </a:solidFill>
          <a:ln w="12700" cap="flat" cmpd="sng">
            <a:solidFill>
              <a:srgbClr val="4FD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4"/>
          <p:cNvSpPr/>
          <p:nvPr/>
        </p:nvSpPr>
        <p:spPr>
          <a:xfrm>
            <a:off x="475488" y="4315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0A0E14"/>
                </a:solidFill>
                <a:latin typeface="Georgia"/>
                <a:ea typeface="Calibri"/>
                <a:cs typeface="Calibri"/>
                <a:sym typeface="Calibri"/>
              </a:rPr>
              <a:t>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/>
          <p:nvPr/>
        </p:nvSpPr>
        <p:spPr>
          <a:xfrm>
            <a:off x="1005840" y="422452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Not for Discrete Data: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3246120" y="4224528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Never use isarithmic mapping for categorical or count data — it falsely implies a continuous gradient that does not exist.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Connector 658"/>
          <p:cNvCxnSpPr/>
          <p:nvPr/>
        </p:nvCxnSpPr>
        <p:spPr>
          <a:xfrm>
            <a:off x="333756" y="45831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438912" y="35316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9" name="TextBox 688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42/59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6" name="Connector 705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4" name="Google Shape;664;p25"/>
          <p:cNvSpPr/>
          <p:nvPr/>
        </p:nvSpPr>
        <p:spPr>
          <a:xfrm>
            <a:off x="347472" y="36065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5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Proportional Symbol Mapping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Size encodes magnitude — continuously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25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8" name="Google Shape;668;p25"/>
          <p:cNvSpPr/>
          <p:nvPr/>
        </p:nvSpPr>
        <p:spPr>
          <a:xfrm>
            <a:off x="365760" y="1097280"/>
            <a:ext cx="48463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Symbol area is scaled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in direct proportion to the data value at each location. Larger symbol = larger value.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365760" y="1719072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5"/>
          <p:cNvSpPr/>
          <p:nvPr/>
        </p:nvSpPr>
        <p:spPr>
          <a:xfrm>
            <a:off x="502920" y="178308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Best for: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/>
          <p:nvPr/>
        </p:nvSpPr>
        <p:spPr>
          <a:xfrm>
            <a:off x="1920240" y="1773936"/>
            <a:ext cx="3154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Totals and counts at point locations (e.g., city populations, earthquake magnitudes)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365760" y="2496312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5"/>
          <p:cNvSpPr/>
          <p:nvPr/>
        </p:nvSpPr>
        <p:spPr>
          <a:xfrm>
            <a:off x="502920" y="256032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Symbol type: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1920240" y="2551176"/>
            <a:ext cx="3154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Circles most common — area is easier to compare than other shapes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5"/>
          <p:cNvSpPr/>
          <p:nvPr/>
        </p:nvSpPr>
        <p:spPr>
          <a:xfrm>
            <a:off x="365760" y="3273552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5"/>
          <p:cNvSpPr/>
          <p:nvPr/>
        </p:nvSpPr>
        <p:spPr>
          <a:xfrm>
            <a:off x="502920" y="333756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Scaling rule: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/>
          <p:nvPr/>
        </p:nvSpPr>
        <p:spPr>
          <a:xfrm>
            <a:off x="1920240" y="3328416"/>
            <a:ext cx="3154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Symbol area (not radius or diameter) should be proportional to the data 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365760" y="4050792"/>
            <a:ext cx="4846320" cy="640080"/>
          </a:xfrm>
          <a:prstGeom prst="roundRect">
            <a:avLst>
              <a:gd name="adj" fmla="val 1428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5"/>
          <p:cNvSpPr/>
          <p:nvPr/>
        </p:nvSpPr>
        <p:spPr>
          <a:xfrm>
            <a:off x="502920" y="411480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6C90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B000"/>
                </a:solidFill>
                <a:latin typeface="Georgia"/>
                <a:ea typeface="Calibri"/>
                <a:cs typeface="Calibri"/>
                <a:sym typeface="Calibri"/>
              </a:rPr>
              <a:t>When to use: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/>
          <p:nvPr/>
        </p:nvSpPr>
        <p:spPr>
          <a:xfrm>
            <a:off x="1920240" y="4105656"/>
            <a:ext cx="3154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When the range of values is large and you need to show raw magnitude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5"/>
          <p:cNvSpPr/>
          <p:nvPr/>
        </p:nvSpPr>
        <p:spPr>
          <a:xfrm>
            <a:off x="5342432" y="1213103"/>
            <a:ext cx="3401568" cy="3477767"/>
          </a:xfrm>
          <a:prstGeom prst="roundRect">
            <a:avLst>
              <a:gd name="adj" fmla="val 2688"/>
            </a:avLst>
          </a:prstGeom>
          <a:solidFill>
            <a:srgbClr val="0A0E14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5"/>
          <p:cNvSpPr/>
          <p:nvPr/>
        </p:nvSpPr>
        <p:spPr>
          <a:xfrm>
            <a:off x="5376672" y="1097280"/>
            <a:ext cx="3401568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[PROPORTIONA		L SYMBOL MAP]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Example: Global earthquake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magnitudes 2000–2023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USGS Earthquake Hazards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https://earthquake.usgs.gov/earthquakes/map/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3" name="Google Shape;6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432" y="1624876"/>
            <a:ext cx="3401568" cy="2522219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5"/>
          <p:cNvSpPr txBox="1"/>
          <p:nvPr/>
        </p:nvSpPr>
        <p:spPr>
          <a:xfrm>
            <a:off x="5425525" y="4902625"/>
            <a:ext cx="3401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latin typeface="Consolas"/>
                <a:hlinkClick r:id="rId4"/>
              </a:rPr>
              <a:t>Image: Wikimedia Commons (Map of earthquakes 1900-)</a:t>
            </a:r>
            <a:endParaRPr sz="800"/>
          </a:p>
        </p:txBody>
      </p:sp>
      <p:cxnSp>
        <p:nvCxnSpPr>
          <p:cNvPr id="685" name="Connector 684"/>
          <p:cNvCxnSpPr/>
          <p:nvPr/>
        </p:nvCxnSpPr>
        <p:spPr>
          <a:xfrm>
            <a:off x="333756" y="45209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38912" y="34694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7" name="Connector 706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Connector 707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5" name="TextBox 714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43/59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5" name="Connector 734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Connector 730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Connector 728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5" name="Connector 724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4" name="Connector 723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0" name="Google Shape;690;p26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6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Proportional Symbol — Limitations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6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Challenges in reading and interpreting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26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4" name="Google Shape;694;p26"/>
          <p:cNvSpPr/>
          <p:nvPr/>
        </p:nvSpPr>
        <p:spPr>
          <a:xfrm>
            <a:off x="365760" y="102412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6"/>
          <p:cNvSpPr/>
          <p:nvPr/>
        </p:nvSpPr>
        <p:spPr>
          <a:xfrm>
            <a:off x="502920" y="116128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6"/>
          <p:cNvSpPr/>
          <p:nvPr/>
        </p:nvSpPr>
        <p:spPr>
          <a:xfrm>
            <a:off x="502920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6"/>
          <p:cNvSpPr/>
          <p:nvPr/>
        </p:nvSpPr>
        <p:spPr>
          <a:xfrm>
            <a:off x="1005840" y="1188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Symbol Overlap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6"/>
          <p:cNvSpPr/>
          <p:nvPr/>
        </p:nvSpPr>
        <p:spPr>
          <a:xfrm>
            <a:off x="502920" y="166420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In dense regions symbols pile up and obscure each other. Solutions include transparency, 3D stacking, or switching techniques.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6"/>
          <p:cNvSpPr/>
          <p:nvPr/>
        </p:nvSpPr>
        <p:spPr>
          <a:xfrm>
            <a:off x="4709160" y="102412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4846320" y="116128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6"/>
          <p:cNvSpPr/>
          <p:nvPr/>
        </p:nvSpPr>
        <p:spPr>
          <a:xfrm>
            <a:off x="4846320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6"/>
          <p:cNvSpPr/>
          <p:nvPr/>
        </p:nvSpPr>
        <p:spPr>
          <a:xfrm>
            <a:off x="5349240" y="1188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Size Estimation Errors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6"/>
          <p:cNvSpPr/>
          <p:nvPr/>
        </p:nvSpPr>
        <p:spPr>
          <a:xfrm>
            <a:off x="4846320" y="166420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Humans systematically underestimate area differences. A circle 4× the area is rarely perceived as 4× bigger.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6"/>
          <p:cNvSpPr/>
          <p:nvPr/>
        </p:nvSpPr>
        <p:spPr>
          <a:xfrm>
            <a:off x="365760" y="299008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6"/>
          <p:cNvSpPr/>
          <p:nvPr/>
        </p:nvSpPr>
        <p:spPr>
          <a:xfrm>
            <a:off x="502920" y="312724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6"/>
          <p:cNvSpPr/>
          <p:nvPr/>
        </p:nvSpPr>
        <p:spPr>
          <a:xfrm>
            <a:off x="502920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6"/>
          <p:cNvSpPr/>
          <p:nvPr/>
        </p:nvSpPr>
        <p:spPr>
          <a:xfrm>
            <a:off x="1005840" y="31546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Legend Design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6"/>
          <p:cNvSpPr/>
          <p:nvPr/>
        </p:nvSpPr>
        <p:spPr>
          <a:xfrm>
            <a:off x="502920" y="363016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Without a well-designed legend viewers cannot decode values reliably. A nested-circle legend with labeled reference sizes helps significantly.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/>
          <p:nvPr/>
        </p:nvSpPr>
        <p:spPr>
          <a:xfrm>
            <a:off x="4709160" y="299008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6"/>
          <p:cNvSpPr/>
          <p:nvPr/>
        </p:nvSpPr>
        <p:spPr>
          <a:xfrm>
            <a:off x="4846320" y="312724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6"/>
          <p:cNvSpPr/>
          <p:nvPr/>
        </p:nvSpPr>
        <p:spPr>
          <a:xfrm>
            <a:off x="4846320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/>
          <p:nvPr/>
        </p:nvSpPr>
        <p:spPr>
          <a:xfrm>
            <a:off x="5349240" y="31546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Not for Rates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/>
          <p:nvPr/>
        </p:nvSpPr>
        <p:spPr>
          <a:xfrm>
            <a:off x="4846320" y="363016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Proportional symbols encode totals, not rates. Mapping total cancer cases by county without normalizing by population is misleading.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4" name="Connector 713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4" name="TextBox 743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44/59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4" name="Connector 753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8" name="Connector 747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7" name="Connector 746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9" name="Connector 738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7" name="Connector 736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9" name="Google Shape;719;p27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27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Graduated Symbol Mapping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7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Symbols in discrete size classes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2" name="Google Shape;722;p27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3" name="Google Shape;723;p27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Unlike proportional symbols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, graduated symbols group data into </a:t>
            </a:r>
            <a:r>
              <a:rPr lang="en-US" sz="1400" b="1" i="0" u="none" strike="noStrike" cap="none">
                <a:solidFill>
                  <a:srgbClr val="9CFF6B"/>
                </a:solidFill>
                <a:latin typeface="Georgia"/>
                <a:ea typeface="Calibri"/>
                <a:cs typeface="Calibri"/>
                <a:sym typeface="Calibri"/>
              </a:rPr>
              <a:t>predefined classes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— each class gets a fixed symbol size. Easier to read; some precision is sacrificed.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7"/>
          <p:cNvSpPr/>
          <p:nvPr/>
        </p:nvSpPr>
        <p:spPr>
          <a:xfrm>
            <a:off x="365760" y="1874520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7"/>
          <p:cNvSpPr/>
          <p:nvPr/>
        </p:nvSpPr>
        <p:spPr>
          <a:xfrm>
            <a:off x="502920" y="198424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Proportional Symbol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7"/>
          <p:cNvSpPr/>
          <p:nvPr/>
        </p:nvSpPr>
        <p:spPr>
          <a:xfrm>
            <a:off x="3337560" y="1984248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Continuous scaling — symbol area ∝ data 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7086600" y="207568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More precise; harder to read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365760" y="3136392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0A0E14"/>
          </a:solidFill>
          <a:ln w="9525" cap="flat" cmpd="sng">
            <a:solidFill>
              <a:srgbClr val="9CFF6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7"/>
          <p:cNvSpPr/>
          <p:nvPr/>
        </p:nvSpPr>
        <p:spPr>
          <a:xfrm>
            <a:off x="502920" y="324612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9CFF6B"/>
                </a:solidFill>
                <a:latin typeface="Georgia"/>
                <a:ea typeface="Calibri"/>
                <a:cs typeface="Calibri"/>
                <a:sym typeface="Calibri"/>
              </a:rPr>
              <a:t>Graduated Symbol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3337560" y="3246120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Discrete classes, e.g., small / medium / large / XL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7086600" y="333756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Easier to read; some precision lost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365760" y="446227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ArcGIS Pro graduated symbols: https://pro.arcgis.com/en/pro-app/latest/help/mapping/layer-properties/graduated-symbols.htm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Connector 732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5" name="Connector 754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6" name="Connector 755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8" name="Connector 757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9" name="Connector 758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3" name="TextBox 762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45/59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0" name="Connector 779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Connector 778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8" name="Connector 777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Connector 776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6" name="Connector 775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5" name="Connector 774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4" name="Connector 773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3" name="Connector 772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2" name="Connector 771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1" name="Connector 770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0" name="Connector 769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8" name="Connector 767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7" name="Connector 766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6" name="Connector 765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8" name="Google Shape;738;p28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28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Dot Mapping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One dot = one unit of the phenomenon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28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2" name="Google Shape;742;p28"/>
          <p:cNvSpPr/>
          <p:nvPr/>
        </p:nvSpPr>
        <p:spPr>
          <a:xfrm>
            <a:off x="365760" y="1097280"/>
            <a:ext cx="48463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Dot maps</a:t>
            </a:r>
            <a:r>
              <a:rPr lang="en-US" sz="1400" b="0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 place dots to represent a fixed quantity of the mapped phenomenon. Dot density reveals spatial distribution — even in overlapping, dense areas.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8"/>
          <p:cNvSpPr/>
          <p:nvPr/>
        </p:nvSpPr>
        <p:spPr>
          <a:xfrm>
            <a:off x="365760" y="1883664"/>
            <a:ext cx="4846320" cy="603504"/>
          </a:xfrm>
          <a:prstGeom prst="roundRect">
            <a:avLst>
              <a:gd name="adj" fmla="val 1515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8"/>
          <p:cNvSpPr/>
          <p:nvPr/>
        </p:nvSpPr>
        <p:spPr>
          <a:xfrm>
            <a:off x="502920" y="19293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Dot value: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1920240" y="1929384"/>
            <a:ext cx="31546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Each dot = a fixed number of units (e.g., 1 dot = 1,000 people)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/>
          <p:nvPr/>
        </p:nvSpPr>
        <p:spPr>
          <a:xfrm>
            <a:off x="365760" y="2615184"/>
            <a:ext cx="4846320" cy="603504"/>
          </a:xfrm>
          <a:prstGeom prst="roundRect">
            <a:avLst>
              <a:gd name="adj" fmla="val 1515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8"/>
          <p:cNvSpPr/>
          <p:nvPr/>
        </p:nvSpPr>
        <p:spPr>
          <a:xfrm>
            <a:off x="502920" y="266090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Dot placement: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8"/>
          <p:cNvSpPr/>
          <p:nvPr/>
        </p:nvSpPr>
        <p:spPr>
          <a:xfrm>
            <a:off x="1920240" y="2660904"/>
            <a:ext cx="31546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Ideally placed using ancillary data (land use) to position dots realistically, not randomly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365760" y="3346704"/>
            <a:ext cx="4846320" cy="603504"/>
          </a:xfrm>
          <a:prstGeom prst="roundRect">
            <a:avLst>
              <a:gd name="adj" fmla="val 1515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8"/>
          <p:cNvSpPr/>
          <p:nvPr/>
        </p:nvSpPr>
        <p:spPr>
          <a:xfrm>
            <a:off x="502920" y="339242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Use for: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8"/>
          <p:cNvSpPr/>
          <p:nvPr/>
        </p:nvSpPr>
        <p:spPr>
          <a:xfrm>
            <a:off x="1920240" y="3392424"/>
            <a:ext cx="31546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Non-uniform distributions — population, livestock, crop fields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8"/>
          <p:cNvSpPr/>
          <p:nvPr/>
        </p:nvSpPr>
        <p:spPr>
          <a:xfrm>
            <a:off x="365760" y="4078224"/>
            <a:ext cx="4846320" cy="603504"/>
          </a:xfrm>
          <a:prstGeom prst="roundRect">
            <a:avLst>
              <a:gd name="adj" fmla="val 15152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8"/>
          <p:cNvSpPr/>
          <p:nvPr/>
        </p:nvSpPr>
        <p:spPr>
          <a:xfrm>
            <a:off x="502920" y="412394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Strength: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8"/>
          <p:cNvSpPr/>
          <p:nvPr/>
        </p:nvSpPr>
        <p:spPr>
          <a:xfrm>
            <a:off x="1920240" y="4123944"/>
            <a:ext cx="31546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Reveals density clustering and sparse zones better than choropleth for raw totals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8"/>
          <p:cNvSpPr/>
          <p:nvPr/>
        </p:nvSpPr>
        <p:spPr>
          <a:xfrm>
            <a:off x="5376672" y="1097280"/>
            <a:ext cx="3401568" cy="3703320"/>
          </a:xfrm>
          <a:prstGeom prst="roundRect">
            <a:avLst>
              <a:gd name="adj" fmla="val 2688"/>
            </a:avLst>
          </a:prstGeom>
          <a:solidFill>
            <a:srgbClr val="0A0E14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8"/>
          <p:cNvSpPr/>
          <p:nvPr/>
        </p:nvSpPr>
        <p:spPr>
          <a:xfrm>
            <a:off x="5376672" y="1097280"/>
            <a:ext cx="3401568" cy="370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[DOT MA	P IMAGE]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Example: US Population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Dot Density Map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US Census Bureau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https://www.census.gov/library/visualizations/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0" name="Picture 789" descr="dotmap_enha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5" y="1916390"/>
            <a:ext cx="3401575" cy="2075700"/>
          </a:xfrm>
          <a:prstGeom prst="rect">
            <a:avLst/>
          </a:prstGeom>
        </p:spPr>
      </p:pic>
      <p:sp>
        <p:nvSpPr>
          <p:cNvPr id="758" name="Google Shape;758;p28"/>
          <p:cNvSpPr txBox="1"/>
          <p:nvPr/>
        </p:nvSpPr>
        <p:spPr>
          <a:xfrm>
            <a:off x="5425525" y="4902625"/>
            <a:ext cx="34017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latin typeface="Consolas"/>
                <a:hlinkClick r:id="rId4"/>
              </a:rPr>
              <a:t>Image: Wikimedia Commons (Dot map black hispanic)</a:t>
            </a:r>
            <a:endParaRPr sz="800"/>
          </a:p>
        </p:txBody>
      </p:sp>
      <p:cxnSp>
        <p:nvCxnSpPr>
          <p:cNvPr id="759" name="Connector 758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0" name="Connector 759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Connector 780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2" name="Connector 781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3" name="Connector 782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Connector 783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5" name="Connector 784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6" name="Connector 785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7" name="Connector 786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8" name="Connector 787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TextBox 788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46/59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0" name="Connector 809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Connector 808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Connector 807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7" name="Connector 806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5" name="Connector 804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4" name="Connector 803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3" name="Connector 802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2" name="Connector 801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1" name="Connector 800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0" name="Connector 799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9" name="Connector 798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8" name="Connector 797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4" name="Connector 793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1" name="Connector 790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4" name="Google Shape;764;p29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29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Dot Mapping — Limitations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9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Design choices that change what viewers see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7" name="Google Shape;767;p29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8" name="Google Shape;768;p29"/>
          <p:cNvSpPr/>
          <p:nvPr/>
        </p:nvSpPr>
        <p:spPr>
          <a:xfrm>
            <a:off x="365760" y="102412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9"/>
          <p:cNvSpPr/>
          <p:nvPr/>
        </p:nvSpPr>
        <p:spPr>
          <a:xfrm>
            <a:off x="502920" y="116128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9"/>
          <p:cNvSpPr/>
          <p:nvPr/>
        </p:nvSpPr>
        <p:spPr>
          <a:xfrm>
            <a:off x="502920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9"/>
          <p:cNvSpPr/>
          <p:nvPr/>
        </p:nvSpPr>
        <p:spPr>
          <a:xfrm>
            <a:off x="1005840" y="1188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Dot Value Selection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502920" y="166420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Too small a value → map saturates; too large → sparse and uninformative. Calibration requires testing.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4709160" y="102412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9"/>
          <p:cNvSpPr/>
          <p:nvPr/>
        </p:nvSpPr>
        <p:spPr>
          <a:xfrm>
            <a:off x="4846320" y="116128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9"/>
          <p:cNvSpPr/>
          <p:nvPr/>
        </p:nvSpPr>
        <p:spPr>
          <a:xfrm>
            <a:off x="4846320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9"/>
          <p:cNvSpPr/>
          <p:nvPr/>
        </p:nvSpPr>
        <p:spPr>
          <a:xfrm>
            <a:off x="5349240" y="11887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Dot Size Selection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/>
          <p:nvPr/>
        </p:nvSpPr>
        <p:spPr>
          <a:xfrm>
            <a:off x="4846320" y="166420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Tiny dots are hard to see; oversized dots imply more data than present. Both mislead the viewer.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/>
          <p:nvPr/>
        </p:nvSpPr>
        <p:spPr>
          <a:xfrm>
            <a:off x="365760" y="299008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9"/>
          <p:cNvSpPr/>
          <p:nvPr/>
        </p:nvSpPr>
        <p:spPr>
          <a:xfrm>
            <a:off x="502920" y="312724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9"/>
          <p:cNvSpPr/>
          <p:nvPr/>
        </p:nvSpPr>
        <p:spPr>
          <a:xfrm>
            <a:off x="502920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1005840" y="31546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Dot Placement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9"/>
          <p:cNvSpPr/>
          <p:nvPr/>
        </p:nvSpPr>
        <p:spPr>
          <a:xfrm>
            <a:off x="502920" y="363016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Placing dots randomly within counties ignores known population concentrations in urban areas.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/>
          <p:nvPr/>
        </p:nvSpPr>
        <p:spPr>
          <a:xfrm>
            <a:off x="4709160" y="2990088"/>
            <a:ext cx="4096512" cy="1783080"/>
          </a:xfrm>
          <a:prstGeom prst="roundRect">
            <a:avLst>
              <a:gd name="adj" fmla="val 5128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29"/>
          <p:cNvSpPr/>
          <p:nvPr/>
        </p:nvSpPr>
        <p:spPr>
          <a:xfrm>
            <a:off x="4846320" y="3127248"/>
            <a:ext cx="384048" cy="384048"/>
          </a:xfrm>
          <a:prstGeom prst="ellipse">
            <a:avLst/>
          </a:prstGeom>
          <a:solidFill>
            <a:srgbClr val="FF5C5C"/>
          </a:solidFill>
          <a:ln w="12700" cap="flat" cmpd="sng">
            <a:solidFill>
              <a:srgbClr val="FF5C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29"/>
          <p:cNvSpPr/>
          <p:nvPr/>
        </p:nvSpPr>
        <p:spPr>
          <a:xfrm>
            <a:off x="4846320" y="3127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!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5349240" y="315468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5C5C"/>
                </a:solidFill>
                <a:latin typeface="Georgia"/>
                <a:ea typeface="Calibri"/>
                <a:cs typeface="Calibri"/>
                <a:sym typeface="Calibri"/>
              </a:rPr>
              <a:t>Saturation in Dense Areas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9"/>
          <p:cNvSpPr/>
          <p:nvPr/>
        </p:nvSpPr>
        <p:spPr>
          <a:xfrm>
            <a:off x="4846320" y="3630168"/>
            <a:ext cx="38221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High-density zones coalesce into solid blobs, losing the ability to distinguish individual values.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Good reference: Axis Maps Thematic Cartography Guide — https://www.axismaps.com/guide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9" name="Connector 788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0" name="Connector 789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Connector 810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Connector 811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Connector 812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4" name="Connector 813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5" name="Connector 814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Connector 815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7" name="Connector 816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8" name="Connector 817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9" name="TextBox 818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47/59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0" name="Connector 839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9" name="Connector 838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8" name="Connector 837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7" name="Connector 836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6" name="Connector 835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5" name="Connector 834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4" name="Connector 833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3" name="Connector 832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2" name="Connector 831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1" name="Connector 830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0" name="Connector 829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9" name="Connector 828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Connector 827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Connector 826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6" name="Connector 825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5" name="Connector 824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4" name="Connector 823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3" name="Connector 822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2" name="Connector 821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 820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Google Shape;794;p30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0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Flow Mapping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0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Visualizing movement and connections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7" name="Google Shape;797;p30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8" name="Google Shape;798;p30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Flow maps use lines or arrows to show movement of people, goods, or information between locations. Line width typically encodes volume.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0"/>
          <p:cNvSpPr/>
          <p:nvPr/>
        </p:nvSpPr>
        <p:spPr>
          <a:xfrm>
            <a:off x="365760" y="1755648"/>
            <a:ext cx="4096512" cy="1444752"/>
          </a:xfrm>
          <a:prstGeom prst="roundRect">
            <a:avLst>
              <a:gd name="adj" fmla="val 63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0"/>
          <p:cNvSpPr/>
          <p:nvPr/>
        </p:nvSpPr>
        <p:spPr>
          <a:xfrm>
            <a:off x="457200" y="1956816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✈️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0"/>
          <p:cNvSpPr/>
          <p:nvPr/>
        </p:nvSpPr>
        <p:spPr>
          <a:xfrm>
            <a:off x="1143000" y="1865376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Global Air Traffic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0"/>
          <p:cNvSpPr/>
          <p:nvPr/>
        </p:nvSpPr>
        <p:spPr>
          <a:xfrm>
            <a:off x="1143000" y="2258568"/>
            <a:ext cx="318211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Origin-destination pairs for commercial flights — reveals hub-and-spoke networks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0"/>
          <p:cNvSpPr/>
          <p:nvPr/>
        </p:nvSpPr>
        <p:spPr>
          <a:xfrm>
            <a:off x="1143000" y="2944368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https://www.flightradar24.com/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0"/>
          <p:cNvSpPr/>
          <p:nvPr/>
        </p:nvSpPr>
        <p:spPr>
          <a:xfrm>
            <a:off x="4709160" y="1755648"/>
            <a:ext cx="4096512" cy="1444752"/>
          </a:xfrm>
          <a:prstGeom prst="roundRect">
            <a:avLst>
              <a:gd name="adj" fmla="val 63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0"/>
          <p:cNvSpPr/>
          <p:nvPr/>
        </p:nvSpPr>
        <p:spPr>
          <a:xfrm>
            <a:off x="4800600" y="1956816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🦅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0"/>
          <p:cNvSpPr/>
          <p:nvPr/>
        </p:nvSpPr>
        <p:spPr>
          <a:xfrm>
            <a:off x="5486400" y="1865376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Wildlife Migration Routes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0"/>
          <p:cNvSpPr/>
          <p:nvPr/>
        </p:nvSpPr>
        <p:spPr>
          <a:xfrm>
            <a:off x="5486400" y="2258568"/>
            <a:ext cx="318211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Tracked movement paths of bird and animal species across seasons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0"/>
          <p:cNvSpPr/>
          <p:nvPr/>
        </p:nvSpPr>
        <p:spPr>
          <a:xfrm>
            <a:off x="5486400" y="2944368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https://www.movebank.org/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0"/>
          <p:cNvSpPr/>
          <p:nvPr/>
        </p:nvSpPr>
        <p:spPr>
          <a:xfrm>
            <a:off x="365760" y="3383280"/>
            <a:ext cx="4096512" cy="1444752"/>
          </a:xfrm>
          <a:prstGeom prst="roundRect">
            <a:avLst>
              <a:gd name="adj" fmla="val 63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0"/>
          <p:cNvSpPr/>
          <p:nvPr/>
        </p:nvSpPr>
        <p:spPr>
          <a:xfrm>
            <a:off x="457200" y="358444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💱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0"/>
          <p:cNvSpPr/>
          <p:nvPr/>
        </p:nvSpPr>
        <p:spPr>
          <a:xfrm>
            <a:off x="1143000" y="3493008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International Trade Flows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0"/>
          <p:cNvSpPr/>
          <p:nvPr/>
        </p:nvSpPr>
        <p:spPr>
          <a:xfrm>
            <a:off x="1143000" y="3886200"/>
            <a:ext cx="318211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Import/export volumes between country pairs — reveals economic dependency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0"/>
          <p:cNvSpPr/>
          <p:nvPr/>
        </p:nvSpPr>
        <p:spPr>
          <a:xfrm>
            <a:off x="1143000" y="457200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https://oec.world/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0"/>
          <p:cNvSpPr/>
          <p:nvPr/>
        </p:nvSpPr>
        <p:spPr>
          <a:xfrm>
            <a:off x="4709160" y="3383280"/>
            <a:ext cx="4096512" cy="1444752"/>
          </a:xfrm>
          <a:prstGeom prst="roundRect">
            <a:avLst>
              <a:gd name="adj" fmla="val 632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30"/>
          <p:cNvSpPr/>
          <p:nvPr/>
        </p:nvSpPr>
        <p:spPr>
          <a:xfrm>
            <a:off x="4800600" y="358444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🚶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0"/>
          <p:cNvSpPr/>
          <p:nvPr/>
        </p:nvSpPr>
        <p:spPr>
          <a:xfrm>
            <a:off x="5486400" y="3493008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Human Migration Patterns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0"/>
          <p:cNvSpPr/>
          <p:nvPr/>
        </p:nvSpPr>
        <p:spPr>
          <a:xfrm>
            <a:off x="5486400" y="3886200"/>
            <a:ext cx="318211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Net inter-regional migration with proportional line widths encoding volume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0"/>
          <p:cNvSpPr/>
          <p:nvPr/>
        </p:nvSpPr>
        <p:spPr>
          <a:xfrm>
            <a:off x="5486400" y="457200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https://www.un.org/en/global-issues/migration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Connector 818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0" name="Connector 819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1" name="Connector 840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2" name="Connector 841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3" name="Connector 842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4" name="Connector 843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5" name="Connector 844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6" name="Connector 845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7" name="Connector 846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8" name="Connector 847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9" name="TextBox 848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48/59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9" name="Connector 868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8" name="Connector 867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7" name="Connector 866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6" name="Connector 865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3" name="Connector 862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2" name="Connector 861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1" name="Connector 860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2" name="Connector 851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1" name="Connector 850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0" name="Connector 849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4" name="Google Shape;824;p31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1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Cartogram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1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When geography warps to reflect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31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8" name="Google Shape;828;p31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 cartogram deliberately distorts geographic area or distance to be proportional to a variable — making the data itself reshape the map.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1"/>
          <p:cNvSpPr/>
          <p:nvPr/>
        </p:nvSpPr>
        <p:spPr>
          <a:xfrm>
            <a:off x="365760" y="1719072"/>
            <a:ext cx="8412480" cy="978408"/>
          </a:xfrm>
          <a:prstGeom prst="roundRect">
            <a:avLst>
              <a:gd name="adj" fmla="val 934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1"/>
          <p:cNvSpPr/>
          <p:nvPr/>
        </p:nvSpPr>
        <p:spPr>
          <a:xfrm>
            <a:off x="502920" y="1810512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Contiguous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Area Cartogram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" name="Google Shape;831;p31"/>
          <p:cNvCxnSpPr/>
          <p:nvPr/>
        </p:nvCxnSpPr>
        <p:spPr>
          <a:xfrm>
            <a:off x="3127248" y="1810512"/>
            <a:ext cx="0" cy="786384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2" name="Google Shape;832;p31"/>
          <p:cNvSpPr/>
          <p:nvPr/>
        </p:nvSpPr>
        <p:spPr>
          <a:xfrm>
            <a:off x="3310128" y="1810512"/>
            <a:ext cx="349300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Areas are resized while maintaining topology (shared borders). Visually striking but complex to build.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3" name="Google Shape;833;p31"/>
          <p:cNvCxnSpPr/>
          <p:nvPr/>
        </p:nvCxnSpPr>
        <p:spPr>
          <a:xfrm>
            <a:off x="6858000" y="1810512"/>
            <a:ext cx="0" cy="786384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4" name="Google Shape;834;p31"/>
          <p:cNvSpPr/>
          <p:nvPr/>
        </p:nvSpPr>
        <p:spPr>
          <a:xfrm>
            <a:off x="6995160" y="1810512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World population cartogram — WorldMapper.org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1"/>
          <p:cNvSpPr/>
          <p:nvPr/>
        </p:nvSpPr>
        <p:spPr>
          <a:xfrm>
            <a:off x="365760" y="2834640"/>
            <a:ext cx="8412480" cy="978408"/>
          </a:xfrm>
          <a:prstGeom prst="roundRect">
            <a:avLst>
              <a:gd name="adj" fmla="val 934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1"/>
          <p:cNvSpPr/>
          <p:nvPr/>
        </p:nvSpPr>
        <p:spPr>
          <a:xfrm>
            <a:off x="502920" y="2926080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Dorling Cartogram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(Circles)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7" name="Google Shape;837;p31"/>
          <p:cNvCxnSpPr/>
          <p:nvPr/>
        </p:nvCxnSpPr>
        <p:spPr>
          <a:xfrm>
            <a:off x="3127248" y="2926080"/>
            <a:ext cx="0" cy="786384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8" name="Google Shape;838;p31"/>
          <p:cNvSpPr/>
          <p:nvPr/>
        </p:nvSpPr>
        <p:spPr>
          <a:xfrm>
            <a:off x="3310128" y="2926080"/>
            <a:ext cx="349300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Each unit becomes a proportional circle. Topology is lost but patterns are immediately legible.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9" name="Google Shape;839;p31"/>
          <p:cNvCxnSpPr/>
          <p:nvPr/>
        </p:nvCxnSpPr>
        <p:spPr>
          <a:xfrm>
            <a:off x="6858000" y="2926080"/>
            <a:ext cx="0" cy="786384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0" name="Google Shape;840;p31"/>
          <p:cNvSpPr/>
          <p:nvPr/>
        </p:nvSpPr>
        <p:spPr>
          <a:xfrm>
            <a:off x="6995160" y="2926080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GDP by country — Our World in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1"/>
          <p:cNvSpPr/>
          <p:nvPr/>
        </p:nvSpPr>
        <p:spPr>
          <a:xfrm>
            <a:off x="365760" y="3950208"/>
            <a:ext cx="8412480" cy="978408"/>
          </a:xfrm>
          <a:prstGeom prst="roundRect">
            <a:avLst>
              <a:gd name="adj" fmla="val 9346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1"/>
          <p:cNvSpPr/>
          <p:nvPr/>
        </p:nvSpPr>
        <p:spPr>
          <a:xfrm>
            <a:off x="502920" y="404164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Distance Cartogram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" name="Google Shape;843;p31"/>
          <p:cNvCxnSpPr/>
          <p:nvPr/>
        </p:nvCxnSpPr>
        <p:spPr>
          <a:xfrm>
            <a:off x="3127248" y="4041648"/>
            <a:ext cx="0" cy="786384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4" name="Google Shape;844;p31"/>
          <p:cNvSpPr/>
          <p:nvPr/>
        </p:nvSpPr>
        <p:spPr>
          <a:xfrm>
            <a:off x="3310128" y="4041648"/>
            <a:ext cx="3493008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Distances warped by travel time or cost rather than physical distance.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5" name="Google Shape;845;p31"/>
          <p:cNvCxnSpPr/>
          <p:nvPr/>
        </p:nvCxnSpPr>
        <p:spPr>
          <a:xfrm>
            <a:off x="6858000" y="4041648"/>
            <a:ext cx="0" cy="786384"/>
          </a:xfrm>
          <a:prstGeom prst="straightConnector1">
            <a:avLst/>
          </a:prstGeom>
          <a:noFill/>
          <a:ln w="12700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6" name="Google Shape;846;p31"/>
          <p:cNvSpPr/>
          <p:nvPr/>
        </p:nvSpPr>
        <p:spPr>
          <a:xfrm>
            <a:off x="6995160" y="4041648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NYC subway travel-time map from Times Square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1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WorldMapper: https://worldmapper.org/  |  Our World in Data: https://ourworldindata.org/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8" name="Connector 847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9" name="Connector 848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4" name="Connector 873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5" name="Connector 874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6" name="Connector 875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TextBox 877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49/59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Distance Cartogram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Geography warped by minutes, not miles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Tom Carden's “Travel Time Tube Map” redraws the London Underground so that distance from a chosen starting station represents travel time, not physical distance — concentric rings mark each 5-minute band outward.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Time to travel from High Barnet, at the north end of the Northern line, to every other 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WHAT'S WARPED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Stations reachable quickly cluster near the center regardless of physical distance; slow connections get pushed to the far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NYC subway, Tokyo Metro, and mapping tools' own “isochrone” features all use the same time-not-space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860127"/>
            <a:ext cx="3401568" cy="2177625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ube_traveltime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950127"/>
            <a:ext cx="3221568" cy="19976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077752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Tom Carden, CC BY 3.0, via Wikimedia Commons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50/59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9" name="Connector 898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7" name="Connector 896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6" name="Connector 895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5" name="Connector 894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3" name="Connector 892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2" name="Connector 891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1" name="Connector 890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5" name="Connector 884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4" name="Connector 883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3" name="Connector 882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3" name="Google Shape;853;p32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2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Interactive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2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Giving users control over the data they see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6" name="Google Shape;856;p32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7" name="Google Shape;857;p32"/>
          <p:cNvSpPr/>
          <p:nvPr/>
        </p:nvSpPr>
        <p:spPr>
          <a:xfrm>
            <a:off x="365760" y="1097280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Interactive maps let users zoom, filter, query, and explore — turning a static product into a tool for personalized discovery.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2"/>
          <p:cNvSpPr/>
          <p:nvPr/>
        </p:nvSpPr>
        <p:spPr>
          <a:xfrm>
            <a:off x="365760" y="1719072"/>
            <a:ext cx="4096512" cy="1389888"/>
          </a:xfrm>
          <a:prstGeom prst="roundRect">
            <a:avLst>
              <a:gd name="adj" fmla="val 657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2"/>
          <p:cNvSpPr/>
          <p:nvPr/>
        </p:nvSpPr>
        <p:spPr>
          <a:xfrm>
            <a:off x="457200" y="19019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🌊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2"/>
          <p:cNvSpPr/>
          <p:nvPr/>
        </p:nvSpPr>
        <p:spPr>
          <a:xfrm>
            <a:off x="1143000" y="1828800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Windy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2"/>
          <p:cNvSpPr/>
          <p:nvPr/>
        </p:nvSpPr>
        <p:spPr>
          <a:xfrm>
            <a:off x="1143000" y="2221992"/>
            <a:ext cx="318211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Real-time global wind, wave, and weather patterns — live animated visualization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2"/>
          <p:cNvSpPr/>
          <p:nvPr/>
        </p:nvSpPr>
        <p:spPr>
          <a:xfrm>
            <a:off x="1143000" y="2862072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https://www.windy.com/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2"/>
          <p:cNvSpPr/>
          <p:nvPr/>
        </p:nvSpPr>
        <p:spPr>
          <a:xfrm>
            <a:off x="4709160" y="1719072"/>
            <a:ext cx="4096512" cy="1389888"/>
          </a:xfrm>
          <a:prstGeom prst="roundRect">
            <a:avLst>
              <a:gd name="adj" fmla="val 657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2"/>
          <p:cNvSpPr/>
          <p:nvPr/>
        </p:nvSpPr>
        <p:spPr>
          <a:xfrm>
            <a:off x="4800600" y="19019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🌍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2"/>
          <p:cNvSpPr/>
          <p:nvPr/>
        </p:nvSpPr>
        <p:spPr>
          <a:xfrm>
            <a:off x="5486400" y="1828800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NASA Worldview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2"/>
          <p:cNvSpPr/>
          <p:nvPr/>
        </p:nvSpPr>
        <p:spPr>
          <a:xfrm>
            <a:off x="5486400" y="2221992"/>
            <a:ext cx="318211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Browse 900+ Earth science data layers from NASA satellites, updated daily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2"/>
          <p:cNvSpPr/>
          <p:nvPr/>
        </p:nvSpPr>
        <p:spPr>
          <a:xfrm>
            <a:off x="5486400" y="2862072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https://worldview.earthdata.nasa.gov/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2"/>
          <p:cNvSpPr/>
          <p:nvPr/>
        </p:nvSpPr>
        <p:spPr>
          <a:xfrm>
            <a:off x="365760" y="3291840"/>
            <a:ext cx="4096512" cy="1389888"/>
          </a:xfrm>
          <a:prstGeom prst="roundRect">
            <a:avLst>
              <a:gd name="adj" fmla="val 657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2"/>
          <p:cNvSpPr/>
          <p:nvPr/>
        </p:nvSpPr>
        <p:spPr>
          <a:xfrm>
            <a:off x="457200" y="3474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🏙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2"/>
          <p:cNvSpPr/>
          <p:nvPr/>
        </p:nvSpPr>
        <p:spPr>
          <a:xfrm>
            <a:off x="1143000" y="3401568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NYT 'Every Building'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2"/>
          <p:cNvSpPr/>
          <p:nvPr/>
        </p:nvSpPr>
        <p:spPr>
          <a:xfrm>
            <a:off x="1143000" y="3794760"/>
            <a:ext cx="318211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Interactive exploration of the entire US building footprint — every structure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2"/>
          <p:cNvSpPr/>
          <p:nvPr/>
        </p:nvSpPr>
        <p:spPr>
          <a:xfrm>
            <a:off x="1143000" y="443484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https://www.nytimes.com/interactive/2018/10/12/us/map-of-every-building-in-the-united-states.html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2"/>
          <p:cNvSpPr/>
          <p:nvPr/>
        </p:nvSpPr>
        <p:spPr>
          <a:xfrm>
            <a:off x="4709160" y="3291840"/>
            <a:ext cx="4096512" cy="1389888"/>
          </a:xfrm>
          <a:prstGeom prst="roundRect">
            <a:avLst>
              <a:gd name="adj" fmla="val 657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32"/>
          <p:cNvSpPr/>
          <p:nvPr/>
        </p:nvSpPr>
        <p:spPr>
          <a:xfrm>
            <a:off x="4800600" y="34747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🦠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2"/>
          <p:cNvSpPr/>
          <p:nvPr/>
        </p:nvSpPr>
        <p:spPr>
          <a:xfrm>
            <a:off x="5486400" y="3401568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CDC COVID Tracker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5486400" y="3794760"/>
            <a:ext cx="318211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Filterable choropleth and time-series maps of COVID-19 metrics by US county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2"/>
          <p:cNvSpPr/>
          <p:nvPr/>
        </p:nvSpPr>
        <p:spPr>
          <a:xfrm>
            <a:off x="5486400" y="443484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https://covid.cdc.gov/covid-data-tracker/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8" name="Connector 877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TextBox 907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51/59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5" name="Connector 924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4" name="Connector 923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2" name="Connector 921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1" name="Connector 920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0" name="Connector 919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3" name="Connector 912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2" name="Connector 911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1" name="Connector 910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3" name="Google Shape;883;p33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33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Animated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3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Adding the dimension of time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6" name="Google Shape;886;p33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7" name="Google Shape;887;p33"/>
          <p:cNvSpPr/>
          <p:nvPr/>
        </p:nvSpPr>
        <p:spPr>
          <a:xfrm>
            <a:off x="365760" y="1097280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Animated maps add a temporal axis, showing how spatial patterns evolve. Most powerful when change is gradual and continuous.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3"/>
          <p:cNvSpPr/>
          <p:nvPr/>
        </p:nvSpPr>
        <p:spPr>
          <a:xfrm>
            <a:off x="365760" y="4215384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33"/>
          <p:cNvSpPr/>
          <p:nvPr/>
        </p:nvSpPr>
        <p:spPr>
          <a:xfrm>
            <a:off x="658368" y="415137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Time step: </a:t>
            </a: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The animation unit (hourly, daily, yearly) must match the scale of change in the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3"/>
          <p:cNvSpPr/>
          <p:nvPr/>
        </p:nvSpPr>
        <p:spPr>
          <a:xfrm>
            <a:off x="365760" y="4535424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3"/>
          <p:cNvSpPr/>
          <p:nvPr/>
        </p:nvSpPr>
        <p:spPr>
          <a:xfrm>
            <a:off x="658368" y="447141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Loop vs. play: </a:t>
            </a: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Looping suits cyclical data (seasons, tides); linear playback suits historical sequences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3"/>
          <p:cNvSpPr/>
          <p:nvPr/>
        </p:nvSpPr>
        <p:spPr>
          <a:xfrm>
            <a:off x="365760" y="4855464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3"/>
          <p:cNvSpPr/>
          <p:nvPr/>
        </p:nvSpPr>
        <p:spPr>
          <a:xfrm>
            <a:off x="658368" y="4791456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Playback speed: </a:t>
            </a: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Too fast obscures the pattern; too slow loses viewer attention. Always test with users.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4" name="Google Shape;894;p33"/>
          <p:cNvPicPr preferRelativeResize="0"/>
          <p:nvPr/>
        </p:nvPicPr>
        <p:blipFill rotWithShape="1">
          <a:blip r:embed="rId3">
            <a:alphaModFix/>
          </a:blip>
          <a:srcRect t="28334" b="28329"/>
          <a:stretch/>
        </p:blipFill>
        <p:spPr>
          <a:xfrm>
            <a:off x="3913982" y="2141142"/>
            <a:ext cx="3154680" cy="1773958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33"/>
          <p:cNvSpPr txBox="1"/>
          <p:nvPr/>
        </p:nvSpPr>
        <p:spPr>
          <a:xfrm>
            <a:off x="652950" y="3823600"/>
            <a:ext cx="3458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latin typeface="Consolas"/>
                <a:hlinkClick r:id="rId4"/>
              </a:rPr>
              <a:t>Image: Wikimedia Commons (Cappelluti, NASA OTD/LIS)</a:t>
            </a:r>
            <a:endParaRPr sz="800"/>
          </a:p>
        </p:txBody>
      </p:sp>
      <p:sp>
        <p:nvSpPr>
          <p:cNvPr id="896" name="Google Shape;896;p33"/>
          <p:cNvSpPr txBox="1"/>
          <p:nvPr/>
        </p:nvSpPr>
        <p:spPr>
          <a:xfrm>
            <a:off x="3191322" y="1650492"/>
            <a:ext cx="460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9CFF6B"/>
                </a:solidFill>
                <a:latin typeface="Georgia"/>
              </a:rPr>
              <a:t>Global Lightning Flash Density — Monthly Means</a:t>
            </a:r>
            <a:endParaRPr sz="1200" b="1" dirty="0">
              <a:solidFill>
                <a:srgbClr val="4ADE80"/>
              </a:solidFill>
            </a:endParaRPr>
          </a:p>
        </p:txBody>
      </p:sp>
      <p:sp>
        <p:nvSpPr>
          <p:cNvPr id="897" name="Google Shape;897;p33"/>
          <p:cNvSpPr txBox="1"/>
          <p:nvPr/>
        </p:nvSpPr>
        <p:spPr>
          <a:xfrm>
            <a:off x="652950" y="2990088"/>
            <a:ext cx="315468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B9C9C2"/>
                </a:solidFill>
                <a:latin typeface="Georgia"/>
                <a:ea typeface="Calibri"/>
                <a:cs typeface="Calibri"/>
                <a:sym typeface="Roboto"/>
              </a:rPr>
              <a:t>Shown here: 12 frames, looping every 12 seconds, showing global lightning flash density change month-by-month over the year.</a:t>
            </a:r>
            <a:endParaRPr dirty="0">
              <a:solidFill>
                <a:srgbClr val="C8D6F0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898" name="Connector 897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>
            <a:off x="352044" y="4306824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>
            <a:off x="457200" y="4201668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2" name="Connector 901"/>
          <p:cNvCxnSpPr/>
          <p:nvPr/>
        </p:nvCxnSpPr>
        <p:spPr>
          <a:xfrm>
            <a:off x="352044" y="4626864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3" name="Connector 902"/>
          <p:cNvCxnSpPr/>
          <p:nvPr/>
        </p:nvCxnSpPr>
        <p:spPr>
          <a:xfrm>
            <a:off x="457200" y="4521708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" name="Connector 903"/>
          <p:cNvCxnSpPr/>
          <p:nvPr/>
        </p:nvCxnSpPr>
        <p:spPr>
          <a:xfrm>
            <a:off x="352044" y="4946904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457200" y="4841748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TextBox 933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52/59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6" name="Connector 945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5" name="Connector 944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4" name="Connector 943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3" name="Connector 94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0" name="Connector 939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9" name="Connector 938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Connector 937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3" name="Connector 932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2" name="Connector 931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3" name="Google Shape;903;p34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Animated Maps — More Examples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4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Time-series data brought to life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6" name="Google Shape;906;p34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7" name="Google Shape;907;p34"/>
          <p:cNvSpPr/>
          <p:nvPr/>
        </p:nvSpPr>
        <p:spPr>
          <a:xfrm>
            <a:off x="365760" y="1115568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4"/>
          <p:cNvSpPr/>
          <p:nvPr/>
        </p:nvSpPr>
        <p:spPr>
          <a:xfrm>
            <a:off x="502920" y="1463040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34"/>
          <p:cNvSpPr/>
          <p:nvPr/>
        </p:nvSpPr>
        <p:spPr>
          <a:xfrm>
            <a:off x="502920" y="1463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4"/>
          <p:cNvSpPr/>
          <p:nvPr/>
        </p:nvSpPr>
        <p:spPr>
          <a:xfrm>
            <a:off x="1051560" y="12070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Global Ocean Currents (live)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1051560" y="159105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Earth.nullschool.net renders real-time ECMWF wind and ocean current data as a flowing animated globe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4"/>
          <p:cNvSpPr/>
          <p:nvPr/>
        </p:nvSpPr>
        <p:spPr>
          <a:xfrm>
            <a:off x="1051560" y="1993392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https://earth.nullschool.net/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4"/>
          <p:cNvSpPr/>
          <p:nvPr/>
        </p:nvSpPr>
        <p:spPr>
          <a:xfrm>
            <a:off x="365760" y="2414016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4"/>
          <p:cNvSpPr/>
          <p:nvPr/>
        </p:nvSpPr>
        <p:spPr>
          <a:xfrm>
            <a:off x="502920" y="2761488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4"/>
          <p:cNvSpPr/>
          <p:nvPr/>
        </p:nvSpPr>
        <p:spPr>
          <a:xfrm>
            <a:off x="502920" y="276148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4"/>
          <p:cNvSpPr/>
          <p:nvPr/>
        </p:nvSpPr>
        <p:spPr>
          <a:xfrm>
            <a:off x="1051560" y="2505456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Urban Heat Island Growth (NASA 1992–2022)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4"/>
          <p:cNvSpPr/>
          <p:nvPr/>
        </p:nvSpPr>
        <p:spPr>
          <a:xfrm>
            <a:off x="1051560" y="2889504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Time-lapse of land surface temperature as cities expand — shows urban heat growth over 30 years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4"/>
          <p:cNvSpPr/>
          <p:nvPr/>
        </p:nvSpPr>
        <p:spPr>
          <a:xfrm>
            <a:off x="1051560" y="329184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https://earthobservatory.nasa.gov/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4"/>
          <p:cNvSpPr/>
          <p:nvPr/>
        </p:nvSpPr>
        <p:spPr>
          <a:xfrm>
            <a:off x="365760" y="3712464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4"/>
          <p:cNvSpPr/>
          <p:nvPr/>
        </p:nvSpPr>
        <p:spPr>
          <a:xfrm>
            <a:off x="502920" y="4059936"/>
            <a:ext cx="411480" cy="411480"/>
          </a:xfrm>
          <a:prstGeom prst="ellipse">
            <a:avLst/>
          </a:prstGeom>
          <a:solidFill>
            <a:srgbClr val="39FF88"/>
          </a:solidFill>
          <a:ln w="12700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4"/>
          <p:cNvSpPr/>
          <p:nvPr/>
        </p:nvSpPr>
        <p:spPr>
          <a:xfrm>
            <a:off x="502920" y="4059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82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A0E14"/>
                </a:solidFill>
                <a:latin typeface="Consolas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4"/>
          <p:cNvSpPr/>
          <p:nvPr/>
        </p:nvSpPr>
        <p:spPr>
          <a:xfrm>
            <a:off x="1051560" y="3803904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Bird Species Range Shifts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4"/>
          <p:cNvSpPr/>
          <p:nvPr/>
        </p:nvSpPr>
        <p:spPr>
          <a:xfrm>
            <a:off x="1051560" y="4187952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Animated movement of North American bird ranges northward under climate warming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4"/>
          <p:cNvSpPr/>
          <p:nvPr/>
        </p:nvSpPr>
        <p:spPr>
          <a:xfrm>
            <a:off x="1051560" y="4590288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https://www.audubon.org/climate/survivalbydegrees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5" name="Connector 924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Connector 925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7" name="Connector 946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5" name="TextBox 954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53/59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347472" y="373096"/>
            <a:ext cx="182880" cy="182880"/>
          </a:xfrm>
          <a:prstGeom prst="ellipse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333756" y="4645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593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Urban Heat Island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NASA Landsat: Atlanta's heat signature vs. its greenery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Landsat measures land-surface temperature from orbit — paired with a true-color image, it shows exactly how replacing vegetation with pavement and buildings raises local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Atlanta, Georgia, September 28, 2000 — red/orange = hotter, pale yellow = cooler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5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7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Densest development (deep red) can run ~8°F warmer than nearby vegetated 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787280"/>
            <a:ext cx="484632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Urban heat islands raise cooling costs and appear to intensify downwind rainfall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630353"/>
            <a:ext cx="3401568" cy="2637172"/>
          </a:xfrm>
          <a:prstGeom prst="roundRect">
            <a:avLst>
              <a:gd name="adj" fmla="val 3500"/>
            </a:avLst>
          </a:prstGeom>
          <a:solidFill>
            <a:srgbClr val="111822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nasa_uhi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720353"/>
            <a:ext cx="3221568" cy="24571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307526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NASA Earth Observatory (Marit Jentoft-Nilsen), public domain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0">
                <a:solidFill>
                  <a:srgbClr val="39FF88"/>
                </a:solidFill>
                <a:latin typeface="Consolas"/>
              </a:rPr>
              <a:t>54/59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9" name="Connector 968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8" name="Connector 967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7" name="Connector 966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6" name="Connector 965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4" name="Connector 96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3" name="Connector 962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2" name="Connector 961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1" name="Connector 960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0" name="Connector 959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9" name="Connector 958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8" name="Connector 957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7" name="Connector 956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0" name="Google Shape;930;p35"/>
          <p:cNvSpPr/>
          <p:nvPr/>
        </p:nvSpPr>
        <p:spPr>
          <a:xfrm>
            <a:off x="347472" y="310896"/>
            <a:ext cx="182880" cy="182880"/>
          </a:xfrm>
          <a:prstGeom prst="ellipse">
            <a:avLst/>
          </a:prstGeom>
          <a:noFill/>
          <a:ln w="15875" cap="flat" cmpd="sng">
            <a:solidFill>
              <a:srgbClr val="39FF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35"/>
          <p:cNvSpPr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EAF6EF"/>
                </a:solidFill>
                <a:latin typeface="Georgia"/>
                <a:ea typeface="Calibri"/>
                <a:cs typeface="Calibri"/>
                <a:sym typeface="Calibri"/>
              </a:rPr>
              <a:t>Space-Time Maps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5"/>
          <p:cNvSpPr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39FF88"/>
                </a:solidFill>
                <a:latin typeface="Georgia"/>
                <a:ea typeface="Calibri"/>
                <a:cs typeface="Calibri"/>
                <a:sym typeface="Calibri"/>
              </a:rPr>
              <a:t>When and where, simultaneously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3" name="Google Shape;933;p35"/>
          <p:cNvCxnSpPr/>
          <p:nvPr/>
        </p:nvCxnSpPr>
        <p:spPr>
          <a:xfrm>
            <a:off x="347472" y="1005840"/>
            <a:ext cx="8449056" cy="0"/>
          </a:xfrm>
          <a:prstGeom prst="straightConnector1">
            <a:avLst/>
          </a:prstGeom>
          <a:noFill/>
          <a:ln w="9525" cap="flat" cmpd="sng">
            <a:solidFill>
              <a:srgbClr val="4FD6E8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4" name="Google Shape;934;p35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Space-time maps integrate geographic location and temporal change in a single static visualization — no animation required.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5"/>
          <p:cNvSpPr/>
          <p:nvPr/>
        </p:nvSpPr>
        <p:spPr>
          <a:xfrm>
            <a:off x="365760" y="1719072"/>
            <a:ext cx="8412480" cy="941832"/>
          </a:xfrm>
          <a:prstGeom prst="roundRect">
            <a:avLst>
              <a:gd name="adj" fmla="val 970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5"/>
          <p:cNvSpPr/>
          <p:nvPr/>
        </p:nvSpPr>
        <p:spPr>
          <a:xfrm>
            <a:off x="475488" y="185623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🚂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5"/>
          <p:cNvSpPr/>
          <p:nvPr/>
        </p:nvSpPr>
        <p:spPr>
          <a:xfrm>
            <a:off x="1170432" y="18288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Space-Time Cube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5"/>
          <p:cNvSpPr/>
          <p:nvPr/>
        </p:nvSpPr>
        <p:spPr>
          <a:xfrm>
            <a:off x="3858768" y="1810512"/>
            <a:ext cx="47731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A 3D visualization where the vertical axis is time. Daily commuter rail trips can be plotted as trajectories through the cube.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5"/>
          <p:cNvSpPr/>
          <p:nvPr/>
        </p:nvSpPr>
        <p:spPr>
          <a:xfrm>
            <a:off x="365760" y="2798064"/>
            <a:ext cx="8412480" cy="941832"/>
          </a:xfrm>
          <a:prstGeom prst="roundRect">
            <a:avLst>
              <a:gd name="adj" fmla="val 970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5"/>
          <p:cNvSpPr/>
          <p:nvPr/>
        </p:nvSpPr>
        <p:spPr>
          <a:xfrm>
            <a:off x="475488" y="2935224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📱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5"/>
          <p:cNvSpPr/>
          <p:nvPr/>
        </p:nvSpPr>
        <p:spPr>
          <a:xfrm>
            <a:off x="1170432" y="290779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GPS Track Maps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5"/>
          <p:cNvSpPr/>
          <p:nvPr/>
        </p:nvSpPr>
        <p:spPr>
          <a:xfrm>
            <a:off x="3858768" y="2889504"/>
            <a:ext cx="47731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Individual movement paths plotted with timestamps — reveals daily rhythms, commuting patterns, and migration routes.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365760" y="3877056"/>
            <a:ext cx="8412480" cy="941832"/>
          </a:xfrm>
          <a:prstGeom prst="roundRect">
            <a:avLst>
              <a:gd name="adj" fmla="val 9709"/>
            </a:avLst>
          </a:prstGeom>
          <a:solidFill>
            <a:srgbClr val="111822"/>
          </a:solidFill>
          <a:ln w="9525" cap="flat" cmpd="sng">
            <a:solidFill>
              <a:srgbClr val="1E362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27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75488" y="4014216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Georgia"/>
                <a:ea typeface="Calibri"/>
                <a:cs typeface="Calibri"/>
                <a:sym typeface="Calibri"/>
              </a:rPr>
              <a:t>🏃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5"/>
          <p:cNvSpPr/>
          <p:nvPr/>
        </p:nvSpPr>
        <p:spPr>
          <a:xfrm>
            <a:off x="1170432" y="398678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B9FE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4FD6E8"/>
                </a:solidFill>
                <a:latin typeface="Georgia"/>
                <a:ea typeface="Calibri"/>
                <a:cs typeface="Calibri"/>
                <a:sym typeface="Calibri"/>
              </a:rPr>
              <a:t>Activity Heat Maps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5"/>
          <p:cNvSpPr/>
          <p:nvPr/>
        </p:nvSpPr>
        <p:spPr>
          <a:xfrm>
            <a:off x="3858768" y="3968496"/>
            <a:ext cx="47731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D6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B9C9C2"/>
                </a:solidFill>
                <a:latin typeface="Georgia"/>
                <a:ea typeface="Calibri"/>
                <a:cs typeface="Calibri"/>
                <a:sym typeface="Calibri"/>
              </a:rPr>
              <a:t>Strava’s global fitness heatmap overlays billions of GPS tracks to show where people run, bike, and hike — updated continuously.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5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9CC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ED9A0"/>
                </a:solidFill>
                <a:latin typeface="Consolas"/>
                <a:ea typeface="Calibri"/>
                <a:cs typeface="Calibri"/>
                <a:sym typeface="Calibri"/>
              </a:rPr>
              <a:t>Strava Heatmap: https://www.strava.com/heatmap  |  ArcGIS Space-Time Cube: https://pro.arcgis.com/en/pro-app/latest/tool-reference/space-time-pattern-mining/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8" name="Connector 947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0" name="Connector 969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1" name="Connector 970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2" name="Connector 971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3" name="Connector 972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4" name="Connector 973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5" name="Connector 974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6" name="Connector 975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 976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8" name="TextBox 977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55/59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Connector 38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47472" y="310896"/>
            <a:ext cx="182880" cy="182880"/>
          </a:xfrm>
          <a:prstGeom prst="rect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Space-Time 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9FF88"/>
                </a:solidFill>
                <a:latin typeface="Georgia"/>
              </a:rPr>
              <a:t>Location + time, stacked into one 3D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4FD6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This is Torsten Hägerstrand's own notation for time geography — the visual language every modern space-time cube descends from, shown here with a single person's real traced path (A→E) through space and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ACTIVITY PATH (A→E)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bold traced line — an individual moving between locations and pausing ('stations') as time (vertical axis) advances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PRISM &amp; POTENTIAL PATH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4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The blue cone and yellow ellipse — everywhere the person could still reach given their time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0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BUNDLE / 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Where paths join (bundle) or where authority limits access to a place (domain)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8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SAME IDEA, REAL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0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ArcGIS Pro's Create Space Time Cube tool applies this exact logic at scale — e.g., binning Chicago crime incidents into 4-week slices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212016"/>
            <a:ext cx="3401568" cy="3473846"/>
          </a:xfrm>
          <a:prstGeom prst="roundRect">
            <a:avLst>
              <a:gd name="adj" fmla="val 3500"/>
            </a:avLst>
          </a:prstGeom>
          <a:solidFill>
            <a:srgbClr val="0A0E14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tc_wikimedia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672" y="1302016"/>
            <a:ext cx="3221568" cy="32938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4725863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Miyuki Meinaka, CC BY-SA 3.0, via Wikimedia Commons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56/59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nector 36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47472" y="310896"/>
            <a:ext cx="182880" cy="182880"/>
          </a:xfrm>
          <a:prstGeom prst="rect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GPS Track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9FF88"/>
                </a:solidFill>
                <a:latin typeface="Georgia"/>
              </a:rPr>
              <a:t>One device, one path, one continuous 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4FD6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097280"/>
            <a:ext cx="484632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A GPS track map plots a single device's recorded coordinates over time as a connected line — the same technique behind every hiking app, running watch, and fitness tracker.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4728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07280"/>
            <a:ext cx="48463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The Australian Alps Walking Track — a real ~650 km trail traced from GPS survey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728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9FF88"/>
                </a:solidFill>
                <a:latin typeface="Georgia"/>
              </a:rPr>
              <a:t>SAME TECHNIQUE, HIGHER 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47280"/>
            <a:ext cx="48463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In 2018, Strava's aggregated GPS tracks accidentally revealed patrol routes at U.S. military bases overseas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2728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39FF88"/>
                </a:solidFill>
                <a:latin typeface="Georgia"/>
              </a:rPr>
              <a:t>BUILT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87280"/>
            <a:ext cx="48463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B9C9C2"/>
                </a:solidFill>
                <a:latin typeface="Georgia"/>
              </a:rPr>
              <a:t>OpenStreetMap trail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8288" y="1097280"/>
            <a:ext cx="3318335" cy="3703320"/>
          </a:xfrm>
          <a:prstGeom prst="roundRect">
            <a:avLst>
              <a:gd name="adj" fmla="val 3500"/>
            </a:avLst>
          </a:prstGeom>
          <a:solidFill>
            <a:srgbClr val="0A0E14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gps_track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288" y="1157280"/>
            <a:ext cx="3198335" cy="3583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18288" y="4840600"/>
            <a:ext cx="331833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4ED9A0"/>
                </a:solidFill>
                <a:latin typeface="Consolas"/>
                <a:hlinkClick r:id="rId3"/>
              </a:rPr>
              <a:t>Image: Stevage, CC BY-SA 4.0, via Wikimedia Commons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57/59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Connector 42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47472" y="310896"/>
            <a:ext cx="182880" cy="182880"/>
          </a:xfrm>
          <a:prstGeom prst="rect">
            <a:avLst/>
          </a:prstGeom>
          <a:noFill/>
          <a:ln w="15875">
            <a:solidFill>
              <a:srgbClr val="39FF8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8138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Activity Heat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39FF88"/>
                </a:solidFill>
                <a:latin typeface="Georgia"/>
              </a:rPr>
              <a:t>Where online attention clusters, in space and time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7472" y="1005840"/>
            <a:ext cx="8449056" cy="0"/>
          </a:xfrm>
          <a:prstGeom prst="line">
            <a:avLst/>
          </a:prstGeom>
          <a:ln w="9525">
            <a:solidFill>
              <a:srgbClr val="4FD6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" y="1097280"/>
            <a:ext cx="484632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EAF6EF"/>
                </a:solidFill>
                <a:latin typeface="Georgia"/>
              </a:rPr>
              <a:t>Researchers Kenett, Morstatter, Stanley &amp; Liu (2014) mapped geotagged Twitter activity around the Occupy Wall Street protests — tweet density alone was enough to see a real-world event unfold.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4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SHOWN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6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Two snapshots of the same Lower Manhattan blocks, eleven weeks apart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2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PANEL A — NOV 15, 2011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4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NYPD moves to clear Zuccotti Park — tweet density spikes across the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0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PANEL B — DEC 26, 2011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Protest activity has dwindled — geotagged tweets shrink to a single 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87280"/>
            <a:ext cx="484632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39FF88"/>
                </a:solidFill>
                <a:latin typeface="Georgia"/>
              </a:rPr>
              <a:t>PUBLISHED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07280"/>
            <a:ext cx="484632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B9C9C2"/>
                </a:solidFill>
                <a:latin typeface="Georgia"/>
              </a:rPr>
              <a:t>PLOS ONE, “Discovering Social Events through Online Attention” (2014)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1297280"/>
            <a:ext cx="1650784" cy="1409807"/>
          </a:xfrm>
          <a:prstGeom prst="roundRect">
            <a:avLst>
              <a:gd name="adj" fmla="val 4000"/>
            </a:avLst>
          </a:prstGeom>
          <a:solidFill>
            <a:srgbClr val="0A0E14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ows_panel_a_v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72" y="1342280"/>
            <a:ext cx="1560784" cy="13198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76672" y="2737087"/>
            <a:ext cx="1650784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B9C9C2"/>
                </a:solidFill>
                <a:latin typeface="Georgia"/>
              </a:rPr>
              <a:t>(a) Nov. 15, 2011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27456" y="1297280"/>
            <a:ext cx="1650784" cy="1373231"/>
          </a:xfrm>
          <a:prstGeom prst="roundRect">
            <a:avLst>
              <a:gd name="adj" fmla="val 4000"/>
            </a:avLst>
          </a:prstGeom>
          <a:solidFill>
            <a:srgbClr val="0A0E14"/>
          </a:solidFill>
          <a:ln w="9525">
            <a:solidFill>
              <a:srgbClr val="1E362E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ows_panel_b_v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56" y="1342280"/>
            <a:ext cx="1560784" cy="128323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27456" y="2700511"/>
            <a:ext cx="1650784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B9C9C2"/>
                </a:solidFill>
                <a:latin typeface="Georgia"/>
              </a:rPr>
              <a:t>(b) Dec. 26, 2011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967087"/>
            <a:ext cx="3401568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>
                <a:solidFill>
                  <a:srgbClr val="4ED9A0"/>
                </a:solidFill>
                <a:latin typeface="Consolas"/>
                <a:hlinkClick r:id="rId4"/>
              </a:rPr>
              <a:t>Image: Kenett, Morstatter, Stanley &amp; Liu (2014), PLOS ONE, CC BY 4.0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3756" y="402336"/>
            <a:ext cx="210312" cy="0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8912" y="297180"/>
            <a:ext cx="0" cy="210312"/>
          </a:xfrm>
          <a:prstGeom prst="line">
            <a:avLst/>
          </a:prstGeom>
          <a:ln w="635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58/59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4"/>
        </a:solidFill>
        <a:effectLst/>
      </p:bgPr>
    </p:bg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6" name="Connector 1005"/>
          <p:cNvCxnSpPr/>
          <p:nvPr/>
        </p:nvCxnSpPr>
        <p:spPr>
          <a:xfrm>
            <a:off x="0" y="457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0" y="3810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0" y="3048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3" name="Connector 100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2" name="Connector 1001"/>
          <p:cNvCxnSpPr/>
          <p:nvPr/>
        </p:nvCxnSpPr>
        <p:spPr>
          <a:xfrm>
            <a:off x="0" y="1524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" name="Connector 1000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" name="Connector 999"/>
          <p:cNvCxnSpPr/>
          <p:nvPr/>
        </p:nvCxnSpPr>
        <p:spPr>
          <a:xfrm>
            <a:off x="0" y="0"/>
            <a:ext cx="9144000" cy="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9" name="Connector 998"/>
          <p:cNvCxnSpPr/>
          <p:nvPr/>
        </p:nvCxnSpPr>
        <p:spPr>
          <a:xfrm>
            <a:off x="914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8" name="Connector 997"/>
          <p:cNvCxnSpPr/>
          <p:nvPr/>
        </p:nvCxnSpPr>
        <p:spPr>
          <a:xfrm>
            <a:off x="838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7" name="Connector 996"/>
          <p:cNvCxnSpPr/>
          <p:nvPr/>
        </p:nvCxnSpPr>
        <p:spPr>
          <a:xfrm>
            <a:off x="762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" name="Connector 995"/>
          <p:cNvCxnSpPr/>
          <p:nvPr/>
        </p:nvCxnSpPr>
        <p:spPr>
          <a:xfrm>
            <a:off x="685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5" name="Connector 994"/>
          <p:cNvCxnSpPr/>
          <p:nvPr/>
        </p:nvCxnSpPr>
        <p:spPr>
          <a:xfrm>
            <a:off x="609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4" name="Connector 993"/>
          <p:cNvCxnSpPr/>
          <p:nvPr/>
        </p:nvCxnSpPr>
        <p:spPr>
          <a:xfrm>
            <a:off x="533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3" name="Connector 992"/>
          <p:cNvCxnSpPr/>
          <p:nvPr/>
        </p:nvCxnSpPr>
        <p:spPr>
          <a:xfrm>
            <a:off x="457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2" name="Connector 991"/>
          <p:cNvCxnSpPr/>
          <p:nvPr/>
        </p:nvCxnSpPr>
        <p:spPr>
          <a:xfrm>
            <a:off x="3810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1" name="Connector 990"/>
          <p:cNvCxnSpPr/>
          <p:nvPr/>
        </p:nvCxnSpPr>
        <p:spPr>
          <a:xfrm>
            <a:off x="3048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0" name="Connector 989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9" name="Connector 988"/>
          <p:cNvCxnSpPr/>
          <p:nvPr/>
        </p:nvCxnSpPr>
        <p:spPr>
          <a:xfrm>
            <a:off x="1524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8" name="Connector 987"/>
          <p:cNvCxnSpPr/>
          <p:nvPr/>
        </p:nvCxnSpPr>
        <p:spPr>
          <a:xfrm>
            <a:off x="76200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7" name="Connector 986"/>
          <p:cNvCxnSpPr/>
          <p:nvPr/>
        </p:nvCxnSpPr>
        <p:spPr>
          <a:xfrm>
            <a:off x="0" y="0"/>
            <a:ext cx="0" cy="5143500"/>
          </a:xfrm>
          <a:prstGeom prst="line">
            <a:avLst/>
          </a:prstGeom>
          <a:ln w="3175">
            <a:solidFill>
              <a:srgbClr val="151F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3" name="Google Shape;953;p36"/>
          <p:cNvSpPr/>
          <p:nvPr/>
        </p:nvSpPr>
        <p:spPr>
          <a:xfrm>
            <a:off x="6675120" y="3200400"/>
            <a:ext cx="3657600" cy="3657600"/>
          </a:xfrm>
          <a:prstGeom prst="ellipse">
            <a:avLst/>
          </a:prstGeom>
          <a:noFill/>
          <a:ln w="15875" cap="flat" cmpd="sng">
            <a:solidFill>
              <a:srgbClr val="39FF88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36"/>
          <p:cNvSpPr/>
          <p:nvPr/>
        </p:nvSpPr>
        <p:spPr>
          <a:xfrm>
            <a:off x="-914400" y="-822960"/>
            <a:ext cx="2743200" cy="2743200"/>
          </a:xfrm>
          <a:prstGeom prst="ellipse">
            <a:avLst/>
          </a:prstGeom>
          <a:noFill/>
          <a:ln w="15875" cap="flat" cmpd="sng">
            <a:solidFill>
              <a:srgbClr val="4FD6E8">
                <a:alpha val="2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TextBox 954"/>
          <p:cNvSpPr txBox="1"/>
          <p:nvPr/>
        </p:nvSpPr>
        <p:spPr>
          <a:xfrm>
            <a:off x="640080" y="310896"/>
            <a:ext cx="7000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EAF6EF"/>
                </a:solidFill>
                <a:latin typeface="Georgia"/>
              </a:rPr>
              <a:t>Recap &amp; What's Next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640080" y="786432"/>
            <a:ext cx="7500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1">
                <a:solidFill>
                  <a:srgbClr val="39FF88"/>
                </a:solidFill>
                <a:latin typeface="Georgia"/>
              </a:rPr>
              <a:t>You've explored how maps persuade — next, the interface for building your own</a:t>
            </a:r>
          </a:p>
        </p:txBody>
      </p:sp>
      <p:sp>
        <p:nvSpPr>
          <p:cNvPr id="957" name="Rectangle 956"/>
          <p:cNvSpPr/>
          <p:nvPr/>
        </p:nvSpPr>
        <p:spPr>
          <a:xfrm>
            <a:off x="457200" y="1130000"/>
            <a:ext cx="8229600" cy="9525"/>
          </a:xfrm>
          <a:prstGeom prst="rect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8" name="TextBox 957"/>
          <p:cNvSpPr txBox="1"/>
          <p:nvPr/>
        </p:nvSpPr>
        <p:spPr>
          <a:xfrm>
            <a:off x="457200" y="1230000"/>
            <a:ext cx="4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EAF6EF"/>
                </a:solidFill>
                <a:latin typeface="Georgia"/>
              </a:rPr>
              <a:t>Key Takeaways</a:t>
            </a:r>
          </a:p>
        </p:txBody>
      </p:sp>
      <p:sp>
        <p:nvSpPr>
          <p:cNvPr id="959" name="Oval 958"/>
          <p:cNvSpPr/>
          <p:nvPr/>
        </p:nvSpPr>
        <p:spPr>
          <a:xfrm>
            <a:off x="457200" y="1620000"/>
            <a:ext cx="90000" cy="90000"/>
          </a:xfrm>
          <a:prstGeom prst="ellipse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0" name="TextBox 959"/>
          <p:cNvSpPr txBox="1"/>
          <p:nvPr/>
        </p:nvSpPr>
        <p:spPr>
          <a:xfrm>
            <a:off x="620000" y="1560000"/>
            <a:ext cx="396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Design choices are never neutral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620000" y="1840000"/>
            <a:ext cx="3960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Projection, color, and classification all shape the story a map tells.</a:t>
            </a:r>
          </a:p>
        </p:txBody>
      </p:sp>
      <p:sp>
        <p:nvSpPr>
          <p:cNvPr id="962" name="Oval 961"/>
          <p:cNvSpPr/>
          <p:nvPr/>
        </p:nvSpPr>
        <p:spPr>
          <a:xfrm>
            <a:off x="457200" y="2440000"/>
            <a:ext cx="90000" cy="90000"/>
          </a:xfrm>
          <a:prstGeom prst="ellipse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3" name="TextBox 962"/>
          <p:cNvSpPr txBox="1"/>
          <p:nvPr/>
        </p:nvSpPr>
        <p:spPr>
          <a:xfrm>
            <a:off x="620000" y="2380000"/>
            <a:ext cx="396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Visualization and communication differ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620000" y="2660000"/>
            <a:ext cx="3960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Exploring data and presenting a conclusion call for different design choices.</a:t>
            </a:r>
          </a:p>
        </p:txBody>
      </p:sp>
      <p:sp>
        <p:nvSpPr>
          <p:cNvPr id="965" name="Oval 964"/>
          <p:cNvSpPr/>
          <p:nvPr/>
        </p:nvSpPr>
        <p:spPr>
          <a:xfrm>
            <a:off x="457200" y="3260000"/>
            <a:ext cx="90000" cy="90000"/>
          </a:xfrm>
          <a:prstGeom prst="ellipse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6" name="TextBox 965"/>
          <p:cNvSpPr txBox="1"/>
          <p:nvPr/>
        </p:nvSpPr>
        <p:spPr>
          <a:xfrm>
            <a:off x="620000" y="3200000"/>
            <a:ext cx="396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Maps have a taxonomy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620000" y="3480000"/>
            <a:ext cx="3960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Reference, thematic, pragmatic, and persuasive maps each serve a different purpose.</a:t>
            </a:r>
          </a:p>
        </p:txBody>
      </p:sp>
      <p:sp>
        <p:nvSpPr>
          <p:cNvPr id="968" name="Oval 967"/>
          <p:cNvSpPr/>
          <p:nvPr/>
        </p:nvSpPr>
        <p:spPr>
          <a:xfrm>
            <a:off x="457200" y="4080000"/>
            <a:ext cx="90000" cy="90000"/>
          </a:xfrm>
          <a:prstGeom prst="ellipse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9" name="TextBox 968"/>
          <p:cNvSpPr txBox="1"/>
          <p:nvPr/>
        </p:nvSpPr>
        <p:spPr>
          <a:xfrm>
            <a:off x="620000" y="4020000"/>
            <a:ext cx="396000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The 5-step framework guides design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620000" y="4300000"/>
            <a:ext cx="3960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Phenomenon, purpose, data, design, and evaluation — in that order.</a:t>
            </a:r>
          </a:p>
        </p:txBody>
      </p:sp>
      <p:sp>
        <p:nvSpPr>
          <p:cNvPr id="971" name="Rectangle 970"/>
          <p:cNvSpPr/>
          <p:nvPr/>
        </p:nvSpPr>
        <p:spPr>
          <a:xfrm>
            <a:off x="4560000" y="1230000"/>
            <a:ext cx="4126800" cy="3350000"/>
          </a:xfrm>
          <a:prstGeom prst="rect">
            <a:avLst/>
          </a:prstGeom>
          <a:solidFill>
            <a:srgbClr val="111822"/>
          </a:solidFill>
          <a:ln w="12700">
            <a:solidFill>
              <a:srgbClr val="39FF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2" name="TextBox 971"/>
          <p:cNvSpPr txBox="1"/>
          <p:nvPr/>
        </p:nvSpPr>
        <p:spPr>
          <a:xfrm>
            <a:off x="4780000" y="1330000"/>
            <a:ext cx="36868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EAF6EF"/>
                </a:solidFill>
                <a:latin typeface="Georgia"/>
              </a:rPr>
              <a:t>Up Next: ArcGIS User Interface</a:t>
            </a:r>
          </a:p>
        </p:txBody>
      </p:sp>
      <p:sp>
        <p:nvSpPr>
          <p:cNvPr id="973" name="Oval 972"/>
          <p:cNvSpPr/>
          <p:nvPr/>
        </p:nvSpPr>
        <p:spPr>
          <a:xfrm>
            <a:off x="4780000" y="1650000"/>
            <a:ext cx="380000" cy="380000"/>
          </a:xfrm>
          <a:prstGeom prst="ellipse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4" name="TextBox 973"/>
          <p:cNvSpPr txBox="1"/>
          <p:nvPr/>
        </p:nvSpPr>
        <p:spPr>
          <a:xfrm>
            <a:off x="4780000" y="1700000"/>
            <a:ext cx="38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EAF6EF"/>
                </a:solidFill>
                <a:latin typeface="Georgia"/>
              </a:rPr>
              <a:t>A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5240000" y="1690000"/>
            <a:ext cx="32268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Tour of the ArcGIS Pro workspace</a:t>
            </a:r>
          </a:p>
        </p:txBody>
      </p:sp>
      <p:sp>
        <p:nvSpPr>
          <p:cNvPr id="976" name="Oval 975"/>
          <p:cNvSpPr/>
          <p:nvPr/>
        </p:nvSpPr>
        <p:spPr>
          <a:xfrm>
            <a:off x="4780000" y="2050000"/>
            <a:ext cx="380000" cy="380000"/>
          </a:xfrm>
          <a:prstGeom prst="ellipse">
            <a:avLst/>
          </a:prstGeom>
          <a:solidFill>
            <a:srgbClr val="4F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7" name="TextBox 976"/>
          <p:cNvSpPr txBox="1"/>
          <p:nvPr/>
        </p:nvSpPr>
        <p:spPr>
          <a:xfrm>
            <a:off x="4780000" y="2100000"/>
            <a:ext cx="38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EAF6EF"/>
                </a:solidFill>
                <a:latin typeface="Georgia"/>
              </a:rPr>
              <a:t>B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5240000" y="2090000"/>
            <a:ext cx="32268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Panes, ribbons, and project files</a:t>
            </a:r>
          </a:p>
        </p:txBody>
      </p:sp>
      <p:sp>
        <p:nvSpPr>
          <p:cNvPr id="979" name="Oval 978"/>
          <p:cNvSpPr/>
          <p:nvPr/>
        </p:nvSpPr>
        <p:spPr>
          <a:xfrm>
            <a:off x="4780000" y="2450000"/>
            <a:ext cx="380000" cy="380000"/>
          </a:xfrm>
          <a:prstGeom prst="ellipse">
            <a:avLst/>
          </a:prstGeom>
          <a:solidFill>
            <a:srgbClr val="39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0" name="TextBox 979"/>
          <p:cNvSpPr txBox="1"/>
          <p:nvPr/>
        </p:nvSpPr>
        <p:spPr>
          <a:xfrm>
            <a:off x="4780000" y="2500000"/>
            <a:ext cx="38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EAF6EF"/>
                </a:solidFill>
                <a:latin typeface="Georgia"/>
              </a:rPr>
              <a:t>C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5240000" y="2490000"/>
            <a:ext cx="32268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Adding and symbolizing data</a:t>
            </a:r>
          </a:p>
        </p:txBody>
      </p:sp>
      <p:sp>
        <p:nvSpPr>
          <p:cNvPr id="982" name="Oval 981"/>
          <p:cNvSpPr/>
          <p:nvPr/>
        </p:nvSpPr>
        <p:spPr>
          <a:xfrm>
            <a:off x="4780000" y="2850000"/>
            <a:ext cx="380000" cy="380000"/>
          </a:xfrm>
          <a:prstGeom prst="ellipse">
            <a:avLst/>
          </a:prstGeom>
          <a:solidFill>
            <a:srgbClr val="4F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3" name="TextBox 982"/>
          <p:cNvSpPr txBox="1"/>
          <p:nvPr/>
        </p:nvSpPr>
        <p:spPr>
          <a:xfrm>
            <a:off x="4780000" y="2900000"/>
            <a:ext cx="38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EAF6EF"/>
                </a:solidFill>
                <a:latin typeface="Georgia"/>
              </a:rPr>
              <a:t>D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5240000" y="2890000"/>
            <a:ext cx="32268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EAF6EF"/>
                </a:solidFill>
                <a:latin typeface="Georgia"/>
              </a:rPr>
              <a:t>Navigating maps and layouts</a:t>
            </a:r>
          </a:p>
        </p:txBody>
      </p:sp>
      <p:sp>
        <p:nvSpPr>
          <p:cNvPr id="985" name="Rectangle 984"/>
          <p:cNvSpPr/>
          <p:nvPr/>
        </p:nvSpPr>
        <p:spPr>
          <a:xfrm>
            <a:off x="4780000" y="3310000"/>
            <a:ext cx="3686800" cy="720000"/>
          </a:xfrm>
          <a:prstGeom prst="rect">
            <a:avLst/>
          </a:prstGeom>
          <a:solidFill>
            <a:srgbClr val="11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6" name="TextBox 985"/>
          <p:cNvSpPr txBox="1"/>
          <p:nvPr/>
        </p:nvSpPr>
        <p:spPr>
          <a:xfrm>
            <a:off x="4880000" y="3390000"/>
            <a:ext cx="34868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>
                <a:solidFill>
                  <a:srgbClr val="B9C9C2"/>
                </a:solidFill>
                <a:latin typeface="Georgia"/>
              </a:rPr>
              <a:t>You've learned to read a map critically — next, the software you'll use to build one.</a:t>
            </a:r>
          </a:p>
        </p:txBody>
      </p:sp>
      <p:cxnSp>
        <p:nvCxnSpPr>
          <p:cNvPr id="1007" name="Connector 1006"/>
          <p:cNvCxnSpPr/>
          <p:nvPr/>
        </p:nvCxnSpPr>
        <p:spPr>
          <a:xfrm>
            <a:off x="140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8" name="Connector 1007"/>
          <p:cNvCxnSpPr/>
          <p:nvPr/>
        </p:nvCxnSpPr>
        <p:spPr>
          <a:xfrm>
            <a:off x="140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9" name="Connector 1008"/>
          <p:cNvCxnSpPr/>
          <p:nvPr/>
        </p:nvCxnSpPr>
        <p:spPr>
          <a:xfrm flipH="1">
            <a:off x="8744000" y="1400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0" name="Connector 1009"/>
          <p:cNvCxnSpPr/>
          <p:nvPr/>
        </p:nvCxnSpPr>
        <p:spPr>
          <a:xfrm>
            <a:off x="9004000" y="1400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1" name="Connector 1010"/>
          <p:cNvCxnSpPr/>
          <p:nvPr/>
        </p:nvCxnSpPr>
        <p:spPr>
          <a:xfrm>
            <a:off x="140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2" name="Connector 1011"/>
          <p:cNvCxnSpPr/>
          <p:nvPr/>
        </p:nvCxnSpPr>
        <p:spPr>
          <a:xfrm flipV="1">
            <a:off x="140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3" name="Connector 1012"/>
          <p:cNvCxnSpPr/>
          <p:nvPr/>
        </p:nvCxnSpPr>
        <p:spPr>
          <a:xfrm flipH="1">
            <a:off x="8744000" y="5003500"/>
            <a:ext cx="260000" cy="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4" name="Connector 1013"/>
          <p:cNvCxnSpPr/>
          <p:nvPr/>
        </p:nvCxnSpPr>
        <p:spPr>
          <a:xfrm flipV="1">
            <a:off x="9004000" y="4743500"/>
            <a:ext cx="0" cy="260000"/>
          </a:xfrm>
          <a:prstGeom prst="line">
            <a:avLst/>
          </a:prstGeom>
          <a:ln w="12700">
            <a:solidFill>
              <a:srgbClr val="39FF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5" name="TextBox 1014"/>
          <p:cNvSpPr txBox="1"/>
          <p:nvPr/>
        </p:nvSpPr>
        <p:spPr>
          <a:xfrm>
            <a:off x="470000" y="4893500"/>
            <a:ext cx="1200000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39FF88"/>
                </a:solidFill>
                <a:latin typeface="Consolas"/>
              </a:rPr>
              <a:t>59/59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11996</TotalTime>
  <Words>6355</Words>
  <Application>Microsoft Office PowerPoint</Application>
  <PresentationFormat>On-screen Show (16:9)</PresentationFormat>
  <Paragraphs>858</Paragraphs>
  <Slides>59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Calibri</vt:lpstr>
      <vt:lpstr>Consolas</vt:lpstr>
      <vt:lpstr>Georgia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Shokran Rahiminezhad</cp:lastModifiedBy>
  <cp:revision>4</cp:revision>
  <dcterms:created xsi:type="dcterms:W3CDTF">2026-07-09T04:23:32Z</dcterms:created>
  <dcterms:modified xsi:type="dcterms:W3CDTF">2026-08-01T11:25:54Z</dcterms:modified>
</cp:coreProperties>
</file>